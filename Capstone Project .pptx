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4" d="100"/>
          <a:sy n="114" d="100"/>
        </p:scale>
        <p:origin x="120" y="18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50" b="0" i="0">
                <a:solidFill>
                  <a:srgbClr val="0A48CA"/>
                </a:solidFill>
                <a:latin typeface="Microsoft Sans Serif"/>
                <a:cs typeface="Microsoft Sans Serif"/>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rgbClr val="292929"/>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5/1/2025</a:t>
            </a:fld>
            <a:endParaRPr lang="en-US"/>
          </a:p>
        </p:txBody>
      </p:sp>
      <p:sp>
        <p:nvSpPr>
          <p:cNvPr id="6" name="Holder 6"/>
          <p:cNvSpPr>
            <a:spLocks noGrp="1"/>
          </p:cNvSpPr>
          <p:nvPr>
            <p:ph type="sldNum" sz="quarter" idx="7"/>
          </p:nvPr>
        </p:nvSpPr>
        <p:spPr/>
        <p:txBody>
          <a:bodyPr lIns="0" tIns="0" rIns="0" bIns="0"/>
          <a:lstStyle>
            <a:lvl1pPr>
              <a:defRPr sz="1550" b="0" i="0">
                <a:solidFill>
                  <a:srgbClr val="1C7CDB"/>
                </a:solidFill>
                <a:latin typeface="Microsoft Sans Serif"/>
                <a:cs typeface="Microsoft Sans Serif"/>
              </a:defRPr>
            </a:lvl1pPr>
          </a:lstStyle>
          <a:p>
            <a:pPr marL="160020">
              <a:lnSpc>
                <a:spcPts val="1810"/>
              </a:lnSpc>
            </a:pPr>
            <a:fld id="{81D60167-4931-47E6-BA6A-407CBD079E47}" type="slidenum">
              <a:rPr spc="35" dirty="0"/>
              <a:t>‹#›</a:t>
            </a:fld>
            <a:endParaRPr spc="3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50" b="0" i="0">
                <a:solidFill>
                  <a:srgbClr val="0A48CA"/>
                </a:solidFill>
                <a:latin typeface="Microsoft Sans Serif"/>
                <a:cs typeface="Microsoft Sans Serif"/>
              </a:defRPr>
            </a:lvl1pPr>
          </a:lstStyle>
          <a:p>
            <a:endParaRPr/>
          </a:p>
        </p:txBody>
      </p:sp>
      <p:sp>
        <p:nvSpPr>
          <p:cNvPr id="3" name="Holder 3"/>
          <p:cNvSpPr>
            <a:spLocks noGrp="1"/>
          </p:cNvSpPr>
          <p:nvPr>
            <p:ph type="body" idx="1"/>
          </p:nvPr>
        </p:nvSpPr>
        <p:spPr/>
        <p:txBody>
          <a:bodyPr lIns="0" tIns="0" rIns="0" bIns="0"/>
          <a:lstStyle>
            <a:lvl1pPr>
              <a:defRPr sz="2000" b="0" i="0">
                <a:solidFill>
                  <a:srgbClr val="292929"/>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5/1/2025</a:t>
            </a:fld>
            <a:endParaRPr lang="en-US"/>
          </a:p>
        </p:txBody>
      </p:sp>
      <p:sp>
        <p:nvSpPr>
          <p:cNvPr id="6" name="Holder 6"/>
          <p:cNvSpPr>
            <a:spLocks noGrp="1"/>
          </p:cNvSpPr>
          <p:nvPr>
            <p:ph type="sldNum" sz="quarter" idx="7"/>
          </p:nvPr>
        </p:nvSpPr>
        <p:spPr/>
        <p:txBody>
          <a:bodyPr lIns="0" tIns="0" rIns="0" bIns="0"/>
          <a:lstStyle>
            <a:lvl1pPr>
              <a:defRPr sz="1550" b="0" i="0">
                <a:solidFill>
                  <a:srgbClr val="1C7CDB"/>
                </a:solidFill>
                <a:latin typeface="Microsoft Sans Serif"/>
                <a:cs typeface="Microsoft Sans Serif"/>
              </a:defRPr>
            </a:lvl1pPr>
          </a:lstStyle>
          <a:p>
            <a:pPr marL="160020">
              <a:lnSpc>
                <a:spcPts val="1810"/>
              </a:lnSpc>
            </a:pPr>
            <a:fld id="{81D60167-4931-47E6-BA6A-407CBD079E47}" type="slidenum">
              <a:rPr spc="35" dirty="0"/>
              <a:t>‹#›</a:t>
            </a:fld>
            <a:endParaRPr spc="3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50" b="0" i="0">
                <a:solidFill>
                  <a:srgbClr val="0A48CA"/>
                </a:solidFill>
                <a:latin typeface="Microsoft Sans Serif"/>
                <a:cs typeface="Microsoft Sans Serif"/>
              </a:defRPr>
            </a:lvl1pPr>
          </a:lstStyle>
          <a:p>
            <a:endParaRPr/>
          </a:p>
        </p:txBody>
      </p:sp>
      <p:sp>
        <p:nvSpPr>
          <p:cNvPr id="3" name="Holder 3"/>
          <p:cNvSpPr>
            <a:spLocks noGrp="1"/>
          </p:cNvSpPr>
          <p:nvPr>
            <p:ph sz="half" idx="2"/>
          </p:nvPr>
        </p:nvSpPr>
        <p:spPr>
          <a:xfrm>
            <a:off x="847407" y="1284795"/>
            <a:ext cx="5264785" cy="4765675"/>
          </a:xfrm>
          <a:prstGeom prst="rect">
            <a:avLst/>
          </a:prstGeom>
        </p:spPr>
        <p:txBody>
          <a:bodyPr wrap="square" lIns="0" tIns="0" rIns="0" bIns="0">
            <a:spAutoFit/>
          </a:bodyPr>
          <a:lstStyle>
            <a:lvl1pPr>
              <a:defRPr sz="1400" b="0" i="0">
                <a:solidFill>
                  <a:srgbClr val="292929"/>
                </a:solidFill>
                <a:latin typeface="Calibri"/>
                <a:cs typeface="Calibri"/>
              </a:defRPr>
            </a:lvl1pPr>
          </a:lstStyle>
          <a:p>
            <a:endParaRPr/>
          </a:p>
        </p:txBody>
      </p:sp>
      <p:sp>
        <p:nvSpPr>
          <p:cNvPr id="4" name="Holder 4"/>
          <p:cNvSpPr>
            <a:spLocks noGrp="1"/>
          </p:cNvSpPr>
          <p:nvPr>
            <p:ph sz="half" idx="3"/>
          </p:nvPr>
        </p:nvSpPr>
        <p:spPr>
          <a:xfrm>
            <a:off x="6584315" y="1716341"/>
            <a:ext cx="4798059" cy="4268470"/>
          </a:xfrm>
          <a:prstGeom prst="rect">
            <a:avLst/>
          </a:prstGeom>
        </p:spPr>
        <p:txBody>
          <a:bodyPr wrap="square" lIns="0" tIns="0" rIns="0" bIns="0">
            <a:spAutoFit/>
          </a:bodyPr>
          <a:lstStyle>
            <a:lvl1pPr>
              <a:defRPr sz="1400" b="0" i="0">
                <a:solidFill>
                  <a:srgbClr val="292929"/>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5/1/2025</a:t>
            </a:fld>
            <a:endParaRPr lang="en-US"/>
          </a:p>
        </p:txBody>
      </p:sp>
      <p:sp>
        <p:nvSpPr>
          <p:cNvPr id="7" name="Holder 7"/>
          <p:cNvSpPr>
            <a:spLocks noGrp="1"/>
          </p:cNvSpPr>
          <p:nvPr>
            <p:ph type="sldNum" sz="quarter" idx="7"/>
          </p:nvPr>
        </p:nvSpPr>
        <p:spPr/>
        <p:txBody>
          <a:bodyPr lIns="0" tIns="0" rIns="0" bIns="0"/>
          <a:lstStyle>
            <a:lvl1pPr>
              <a:defRPr sz="1550" b="0" i="0">
                <a:solidFill>
                  <a:srgbClr val="1C7CDB"/>
                </a:solidFill>
                <a:latin typeface="Microsoft Sans Serif"/>
                <a:cs typeface="Microsoft Sans Serif"/>
              </a:defRPr>
            </a:lvl1pPr>
          </a:lstStyle>
          <a:p>
            <a:pPr marL="160020">
              <a:lnSpc>
                <a:spcPts val="1810"/>
              </a:lnSpc>
            </a:pPr>
            <a:fld id="{81D60167-4931-47E6-BA6A-407CBD079E47}" type="slidenum">
              <a:rPr spc="35" dirty="0"/>
              <a:t>‹#›</a:t>
            </a:fld>
            <a:endParaRPr spc="3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50" b="0" i="0">
                <a:solidFill>
                  <a:srgbClr val="0A48CA"/>
                </a:solidFill>
                <a:latin typeface="Microsoft Sans Serif"/>
                <a:cs typeface="Microsoft Sans Serif"/>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5/1/2025</a:t>
            </a:fld>
            <a:endParaRPr lang="en-US"/>
          </a:p>
        </p:txBody>
      </p:sp>
      <p:sp>
        <p:nvSpPr>
          <p:cNvPr id="5" name="Holder 5"/>
          <p:cNvSpPr>
            <a:spLocks noGrp="1"/>
          </p:cNvSpPr>
          <p:nvPr>
            <p:ph type="sldNum" sz="quarter" idx="7"/>
          </p:nvPr>
        </p:nvSpPr>
        <p:spPr/>
        <p:txBody>
          <a:bodyPr lIns="0" tIns="0" rIns="0" bIns="0"/>
          <a:lstStyle>
            <a:lvl1pPr>
              <a:defRPr sz="1550" b="0" i="0">
                <a:solidFill>
                  <a:srgbClr val="1C7CDB"/>
                </a:solidFill>
                <a:latin typeface="Microsoft Sans Serif"/>
                <a:cs typeface="Microsoft Sans Serif"/>
              </a:defRPr>
            </a:lvl1pPr>
          </a:lstStyle>
          <a:p>
            <a:pPr marL="160020">
              <a:lnSpc>
                <a:spcPts val="1810"/>
              </a:lnSpc>
            </a:pPr>
            <a:fld id="{81D60167-4931-47E6-BA6A-407CBD079E47}" type="slidenum">
              <a:rPr spc="35" dirty="0"/>
              <a:t>‹#›</a:t>
            </a:fld>
            <a:endParaRPr spc="3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5/1/2025</a:t>
            </a:fld>
            <a:endParaRPr lang="en-US"/>
          </a:p>
        </p:txBody>
      </p:sp>
      <p:sp>
        <p:nvSpPr>
          <p:cNvPr id="4" name="Holder 4"/>
          <p:cNvSpPr>
            <a:spLocks noGrp="1"/>
          </p:cNvSpPr>
          <p:nvPr>
            <p:ph type="sldNum" sz="quarter" idx="7"/>
          </p:nvPr>
        </p:nvSpPr>
        <p:spPr/>
        <p:txBody>
          <a:bodyPr lIns="0" tIns="0" rIns="0" bIns="0"/>
          <a:lstStyle>
            <a:lvl1pPr>
              <a:defRPr sz="1550" b="0" i="0">
                <a:solidFill>
                  <a:srgbClr val="1C7CDB"/>
                </a:solidFill>
                <a:latin typeface="Microsoft Sans Serif"/>
                <a:cs typeface="Microsoft Sans Serif"/>
              </a:defRPr>
            </a:lvl1pPr>
          </a:lstStyle>
          <a:p>
            <a:pPr marL="160020">
              <a:lnSpc>
                <a:spcPts val="1810"/>
              </a:lnSpc>
            </a:pPr>
            <a:fld id="{81D60167-4931-47E6-BA6A-407CBD079E47}" type="slidenum">
              <a:rPr spc="35" dirty="0"/>
              <a:t>‹#›</a:t>
            </a:fld>
            <a:endParaRPr spc="3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87239" cy="6858000"/>
          </a:xfrm>
          <a:prstGeom prst="rect">
            <a:avLst/>
          </a:prstGeom>
        </p:spPr>
      </p:pic>
      <p:sp>
        <p:nvSpPr>
          <p:cNvPr id="2" name="Holder 2"/>
          <p:cNvSpPr>
            <a:spLocks noGrp="1"/>
          </p:cNvSpPr>
          <p:nvPr>
            <p:ph type="title"/>
          </p:nvPr>
        </p:nvSpPr>
        <p:spPr>
          <a:xfrm>
            <a:off x="849312" y="412368"/>
            <a:ext cx="10493375" cy="632460"/>
          </a:xfrm>
          <a:prstGeom prst="rect">
            <a:avLst/>
          </a:prstGeom>
        </p:spPr>
        <p:txBody>
          <a:bodyPr wrap="square" lIns="0" tIns="0" rIns="0" bIns="0">
            <a:spAutoFit/>
          </a:bodyPr>
          <a:lstStyle>
            <a:lvl1pPr>
              <a:defRPr sz="3650" b="0" i="0">
                <a:solidFill>
                  <a:srgbClr val="0A48CA"/>
                </a:solidFill>
                <a:latin typeface="Microsoft Sans Serif"/>
                <a:cs typeface="Microsoft Sans Serif"/>
              </a:defRPr>
            </a:lvl1pPr>
          </a:lstStyle>
          <a:p>
            <a:endParaRPr/>
          </a:p>
        </p:txBody>
      </p:sp>
      <p:sp>
        <p:nvSpPr>
          <p:cNvPr id="3" name="Holder 3"/>
          <p:cNvSpPr>
            <a:spLocks noGrp="1"/>
          </p:cNvSpPr>
          <p:nvPr>
            <p:ph type="body" idx="1"/>
          </p:nvPr>
        </p:nvSpPr>
        <p:spPr>
          <a:xfrm>
            <a:off x="849312" y="1511617"/>
            <a:ext cx="10333990" cy="2957829"/>
          </a:xfrm>
          <a:prstGeom prst="rect">
            <a:avLst/>
          </a:prstGeom>
        </p:spPr>
        <p:txBody>
          <a:bodyPr wrap="square" lIns="0" tIns="0" rIns="0" bIns="0">
            <a:spAutoFit/>
          </a:bodyPr>
          <a:lstStyle>
            <a:lvl1pPr>
              <a:defRPr sz="2000" b="0" i="0">
                <a:solidFill>
                  <a:srgbClr val="292929"/>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5/1/2025</a:t>
            </a:fld>
            <a:endParaRPr lang="en-US"/>
          </a:p>
        </p:txBody>
      </p:sp>
      <p:sp>
        <p:nvSpPr>
          <p:cNvPr id="6" name="Holder 6"/>
          <p:cNvSpPr>
            <a:spLocks noGrp="1"/>
          </p:cNvSpPr>
          <p:nvPr>
            <p:ph type="sldNum" sz="quarter" idx="7"/>
          </p:nvPr>
        </p:nvSpPr>
        <p:spPr>
          <a:xfrm>
            <a:off x="11091291" y="6113199"/>
            <a:ext cx="336550" cy="252729"/>
          </a:xfrm>
          <a:prstGeom prst="rect">
            <a:avLst/>
          </a:prstGeom>
        </p:spPr>
        <p:txBody>
          <a:bodyPr wrap="square" lIns="0" tIns="0" rIns="0" bIns="0">
            <a:spAutoFit/>
          </a:bodyPr>
          <a:lstStyle>
            <a:lvl1pPr>
              <a:defRPr sz="1550" b="0" i="0">
                <a:solidFill>
                  <a:srgbClr val="1C7CDB"/>
                </a:solidFill>
                <a:latin typeface="Microsoft Sans Serif"/>
                <a:cs typeface="Microsoft Sans Serif"/>
              </a:defRPr>
            </a:lvl1pPr>
          </a:lstStyle>
          <a:p>
            <a:pPr marL="160020">
              <a:lnSpc>
                <a:spcPts val="1810"/>
              </a:lnSpc>
            </a:pPr>
            <a:fld id="{81D60167-4931-47E6-BA6A-407CBD079E47}" type="slidenum">
              <a:rPr spc="35" dirty="0"/>
              <a:t>‹#›</a:t>
            </a:fld>
            <a:endParaRPr spc="3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8000"/>
          </a:xfrm>
          <a:prstGeom prst="rect">
            <a:avLst/>
          </a:prstGeom>
        </p:spPr>
      </p:pic>
      <p:sp>
        <p:nvSpPr>
          <p:cNvPr id="3" name="object 3"/>
          <p:cNvSpPr txBox="1"/>
          <p:nvPr/>
        </p:nvSpPr>
        <p:spPr>
          <a:xfrm>
            <a:off x="968057" y="4819332"/>
            <a:ext cx="2349500" cy="567690"/>
          </a:xfrm>
          <a:prstGeom prst="rect">
            <a:avLst/>
          </a:prstGeom>
        </p:spPr>
        <p:txBody>
          <a:bodyPr vert="horz" wrap="square" lIns="0" tIns="27305" rIns="0" bIns="0" rtlCol="0">
            <a:spAutoFit/>
          </a:bodyPr>
          <a:lstStyle/>
          <a:p>
            <a:pPr marL="12700" marR="5080">
              <a:lnSpc>
                <a:spcPts val="2110"/>
              </a:lnSpc>
              <a:spcBef>
                <a:spcPts val="215"/>
              </a:spcBef>
            </a:pPr>
            <a:r>
              <a:rPr sz="1800" spc="-100" dirty="0">
                <a:solidFill>
                  <a:srgbClr val="E7E6E6"/>
                </a:solidFill>
                <a:latin typeface="Microsoft Sans Serif"/>
                <a:cs typeface="Microsoft Sans Serif"/>
              </a:rPr>
              <a:t>Name:</a:t>
            </a:r>
            <a:r>
              <a:rPr sz="1800" spc="-20" dirty="0">
                <a:solidFill>
                  <a:srgbClr val="E7E6E6"/>
                </a:solidFill>
                <a:latin typeface="Microsoft Sans Serif"/>
                <a:cs typeface="Microsoft Sans Serif"/>
              </a:rPr>
              <a:t> </a:t>
            </a:r>
            <a:r>
              <a:rPr sz="1800" spc="-45" dirty="0">
                <a:solidFill>
                  <a:srgbClr val="E7E6E6"/>
                </a:solidFill>
                <a:latin typeface="Microsoft Sans Serif"/>
                <a:cs typeface="Microsoft Sans Serif"/>
              </a:rPr>
              <a:t>Srinibas</a:t>
            </a:r>
            <a:r>
              <a:rPr sz="1800" spc="-65" dirty="0">
                <a:solidFill>
                  <a:srgbClr val="E7E6E6"/>
                </a:solidFill>
                <a:latin typeface="Microsoft Sans Serif"/>
                <a:cs typeface="Microsoft Sans Serif"/>
              </a:rPr>
              <a:t> </a:t>
            </a:r>
            <a:r>
              <a:rPr sz="1800" spc="-75" dirty="0">
                <a:solidFill>
                  <a:srgbClr val="E7E6E6"/>
                </a:solidFill>
                <a:latin typeface="Microsoft Sans Serif"/>
                <a:cs typeface="Microsoft Sans Serif"/>
              </a:rPr>
              <a:t>Masanta </a:t>
            </a:r>
            <a:r>
              <a:rPr sz="1800" spc="-30" dirty="0">
                <a:solidFill>
                  <a:srgbClr val="E7E6E6"/>
                </a:solidFill>
                <a:latin typeface="Microsoft Sans Serif"/>
                <a:cs typeface="Microsoft Sans Serif"/>
              </a:rPr>
              <a:t>Date:</a:t>
            </a:r>
            <a:r>
              <a:rPr sz="1800" spc="-5" dirty="0">
                <a:solidFill>
                  <a:srgbClr val="E7E6E6"/>
                </a:solidFill>
                <a:latin typeface="Microsoft Sans Serif"/>
                <a:cs typeface="Microsoft Sans Serif"/>
              </a:rPr>
              <a:t> </a:t>
            </a:r>
            <a:r>
              <a:rPr sz="1800" spc="60" dirty="0">
                <a:solidFill>
                  <a:srgbClr val="E7E6E6"/>
                </a:solidFill>
                <a:latin typeface="Microsoft Sans Serif"/>
                <a:cs typeface="Microsoft Sans Serif"/>
              </a:rPr>
              <a:t>15</a:t>
            </a:r>
            <a:r>
              <a:rPr sz="1800" dirty="0">
                <a:solidFill>
                  <a:srgbClr val="E7E6E6"/>
                </a:solidFill>
                <a:latin typeface="Microsoft Sans Serif"/>
                <a:cs typeface="Microsoft Sans Serif"/>
              </a:rPr>
              <a:t> </a:t>
            </a:r>
            <a:r>
              <a:rPr sz="1800" spc="-80" dirty="0">
                <a:solidFill>
                  <a:srgbClr val="E7E6E6"/>
                </a:solidFill>
                <a:latin typeface="Microsoft Sans Serif"/>
                <a:cs typeface="Microsoft Sans Serif"/>
              </a:rPr>
              <a:t>July</a:t>
            </a:r>
            <a:r>
              <a:rPr sz="1800" spc="-35" dirty="0">
                <a:solidFill>
                  <a:srgbClr val="E7E6E6"/>
                </a:solidFill>
                <a:latin typeface="Microsoft Sans Serif"/>
                <a:cs typeface="Microsoft Sans Serif"/>
              </a:rPr>
              <a:t> </a:t>
            </a:r>
            <a:r>
              <a:rPr sz="1800" spc="45" dirty="0">
                <a:solidFill>
                  <a:srgbClr val="E7E6E6"/>
                </a:solidFill>
                <a:latin typeface="Microsoft Sans Serif"/>
                <a:cs typeface="Microsoft Sans Serif"/>
              </a:rPr>
              <a:t>2024</a:t>
            </a:r>
            <a:endParaRPr sz="1800">
              <a:latin typeface="Microsoft Sans Serif"/>
              <a:cs typeface="Microsoft Sans Serif"/>
            </a:endParaRPr>
          </a:p>
        </p:txBody>
      </p:sp>
      <p:pic>
        <p:nvPicPr>
          <p:cNvPr id="4" name="object 4"/>
          <p:cNvPicPr/>
          <p:nvPr/>
        </p:nvPicPr>
        <p:blipFill>
          <a:blip r:embed="rId3" cstate="print"/>
          <a:stretch>
            <a:fillRect/>
          </a:stretch>
        </p:blipFill>
        <p:spPr>
          <a:xfrm>
            <a:off x="885825" y="676275"/>
            <a:ext cx="2105025" cy="6286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7725" y="1564703"/>
            <a:ext cx="2543175" cy="2581910"/>
          </a:xfrm>
          <a:prstGeom prst="rect">
            <a:avLst/>
          </a:prstGeom>
        </p:spPr>
        <p:txBody>
          <a:bodyPr vert="horz" wrap="square" lIns="0" tIns="189865" rIns="0" bIns="0" rtlCol="0">
            <a:spAutoFit/>
          </a:bodyPr>
          <a:lstStyle/>
          <a:p>
            <a:pPr marL="240665" indent="-227965">
              <a:lnSpc>
                <a:spcPct val="100000"/>
              </a:lnSpc>
              <a:spcBef>
                <a:spcPts val="1495"/>
              </a:spcBef>
              <a:buClr>
                <a:srgbClr val="292929"/>
              </a:buClr>
              <a:buFont typeface="Arial MT"/>
              <a:buChar char="•"/>
              <a:tabLst>
                <a:tab pos="240665" algn="l"/>
              </a:tabLst>
            </a:pPr>
            <a:r>
              <a:rPr sz="2150" spc="-55" dirty="0">
                <a:solidFill>
                  <a:srgbClr val="292929"/>
                </a:solidFill>
                <a:latin typeface="Microsoft Sans Serif"/>
                <a:cs typeface="Microsoft Sans Serif"/>
              </a:rPr>
              <a:t>Executive</a:t>
            </a:r>
            <a:r>
              <a:rPr sz="2150" spc="-70" dirty="0">
                <a:solidFill>
                  <a:srgbClr val="292929"/>
                </a:solidFill>
                <a:latin typeface="Microsoft Sans Serif"/>
                <a:cs typeface="Microsoft Sans Serif"/>
              </a:rPr>
              <a:t> </a:t>
            </a:r>
            <a:r>
              <a:rPr sz="2150" spc="-75" dirty="0">
                <a:solidFill>
                  <a:srgbClr val="292929"/>
                </a:solidFill>
                <a:latin typeface="Microsoft Sans Serif"/>
                <a:cs typeface="Microsoft Sans Serif"/>
              </a:rPr>
              <a:t>Summary</a:t>
            </a:r>
            <a:endParaRPr sz="2150">
              <a:latin typeface="Microsoft Sans Serif"/>
              <a:cs typeface="Microsoft Sans Serif"/>
            </a:endParaRPr>
          </a:p>
          <a:p>
            <a:pPr marL="240665" indent="-227965">
              <a:lnSpc>
                <a:spcPct val="100000"/>
              </a:lnSpc>
              <a:spcBef>
                <a:spcPts val="1400"/>
              </a:spcBef>
              <a:buFont typeface="Arial MT"/>
              <a:buChar char="•"/>
              <a:tabLst>
                <a:tab pos="240665" algn="l"/>
              </a:tabLst>
            </a:pPr>
            <a:r>
              <a:rPr sz="2150" spc="-10" dirty="0">
                <a:solidFill>
                  <a:srgbClr val="292929"/>
                </a:solidFill>
                <a:latin typeface="Microsoft Sans Serif"/>
                <a:cs typeface="Microsoft Sans Serif"/>
              </a:rPr>
              <a:t>Introduction</a:t>
            </a:r>
            <a:endParaRPr sz="2150">
              <a:latin typeface="Microsoft Sans Serif"/>
              <a:cs typeface="Microsoft Sans Serif"/>
            </a:endParaRPr>
          </a:p>
          <a:p>
            <a:pPr marL="240665" indent="-227965">
              <a:lnSpc>
                <a:spcPct val="100000"/>
              </a:lnSpc>
              <a:spcBef>
                <a:spcPts val="1475"/>
              </a:spcBef>
              <a:buFont typeface="Arial MT"/>
              <a:buChar char="•"/>
              <a:tabLst>
                <a:tab pos="240665" algn="l"/>
              </a:tabLst>
            </a:pPr>
            <a:r>
              <a:rPr sz="2150" spc="-10" dirty="0">
                <a:solidFill>
                  <a:srgbClr val="292929"/>
                </a:solidFill>
                <a:latin typeface="Microsoft Sans Serif"/>
                <a:cs typeface="Microsoft Sans Serif"/>
              </a:rPr>
              <a:t>Methodology</a:t>
            </a:r>
            <a:endParaRPr sz="2150">
              <a:latin typeface="Microsoft Sans Serif"/>
              <a:cs typeface="Microsoft Sans Serif"/>
            </a:endParaRPr>
          </a:p>
          <a:p>
            <a:pPr marL="240665" indent="-227965">
              <a:lnSpc>
                <a:spcPct val="100000"/>
              </a:lnSpc>
              <a:spcBef>
                <a:spcPts val="1475"/>
              </a:spcBef>
              <a:buFont typeface="Arial MT"/>
              <a:buChar char="•"/>
              <a:tabLst>
                <a:tab pos="240665" algn="l"/>
              </a:tabLst>
            </a:pPr>
            <a:r>
              <a:rPr sz="2150" spc="-10" dirty="0">
                <a:solidFill>
                  <a:srgbClr val="292929"/>
                </a:solidFill>
                <a:latin typeface="Microsoft Sans Serif"/>
                <a:cs typeface="Microsoft Sans Serif"/>
              </a:rPr>
              <a:t>Results</a:t>
            </a:r>
            <a:endParaRPr sz="2150">
              <a:latin typeface="Microsoft Sans Serif"/>
              <a:cs typeface="Microsoft Sans Serif"/>
            </a:endParaRPr>
          </a:p>
          <a:p>
            <a:pPr marL="240665" indent="-227965">
              <a:lnSpc>
                <a:spcPct val="100000"/>
              </a:lnSpc>
              <a:spcBef>
                <a:spcPts val="1475"/>
              </a:spcBef>
              <a:buFont typeface="Arial MT"/>
              <a:buChar char="•"/>
              <a:tabLst>
                <a:tab pos="240665" algn="l"/>
              </a:tabLst>
            </a:pPr>
            <a:r>
              <a:rPr sz="2150" spc="-10" dirty="0">
                <a:solidFill>
                  <a:srgbClr val="292929"/>
                </a:solidFill>
                <a:latin typeface="Microsoft Sans Serif"/>
                <a:cs typeface="Microsoft Sans Serif"/>
              </a:rPr>
              <a:t>Conclusion</a:t>
            </a:r>
            <a:endParaRPr sz="2150">
              <a:latin typeface="Microsoft Sans Serif"/>
              <a:cs typeface="Microsoft Sans Serif"/>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60020">
              <a:lnSpc>
                <a:spcPts val="1810"/>
              </a:lnSpc>
            </a:pPr>
            <a:fld id="{81D60167-4931-47E6-BA6A-407CBD079E47}" type="slidenum">
              <a:rPr spc="35" dirty="0"/>
              <a:t>2</a:t>
            </a:fld>
            <a:endParaRPr spc="35"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35" dirty="0"/>
              <a:t>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60020">
              <a:lnSpc>
                <a:spcPts val="1810"/>
              </a:lnSpc>
            </a:pPr>
            <a:fld id="{81D60167-4931-47E6-BA6A-407CBD079E47}" type="slidenum">
              <a:rPr spc="35" dirty="0"/>
              <a:t>3</a:t>
            </a:fld>
            <a:endParaRPr spc="35" dirty="0"/>
          </a:p>
        </p:txBody>
      </p:sp>
      <p:sp>
        <p:nvSpPr>
          <p:cNvPr id="3" name="object 3"/>
          <p:cNvSpPr txBox="1">
            <a:spLocks noGrp="1"/>
          </p:cNvSpPr>
          <p:nvPr>
            <p:ph type="title"/>
          </p:nvPr>
        </p:nvSpPr>
        <p:spPr>
          <a:xfrm>
            <a:off x="849312" y="420624"/>
            <a:ext cx="3879215" cy="586740"/>
          </a:xfrm>
          <a:prstGeom prst="rect">
            <a:avLst/>
          </a:prstGeom>
        </p:spPr>
        <p:txBody>
          <a:bodyPr vert="horz" wrap="square" lIns="0" tIns="16510" rIns="0" bIns="0" rtlCol="0">
            <a:spAutoFit/>
          </a:bodyPr>
          <a:lstStyle/>
          <a:p>
            <a:pPr marL="12700">
              <a:lnSpc>
                <a:spcPct val="100000"/>
              </a:lnSpc>
              <a:spcBef>
                <a:spcPts val="130"/>
              </a:spcBef>
            </a:pPr>
            <a:r>
              <a:rPr spc="-110" dirty="0"/>
              <a:t>Executive</a:t>
            </a:r>
            <a:r>
              <a:rPr spc="-90" dirty="0"/>
              <a:t> </a:t>
            </a:r>
            <a:r>
              <a:rPr spc="-140" dirty="0"/>
              <a:t>Summary</a:t>
            </a:r>
          </a:p>
        </p:txBody>
      </p:sp>
      <p:sp>
        <p:nvSpPr>
          <p:cNvPr id="11" name="TextBox 10">
            <a:extLst>
              <a:ext uri="{FF2B5EF4-FFF2-40B4-BE49-F238E27FC236}">
                <a16:creationId xmlns:a16="http://schemas.microsoft.com/office/drawing/2014/main" id="{19EF6CC7-3E37-96C0-97CB-B72E1052579A}"/>
              </a:ext>
            </a:extLst>
          </p:cNvPr>
          <p:cNvSpPr txBox="1"/>
          <p:nvPr/>
        </p:nvSpPr>
        <p:spPr>
          <a:xfrm>
            <a:off x="823749" y="1410892"/>
            <a:ext cx="5052848" cy="4865050"/>
          </a:xfrm>
          <a:prstGeom prst="rect">
            <a:avLst/>
          </a:prstGeom>
          <a:noFill/>
        </p:spPr>
        <p:txBody>
          <a:bodyPr wrap="square">
            <a:spAutoFit/>
          </a:bodyPr>
          <a:lstStyle/>
          <a:p>
            <a:pPr>
              <a:lnSpc>
                <a:spcPct val="150000"/>
              </a:lnSpc>
              <a:buNone/>
            </a:pPr>
            <a:r>
              <a:rPr lang="en-US" sz="1600" b="1" dirty="0"/>
              <a:t>Summary of Methodologies</a:t>
            </a:r>
          </a:p>
          <a:p>
            <a:pPr>
              <a:lnSpc>
                <a:spcPct val="150000"/>
              </a:lnSpc>
              <a:buFont typeface="+mj-lt"/>
              <a:buAutoNum type="arabicPeriod"/>
            </a:pPr>
            <a:r>
              <a:rPr lang="en-US" sz="1200" b="1" dirty="0"/>
              <a:t>Data Collection</a:t>
            </a:r>
            <a:endParaRPr lang="en-US" sz="1200" dirty="0"/>
          </a:p>
          <a:p>
            <a:pPr marL="742950" lvl="1" indent="-285750">
              <a:lnSpc>
                <a:spcPct val="150000"/>
              </a:lnSpc>
              <a:buFont typeface="+mj-lt"/>
              <a:buAutoNum type="arabicPeriod"/>
            </a:pPr>
            <a:r>
              <a:rPr lang="en-US" sz="1200" dirty="0"/>
              <a:t>Retrieved SpaceX launch data via API and performed web scraping from Wikipedia.</a:t>
            </a:r>
          </a:p>
          <a:p>
            <a:pPr>
              <a:lnSpc>
                <a:spcPct val="150000"/>
              </a:lnSpc>
              <a:buFont typeface="+mj-lt"/>
              <a:buAutoNum type="arabicPeriod"/>
            </a:pPr>
            <a:r>
              <a:rPr lang="en-US" sz="1200" b="1" dirty="0"/>
              <a:t>Data Cleaning &amp; Preparation</a:t>
            </a:r>
            <a:endParaRPr lang="en-US" sz="1200" dirty="0"/>
          </a:p>
          <a:p>
            <a:pPr marL="742950" lvl="1" indent="-285750">
              <a:lnSpc>
                <a:spcPct val="150000"/>
              </a:lnSpc>
              <a:buFont typeface="+mj-lt"/>
              <a:buAutoNum type="arabicPeriod"/>
            </a:pPr>
            <a:r>
              <a:rPr lang="en-US" sz="1200" dirty="0"/>
              <a:t>Cleaned and standardized raw data for analysis.</a:t>
            </a:r>
          </a:p>
          <a:p>
            <a:pPr marL="742950" lvl="1" indent="-285750">
              <a:lnSpc>
                <a:spcPct val="150000"/>
              </a:lnSpc>
              <a:buFont typeface="+mj-lt"/>
              <a:buAutoNum type="arabicPeriod"/>
            </a:pPr>
            <a:r>
              <a:rPr lang="en-US" sz="1200" dirty="0"/>
              <a:t>Stored datasets in a Db2 database and executed SQL queries for data retrieval.</a:t>
            </a:r>
          </a:p>
          <a:p>
            <a:pPr marL="742950" lvl="1" indent="-285750">
              <a:lnSpc>
                <a:spcPct val="150000"/>
              </a:lnSpc>
              <a:buFont typeface="+mj-lt"/>
              <a:buAutoNum type="arabicPeriod"/>
            </a:pPr>
            <a:r>
              <a:rPr lang="en-US" sz="1200" dirty="0"/>
              <a:t>Performed exploratory data analysis to uncover initial trends.</a:t>
            </a:r>
          </a:p>
          <a:p>
            <a:pPr>
              <a:lnSpc>
                <a:spcPct val="150000"/>
              </a:lnSpc>
              <a:buFont typeface="+mj-lt"/>
              <a:buAutoNum type="arabicPeriod"/>
            </a:pPr>
            <a:r>
              <a:rPr lang="en-US" sz="1200" b="1" dirty="0"/>
              <a:t>Feature Engineering</a:t>
            </a:r>
            <a:endParaRPr lang="en-US" sz="1200" dirty="0"/>
          </a:p>
          <a:p>
            <a:pPr marL="742950" lvl="1" indent="-285750">
              <a:lnSpc>
                <a:spcPct val="150000"/>
              </a:lnSpc>
              <a:buFont typeface="+mj-lt"/>
              <a:buAutoNum type="arabicPeriod"/>
            </a:pPr>
            <a:r>
              <a:rPr lang="en-US" sz="1200" dirty="0"/>
              <a:t>Engineered new features and normalized data to improve model performance.</a:t>
            </a:r>
          </a:p>
          <a:p>
            <a:pPr>
              <a:lnSpc>
                <a:spcPct val="150000"/>
              </a:lnSpc>
              <a:buFont typeface="+mj-lt"/>
              <a:buAutoNum type="arabicPeriod"/>
            </a:pPr>
            <a:r>
              <a:rPr lang="en-US" sz="1200" b="1" dirty="0"/>
              <a:t>Interactive Visualizations</a:t>
            </a:r>
            <a:endParaRPr lang="en-US" sz="1200" dirty="0"/>
          </a:p>
          <a:p>
            <a:pPr marL="742950" lvl="1" indent="-285750">
              <a:lnSpc>
                <a:spcPct val="150000"/>
              </a:lnSpc>
              <a:buFont typeface="+mj-lt"/>
              <a:buAutoNum type="arabicPeriod"/>
            </a:pPr>
            <a:r>
              <a:rPr lang="en-US" sz="1200" dirty="0"/>
              <a:t>Used Folium to map launch sites and analyze success rates geographically.</a:t>
            </a:r>
          </a:p>
          <a:p>
            <a:pPr marL="742950" lvl="1" indent="-285750">
              <a:lnSpc>
                <a:spcPct val="150000"/>
              </a:lnSpc>
              <a:buFont typeface="+mj-lt"/>
              <a:buAutoNum type="arabicPeriod"/>
            </a:pPr>
            <a:r>
              <a:rPr lang="en-US" sz="1200" dirty="0"/>
              <a:t>Developed an interactive dashboard using </a:t>
            </a:r>
            <a:r>
              <a:rPr lang="en-US" sz="1200" dirty="0" err="1"/>
              <a:t>Plotly</a:t>
            </a:r>
            <a:r>
              <a:rPr lang="en-US" sz="1200" dirty="0"/>
              <a:t> Dash for real-time data exploration.</a:t>
            </a:r>
          </a:p>
        </p:txBody>
      </p:sp>
      <p:sp>
        <p:nvSpPr>
          <p:cNvPr id="12" name="TextBox 11">
            <a:extLst>
              <a:ext uri="{FF2B5EF4-FFF2-40B4-BE49-F238E27FC236}">
                <a16:creationId xmlns:a16="http://schemas.microsoft.com/office/drawing/2014/main" id="{463FE1C5-B01F-5899-630B-5A20F7733DA0}"/>
              </a:ext>
            </a:extLst>
          </p:cNvPr>
          <p:cNvSpPr txBox="1"/>
          <p:nvPr/>
        </p:nvSpPr>
        <p:spPr>
          <a:xfrm>
            <a:off x="6152493" y="1410892"/>
            <a:ext cx="5251359" cy="5142049"/>
          </a:xfrm>
          <a:prstGeom prst="rect">
            <a:avLst/>
          </a:prstGeom>
          <a:noFill/>
        </p:spPr>
        <p:txBody>
          <a:bodyPr wrap="square">
            <a:spAutoFit/>
          </a:bodyPr>
          <a:lstStyle/>
          <a:p>
            <a:pPr>
              <a:lnSpc>
                <a:spcPct val="150000"/>
              </a:lnSpc>
            </a:pPr>
            <a:r>
              <a:rPr lang="en-US" sz="1200" b="1" dirty="0"/>
              <a:t>5.Model Building &amp; Evaluation</a:t>
            </a:r>
            <a:endParaRPr lang="en-US" sz="1200" dirty="0"/>
          </a:p>
          <a:p>
            <a:pPr marL="742950" lvl="1" indent="-285750">
              <a:lnSpc>
                <a:spcPct val="150000"/>
              </a:lnSpc>
              <a:buFont typeface="+mj-lt"/>
              <a:buAutoNum type="arabicPeriod"/>
            </a:pPr>
            <a:r>
              <a:rPr lang="en-US" sz="1200" dirty="0"/>
              <a:t>Built classification models using SVM, Decision Trees, and K-Nearest Neighbors.</a:t>
            </a:r>
          </a:p>
          <a:p>
            <a:pPr marL="742950" lvl="1" indent="-285750">
              <a:lnSpc>
                <a:spcPct val="150000"/>
              </a:lnSpc>
              <a:buFont typeface="+mj-lt"/>
              <a:buAutoNum type="arabicPeriod"/>
            </a:pPr>
            <a:r>
              <a:rPr lang="en-US" sz="1200" dirty="0"/>
              <a:t>Tuned model parameters using </a:t>
            </a:r>
            <a:r>
              <a:rPr lang="en-US" sz="1200" dirty="0" err="1"/>
              <a:t>GridSearchCV</a:t>
            </a:r>
            <a:r>
              <a:rPr lang="en-US" sz="1200" dirty="0"/>
              <a:t>.</a:t>
            </a:r>
          </a:p>
          <a:p>
            <a:pPr marL="742950" lvl="1" indent="-285750">
              <a:lnSpc>
                <a:spcPct val="150000"/>
              </a:lnSpc>
              <a:buFont typeface="+mj-lt"/>
              <a:buAutoNum type="arabicPeriod"/>
            </a:pPr>
            <a:r>
              <a:rPr lang="en-US" sz="1200" dirty="0"/>
              <a:t>Assessed model accuracy using a test dataset.</a:t>
            </a:r>
            <a:endParaRPr lang="en-US" sz="1200" b="1" dirty="0"/>
          </a:p>
          <a:p>
            <a:pPr>
              <a:lnSpc>
                <a:spcPct val="150000"/>
              </a:lnSpc>
              <a:buNone/>
            </a:pPr>
            <a:r>
              <a:rPr lang="en-US" sz="1600" b="1" dirty="0"/>
              <a:t>Summary of Results</a:t>
            </a:r>
          </a:p>
          <a:p>
            <a:pPr>
              <a:lnSpc>
                <a:spcPct val="150000"/>
              </a:lnSpc>
              <a:buFont typeface="+mj-lt"/>
              <a:buAutoNum type="arabicPeriod"/>
            </a:pPr>
            <a:r>
              <a:rPr lang="en-US" sz="1200" b="1" dirty="0"/>
              <a:t>Data Insights</a:t>
            </a:r>
            <a:endParaRPr lang="en-US" sz="1200" dirty="0"/>
          </a:p>
          <a:p>
            <a:pPr marL="742950" lvl="1" indent="-285750">
              <a:lnSpc>
                <a:spcPct val="150000"/>
              </a:lnSpc>
              <a:buFont typeface="+mj-lt"/>
              <a:buAutoNum type="arabicPeriod"/>
            </a:pPr>
            <a:r>
              <a:rPr lang="en-US" sz="1200" dirty="0"/>
              <a:t>Discovered key factors influencing Falcon 9 first stage landing outcomes.</a:t>
            </a:r>
          </a:p>
          <a:p>
            <a:pPr marL="742950" lvl="1" indent="-285750">
              <a:lnSpc>
                <a:spcPct val="150000"/>
              </a:lnSpc>
              <a:buFont typeface="+mj-lt"/>
              <a:buAutoNum type="arabicPeriod"/>
            </a:pPr>
            <a:r>
              <a:rPr lang="en-US" sz="1200" dirty="0"/>
              <a:t>Identified spatial patterns in launch success rates.</a:t>
            </a:r>
          </a:p>
          <a:p>
            <a:pPr>
              <a:lnSpc>
                <a:spcPct val="150000"/>
              </a:lnSpc>
              <a:buFont typeface="+mj-lt"/>
              <a:buAutoNum type="arabicPeriod"/>
            </a:pPr>
            <a:r>
              <a:rPr lang="en-US" sz="1200" b="1" dirty="0"/>
              <a:t>Model Performance</a:t>
            </a:r>
            <a:endParaRPr lang="en-US" sz="1200" dirty="0"/>
          </a:p>
          <a:p>
            <a:pPr marL="742950" lvl="1" indent="-285750">
              <a:lnSpc>
                <a:spcPct val="150000"/>
              </a:lnSpc>
              <a:buFont typeface="+mj-lt"/>
              <a:buAutoNum type="arabicPeriod"/>
            </a:pPr>
            <a:r>
              <a:rPr lang="en-US" sz="1200" dirty="0"/>
              <a:t>SVM and K-Nearest Neighbors achieved 83.33% accuracy.</a:t>
            </a:r>
          </a:p>
          <a:p>
            <a:pPr marL="742950" lvl="1" indent="-285750">
              <a:lnSpc>
                <a:spcPct val="150000"/>
              </a:lnSpc>
              <a:buFont typeface="+mj-lt"/>
              <a:buAutoNum type="arabicPeriod"/>
            </a:pPr>
            <a:r>
              <a:rPr lang="en-US" sz="1200" dirty="0"/>
              <a:t>Decision Tree model reached 94.44% accuracy.</a:t>
            </a:r>
          </a:p>
          <a:p>
            <a:pPr>
              <a:lnSpc>
                <a:spcPct val="150000"/>
              </a:lnSpc>
              <a:buFont typeface="+mj-lt"/>
              <a:buAutoNum type="arabicPeriod"/>
            </a:pPr>
            <a:r>
              <a:rPr lang="en-US" sz="1200" b="1" dirty="0"/>
              <a:t>Key Findings</a:t>
            </a:r>
            <a:endParaRPr lang="en-US" sz="1200" dirty="0"/>
          </a:p>
          <a:p>
            <a:pPr marL="742950" lvl="1" indent="-285750">
              <a:lnSpc>
                <a:spcPct val="150000"/>
              </a:lnSpc>
              <a:buFont typeface="+mj-lt"/>
              <a:buAutoNum type="arabicPeriod"/>
            </a:pPr>
            <a:r>
              <a:rPr lang="en-US" sz="1200" dirty="0"/>
              <a:t>Launch site location and payload mass significantly impact landing success.</a:t>
            </a:r>
          </a:p>
          <a:p>
            <a:pPr marL="742950" lvl="1" indent="-285750">
              <a:lnSpc>
                <a:spcPct val="150000"/>
              </a:lnSpc>
              <a:buFont typeface="+mj-lt"/>
              <a:buAutoNum type="arabicPeriod"/>
            </a:pPr>
            <a:r>
              <a:rPr lang="en-US" sz="1200" dirty="0"/>
              <a:t>The Decision Tree model proved to be the most effective predictor.</a:t>
            </a:r>
          </a:p>
          <a:p>
            <a:pPr>
              <a:lnSpc>
                <a:spcPct val="150000"/>
              </a:lnSpc>
            </a:pPr>
            <a:endParaRPr lang="en-US" sz="1200" b="0" i="0" u="none" strike="noStrike" baseline="0" dirty="0">
              <a:solidFill>
                <a:srgbClr val="7B7B7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70485">
              <a:lnSpc>
                <a:spcPct val="100000"/>
              </a:lnSpc>
              <a:spcBef>
                <a:spcPts val="130"/>
              </a:spcBef>
            </a:pPr>
            <a:r>
              <a:rPr spc="-10" dirty="0"/>
              <a:t>Introduction</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60020">
              <a:lnSpc>
                <a:spcPts val="1810"/>
              </a:lnSpc>
            </a:pPr>
            <a:fld id="{81D60167-4931-47E6-BA6A-407CBD079E47}" type="slidenum">
              <a:rPr spc="35" dirty="0"/>
              <a:t>4</a:t>
            </a:fld>
            <a:endParaRPr spc="35" dirty="0"/>
          </a:p>
        </p:txBody>
      </p:sp>
      <p:sp>
        <p:nvSpPr>
          <p:cNvPr id="5" name="TextBox 4">
            <a:extLst>
              <a:ext uri="{FF2B5EF4-FFF2-40B4-BE49-F238E27FC236}">
                <a16:creationId xmlns:a16="http://schemas.microsoft.com/office/drawing/2014/main" id="{8B6B7DD2-C13D-7A4C-DC5B-EFAA8643D9D0}"/>
              </a:ext>
            </a:extLst>
          </p:cNvPr>
          <p:cNvSpPr txBox="1"/>
          <p:nvPr/>
        </p:nvSpPr>
        <p:spPr>
          <a:xfrm>
            <a:off x="828068" y="1481959"/>
            <a:ext cx="10530114" cy="1900777"/>
          </a:xfrm>
          <a:prstGeom prst="rect">
            <a:avLst/>
          </a:prstGeom>
          <a:noFill/>
        </p:spPr>
        <p:txBody>
          <a:bodyPr wrap="square" rtlCol="0">
            <a:spAutoFit/>
          </a:bodyPr>
          <a:lstStyle/>
          <a:p>
            <a:pPr>
              <a:lnSpc>
                <a:spcPct val="150000"/>
              </a:lnSpc>
              <a:buNone/>
            </a:pPr>
            <a:r>
              <a:rPr lang="en-US" sz="1600" b="1" dirty="0"/>
              <a:t>Project Background and Context</a:t>
            </a:r>
          </a:p>
          <a:p>
            <a:pPr>
              <a:lnSpc>
                <a:spcPct val="150000"/>
              </a:lnSpc>
              <a:buNone/>
            </a:pPr>
            <a:r>
              <a:rPr lang="en-US" sz="1600" dirty="0"/>
              <a:t>This capstone project focuses on predicting the successful landing of the Falcon 9 first stage. SpaceX offers rocket launches at significantly reduced costs, primarily due to their ability to reuse the first stage of their rockets. By developing accurate predictive models for landing outcomes, we aim to estimate potential launch costs and deliver valuable insights for companies competing with SpaceX in the commercial space sector.</a:t>
            </a:r>
          </a:p>
        </p:txBody>
      </p:sp>
      <p:sp>
        <p:nvSpPr>
          <p:cNvPr id="6" name="TextBox 5">
            <a:extLst>
              <a:ext uri="{FF2B5EF4-FFF2-40B4-BE49-F238E27FC236}">
                <a16:creationId xmlns:a16="http://schemas.microsoft.com/office/drawing/2014/main" id="{021DCBDB-99AE-7463-002B-F370A754B29C}"/>
              </a:ext>
            </a:extLst>
          </p:cNvPr>
          <p:cNvSpPr txBox="1"/>
          <p:nvPr/>
        </p:nvSpPr>
        <p:spPr>
          <a:xfrm>
            <a:off x="828068" y="4017481"/>
            <a:ext cx="10530114" cy="1531445"/>
          </a:xfrm>
          <a:prstGeom prst="rect">
            <a:avLst/>
          </a:prstGeom>
          <a:noFill/>
        </p:spPr>
        <p:txBody>
          <a:bodyPr wrap="square">
            <a:spAutoFit/>
          </a:bodyPr>
          <a:lstStyle/>
          <a:p>
            <a:pPr>
              <a:lnSpc>
                <a:spcPct val="150000"/>
              </a:lnSpc>
              <a:buNone/>
            </a:pPr>
            <a:r>
              <a:rPr lang="en-US" sz="1600" b="1" dirty="0"/>
              <a:t>Research Questions</a:t>
            </a:r>
          </a:p>
          <a:p>
            <a:pPr>
              <a:lnSpc>
                <a:spcPct val="150000"/>
              </a:lnSpc>
              <a:buFont typeface="Arial" panose="020B0604020202020204" pitchFamily="34" charset="0"/>
              <a:buChar char="•"/>
            </a:pPr>
            <a:r>
              <a:rPr lang="en-US" sz="1600" dirty="0"/>
              <a:t>What key factors influence the successful landing of the Falcon 9 first stage?</a:t>
            </a:r>
          </a:p>
          <a:p>
            <a:pPr>
              <a:lnSpc>
                <a:spcPct val="150000"/>
              </a:lnSpc>
              <a:buFont typeface="Arial" panose="020B0604020202020204" pitchFamily="34" charset="0"/>
              <a:buChar char="•"/>
            </a:pPr>
            <a:r>
              <a:rPr lang="en-US" sz="1600" dirty="0"/>
              <a:t>How can machine learning models be leveraged to accurately predict landing outcomes?</a:t>
            </a:r>
          </a:p>
          <a:p>
            <a:pPr>
              <a:lnSpc>
                <a:spcPct val="150000"/>
              </a:lnSpc>
              <a:buFont typeface="Arial" panose="020B0604020202020204" pitchFamily="34" charset="0"/>
              <a:buChar char="•"/>
            </a:pPr>
            <a:r>
              <a:rPr lang="en-US" sz="1600" dirty="0"/>
              <a:t>Which machine learning algorithm delivers the highest predictive performance for landing success?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8000"/>
          </a:xfrm>
          <a:prstGeom prst="rect">
            <a:avLst/>
          </a:prstGeom>
        </p:spPr>
      </p:pic>
      <p:sp>
        <p:nvSpPr>
          <p:cNvPr id="3" name="object 3"/>
          <p:cNvSpPr txBox="1"/>
          <p:nvPr/>
        </p:nvSpPr>
        <p:spPr>
          <a:xfrm>
            <a:off x="11973559" y="6403657"/>
            <a:ext cx="146685" cy="266065"/>
          </a:xfrm>
          <a:prstGeom prst="rect">
            <a:avLst/>
          </a:prstGeom>
        </p:spPr>
        <p:txBody>
          <a:bodyPr vert="horz" wrap="square" lIns="0" tIns="15875" rIns="0" bIns="0" rtlCol="0">
            <a:spAutoFit/>
          </a:bodyPr>
          <a:lstStyle/>
          <a:p>
            <a:pPr marL="12700">
              <a:lnSpc>
                <a:spcPct val="100000"/>
              </a:lnSpc>
              <a:spcBef>
                <a:spcPts val="125"/>
              </a:spcBef>
            </a:pPr>
            <a:r>
              <a:rPr sz="1550" spc="35" dirty="0">
                <a:solidFill>
                  <a:srgbClr val="1C7CDB"/>
                </a:solidFill>
                <a:latin typeface="Microsoft Sans Serif"/>
                <a:cs typeface="Microsoft Sans Serif"/>
              </a:rPr>
              <a:t>5</a:t>
            </a:r>
            <a:endParaRPr sz="1550">
              <a:latin typeface="Microsoft Sans Serif"/>
              <a:cs typeface="Microsoft Sans Serif"/>
            </a:endParaRPr>
          </a:p>
        </p:txBody>
      </p:sp>
      <p:sp>
        <p:nvSpPr>
          <p:cNvPr id="4" name="object 4"/>
          <p:cNvSpPr txBox="1"/>
          <p:nvPr/>
        </p:nvSpPr>
        <p:spPr>
          <a:xfrm>
            <a:off x="762000" y="2809875"/>
            <a:ext cx="1057275" cy="371475"/>
          </a:xfrm>
          <a:prstGeom prst="rect">
            <a:avLst/>
          </a:prstGeom>
          <a:solidFill>
            <a:srgbClr val="0947CA"/>
          </a:solidFill>
        </p:spPr>
        <p:txBody>
          <a:bodyPr vert="horz" wrap="square" lIns="0" tIns="33655" rIns="0" bIns="0" rtlCol="0">
            <a:spAutoFit/>
          </a:bodyPr>
          <a:lstStyle/>
          <a:p>
            <a:pPr marL="95250">
              <a:lnSpc>
                <a:spcPct val="100000"/>
              </a:lnSpc>
              <a:spcBef>
                <a:spcPts val="265"/>
              </a:spcBef>
            </a:pPr>
            <a:r>
              <a:rPr sz="1800" dirty="0">
                <a:solidFill>
                  <a:srgbClr val="FFFFFF"/>
                </a:solidFill>
                <a:latin typeface="Calibri"/>
                <a:cs typeface="Calibri"/>
              </a:rPr>
              <a:t>Section</a:t>
            </a:r>
            <a:r>
              <a:rPr sz="1800" spc="-10" dirty="0">
                <a:solidFill>
                  <a:srgbClr val="FFFFFF"/>
                </a:solidFill>
                <a:latin typeface="Calibri"/>
                <a:cs typeface="Calibri"/>
              </a:rPr>
              <a:t> </a:t>
            </a:r>
            <a:r>
              <a:rPr sz="1800" spc="-50" dirty="0">
                <a:solidFill>
                  <a:srgbClr val="FFFFFF"/>
                </a:solidFill>
                <a:latin typeface="Calibri"/>
                <a:cs typeface="Calibri"/>
              </a:rPr>
              <a:t>1</a:t>
            </a:r>
            <a:endParaRPr sz="18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312" y="1414716"/>
            <a:ext cx="10578528" cy="4178644"/>
          </a:xfrm>
          <a:prstGeom prst="rect">
            <a:avLst/>
          </a:prstGeom>
        </p:spPr>
        <p:txBody>
          <a:bodyPr vert="horz" wrap="square" lIns="0" tIns="10795" rIns="0" bIns="0" rtlCol="0">
            <a:spAutoFit/>
          </a:bodyPr>
          <a:lstStyle/>
          <a:p>
            <a:pPr>
              <a:lnSpc>
                <a:spcPct val="150000"/>
              </a:lnSpc>
              <a:buNone/>
            </a:pPr>
            <a:r>
              <a:rPr lang="en-US" sz="1400" b="1" dirty="0">
                <a:latin typeface="+mj-lt"/>
              </a:rPr>
              <a:t>Executive Summary</a:t>
            </a:r>
          </a:p>
          <a:p>
            <a:pPr>
              <a:lnSpc>
                <a:spcPct val="150000"/>
              </a:lnSpc>
              <a:buNone/>
            </a:pPr>
            <a:r>
              <a:rPr lang="en-US" sz="1400" dirty="0">
                <a:latin typeface="+mj-lt"/>
              </a:rPr>
              <a:t>This project adopts a comprehensive data-driven approach to predict the successful landing of SpaceX’s Falcon 9 first stage. It integrates key stages including data acquisition, cleaning, exploratory analysis, interactive visualization, and machine learning-based predictive modeling to generate actionable insights.</a:t>
            </a:r>
          </a:p>
          <a:p>
            <a:pPr>
              <a:lnSpc>
                <a:spcPct val="150000"/>
              </a:lnSpc>
              <a:buNone/>
            </a:pPr>
            <a:r>
              <a:rPr lang="en-US" sz="1400" b="1" dirty="0">
                <a:latin typeface="+mj-lt"/>
              </a:rPr>
              <a:t>Data Collection Methodology</a:t>
            </a:r>
          </a:p>
          <a:p>
            <a:pPr>
              <a:lnSpc>
                <a:spcPct val="150000"/>
              </a:lnSpc>
              <a:buNone/>
            </a:pPr>
            <a:r>
              <a:rPr lang="en-US" sz="1400" dirty="0">
                <a:latin typeface="+mj-lt"/>
              </a:rPr>
              <a:t>Data was retrieved from the SpaceX API, offering detailed information on Falcon 9 launches such as dates, launch sites, payload specifications, and mission outcomes.</a:t>
            </a:r>
          </a:p>
          <a:p>
            <a:pPr>
              <a:lnSpc>
                <a:spcPct val="150000"/>
              </a:lnSpc>
              <a:buNone/>
            </a:pPr>
            <a:r>
              <a:rPr lang="en-US" sz="1400" b="1" dirty="0">
                <a:latin typeface="+mj-lt"/>
              </a:rPr>
              <a:t>Data Wrangling</a:t>
            </a:r>
          </a:p>
          <a:p>
            <a:pPr>
              <a:lnSpc>
                <a:spcPct val="150000"/>
              </a:lnSpc>
              <a:buNone/>
            </a:pPr>
            <a:r>
              <a:rPr lang="en-US" sz="1400" dirty="0">
                <a:latin typeface="+mj-lt"/>
              </a:rPr>
              <a:t>The dataset was cleaned to address missing values, enforce consistency, and standardize formats. Feature extraction and engineering were performed to enhance the dataset and improve model performance.</a:t>
            </a:r>
          </a:p>
          <a:p>
            <a:pPr>
              <a:lnSpc>
                <a:spcPct val="150000"/>
              </a:lnSpc>
              <a:buNone/>
            </a:pPr>
            <a:r>
              <a:rPr lang="en-US" sz="1400" b="1" dirty="0">
                <a:latin typeface="+mj-lt"/>
              </a:rPr>
              <a:t>Exploratory Data Analysis (EDA) Using Visualizations and SQL</a:t>
            </a:r>
          </a:p>
          <a:p>
            <a:pPr marL="285750" indent="-285750">
              <a:lnSpc>
                <a:spcPct val="150000"/>
              </a:lnSpc>
              <a:buFont typeface="Arial" panose="020B0604020202020204" pitchFamily="34" charset="0"/>
              <a:buChar char="•"/>
            </a:pPr>
            <a:r>
              <a:rPr lang="en-US" sz="1400" dirty="0">
                <a:latin typeface="+mj-lt"/>
              </a:rPr>
              <a:t>Created visualizations with Matplotlib and Seaborn to explore patterns in launch success, payload mass, and launch site distribution.</a:t>
            </a:r>
          </a:p>
          <a:p>
            <a:pPr marL="285750" indent="-285750">
              <a:lnSpc>
                <a:spcPct val="150000"/>
              </a:lnSpc>
              <a:buFont typeface="Arial" panose="020B0604020202020204" pitchFamily="34" charset="0"/>
              <a:buChar char="•"/>
            </a:pPr>
            <a:r>
              <a:rPr lang="en-US" sz="1400" dirty="0">
                <a:latin typeface="+mj-lt"/>
              </a:rPr>
              <a:t>Utilized SQL queries to extract insights and answer analytical questions related to the data.</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60020">
              <a:lnSpc>
                <a:spcPts val="1810"/>
              </a:lnSpc>
            </a:pPr>
            <a:fld id="{81D60167-4931-47E6-BA6A-407CBD079E47}" type="slidenum">
              <a:rPr spc="35" dirty="0"/>
              <a:t>6</a:t>
            </a:fld>
            <a:endParaRPr spc="35" dirty="0"/>
          </a:p>
        </p:txBody>
      </p:sp>
      <p:sp>
        <p:nvSpPr>
          <p:cNvPr id="3" name="object 3"/>
          <p:cNvSpPr txBox="1">
            <a:spLocks noGrp="1"/>
          </p:cNvSpPr>
          <p:nvPr>
            <p:ph type="title"/>
          </p:nvPr>
        </p:nvSpPr>
        <p:spPr>
          <a:xfrm>
            <a:off x="849312" y="420624"/>
            <a:ext cx="2660015" cy="586740"/>
          </a:xfrm>
          <a:prstGeom prst="rect">
            <a:avLst/>
          </a:prstGeom>
        </p:spPr>
        <p:txBody>
          <a:bodyPr vert="horz" wrap="square" lIns="0" tIns="16510" rIns="0" bIns="0" rtlCol="0">
            <a:spAutoFit/>
          </a:bodyPr>
          <a:lstStyle/>
          <a:p>
            <a:pPr marL="12700">
              <a:lnSpc>
                <a:spcPct val="100000"/>
              </a:lnSpc>
              <a:spcBef>
                <a:spcPts val="130"/>
              </a:spcBef>
            </a:pPr>
            <a:r>
              <a:rPr spc="-10" dirty="0"/>
              <a:t>Methodology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312" y="1414716"/>
            <a:ext cx="10504488" cy="4124847"/>
          </a:xfrm>
          <a:prstGeom prst="rect">
            <a:avLst/>
          </a:prstGeom>
        </p:spPr>
        <p:txBody>
          <a:bodyPr vert="horz" wrap="square" lIns="0" tIns="12700" rIns="0" bIns="0" rtlCol="0">
            <a:spAutoFit/>
          </a:bodyPr>
          <a:lstStyle/>
          <a:p>
            <a:pPr>
              <a:lnSpc>
                <a:spcPct val="150000"/>
              </a:lnSpc>
              <a:buNone/>
            </a:pPr>
            <a:r>
              <a:rPr lang="en-US" b="1" dirty="0">
                <a:latin typeface="+mj-lt"/>
              </a:rPr>
              <a:t>Interactive Visual Analytics Using Folium and </a:t>
            </a:r>
            <a:r>
              <a:rPr lang="en-US" b="1" dirty="0" err="1">
                <a:latin typeface="+mj-lt"/>
              </a:rPr>
              <a:t>Plotly</a:t>
            </a:r>
            <a:r>
              <a:rPr lang="en-US" b="1" dirty="0">
                <a:latin typeface="+mj-lt"/>
              </a:rPr>
              <a:t> Dash</a:t>
            </a:r>
          </a:p>
          <a:p>
            <a:pPr marL="285750" indent="-285750">
              <a:lnSpc>
                <a:spcPct val="150000"/>
              </a:lnSpc>
              <a:buFont typeface="Arial" panose="020B0604020202020204" pitchFamily="34" charset="0"/>
              <a:buChar char="•"/>
            </a:pPr>
            <a:r>
              <a:rPr lang="en-US" dirty="0">
                <a:latin typeface="+mj-lt"/>
              </a:rPr>
              <a:t>Utilized </a:t>
            </a:r>
            <a:r>
              <a:rPr lang="en-US" b="1" dirty="0">
                <a:latin typeface="+mj-lt"/>
              </a:rPr>
              <a:t>Folium</a:t>
            </a:r>
            <a:r>
              <a:rPr lang="en-US" dirty="0">
                <a:latin typeface="+mj-lt"/>
              </a:rPr>
              <a:t> to build interactive maps showcasing launch site locations and mission outcomes.</a:t>
            </a:r>
          </a:p>
          <a:p>
            <a:pPr marL="285750" indent="-285750">
              <a:lnSpc>
                <a:spcPct val="150000"/>
              </a:lnSpc>
              <a:buFont typeface="Arial" panose="020B0604020202020204" pitchFamily="34" charset="0"/>
              <a:buChar char="•"/>
            </a:pPr>
            <a:r>
              <a:rPr lang="en-US" dirty="0">
                <a:latin typeface="+mj-lt"/>
              </a:rPr>
              <a:t>Created a </a:t>
            </a:r>
            <a:r>
              <a:rPr lang="en-US" b="1" dirty="0" err="1">
                <a:latin typeface="+mj-lt"/>
              </a:rPr>
              <a:t>Plotly</a:t>
            </a:r>
            <a:r>
              <a:rPr lang="en-US" b="1" dirty="0">
                <a:latin typeface="+mj-lt"/>
              </a:rPr>
              <a:t> Dash</a:t>
            </a:r>
            <a:r>
              <a:rPr lang="en-US" dirty="0">
                <a:latin typeface="+mj-lt"/>
              </a:rPr>
              <a:t> application featuring interactive elements such as dropdown menus and sliders to explore launch success rates and payload distributions dynamically.</a:t>
            </a:r>
          </a:p>
          <a:p>
            <a:pPr>
              <a:lnSpc>
                <a:spcPct val="150000"/>
              </a:lnSpc>
              <a:buNone/>
            </a:pPr>
            <a:r>
              <a:rPr lang="en-US" b="1" dirty="0">
                <a:latin typeface="+mj-lt"/>
              </a:rPr>
              <a:t>Predictive Analysis with Classification Models</a:t>
            </a:r>
          </a:p>
          <a:p>
            <a:pPr marL="285750" indent="-285750">
              <a:lnSpc>
                <a:spcPct val="150000"/>
              </a:lnSpc>
              <a:buFont typeface="Arial" panose="020B0604020202020204" pitchFamily="34" charset="0"/>
              <a:buChar char="•"/>
            </a:pPr>
            <a:r>
              <a:rPr lang="en-US" dirty="0">
                <a:latin typeface="+mj-lt"/>
              </a:rPr>
              <a:t>Developed and evaluated multiple classification algorithms, including </a:t>
            </a:r>
            <a:r>
              <a:rPr lang="en-US" b="1" dirty="0">
                <a:latin typeface="+mj-lt"/>
              </a:rPr>
              <a:t>Logistic Regression</a:t>
            </a:r>
            <a:r>
              <a:rPr lang="en-US" dirty="0">
                <a:latin typeface="+mj-lt"/>
              </a:rPr>
              <a:t>, </a:t>
            </a:r>
            <a:r>
              <a:rPr lang="en-US" b="1" dirty="0">
                <a:latin typeface="+mj-lt"/>
              </a:rPr>
              <a:t>Support Vector Machines (SVM)</a:t>
            </a:r>
            <a:r>
              <a:rPr lang="en-US" dirty="0">
                <a:latin typeface="+mj-lt"/>
              </a:rPr>
              <a:t>, </a:t>
            </a:r>
            <a:r>
              <a:rPr lang="en-US" b="1" dirty="0">
                <a:latin typeface="+mj-lt"/>
              </a:rPr>
              <a:t>K-Nearest Neighbors (KNN)</a:t>
            </a:r>
            <a:r>
              <a:rPr lang="en-US" dirty="0">
                <a:latin typeface="+mj-lt"/>
              </a:rPr>
              <a:t>, and </a:t>
            </a:r>
            <a:r>
              <a:rPr lang="en-US" b="1" dirty="0">
                <a:latin typeface="+mj-lt"/>
              </a:rPr>
              <a:t>Decision Trees</a:t>
            </a:r>
            <a:r>
              <a:rPr lang="en-US" dirty="0">
                <a:latin typeface="+mj-lt"/>
              </a:rPr>
              <a:t>.</a:t>
            </a:r>
          </a:p>
          <a:p>
            <a:pPr marL="285750" indent="-285750">
              <a:lnSpc>
                <a:spcPct val="150000"/>
              </a:lnSpc>
              <a:buFont typeface="Arial" panose="020B0604020202020204" pitchFamily="34" charset="0"/>
              <a:buChar char="•"/>
            </a:pPr>
            <a:r>
              <a:rPr lang="en-US" dirty="0">
                <a:latin typeface="+mj-lt"/>
              </a:rPr>
              <a:t>Applied </a:t>
            </a:r>
            <a:r>
              <a:rPr lang="en-US" b="1" dirty="0" err="1">
                <a:latin typeface="+mj-lt"/>
              </a:rPr>
              <a:t>GridSearchCV</a:t>
            </a:r>
            <a:r>
              <a:rPr lang="en-US" dirty="0">
                <a:latin typeface="+mj-lt"/>
              </a:rPr>
              <a:t> for systematic hyperparameter tuning to optimize model performance.</a:t>
            </a:r>
          </a:p>
          <a:p>
            <a:pPr marL="285750" indent="-285750">
              <a:lnSpc>
                <a:spcPct val="150000"/>
              </a:lnSpc>
              <a:buFont typeface="Arial" panose="020B0604020202020204" pitchFamily="34" charset="0"/>
              <a:buChar char="•"/>
            </a:pPr>
            <a:r>
              <a:rPr lang="en-US" dirty="0">
                <a:latin typeface="+mj-lt"/>
              </a:rPr>
              <a:t>Assessed models based on accuracy metrics and identified the most effective model for predicting Falcon 9 first stage landing success.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60020">
              <a:lnSpc>
                <a:spcPts val="1810"/>
              </a:lnSpc>
            </a:pPr>
            <a:fld id="{81D60167-4931-47E6-BA6A-407CBD079E47}" type="slidenum">
              <a:rPr spc="35" dirty="0"/>
              <a:t>7</a:t>
            </a:fld>
            <a:endParaRPr spc="35" dirty="0"/>
          </a:p>
        </p:txBody>
      </p:sp>
      <p:sp>
        <p:nvSpPr>
          <p:cNvPr id="3" name="object 3"/>
          <p:cNvSpPr txBox="1">
            <a:spLocks noGrp="1"/>
          </p:cNvSpPr>
          <p:nvPr>
            <p:ph type="title"/>
          </p:nvPr>
        </p:nvSpPr>
        <p:spPr>
          <a:xfrm>
            <a:off x="849312" y="420624"/>
            <a:ext cx="2660015" cy="586740"/>
          </a:xfrm>
          <a:prstGeom prst="rect">
            <a:avLst/>
          </a:prstGeom>
        </p:spPr>
        <p:txBody>
          <a:bodyPr vert="horz" wrap="square" lIns="0" tIns="16510" rIns="0" bIns="0" rtlCol="0">
            <a:spAutoFit/>
          </a:bodyPr>
          <a:lstStyle/>
          <a:p>
            <a:pPr marL="12700">
              <a:lnSpc>
                <a:spcPct val="100000"/>
              </a:lnSpc>
              <a:spcBef>
                <a:spcPts val="130"/>
              </a:spcBef>
            </a:pPr>
            <a:r>
              <a:rPr spc="-10" dirty="0"/>
              <a:t>Methodology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312" y="1443672"/>
            <a:ext cx="3417570" cy="357505"/>
          </a:xfrm>
          <a:prstGeom prst="rect">
            <a:avLst/>
          </a:prstGeom>
        </p:spPr>
        <p:txBody>
          <a:bodyPr vert="horz" wrap="square" lIns="0" tIns="15875" rIns="0" bIns="0" rtlCol="0">
            <a:spAutoFit/>
          </a:bodyPr>
          <a:lstStyle/>
          <a:p>
            <a:pPr marL="241300" indent="-228600">
              <a:lnSpc>
                <a:spcPct val="100000"/>
              </a:lnSpc>
              <a:spcBef>
                <a:spcPts val="125"/>
              </a:spcBef>
              <a:buClr>
                <a:srgbClr val="292929"/>
              </a:buClr>
              <a:buFont typeface="Arial MT"/>
              <a:buChar char="•"/>
              <a:tabLst>
                <a:tab pos="241300" algn="l"/>
              </a:tabLst>
            </a:pPr>
            <a:r>
              <a:rPr sz="2150" spc="-10" dirty="0">
                <a:solidFill>
                  <a:srgbClr val="292929"/>
                </a:solidFill>
                <a:latin typeface="Microsoft Sans Serif"/>
                <a:cs typeface="Microsoft Sans Serif"/>
              </a:rPr>
              <a:t>Step</a:t>
            </a:r>
            <a:r>
              <a:rPr sz="2150" spc="60" dirty="0">
                <a:solidFill>
                  <a:srgbClr val="292929"/>
                </a:solidFill>
                <a:latin typeface="Microsoft Sans Serif"/>
                <a:cs typeface="Microsoft Sans Serif"/>
              </a:rPr>
              <a:t> </a:t>
            </a:r>
            <a:r>
              <a:rPr sz="2150" dirty="0">
                <a:solidFill>
                  <a:srgbClr val="292929"/>
                </a:solidFill>
                <a:latin typeface="Microsoft Sans Serif"/>
                <a:cs typeface="Microsoft Sans Serif"/>
              </a:rPr>
              <a:t>1:</a:t>
            </a:r>
            <a:r>
              <a:rPr sz="2150" spc="65" dirty="0">
                <a:solidFill>
                  <a:srgbClr val="292929"/>
                </a:solidFill>
                <a:latin typeface="Microsoft Sans Serif"/>
                <a:cs typeface="Microsoft Sans Serif"/>
              </a:rPr>
              <a:t> </a:t>
            </a:r>
            <a:r>
              <a:rPr sz="2150" dirty="0">
                <a:solidFill>
                  <a:srgbClr val="292929"/>
                </a:solidFill>
                <a:latin typeface="Calibri"/>
                <a:cs typeface="Calibri"/>
              </a:rPr>
              <a:t>SpaceX</a:t>
            </a:r>
            <a:r>
              <a:rPr sz="2150" spc="20" dirty="0">
                <a:solidFill>
                  <a:srgbClr val="292929"/>
                </a:solidFill>
                <a:latin typeface="Calibri"/>
                <a:cs typeface="Calibri"/>
              </a:rPr>
              <a:t> </a:t>
            </a:r>
            <a:r>
              <a:rPr sz="2150" dirty="0">
                <a:solidFill>
                  <a:srgbClr val="292929"/>
                </a:solidFill>
                <a:latin typeface="Calibri"/>
                <a:cs typeface="Calibri"/>
              </a:rPr>
              <a:t>API</a:t>
            </a:r>
            <a:r>
              <a:rPr sz="2150" spc="-5" dirty="0">
                <a:solidFill>
                  <a:srgbClr val="292929"/>
                </a:solidFill>
                <a:latin typeface="Calibri"/>
                <a:cs typeface="Calibri"/>
              </a:rPr>
              <a:t> </a:t>
            </a:r>
            <a:r>
              <a:rPr sz="2150" spc="-10" dirty="0">
                <a:solidFill>
                  <a:srgbClr val="292929"/>
                </a:solidFill>
                <a:latin typeface="Calibri"/>
                <a:cs typeface="Calibri"/>
              </a:rPr>
              <a:t>Request</a:t>
            </a:r>
            <a:endParaRPr sz="2150">
              <a:latin typeface="Calibri"/>
              <a:cs typeface="Calibri"/>
            </a:endParaRPr>
          </a:p>
        </p:txBody>
      </p:sp>
      <p:sp>
        <p:nvSpPr>
          <p:cNvPr id="3" name="object 3"/>
          <p:cNvSpPr txBox="1"/>
          <p:nvPr/>
        </p:nvSpPr>
        <p:spPr>
          <a:xfrm>
            <a:off x="849312" y="2988881"/>
            <a:ext cx="3843020" cy="357505"/>
          </a:xfrm>
          <a:prstGeom prst="rect">
            <a:avLst/>
          </a:prstGeom>
        </p:spPr>
        <p:txBody>
          <a:bodyPr vert="horz" wrap="square" lIns="0" tIns="15875" rIns="0" bIns="0" rtlCol="0">
            <a:spAutoFit/>
          </a:bodyPr>
          <a:lstStyle/>
          <a:p>
            <a:pPr marL="241300" indent="-228600">
              <a:lnSpc>
                <a:spcPct val="100000"/>
              </a:lnSpc>
              <a:spcBef>
                <a:spcPts val="125"/>
              </a:spcBef>
              <a:buFont typeface="Arial MT"/>
              <a:buChar char="•"/>
              <a:tabLst>
                <a:tab pos="241300" algn="l"/>
              </a:tabLst>
            </a:pPr>
            <a:r>
              <a:rPr sz="2150" dirty="0">
                <a:solidFill>
                  <a:srgbClr val="292929"/>
                </a:solidFill>
                <a:latin typeface="Calibri"/>
                <a:cs typeface="Calibri"/>
              </a:rPr>
              <a:t>Step</a:t>
            </a:r>
            <a:r>
              <a:rPr sz="2150" spc="25" dirty="0">
                <a:solidFill>
                  <a:srgbClr val="292929"/>
                </a:solidFill>
                <a:latin typeface="Calibri"/>
                <a:cs typeface="Calibri"/>
              </a:rPr>
              <a:t> </a:t>
            </a:r>
            <a:r>
              <a:rPr sz="2150" dirty="0">
                <a:solidFill>
                  <a:srgbClr val="292929"/>
                </a:solidFill>
                <a:latin typeface="Calibri"/>
                <a:cs typeface="Calibri"/>
              </a:rPr>
              <a:t>2:</a:t>
            </a:r>
            <a:r>
              <a:rPr sz="2150" spc="15" dirty="0">
                <a:solidFill>
                  <a:srgbClr val="292929"/>
                </a:solidFill>
                <a:latin typeface="Calibri"/>
                <a:cs typeface="Calibri"/>
              </a:rPr>
              <a:t> </a:t>
            </a:r>
            <a:r>
              <a:rPr sz="2150" dirty="0">
                <a:solidFill>
                  <a:srgbClr val="292929"/>
                </a:solidFill>
                <a:latin typeface="Calibri"/>
                <a:cs typeface="Calibri"/>
              </a:rPr>
              <a:t>Web</a:t>
            </a:r>
            <a:r>
              <a:rPr sz="2150" spc="35" dirty="0">
                <a:solidFill>
                  <a:srgbClr val="292929"/>
                </a:solidFill>
                <a:latin typeface="Calibri"/>
                <a:cs typeface="Calibri"/>
              </a:rPr>
              <a:t> </a:t>
            </a:r>
            <a:r>
              <a:rPr sz="2150" dirty="0">
                <a:solidFill>
                  <a:srgbClr val="292929"/>
                </a:solidFill>
                <a:latin typeface="Calibri"/>
                <a:cs typeface="Calibri"/>
              </a:rPr>
              <a:t>Scraping</a:t>
            </a:r>
            <a:r>
              <a:rPr sz="2150" spc="80" dirty="0">
                <a:solidFill>
                  <a:srgbClr val="292929"/>
                </a:solidFill>
                <a:latin typeface="Calibri"/>
                <a:cs typeface="Calibri"/>
              </a:rPr>
              <a:t> </a:t>
            </a:r>
            <a:r>
              <a:rPr sz="2150" spc="-10" dirty="0">
                <a:solidFill>
                  <a:srgbClr val="292929"/>
                </a:solidFill>
                <a:latin typeface="Calibri"/>
                <a:cs typeface="Calibri"/>
              </a:rPr>
              <a:t>Wikipedia</a:t>
            </a:r>
            <a:endParaRPr sz="2150">
              <a:latin typeface="Calibri"/>
              <a:cs typeface="Calibri"/>
            </a:endParaRPr>
          </a:p>
        </p:txBody>
      </p:sp>
      <p:sp>
        <p:nvSpPr>
          <p:cNvPr id="4" name="object 4"/>
          <p:cNvSpPr txBox="1"/>
          <p:nvPr/>
        </p:nvSpPr>
        <p:spPr>
          <a:xfrm>
            <a:off x="849312" y="4533963"/>
            <a:ext cx="2941320" cy="357505"/>
          </a:xfrm>
          <a:prstGeom prst="rect">
            <a:avLst/>
          </a:prstGeom>
        </p:spPr>
        <p:txBody>
          <a:bodyPr vert="horz" wrap="square" lIns="0" tIns="15875" rIns="0" bIns="0" rtlCol="0">
            <a:spAutoFit/>
          </a:bodyPr>
          <a:lstStyle/>
          <a:p>
            <a:pPr marL="241300" indent="-228600">
              <a:lnSpc>
                <a:spcPct val="100000"/>
              </a:lnSpc>
              <a:spcBef>
                <a:spcPts val="125"/>
              </a:spcBef>
              <a:buFont typeface="Arial MT"/>
              <a:buChar char="•"/>
              <a:tabLst>
                <a:tab pos="241300" algn="l"/>
              </a:tabLst>
            </a:pPr>
            <a:r>
              <a:rPr sz="2150" dirty="0">
                <a:solidFill>
                  <a:srgbClr val="292929"/>
                </a:solidFill>
                <a:latin typeface="Calibri"/>
                <a:cs typeface="Calibri"/>
              </a:rPr>
              <a:t>Step</a:t>
            </a:r>
            <a:r>
              <a:rPr sz="2150" spc="40" dirty="0">
                <a:solidFill>
                  <a:srgbClr val="292929"/>
                </a:solidFill>
                <a:latin typeface="Calibri"/>
                <a:cs typeface="Calibri"/>
              </a:rPr>
              <a:t> </a:t>
            </a:r>
            <a:r>
              <a:rPr sz="2150" dirty="0">
                <a:solidFill>
                  <a:srgbClr val="292929"/>
                </a:solidFill>
                <a:latin typeface="Calibri"/>
                <a:cs typeface="Calibri"/>
              </a:rPr>
              <a:t>3:</a:t>
            </a:r>
            <a:r>
              <a:rPr sz="2150" spc="15" dirty="0">
                <a:solidFill>
                  <a:srgbClr val="292929"/>
                </a:solidFill>
                <a:latin typeface="Calibri"/>
                <a:cs typeface="Calibri"/>
              </a:rPr>
              <a:t> </a:t>
            </a:r>
            <a:r>
              <a:rPr sz="2150" dirty="0">
                <a:solidFill>
                  <a:srgbClr val="292929"/>
                </a:solidFill>
                <a:latin typeface="Calibri"/>
                <a:cs typeface="Calibri"/>
              </a:rPr>
              <a:t>Data</a:t>
            </a:r>
            <a:r>
              <a:rPr sz="2150" spc="65" dirty="0">
                <a:solidFill>
                  <a:srgbClr val="292929"/>
                </a:solidFill>
                <a:latin typeface="Calibri"/>
                <a:cs typeface="Calibri"/>
              </a:rPr>
              <a:t> </a:t>
            </a:r>
            <a:r>
              <a:rPr sz="2150" spc="-10" dirty="0">
                <a:solidFill>
                  <a:srgbClr val="292929"/>
                </a:solidFill>
                <a:latin typeface="Calibri"/>
                <a:cs typeface="Calibri"/>
              </a:rPr>
              <a:t>Integration</a:t>
            </a:r>
            <a:endParaRPr sz="2150">
              <a:latin typeface="Calibri"/>
              <a:cs typeface="Calibri"/>
            </a:endParaRPr>
          </a:p>
        </p:txBody>
      </p:sp>
      <p:sp>
        <p:nvSpPr>
          <p:cNvPr id="5" name="object 5"/>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0" dirty="0"/>
              <a:t>Data</a:t>
            </a:r>
            <a:r>
              <a:rPr spc="-210" dirty="0"/>
              <a:t> </a:t>
            </a:r>
            <a:r>
              <a:rPr spc="-55" dirty="0"/>
              <a:t>Collection</a:t>
            </a:r>
          </a:p>
        </p:txBody>
      </p:sp>
      <p:grpSp>
        <p:nvGrpSpPr>
          <p:cNvPr id="6" name="object 6"/>
          <p:cNvGrpSpPr/>
          <p:nvPr/>
        </p:nvGrpSpPr>
        <p:grpSpPr>
          <a:xfrm>
            <a:off x="2722626" y="2055876"/>
            <a:ext cx="1651000" cy="660400"/>
            <a:chOff x="2722626" y="2055876"/>
            <a:chExt cx="1651000" cy="660400"/>
          </a:xfrm>
        </p:grpSpPr>
        <p:sp>
          <p:nvSpPr>
            <p:cNvPr id="7" name="object 7"/>
            <p:cNvSpPr/>
            <p:nvPr/>
          </p:nvSpPr>
          <p:spPr>
            <a:xfrm>
              <a:off x="2728976" y="2062226"/>
              <a:ext cx="1638300" cy="647700"/>
            </a:xfrm>
            <a:custGeom>
              <a:avLst/>
              <a:gdLst/>
              <a:ahLst/>
              <a:cxnLst/>
              <a:rect l="l" t="t" r="r" b="b"/>
              <a:pathLst>
                <a:path w="1638300" h="647700">
                  <a:moveTo>
                    <a:pt x="1314450" y="0"/>
                  </a:moveTo>
                  <a:lnTo>
                    <a:pt x="0" y="0"/>
                  </a:lnTo>
                  <a:lnTo>
                    <a:pt x="323723" y="323850"/>
                  </a:lnTo>
                  <a:lnTo>
                    <a:pt x="0" y="647700"/>
                  </a:lnTo>
                  <a:lnTo>
                    <a:pt x="1314450" y="647700"/>
                  </a:lnTo>
                  <a:lnTo>
                    <a:pt x="1638300" y="323850"/>
                  </a:lnTo>
                  <a:lnTo>
                    <a:pt x="1314450" y="0"/>
                  </a:lnTo>
                  <a:close/>
                </a:path>
              </a:pathLst>
            </a:custGeom>
            <a:solidFill>
              <a:srgbClr val="4471C4"/>
            </a:solidFill>
          </p:spPr>
          <p:txBody>
            <a:bodyPr wrap="square" lIns="0" tIns="0" rIns="0" bIns="0" rtlCol="0"/>
            <a:lstStyle/>
            <a:p>
              <a:endParaRPr/>
            </a:p>
          </p:txBody>
        </p:sp>
        <p:sp>
          <p:nvSpPr>
            <p:cNvPr id="8" name="object 8"/>
            <p:cNvSpPr/>
            <p:nvPr/>
          </p:nvSpPr>
          <p:spPr>
            <a:xfrm>
              <a:off x="2728976" y="2062226"/>
              <a:ext cx="1638300" cy="647700"/>
            </a:xfrm>
            <a:custGeom>
              <a:avLst/>
              <a:gdLst/>
              <a:ahLst/>
              <a:cxnLst/>
              <a:rect l="l" t="t" r="r" b="b"/>
              <a:pathLst>
                <a:path w="1638300" h="647700">
                  <a:moveTo>
                    <a:pt x="0" y="0"/>
                  </a:moveTo>
                  <a:lnTo>
                    <a:pt x="1314450" y="0"/>
                  </a:lnTo>
                  <a:lnTo>
                    <a:pt x="1638300" y="323850"/>
                  </a:lnTo>
                  <a:lnTo>
                    <a:pt x="1314450" y="647700"/>
                  </a:lnTo>
                  <a:lnTo>
                    <a:pt x="0" y="647700"/>
                  </a:lnTo>
                  <a:lnTo>
                    <a:pt x="323723" y="323850"/>
                  </a:lnTo>
                  <a:lnTo>
                    <a:pt x="0" y="0"/>
                  </a:lnTo>
                  <a:close/>
                </a:path>
              </a:pathLst>
            </a:custGeom>
            <a:ln w="12700">
              <a:solidFill>
                <a:srgbClr val="FFFFFF"/>
              </a:solidFill>
            </a:ln>
          </p:spPr>
          <p:txBody>
            <a:bodyPr wrap="square" lIns="0" tIns="0" rIns="0" bIns="0" rtlCol="0"/>
            <a:lstStyle/>
            <a:p>
              <a:endParaRPr/>
            </a:p>
          </p:txBody>
        </p:sp>
      </p:grpSp>
      <p:sp>
        <p:nvSpPr>
          <p:cNvPr id="9" name="object 9"/>
          <p:cNvSpPr txBox="1"/>
          <p:nvPr/>
        </p:nvSpPr>
        <p:spPr>
          <a:xfrm>
            <a:off x="3099180" y="2139632"/>
            <a:ext cx="814069" cy="443865"/>
          </a:xfrm>
          <a:prstGeom prst="rect">
            <a:avLst/>
          </a:prstGeom>
        </p:spPr>
        <p:txBody>
          <a:bodyPr vert="horz" wrap="square" lIns="0" tIns="33020" rIns="0" bIns="0" rtlCol="0">
            <a:spAutoFit/>
          </a:bodyPr>
          <a:lstStyle/>
          <a:p>
            <a:pPr marL="12700" marR="5080">
              <a:lnSpc>
                <a:spcPts val="1580"/>
              </a:lnSpc>
              <a:spcBef>
                <a:spcPts val="260"/>
              </a:spcBef>
            </a:pPr>
            <a:r>
              <a:rPr sz="1400" dirty="0">
                <a:solidFill>
                  <a:srgbClr val="FFFFFF"/>
                </a:solidFill>
                <a:latin typeface="Calibri"/>
                <a:cs typeface="Calibri"/>
              </a:rPr>
              <a:t>Initiate</a:t>
            </a:r>
            <a:r>
              <a:rPr sz="1400" spc="-70" dirty="0">
                <a:solidFill>
                  <a:srgbClr val="FFFFFF"/>
                </a:solidFill>
                <a:latin typeface="Calibri"/>
                <a:cs typeface="Calibri"/>
              </a:rPr>
              <a:t> </a:t>
            </a:r>
            <a:r>
              <a:rPr sz="1400" spc="-25" dirty="0">
                <a:solidFill>
                  <a:srgbClr val="FFFFFF"/>
                </a:solidFill>
                <a:latin typeface="Calibri"/>
                <a:cs typeface="Calibri"/>
              </a:rPr>
              <a:t>API </a:t>
            </a:r>
            <a:r>
              <a:rPr sz="1400" spc="-10" dirty="0">
                <a:solidFill>
                  <a:srgbClr val="FFFFFF"/>
                </a:solidFill>
                <a:latin typeface="Calibri"/>
                <a:cs typeface="Calibri"/>
              </a:rPr>
              <a:t>Request</a:t>
            </a:r>
            <a:endParaRPr sz="1400">
              <a:latin typeface="Calibri"/>
              <a:cs typeface="Calibri"/>
            </a:endParaRPr>
          </a:p>
        </p:txBody>
      </p:sp>
      <p:grpSp>
        <p:nvGrpSpPr>
          <p:cNvPr id="10" name="object 10"/>
          <p:cNvGrpSpPr/>
          <p:nvPr/>
        </p:nvGrpSpPr>
        <p:grpSpPr>
          <a:xfrm>
            <a:off x="4199001" y="2055876"/>
            <a:ext cx="1641475" cy="660400"/>
            <a:chOff x="4199001" y="2055876"/>
            <a:chExt cx="1641475" cy="660400"/>
          </a:xfrm>
        </p:grpSpPr>
        <p:sp>
          <p:nvSpPr>
            <p:cNvPr id="11" name="object 11"/>
            <p:cNvSpPr/>
            <p:nvPr/>
          </p:nvSpPr>
          <p:spPr>
            <a:xfrm>
              <a:off x="4205351" y="2062226"/>
              <a:ext cx="1628775" cy="647700"/>
            </a:xfrm>
            <a:custGeom>
              <a:avLst/>
              <a:gdLst/>
              <a:ahLst/>
              <a:cxnLst/>
              <a:rect l="l" t="t" r="r" b="b"/>
              <a:pathLst>
                <a:path w="1628775" h="647700">
                  <a:moveTo>
                    <a:pt x="1304925" y="0"/>
                  </a:moveTo>
                  <a:lnTo>
                    <a:pt x="0" y="0"/>
                  </a:lnTo>
                  <a:lnTo>
                    <a:pt x="323850" y="323850"/>
                  </a:lnTo>
                  <a:lnTo>
                    <a:pt x="0" y="647700"/>
                  </a:lnTo>
                  <a:lnTo>
                    <a:pt x="1304925" y="647700"/>
                  </a:lnTo>
                  <a:lnTo>
                    <a:pt x="1628775" y="323850"/>
                  </a:lnTo>
                  <a:lnTo>
                    <a:pt x="1304925" y="0"/>
                  </a:lnTo>
                  <a:close/>
                </a:path>
              </a:pathLst>
            </a:custGeom>
            <a:solidFill>
              <a:srgbClr val="4471C4"/>
            </a:solidFill>
          </p:spPr>
          <p:txBody>
            <a:bodyPr wrap="square" lIns="0" tIns="0" rIns="0" bIns="0" rtlCol="0"/>
            <a:lstStyle/>
            <a:p>
              <a:endParaRPr/>
            </a:p>
          </p:txBody>
        </p:sp>
        <p:sp>
          <p:nvSpPr>
            <p:cNvPr id="12" name="object 12"/>
            <p:cNvSpPr/>
            <p:nvPr/>
          </p:nvSpPr>
          <p:spPr>
            <a:xfrm>
              <a:off x="4205351" y="2062226"/>
              <a:ext cx="1628775" cy="647700"/>
            </a:xfrm>
            <a:custGeom>
              <a:avLst/>
              <a:gdLst/>
              <a:ahLst/>
              <a:cxnLst/>
              <a:rect l="l" t="t" r="r" b="b"/>
              <a:pathLst>
                <a:path w="1628775" h="647700">
                  <a:moveTo>
                    <a:pt x="0" y="0"/>
                  </a:moveTo>
                  <a:lnTo>
                    <a:pt x="1304925" y="0"/>
                  </a:lnTo>
                  <a:lnTo>
                    <a:pt x="1628775" y="323850"/>
                  </a:lnTo>
                  <a:lnTo>
                    <a:pt x="1304925" y="647700"/>
                  </a:lnTo>
                  <a:lnTo>
                    <a:pt x="0" y="647700"/>
                  </a:lnTo>
                  <a:lnTo>
                    <a:pt x="323850" y="323850"/>
                  </a:lnTo>
                  <a:lnTo>
                    <a:pt x="0" y="0"/>
                  </a:lnTo>
                  <a:close/>
                </a:path>
              </a:pathLst>
            </a:custGeom>
            <a:ln w="12700">
              <a:solidFill>
                <a:srgbClr val="FFFFFF"/>
              </a:solidFill>
            </a:ln>
          </p:spPr>
          <p:txBody>
            <a:bodyPr wrap="square" lIns="0" tIns="0" rIns="0" bIns="0" rtlCol="0"/>
            <a:lstStyle/>
            <a:p>
              <a:endParaRPr/>
            </a:p>
          </p:txBody>
        </p:sp>
      </p:grpSp>
      <p:sp>
        <p:nvSpPr>
          <p:cNvPr id="13" name="object 13"/>
          <p:cNvSpPr txBox="1"/>
          <p:nvPr/>
        </p:nvSpPr>
        <p:spPr>
          <a:xfrm>
            <a:off x="4763770" y="2041842"/>
            <a:ext cx="540385" cy="643890"/>
          </a:xfrm>
          <a:prstGeom prst="rect">
            <a:avLst/>
          </a:prstGeom>
        </p:spPr>
        <p:txBody>
          <a:bodyPr vert="horz" wrap="square" lIns="0" tIns="33020" rIns="0" bIns="0" rtlCol="0">
            <a:spAutoFit/>
          </a:bodyPr>
          <a:lstStyle/>
          <a:p>
            <a:pPr marL="12700" marR="5080" indent="-1905" algn="ctr">
              <a:lnSpc>
                <a:spcPts val="1580"/>
              </a:lnSpc>
              <a:spcBef>
                <a:spcPts val="260"/>
              </a:spcBef>
            </a:pPr>
            <a:r>
              <a:rPr sz="1400" spc="-10" dirty="0">
                <a:solidFill>
                  <a:srgbClr val="FFFFFF"/>
                </a:solidFill>
                <a:latin typeface="Calibri"/>
                <a:cs typeface="Calibri"/>
              </a:rPr>
              <a:t>Fetch Launch </a:t>
            </a:r>
            <a:r>
              <a:rPr sz="1400" spc="-20" dirty="0">
                <a:solidFill>
                  <a:srgbClr val="FFFFFF"/>
                </a:solidFill>
                <a:latin typeface="Calibri"/>
                <a:cs typeface="Calibri"/>
              </a:rPr>
              <a:t>Data</a:t>
            </a:r>
            <a:endParaRPr sz="1400">
              <a:latin typeface="Calibri"/>
              <a:cs typeface="Calibri"/>
            </a:endParaRPr>
          </a:p>
        </p:txBody>
      </p:sp>
      <p:grpSp>
        <p:nvGrpSpPr>
          <p:cNvPr id="14" name="object 14"/>
          <p:cNvGrpSpPr/>
          <p:nvPr/>
        </p:nvGrpSpPr>
        <p:grpSpPr>
          <a:xfrm>
            <a:off x="5665851" y="2055876"/>
            <a:ext cx="1641475" cy="660400"/>
            <a:chOff x="5665851" y="2055876"/>
            <a:chExt cx="1641475" cy="660400"/>
          </a:xfrm>
        </p:grpSpPr>
        <p:sp>
          <p:nvSpPr>
            <p:cNvPr id="15" name="object 15"/>
            <p:cNvSpPr/>
            <p:nvPr/>
          </p:nvSpPr>
          <p:spPr>
            <a:xfrm>
              <a:off x="5672201" y="2062226"/>
              <a:ext cx="1628775" cy="647700"/>
            </a:xfrm>
            <a:custGeom>
              <a:avLst/>
              <a:gdLst/>
              <a:ahLst/>
              <a:cxnLst/>
              <a:rect l="l" t="t" r="r" b="b"/>
              <a:pathLst>
                <a:path w="1628775" h="647700">
                  <a:moveTo>
                    <a:pt x="1304925" y="0"/>
                  </a:moveTo>
                  <a:lnTo>
                    <a:pt x="0" y="0"/>
                  </a:lnTo>
                  <a:lnTo>
                    <a:pt x="323850" y="323850"/>
                  </a:lnTo>
                  <a:lnTo>
                    <a:pt x="0" y="647700"/>
                  </a:lnTo>
                  <a:lnTo>
                    <a:pt x="1304925" y="647700"/>
                  </a:lnTo>
                  <a:lnTo>
                    <a:pt x="1628775" y="323850"/>
                  </a:lnTo>
                  <a:lnTo>
                    <a:pt x="1304925" y="0"/>
                  </a:lnTo>
                  <a:close/>
                </a:path>
              </a:pathLst>
            </a:custGeom>
            <a:solidFill>
              <a:srgbClr val="4471C4"/>
            </a:solidFill>
          </p:spPr>
          <p:txBody>
            <a:bodyPr wrap="square" lIns="0" tIns="0" rIns="0" bIns="0" rtlCol="0"/>
            <a:lstStyle/>
            <a:p>
              <a:endParaRPr/>
            </a:p>
          </p:txBody>
        </p:sp>
        <p:sp>
          <p:nvSpPr>
            <p:cNvPr id="16" name="object 16"/>
            <p:cNvSpPr/>
            <p:nvPr/>
          </p:nvSpPr>
          <p:spPr>
            <a:xfrm>
              <a:off x="5672201" y="2062226"/>
              <a:ext cx="1628775" cy="647700"/>
            </a:xfrm>
            <a:custGeom>
              <a:avLst/>
              <a:gdLst/>
              <a:ahLst/>
              <a:cxnLst/>
              <a:rect l="l" t="t" r="r" b="b"/>
              <a:pathLst>
                <a:path w="1628775" h="647700">
                  <a:moveTo>
                    <a:pt x="0" y="0"/>
                  </a:moveTo>
                  <a:lnTo>
                    <a:pt x="1304925" y="0"/>
                  </a:lnTo>
                  <a:lnTo>
                    <a:pt x="1628775" y="323850"/>
                  </a:lnTo>
                  <a:lnTo>
                    <a:pt x="1304925" y="647700"/>
                  </a:lnTo>
                  <a:lnTo>
                    <a:pt x="0" y="647700"/>
                  </a:lnTo>
                  <a:lnTo>
                    <a:pt x="323850" y="323850"/>
                  </a:lnTo>
                  <a:lnTo>
                    <a:pt x="0" y="0"/>
                  </a:lnTo>
                  <a:close/>
                </a:path>
              </a:pathLst>
            </a:custGeom>
            <a:ln w="12700">
              <a:solidFill>
                <a:srgbClr val="FFFFFF"/>
              </a:solidFill>
            </a:ln>
          </p:spPr>
          <p:txBody>
            <a:bodyPr wrap="square" lIns="0" tIns="0" rIns="0" bIns="0" rtlCol="0"/>
            <a:lstStyle/>
            <a:p>
              <a:endParaRPr/>
            </a:p>
          </p:txBody>
        </p:sp>
      </p:grpSp>
      <p:sp>
        <p:nvSpPr>
          <p:cNvPr id="17" name="object 17"/>
          <p:cNvSpPr txBox="1"/>
          <p:nvPr/>
        </p:nvSpPr>
        <p:spPr>
          <a:xfrm>
            <a:off x="6112509" y="2139632"/>
            <a:ext cx="789305" cy="443865"/>
          </a:xfrm>
          <a:prstGeom prst="rect">
            <a:avLst/>
          </a:prstGeom>
        </p:spPr>
        <p:txBody>
          <a:bodyPr vert="horz" wrap="square" lIns="0" tIns="33020" rIns="0" bIns="0" rtlCol="0">
            <a:spAutoFit/>
          </a:bodyPr>
          <a:lstStyle/>
          <a:p>
            <a:pPr marL="146685" marR="5080" indent="-133985">
              <a:lnSpc>
                <a:spcPts val="1580"/>
              </a:lnSpc>
              <a:spcBef>
                <a:spcPts val="260"/>
              </a:spcBef>
            </a:pPr>
            <a:r>
              <a:rPr sz="1400" dirty="0">
                <a:solidFill>
                  <a:srgbClr val="FFFFFF"/>
                </a:solidFill>
                <a:latin typeface="Calibri"/>
                <a:cs typeface="Calibri"/>
              </a:rPr>
              <a:t>Store</a:t>
            </a:r>
            <a:r>
              <a:rPr sz="1400" spc="-80" dirty="0">
                <a:solidFill>
                  <a:srgbClr val="FFFFFF"/>
                </a:solidFill>
                <a:latin typeface="Calibri"/>
                <a:cs typeface="Calibri"/>
              </a:rPr>
              <a:t> </a:t>
            </a:r>
            <a:r>
              <a:rPr sz="1400" spc="-20" dirty="0">
                <a:solidFill>
                  <a:srgbClr val="FFFFFF"/>
                </a:solidFill>
                <a:latin typeface="Calibri"/>
                <a:cs typeface="Calibri"/>
              </a:rPr>
              <a:t>Data </a:t>
            </a:r>
            <a:r>
              <a:rPr sz="1400" spc="-10" dirty="0">
                <a:solidFill>
                  <a:srgbClr val="FFFFFF"/>
                </a:solidFill>
                <a:latin typeface="Calibri"/>
                <a:cs typeface="Calibri"/>
              </a:rPr>
              <a:t>Locally</a:t>
            </a:r>
            <a:endParaRPr sz="1400">
              <a:latin typeface="Calibri"/>
              <a:cs typeface="Calibri"/>
            </a:endParaRPr>
          </a:p>
        </p:txBody>
      </p:sp>
      <p:grpSp>
        <p:nvGrpSpPr>
          <p:cNvPr id="18" name="object 18"/>
          <p:cNvGrpSpPr/>
          <p:nvPr/>
        </p:nvGrpSpPr>
        <p:grpSpPr>
          <a:xfrm>
            <a:off x="2732151" y="3589401"/>
            <a:ext cx="1641475" cy="669925"/>
            <a:chOff x="2732151" y="3589401"/>
            <a:chExt cx="1641475" cy="669925"/>
          </a:xfrm>
        </p:grpSpPr>
        <p:sp>
          <p:nvSpPr>
            <p:cNvPr id="19" name="object 19"/>
            <p:cNvSpPr/>
            <p:nvPr/>
          </p:nvSpPr>
          <p:spPr>
            <a:xfrm>
              <a:off x="2738501" y="3595751"/>
              <a:ext cx="1628775" cy="657225"/>
            </a:xfrm>
            <a:custGeom>
              <a:avLst/>
              <a:gdLst/>
              <a:ahLst/>
              <a:cxnLst/>
              <a:rect l="l" t="t" r="r" b="b"/>
              <a:pathLst>
                <a:path w="1628775" h="657225">
                  <a:moveTo>
                    <a:pt x="1300099" y="0"/>
                  </a:moveTo>
                  <a:lnTo>
                    <a:pt x="0" y="0"/>
                  </a:lnTo>
                  <a:lnTo>
                    <a:pt x="328549" y="328549"/>
                  </a:lnTo>
                  <a:lnTo>
                    <a:pt x="0" y="657225"/>
                  </a:lnTo>
                  <a:lnTo>
                    <a:pt x="1300099" y="657225"/>
                  </a:lnTo>
                  <a:lnTo>
                    <a:pt x="1628775" y="328549"/>
                  </a:lnTo>
                  <a:lnTo>
                    <a:pt x="1300099" y="0"/>
                  </a:lnTo>
                  <a:close/>
                </a:path>
              </a:pathLst>
            </a:custGeom>
            <a:solidFill>
              <a:srgbClr val="4471C4"/>
            </a:solidFill>
          </p:spPr>
          <p:txBody>
            <a:bodyPr wrap="square" lIns="0" tIns="0" rIns="0" bIns="0" rtlCol="0"/>
            <a:lstStyle/>
            <a:p>
              <a:endParaRPr/>
            </a:p>
          </p:txBody>
        </p:sp>
        <p:sp>
          <p:nvSpPr>
            <p:cNvPr id="20" name="object 20"/>
            <p:cNvSpPr/>
            <p:nvPr/>
          </p:nvSpPr>
          <p:spPr>
            <a:xfrm>
              <a:off x="2738501" y="3595751"/>
              <a:ext cx="1628775" cy="657225"/>
            </a:xfrm>
            <a:custGeom>
              <a:avLst/>
              <a:gdLst/>
              <a:ahLst/>
              <a:cxnLst/>
              <a:rect l="l" t="t" r="r" b="b"/>
              <a:pathLst>
                <a:path w="1628775" h="657225">
                  <a:moveTo>
                    <a:pt x="0" y="0"/>
                  </a:moveTo>
                  <a:lnTo>
                    <a:pt x="1300099" y="0"/>
                  </a:lnTo>
                  <a:lnTo>
                    <a:pt x="1628775" y="328549"/>
                  </a:lnTo>
                  <a:lnTo>
                    <a:pt x="1300099" y="657225"/>
                  </a:lnTo>
                  <a:lnTo>
                    <a:pt x="0" y="657225"/>
                  </a:lnTo>
                  <a:lnTo>
                    <a:pt x="328549" y="328549"/>
                  </a:lnTo>
                  <a:lnTo>
                    <a:pt x="0" y="0"/>
                  </a:lnTo>
                  <a:close/>
                </a:path>
              </a:pathLst>
            </a:custGeom>
            <a:ln w="12700">
              <a:solidFill>
                <a:srgbClr val="FFFFFF"/>
              </a:solidFill>
            </a:ln>
          </p:spPr>
          <p:txBody>
            <a:bodyPr wrap="square" lIns="0" tIns="0" rIns="0" bIns="0" rtlCol="0"/>
            <a:lstStyle/>
            <a:p>
              <a:endParaRPr/>
            </a:p>
          </p:txBody>
        </p:sp>
      </p:grpSp>
      <p:sp>
        <p:nvSpPr>
          <p:cNvPr id="21" name="object 21"/>
          <p:cNvSpPr txBox="1"/>
          <p:nvPr/>
        </p:nvSpPr>
        <p:spPr>
          <a:xfrm>
            <a:off x="3136900" y="3714432"/>
            <a:ext cx="850900" cy="381000"/>
          </a:xfrm>
          <a:prstGeom prst="rect">
            <a:avLst/>
          </a:prstGeom>
        </p:spPr>
        <p:txBody>
          <a:bodyPr vert="horz" wrap="square" lIns="0" tIns="27940" rIns="0" bIns="0" rtlCol="0">
            <a:spAutoFit/>
          </a:bodyPr>
          <a:lstStyle/>
          <a:p>
            <a:pPr marL="246379" marR="5080" indent="-234315">
              <a:lnSpc>
                <a:spcPts val="1350"/>
              </a:lnSpc>
              <a:spcBef>
                <a:spcPts val="220"/>
              </a:spcBef>
            </a:pPr>
            <a:r>
              <a:rPr sz="1200" dirty="0">
                <a:solidFill>
                  <a:srgbClr val="FFFFFF"/>
                </a:solidFill>
                <a:latin typeface="Calibri"/>
                <a:cs typeface="Calibri"/>
              </a:rPr>
              <a:t>Extract</a:t>
            </a:r>
            <a:r>
              <a:rPr sz="1200" spc="-50" dirty="0">
                <a:solidFill>
                  <a:srgbClr val="FFFFFF"/>
                </a:solidFill>
                <a:latin typeface="Calibri"/>
                <a:cs typeface="Calibri"/>
              </a:rPr>
              <a:t> </a:t>
            </a:r>
            <a:r>
              <a:rPr sz="1200" spc="-20" dirty="0">
                <a:solidFill>
                  <a:srgbClr val="FFFFFF"/>
                </a:solidFill>
                <a:latin typeface="Calibri"/>
                <a:cs typeface="Calibri"/>
              </a:rPr>
              <a:t>HTML </a:t>
            </a:r>
            <a:r>
              <a:rPr sz="1200" spc="-10" dirty="0">
                <a:solidFill>
                  <a:srgbClr val="FFFFFF"/>
                </a:solidFill>
                <a:latin typeface="Calibri"/>
                <a:cs typeface="Calibri"/>
              </a:rPr>
              <a:t>Table</a:t>
            </a:r>
            <a:endParaRPr sz="1200">
              <a:latin typeface="Calibri"/>
              <a:cs typeface="Calibri"/>
            </a:endParaRPr>
          </a:p>
        </p:txBody>
      </p:sp>
      <p:grpSp>
        <p:nvGrpSpPr>
          <p:cNvPr id="22" name="object 22"/>
          <p:cNvGrpSpPr/>
          <p:nvPr/>
        </p:nvGrpSpPr>
        <p:grpSpPr>
          <a:xfrm>
            <a:off x="4199001" y="3589401"/>
            <a:ext cx="1641475" cy="669925"/>
            <a:chOff x="4199001" y="3589401"/>
            <a:chExt cx="1641475" cy="669925"/>
          </a:xfrm>
        </p:grpSpPr>
        <p:sp>
          <p:nvSpPr>
            <p:cNvPr id="23" name="object 23"/>
            <p:cNvSpPr/>
            <p:nvPr/>
          </p:nvSpPr>
          <p:spPr>
            <a:xfrm>
              <a:off x="4205351" y="3595751"/>
              <a:ext cx="1628775" cy="657225"/>
            </a:xfrm>
            <a:custGeom>
              <a:avLst/>
              <a:gdLst/>
              <a:ahLst/>
              <a:cxnLst/>
              <a:rect l="l" t="t" r="r" b="b"/>
              <a:pathLst>
                <a:path w="1628775" h="657225">
                  <a:moveTo>
                    <a:pt x="1300099" y="0"/>
                  </a:moveTo>
                  <a:lnTo>
                    <a:pt x="0" y="0"/>
                  </a:lnTo>
                  <a:lnTo>
                    <a:pt x="328549" y="328549"/>
                  </a:lnTo>
                  <a:lnTo>
                    <a:pt x="0" y="657225"/>
                  </a:lnTo>
                  <a:lnTo>
                    <a:pt x="1300099" y="657225"/>
                  </a:lnTo>
                  <a:lnTo>
                    <a:pt x="1628775" y="328549"/>
                  </a:lnTo>
                  <a:lnTo>
                    <a:pt x="1300099" y="0"/>
                  </a:lnTo>
                  <a:close/>
                </a:path>
              </a:pathLst>
            </a:custGeom>
            <a:solidFill>
              <a:srgbClr val="4471C4"/>
            </a:solidFill>
          </p:spPr>
          <p:txBody>
            <a:bodyPr wrap="square" lIns="0" tIns="0" rIns="0" bIns="0" rtlCol="0"/>
            <a:lstStyle/>
            <a:p>
              <a:endParaRPr/>
            </a:p>
          </p:txBody>
        </p:sp>
        <p:sp>
          <p:nvSpPr>
            <p:cNvPr id="24" name="object 24"/>
            <p:cNvSpPr/>
            <p:nvPr/>
          </p:nvSpPr>
          <p:spPr>
            <a:xfrm>
              <a:off x="4205351" y="3595751"/>
              <a:ext cx="1628775" cy="657225"/>
            </a:xfrm>
            <a:custGeom>
              <a:avLst/>
              <a:gdLst/>
              <a:ahLst/>
              <a:cxnLst/>
              <a:rect l="l" t="t" r="r" b="b"/>
              <a:pathLst>
                <a:path w="1628775" h="657225">
                  <a:moveTo>
                    <a:pt x="0" y="0"/>
                  </a:moveTo>
                  <a:lnTo>
                    <a:pt x="1300099" y="0"/>
                  </a:lnTo>
                  <a:lnTo>
                    <a:pt x="1628775" y="328549"/>
                  </a:lnTo>
                  <a:lnTo>
                    <a:pt x="1300099" y="657225"/>
                  </a:lnTo>
                  <a:lnTo>
                    <a:pt x="0" y="657225"/>
                  </a:lnTo>
                  <a:lnTo>
                    <a:pt x="328549" y="328549"/>
                  </a:lnTo>
                  <a:lnTo>
                    <a:pt x="0" y="0"/>
                  </a:lnTo>
                  <a:close/>
                </a:path>
              </a:pathLst>
            </a:custGeom>
            <a:ln w="12700">
              <a:solidFill>
                <a:srgbClr val="FFFFFF"/>
              </a:solidFill>
            </a:ln>
          </p:spPr>
          <p:txBody>
            <a:bodyPr wrap="square" lIns="0" tIns="0" rIns="0" bIns="0" rtlCol="0"/>
            <a:lstStyle/>
            <a:p>
              <a:endParaRPr/>
            </a:p>
          </p:txBody>
        </p:sp>
      </p:grpSp>
      <p:sp>
        <p:nvSpPr>
          <p:cNvPr id="25" name="object 25"/>
          <p:cNvSpPr txBox="1"/>
          <p:nvPr/>
        </p:nvSpPr>
        <p:spPr>
          <a:xfrm>
            <a:off x="4585970" y="3714432"/>
            <a:ext cx="895350" cy="381000"/>
          </a:xfrm>
          <a:prstGeom prst="rect">
            <a:avLst/>
          </a:prstGeom>
        </p:spPr>
        <p:txBody>
          <a:bodyPr vert="horz" wrap="square" lIns="0" tIns="27940" rIns="0" bIns="0" rtlCol="0">
            <a:spAutoFit/>
          </a:bodyPr>
          <a:lstStyle/>
          <a:p>
            <a:pPr marL="12700" marR="5080" indent="113030">
              <a:lnSpc>
                <a:spcPts val="1350"/>
              </a:lnSpc>
              <a:spcBef>
                <a:spcPts val="220"/>
              </a:spcBef>
            </a:pPr>
            <a:r>
              <a:rPr sz="1200" dirty="0">
                <a:solidFill>
                  <a:srgbClr val="FFFFFF"/>
                </a:solidFill>
                <a:latin typeface="Calibri"/>
                <a:cs typeface="Calibri"/>
              </a:rPr>
              <a:t>Parse</a:t>
            </a:r>
            <a:r>
              <a:rPr sz="1200" spc="-65" dirty="0">
                <a:solidFill>
                  <a:srgbClr val="FFFFFF"/>
                </a:solidFill>
                <a:latin typeface="Calibri"/>
                <a:cs typeface="Calibri"/>
              </a:rPr>
              <a:t> </a:t>
            </a:r>
            <a:r>
              <a:rPr sz="1200" spc="-20" dirty="0">
                <a:solidFill>
                  <a:srgbClr val="FFFFFF"/>
                </a:solidFill>
                <a:latin typeface="Calibri"/>
                <a:cs typeface="Calibri"/>
              </a:rPr>
              <a:t>with </a:t>
            </a:r>
            <a:r>
              <a:rPr sz="1200" spc="-10" dirty="0">
                <a:solidFill>
                  <a:srgbClr val="FFFFFF"/>
                </a:solidFill>
                <a:latin typeface="Calibri"/>
                <a:cs typeface="Calibri"/>
              </a:rPr>
              <a:t>BeautifulSoup</a:t>
            </a:r>
            <a:endParaRPr sz="1200">
              <a:latin typeface="Calibri"/>
              <a:cs typeface="Calibri"/>
            </a:endParaRPr>
          </a:p>
        </p:txBody>
      </p:sp>
      <p:grpSp>
        <p:nvGrpSpPr>
          <p:cNvPr id="26" name="object 26"/>
          <p:cNvGrpSpPr/>
          <p:nvPr/>
        </p:nvGrpSpPr>
        <p:grpSpPr>
          <a:xfrm>
            <a:off x="5665851" y="3589401"/>
            <a:ext cx="1641475" cy="669925"/>
            <a:chOff x="5665851" y="3589401"/>
            <a:chExt cx="1641475" cy="669925"/>
          </a:xfrm>
        </p:grpSpPr>
        <p:sp>
          <p:nvSpPr>
            <p:cNvPr id="27" name="object 27"/>
            <p:cNvSpPr/>
            <p:nvPr/>
          </p:nvSpPr>
          <p:spPr>
            <a:xfrm>
              <a:off x="5672201" y="3595751"/>
              <a:ext cx="1628775" cy="657225"/>
            </a:xfrm>
            <a:custGeom>
              <a:avLst/>
              <a:gdLst/>
              <a:ahLst/>
              <a:cxnLst/>
              <a:rect l="l" t="t" r="r" b="b"/>
              <a:pathLst>
                <a:path w="1628775" h="657225">
                  <a:moveTo>
                    <a:pt x="1300099" y="0"/>
                  </a:moveTo>
                  <a:lnTo>
                    <a:pt x="0" y="0"/>
                  </a:lnTo>
                  <a:lnTo>
                    <a:pt x="328549" y="328549"/>
                  </a:lnTo>
                  <a:lnTo>
                    <a:pt x="0" y="657225"/>
                  </a:lnTo>
                  <a:lnTo>
                    <a:pt x="1300099" y="657225"/>
                  </a:lnTo>
                  <a:lnTo>
                    <a:pt x="1628775" y="328549"/>
                  </a:lnTo>
                  <a:lnTo>
                    <a:pt x="1300099" y="0"/>
                  </a:lnTo>
                  <a:close/>
                </a:path>
              </a:pathLst>
            </a:custGeom>
            <a:solidFill>
              <a:srgbClr val="4471C4"/>
            </a:solidFill>
          </p:spPr>
          <p:txBody>
            <a:bodyPr wrap="square" lIns="0" tIns="0" rIns="0" bIns="0" rtlCol="0"/>
            <a:lstStyle/>
            <a:p>
              <a:endParaRPr/>
            </a:p>
          </p:txBody>
        </p:sp>
        <p:sp>
          <p:nvSpPr>
            <p:cNvPr id="28" name="object 28"/>
            <p:cNvSpPr/>
            <p:nvPr/>
          </p:nvSpPr>
          <p:spPr>
            <a:xfrm>
              <a:off x="5672201" y="3595751"/>
              <a:ext cx="1628775" cy="657225"/>
            </a:xfrm>
            <a:custGeom>
              <a:avLst/>
              <a:gdLst/>
              <a:ahLst/>
              <a:cxnLst/>
              <a:rect l="l" t="t" r="r" b="b"/>
              <a:pathLst>
                <a:path w="1628775" h="657225">
                  <a:moveTo>
                    <a:pt x="0" y="0"/>
                  </a:moveTo>
                  <a:lnTo>
                    <a:pt x="1300099" y="0"/>
                  </a:lnTo>
                  <a:lnTo>
                    <a:pt x="1628775" y="328549"/>
                  </a:lnTo>
                  <a:lnTo>
                    <a:pt x="1300099" y="657225"/>
                  </a:lnTo>
                  <a:lnTo>
                    <a:pt x="0" y="657225"/>
                  </a:lnTo>
                  <a:lnTo>
                    <a:pt x="328549" y="328549"/>
                  </a:lnTo>
                  <a:lnTo>
                    <a:pt x="0" y="0"/>
                  </a:lnTo>
                  <a:close/>
                </a:path>
              </a:pathLst>
            </a:custGeom>
            <a:ln w="12700">
              <a:solidFill>
                <a:srgbClr val="FFFFFF"/>
              </a:solidFill>
            </a:ln>
          </p:spPr>
          <p:txBody>
            <a:bodyPr wrap="square" lIns="0" tIns="0" rIns="0" bIns="0" rtlCol="0"/>
            <a:lstStyle/>
            <a:p>
              <a:endParaRPr/>
            </a:p>
          </p:txBody>
        </p:sp>
      </p:grpSp>
      <p:sp>
        <p:nvSpPr>
          <p:cNvPr id="29" name="object 29"/>
          <p:cNvSpPr txBox="1"/>
          <p:nvPr/>
        </p:nvSpPr>
        <p:spPr>
          <a:xfrm>
            <a:off x="6151879" y="3714432"/>
            <a:ext cx="701675" cy="381000"/>
          </a:xfrm>
          <a:prstGeom prst="rect">
            <a:avLst/>
          </a:prstGeom>
        </p:spPr>
        <p:txBody>
          <a:bodyPr vert="horz" wrap="square" lIns="0" tIns="27940" rIns="0" bIns="0" rtlCol="0">
            <a:spAutoFit/>
          </a:bodyPr>
          <a:lstStyle/>
          <a:p>
            <a:pPr marL="12700" marR="5080" indent="13335">
              <a:lnSpc>
                <a:spcPts val="1350"/>
              </a:lnSpc>
              <a:spcBef>
                <a:spcPts val="220"/>
              </a:spcBef>
            </a:pPr>
            <a:r>
              <a:rPr sz="1200" dirty="0">
                <a:solidFill>
                  <a:srgbClr val="FFFFFF"/>
                </a:solidFill>
                <a:latin typeface="Calibri"/>
                <a:cs typeface="Calibri"/>
              </a:rPr>
              <a:t>Convert</a:t>
            </a:r>
            <a:r>
              <a:rPr sz="1200" spc="-25" dirty="0">
                <a:solidFill>
                  <a:srgbClr val="FFFFFF"/>
                </a:solidFill>
                <a:latin typeface="Calibri"/>
                <a:cs typeface="Calibri"/>
              </a:rPr>
              <a:t> to </a:t>
            </a:r>
            <a:r>
              <a:rPr sz="1200" spc="-20" dirty="0">
                <a:solidFill>
                  <a:srgbClr val="FFFFFF"/>
                </a:solidFill>
                <a:latin typeface="Calibri"/>
                <a:cs typeface="Calibri"/>
              </a:rPr>
              <a:t>DataFrame</a:t>
            </a:r>
            <a:endParaRPr sz="1200">
              <a:latin typeface="Calibri"/>
              <a:cs typeface="Calibri"/>
            </a:endParaRPr>
          </a:p>
        </p:txBody>
      </p:sp>
      <p:grpSp>
        <p:nvGrpSpPr>
          <p:cNvPr id="30" name="object 30"/>
          <p:cNvGrpSpPr/>
          <p:nvPr/>
        </p:nvGrpSpPr>
        <p:grpSpPr>
          <a:xfrm>
            <a:off x="2732151" y="5132451"/>
            <a:ext cx="1641475" cy="669925"/>
            <a:chOff x="2732151" y="5132451"/>
            <a:chExt cx="1641475" cy="669925"/>
          </a:xfrm>
        </p:grpSpPr>
        <p:sp>
          <p:nvSpPr>
            <p:cNvPr id="31" name="object 31"/>
            <p:cNvSpPr/>
            <p:nvPr/>
          </p:nvSpPr>
          <p:spPr>
            <a:xfrm>
              <a:off x="2738501" y="5138801"/>
              <a:ext cx="1628775" cy="657225"/>
            </a:xfrm>
            <a:custGeom>
              <a:avLst/>
              <a:gdLst/>
              <a:ahLst/>
              <a:cxnLst/>
              <a:rect l="l" t="t" r="r" b="b"/>
              <a:pathLst>
                <a:path w="1628775" h="657225">
                  <a:moveTo>
                    <a:pt x="1300099" y="0"/>
                  </a:moveTo>
                  <a:lnTo>
                    <a:pt x="0" y="0"/>
                  </a:lnTo>
                  <a:lnTo>
                    <a:pt x="328549" y="328549"/>
                  </a:lnTo>
                  <a:lnTo>
                    <a:pt x="0" y="657161"/>
                  </a:lnTo>
                  <a:lnTo>
                    <a:pt x="1300099" y="657161"/>
                  </a:lnTo>
                  <a:lnTo>
                    <a:pt x="1628775" y="328549"/>
                  </a:lnTo>
                  <a:lnTo>
                    <a:pt x="1300099" y="0"/>
                  </a:lnTo>
                  <a:close/>
                </a:path>
              </a:pathLst>
            </a:custGeom>
            <a:solidFill>
              <a:srgbClr val="4471C4"/>
            </a:solidFill>
          </p:spPr>
          <p:txBody>
            <a:bodyPr wrap="square" lIns="0" tIns="0" rIns="0" bIns="0" rtlCol="0"/>
            <a:lstStyle/>
            <a:p>
              <a:endParaRPr/>
            </a:p>
          </p:txBody>
        </p:sp>
        <p:sp>
          <p:nvSpPr>
            <p:cNvPr id="32" name="object 32"/>
            <p:cNvSpPr/>
            <p:nvPr/>
          </p:nvSpPr>
          <p:spPr>
            <a:xfrm>
              <a:off x="2738501" y="5138801"/>
              <a:ext cx="1628775" cy="657225"/>
            </a:xfrm>
            <a:custGeom>
              <a:avLst/>
              <a:gdLst/>
              <a:ahLst/>
              <a:cxnLst/>
              <a:rect l="l" t="t" r="r" b="b"/>
              <a:pathLst>
                <a:path w="1628775" h="657225">
                  <a:moveTo>
                    <a:pt x="0" y="0"/>
                  </a:moveTo>
                  <a:lnTo>
                    <a:pt x="1300099" y="0"/>
                  </a:lnTo>
                  <a:lnTo>
                    <a:pt x="1628775" y="328549"/>
                  </a:lnTo>
                  <a:lnTo>
                    <a:pt x="1300099" y="657161"/>
                  </a:lnTo>
                  <a:lnTo>
                    <a:pt x="0" y="657161"/>
                  </a:lnTo>
                  <a:lnTo>
                    <a:pt x="328549" y="328549"/>
                  </a:lnTo>
                  <a:lnTo>
                    <a:pt x="0" y="0"/>
                  </a:lnTo>
                  <a:close/>
                </a:path>
              </a:pathLst>
            </a:custGeom>
            <a:ln w="12700">
              <a:solidFill>
                <a:srgbClr val="FFFFFF"/>
              </a:solidFill>
            </a:ln>
          </p:spPr>
          <p:txBody>
            <a:bodyPr wrap="square" lIns="0" tIns="0" rIns="0" bIns="0" rtlCol="0"/>
            <a:lstStyle/>
            <a:p>
              <a:endParaRPr/>
            </a:p>
          </p:txBody>
        </p:sp>
      </p:grpSp>
      <p:sp>
        <p:nvSpPr>
          <p:cNvPr id="33" name="object 33"/>
          <p:cNvSpPr txBox="1"/>
          <p:nvPr/>
        </p:nvSpPr>
        <p:spPr>
          <a:xfrm>
            <a:off x="3098164" y="5227002"/>
            <a:ext cx="926465" cy="451484"/>
          </a:xfrm>
          <a:prstGeom prst="rect">
            <a:avLst/>
          </a:prstGeom>
        </p:spPr>
        <p:txBody>
          <a:bodyPr vert="horz" wrap="square" lIns="0" tIns="15875" rIns="0" bIns="0" rtlCol="0">
            <a:spAutoFit/>
          </a:bodyPr>
          <a:lstStyle/>
          <a:p>
            <a:pPr algn="ctr">
              <a:lnSpc>
                <a:spcPts val="1135"/>
              </a:lnSpc>
              <a:spcBef>
                <a:spcPts val="125"/>
              </a:spcBef>
            </a:pPr>
            <a:r>
              <a:rPr sz="950" dirty="0">
                <a:solidFill>
                  <a:srgbClr val="FFFFFF"/>
                </a:solidFill>
                <a:latin typeface="Calibri"/>
                <a:cs typeface="Calibri"/>
              </a:rPr>
              <a:t>SpaceX</a:t>
            </a:r>
            <a:r>
              <a:rPr sz="950" spc="155" dirty="0">
                <a:solidFill>
                  <a:srgbClr val="FFFFFF"/>
                </a:solidFill>
                <a:latin typeface="Calibri"/>
                <a:cs typeface="Calibri"/>
              </a:rPr>
              <a:t> </a:t>
            </a:r>
            <a:r>
              <a:rPr sz="950" spc="-25" dirty="0">
                <a:solidFill>
                  <a:srgbClr val="FFFFFF"/>
                </a:solidFill>
                <a:latin typeface="Calibri"/>
                <a:cs typeface="Calibri"/>
              </a:rPr>
              <a:t>API</a:t>
            </a:r>
            <a:endParaRPr sz="950">
              <a:latin typeface="Calibri"/>
              <a:cs typeface="Calibri"/>
            </a:endParaRPr>
          </a:p>
          <a:p>
            <a:pPr algn="ctr">
              <a:lnSpc>
                <a:spcPts val="1090"/>
              </a:lnSpc>
            </a:pPr>
            <a:r>
              <a:rPr sz="950" dirty="0">
                <a:solidFill>
                  <a:srgbClr val="FFFFFF"/>
                </a:solidFill>
                <a:latin typeface="Calibri"/>
                <a:cs typeface="Calibri"/>
              </a:rPr>
              <a:t>Data</a:t>
            </a:r>
            <a:r>
              <a:rPr sz="950" spc="70" dirty="0">
                <a:solidFill>
                  <a:srgbClr val="FFFFFF"/>
                </a:solidFill>
                <a:latin typeface="Calibri"/>
                <a:cs typeface="Calibri"/>
              </a:rPr>
              <a:t> </a:t>
            </a:r>
            <a:r>
              <a:rPr sz="950" dirty="0">
                <a:solidFill>
                  <a:srgbClr val="FFFFFF"/>
                </a:solidFill>
                <a:latin typeface="Calibri Light"/>
                <a:cs typeface="Calibri Light"/>
              </a:rPr>
              <a:t>&amp;</a:t>
            </a:r>
            <a:r>
              <a:rPr sz="950" spc="65" dirty="0">
                <a:solidFill>
                  <a:srgbClr val="FFFFFF"/>
                </a:solidFill>
                <a:latin typeface="Calibri Light"/>
                <a:cs typeface="Calibri Light"/>
              </a:rPr>
              <a:t> </a:t>
            </a:r>
            <a:r>
              <a:rPr sz="950" spc="-10" dirty="0">
                <a:solidFill>
                  <a:srgbClr val="FFFFFF"/>
                </a:solidFill>
                <a:latin typeface="Calibri"/>
                <a:cs typeface="Calibri"/>
              </a:rPr>
              <a:t>Wikipedia</a:t>
            </a:r>
            <a:endParaRPr sz="950">
              <a:latin typeface="Calibri"/>
              <a:cs typeface="Calibri"/>
            </a:endParaRPr>
          </a:p>
          <a:p>
            <a:pPr algn="ctr">
              <a:lnSpc>
                <a:spcPts val="1095"/>
              </a:lnSpc>
            </a:pPr>
            <a:r>
              <a:rPr sz="950" spc="-20" dirty="0">
                <a:solidFill>
                  <a:srgbClr val="FFFFFF"/>
                </a:solidFill>
                <a:latin typeface="Calibri"/>
                <a:cs typeface="Calibri"/>
              </a:rPr>
              <a:t>Data</a:t>
            </a:r>
            <a:endParaRPr sz="950">
              <a:latin typeface="Calibri"/>
              <a:cs typeface="Calibri"/>
            </a:endParaRPr>
          </a:p>
        </p:txBody>
      </p:sp>
      <p:grpSp>
        <p:nvGrpSpPr>
          <p:cNvPr id="34" name="object 34"/>
          <p:cNvGrpSpPr/>
          <p:nvPr/>
        </p:nvGrpSpPr>
        <p:grpSpPr>
          <a:xfrm>
            <a:off x="4199001" y="5132451"/>
            <a:ext cx="1641475" cy="669925"/>
            <a:chOff x="4199001" y="5132451"/>
            <a:chExt cx="1641475" cy="669925"/>
          </a:xfrm>
        </p:grpSpPr>
        <p:sp>
          <p:nvSpPr>
            <p:cNvPr id="35" name="object 35"/>
            <p:cNvSpPr/>
            <p:nvPr/>
          </p:nvSpPr>
          <p:spPr>
            <a:xfrm>
              <a:off x="4205351" y="5138801"/>
              <a:ext cx="1628775" cy="657225"/>
            </a:xfrm>
            <a:custGeom>
              <a:avLst/>
              <a:gdLst/>
              <a:ahLst/>
              <a:cxnLst/>
              <a:rect l="l" t="t" r="r" b="b"/>
              <a:pathLst>
                <a:path w="1628775" h="657225">
                  <a:moveTo>
                    <a:pt x="1300099" y="0"/>
                  </a:moveTo>
                  <a:lnTo>
                    <a:pt x="0" y="0"/>
                  </a:lnTo>
                  <a:lnTo>
                    <a:pt x="328549" y="328549"/>
                  </a:lnTo>
                  <a:lnTo>
                    <a:pt x="0" y="657161"/>
                  </a:lnTo>
                  <a:lnTo>
                    <a:pt x="1300099" y="657161"/>
                  </a:lnTo>
                  <a:lnTo>
                    <a:pt x="1628775" y="328549"/>
                  </a:lnTo>
                  <a:lnTo>
                    <a:pt x="1300099" y="0"/>
                  </a:lnTo>
                  <a:close/>
                </a:path>
              </a:pathLst>
            </a:custGeom>
            <a:solidFill>
              <a:srgbClr val="4471C4"/>
            </a:solidFill>
          </p:spPr>
          <p:txBody>
            <a:bodyPr wrap="square" lIns="0" tIns="0" rIns="0" bIns="0" rtlCol="0"/>
            <a:lstStyle/>
            <a:p>
              <a:endParaRPr/>
            </a:p>
          </p:txBody>
        </p:sp>
        <p:sp>
          <p:nvSpPr>
            <p:cNvPr id="36" name="object 36"/>
            <p:cNvSpPr/>
            <p:nvPr/>
          </p:nvSpPr>
          <p:spPr>
            <a:xfrm>
              <a:off x="4205351" y="5138801"/>
              <a:ext cx="1628775" cy="657225"/>
            </a:xfrm>
            <a:custGeom>
              <a:avLst/>
              <a:gdLst/>
              <a:ahLst/>
              <a:cxnLst/>
              <a:rect l="l" t="t" r="r" b="b"/>
              <a:pathLst>
                <a:path w="1628775" h="657225">
                  <a:moveTo>
                    <a:pt x="0" y="0"/>
                  </a:moveTo>
                  <a:lnTo>
                    <a:pt x="1300099" y="0"/>
                  </a:lnTo>
                  <a:lnTo>
                    <a:pt x="1628775" y="328549"/>
                  </a:lnTo>
                  <a:lnTo>
                    <a:pt x="1300099" y="657161"/>
                  </a:lnTo>
                  <a:lnTo>
                    <a:pt x="0" y="657161"/>
                  </a:lnTo>
                  <a:lnTo>
                    <a:pt x="328549" y="328549"/>
                  </a:lnTo>
                  <a:lnTo>
                    <a:pt x="0" y="0"/>
                  </a:lnTo>
                  <a:close/>
                </a:path>
              </a:pathLst>
            </a:custGeom>
            <a:ln w="12700">
              <a:solidFill>
                <a:srgbClr val="FFFFFF"/>
              </a:solidFill>
            </a:ln>
          </p:spPr>
          <p:txBody>
            <a:bodyPr wrap="square" lIns="0" tIns="0" rIns="0" bIns="0" rtlCol="0"/>
            <a:lstStyle/>
            <a:p>
              <a:endParaRPr/>
            </a:p>
          </p:txBody>
        </p:sp>
      </p:grpSp>
      <p:sp>
        <p:nvSpPr>
          <p:cNvPr id="37" name="object 37"/>
          <p:cNvSpPr txBox="1"/>
          <p:nvPr/>
        </p:nvSpPr>
        <p:spPr>
          <a:xfrm>
            <a:off x="4610734" y="5366702"/>
            <a:ext cx="835660" cy="174625"/>
          </a:xfrm>
          <a:prstGeom prst="rect">
            <a:avLst/>
          </a:prstGeom>
        </p:spPr>
        <p:txBody>
          <a:bodyPr vert="horz" wrap="square" lIns="0" tIns="15875" rIns="0" bIns="0" rtlCol="0">
            <a:spAutoFit/>
          </a:bodyPr>
          <a:lstStyle/>
          <a:p>
            <a:pPr marL="12700">
              <a:lnSpc>
                <a:spcPct val="100000"/>
              </a:lnSpc>
              <a:spcBef>
                <a:spcPts val="125"/>
              </a:spcBef>
            </a:pPr>
            <a:r>
              <a:rPr sz="950" dirty="0">
                <a:solidFill>
                  <a:srgbClr val="FFFFFF"/>
                </a:solidFill>
                <a:latin typeface="Calibri"/>
                <a:cs typeface="Calibri"/>
              </a:rPr>
              <a:t>Merge</a:t>
            </a:r>
            <a:r>
              <a:rPr sz="950" spc="140" dirty="0">
                <a:solidFill>
                  <a:srgbClr val="FFFFFF"/>
                </a:solidFill>
                <a:latin typeface="Calibri"/>
                <a:cs typeface="Calibri"/>
              </a:rPr>
              <a:t> </a:t>
            </a:r>
            <a:r>
              <a:rPr sz="950" spc="-10" dirty="0">
                <a:solidFill>
                  <a:srgbClr val="FFFFFF"/>
                </a:solidFill>
                <a:latin typeface="Calibri"/>
                <a:cs typeface="Calibri"/>
              </a:rPr>
              <a:t>Datasets</a:t>
            </a:r>
            <a:endParaRPr sz="950">
              <a:latin typeface="Calibri"/>
              <a:cs typeface="Calibri"/>
            </a:endParaRPr>
          </a:p>
        </p:txBody>
      </p:sp>
      <p:grpSp>
        <p:nvGrpSpPr>
          <p:cNvPr id="38" name="object 38"/>
          <p:cNvGrpSpPr/>
          <p:nvPr/>
        </p:nvGrpSpPr>
        <p:grpSpPr>
          <a:xfrm>
            <a:off x="5665851" y="5132451"/>
            <a:ext cx="1641475" cy="669925"/>
            <a:chOff x="5665851" y="5132451"/>
            <a:chExt cx="1641475" cy="669925"/>
          </a:xfrm>
        </p:grpSpPr>
        <p:sp>
          <p:nvSpPr>
            <p:cNvPr id="39" name="object 39"/>
            <p:cNvSpPr/>
            <p:nvPr/>
          </p:nvSpPr>
          <p:spPr>
            <a:xfrm>
              <a:off x="5672201" y="5138801"/>
              <a:ext cx="1628775" cy="657225"/>
            </a:xfrm>
            <a:custGeom>
              <a:avLst/>
              <a:gdLst/>
              <a:ahLst/>
              <a:cxnLst/>
              <a:rect l="l" t="t" r="r" b="b"/>
              <a:pathLst>
                <a:path w="1628775" h="657225">
                  <a:moveTo>
                    <a:pt x="1300099" y="0"/>
                  </a:moveTo>
                  <a:lnTo>
                    <a:pt x="0" y="0"/>
                  </a:lnTo>
                  <a:lnTo>
                    <a:pt x="328549" y="328549"/>
                  </a:lnTo>
                  <a:lnTo>
                    <a:pt x="0" y="657161"/>
                  </a:lnTo>
                  <a:lnTo>
                    <a:pt x="1300099" y="657161"/>
                  </a:lnTo>
                  <a:lnTo>
                    <a:pt x="1628775" y="328549"/>
                  </a:lnTo>
                  <a:lnTo>
                    <a:pt x="1300099" y="0"/>
                  </a:lnTo>
                  <a:close/>
                </a:path>
              </a:pathLst>
            </a:custGeom>
            <a:solidFill>
              <a:srgbClr val="4471C4"/>
            </a:solidFill>
          </p:spPr>
          <p:txBody>
            <a:bodyPr wrap="square" lIns="0" tIns="0" rIns="0" bIns="0" rtlCol="0"/>
            <a:lstStyle/>
            <a:p>
              <a:endParaRPr/>
            </a:p>
          </p:txBody>
        </p:sp>
        <p:sp>
          <p:nvSpPr>
            <p:cNvPr id="40" name="object 40"/>
            <p:cNvSpPr/>
            <p:nvPr/>
          </p:nvSpPr>
          <p:spPr>
            <a:xfrm>
              <a:off x="5672201" y="5138801"/>
              <a:ext cx="1628775" cy="657225"/>
            </a:xfrm>
            <a:custGeom>
              <a:avLst/>
              <a:gdLst/>
              <a:ahLst/>
              <a:cxnLst/>
              <a:rect l="l" t="t" r="r" b="b"/>
              <a:pathLst>
                <a:path w="1628775" h="657225">
                  <a:moveTo>
                    <a:pt x="0" y="0"/>
                  </a:moveTo>
                  <a:lnTo>
                    <a:pt x="1300099" y="0"/>
                  </a:lnTo>
                  <a:lnTo>
                    <a:pt x="1628775" y="328549"/>
                  </a:lnTo>
                  <a:lnTo>
                    <a:pt x="1300099" y="657161"/>
                  </a:lnTo>
                  <a:lnTo>
                    <a:pt x="0" y="657161"/>
                  </a:lnTo>
                  <a:lnTo>
                    <a:pt x="328549" y="328549"/>
                  </a:lnTo>
                  <a:lnTo>
                    <a:pt x="0" y="0"/>
                  </a:lnTo>
                  <a:close/>
                </a:path>
              </a:pathLst>
            </a:custGeom>
            <a:ln w="12700">
              <a:solidFill>
                <a:srgbClr val="FFFFFF"/>
              </a:solidFill>
            </a:ln>
          </p:spPr>
          <p:txBody>
            <a:bodyPr wrap="square" lIns="0" tIns="0" rIns="0" bIns="0" rtlCol="0"/>
            <a:lstStyle/>
            <a:p>
              <a:endParaRPr/>
            </a:p>
          </p:txBody>
        </p:sp>
      </p:grpSp>
      <p:sp>
        <p:nvSpPr>
          <p:cNvPr id="41" name="object 41"/>
          <p:cNvSpPr txBox="1"/>
          <p:nvPr/>
        </p:nvSpPr>
        <p:spPr>
          <a:xfrm>
            <a:off x="6080759" y="5296852"/>
            <a:ext cx="842010" cy="318135"/>
          </a:xfrm>
          <a:prstGeom prst="rect">
            <a:avLst/>
          </a:prstGeom>
        </p:spPr>
        <p:txBody>
          <a:bodyPr vert="horz" wrap="square" lIns="0" tIns="15875" rIns="0" bIns="0" rtlCol="0">
            <a:spAutoFit/>
          </a:bodyPr>
          <a:lstStyle/>
          <a:p>
            <a:pPr algn="ctr">
              <a:lnSpc>
                <a:spcPts val="1135"/>
              </a:lnSpc>
              <a:spcBef>
                <a:spcPts val="125"/>
              </a:spcBef>
            </a:pPr>
            <a:r>
              <a:rPr sz="950" dirty="0">
                <a:solidFill>
                  <a:srgbClr val="FFFFFF"/>
                </a:solidFill>
                <a:latin typeface="Calibri"/>
                <a:cs typeface="Calibri"/>
              </a:rPr>
              <a:t>Final</a:t>
            </a:r>
            <a:r>
              <a:rPr sz="950" spc="120" dirty="0">
                <a:solidFill>
                  <a:srgbClr val="FFFFFF"/>
                </a:solidFill>
                <a:latin typeface="Calibri"/>
                <a:cs typeface="Calibri"/>
              </a:rPr>
              <a:t> </a:t>
            </a:r>
            <a:r>
              <a:rPr sz="950" spc="-10" dirty="0">
                <a:solidFill>
                  <a:srgbClr val="FFFFFF"/>
                </a:solidFill>
                <a:latin typeface="Calibri"/>
                <a:cs typeface="Calibri"/>
              </a:rPr>
              <a:t>Integrated</a:t>
            </a:r>
            <a:endParaRPr sz="950">
              <a:latin typeface="Calibri"/>
              <a:cs typeface="Calibri"/>
            </a:endParaRPr>
          </a:p>
          <a:p>
            <a:pPr algn="ctr">
              <a:lnSpc>
                <a:spcPts val="1135"/>
              </a:lnSpc>
            </a:pPr>
            <a:r>
              <a:rPr sz="950" spc="-20" dirty="0">
                <a:solidFill>
                  <a:srgbClr val="FFFFFF"/>
                </a:solidFill>
                <a:latin typeface="Calibri"/>
                <a:cs typeface="Calibri"/>
              </a:rPr>
              <a:t>Data</a:t>
            </a:r>
            <a:endParaRPr sz="950">
              <a:latin typeface="Calibri"/>
              <a:cs typeface="Calibri"/>
            </a:endParaRPr>
          </a:p>
        </p:txBody>
      </p:sp>
      <p:sp>
        <p:nvSpPr>
          <p:cNvPr id="42" name="object 42"/>
          <p:cNvSpPr txBox="1">
            <a:spLocks noGrp="1"/>
          </p:cNvSpPr>
          <p:nvPr>
            <p:ph type="sldNum" sz="quarter" idx="7"/>
          </p:nvPr>
        </p:nvSpPr>
        <p:spPr>
          <a:prstGeom prst="rect">
            <a:avLst/>
          </a:prstGeom>
        </p:spPr>
        <p:txBody>
          <a:bodyPr vert="horz" wrap="square" lIns="0" tIns="0" rIns="0" bIns="0" rtlCol="0">
            <a:spAutoFit/>
          </a:bodyPr>
          <a:lstStyle/>
          <a:p>
            <a:pPr marL="160020">
              <a:lnSpc>
                <a:spcPts val="1810"/>
              </a:lnSpc>
            </a:pPr>
            <a:fld id="{81D60167-4931-47E6-BA6A-407CBD079E47}" type="slidenum">
              <a:rPr spc="35" dirty="0"/>
              <a:t>8</a:t>
            </a:fld>
            <a:endParaRPr spc="3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910326" y="1452562"/>
            <a:ext cx="5467350" cy="4572000"/>
          </a:xfrm>
          <a:custGeom>
            <a:avLst/>
            <a:gdLst/>
            <a:ahLst/>
            <a:cxnLst/>
            <a:rect l="l" t="t" r="r" b="b"/>
            <a:pathLst>
              <a:path w="5467350" h="4572000">
                <a:moveTo>
                  <a:pt x="0" y="4572000"/>
                </a:moveTo>
                <a:lnTo>
                  <a:pt x="5467350" y="4572000"/>
                </a:lnTo>
                <a:lnTo>
                  <a:pt x="5467350" y="0"/>
                </a:lnTo>
                <a:lnTo>
                  <a:pt x="0" y="0"/>
                </a:lnTo>
                <a:lnTo>
                  <a:pt x="0" y="4572000"/>
                </a:lnTo>
                <a:close/>
              </a:path>
            </a:pathLst>
          </a:custGeom>
          <a:ln w="9525">
            <a:solidFill>
              <a:srgbClr val="0A48CA"/>
            </a:solidFill>
            <a:prstDash val="sysDash"/>
          </a:ln>
        </p:spPr>
        <p:txBody>
          <a:bodyPr wrap="square" lIns="0" tIns="0" rIns="0" bIns="0" rtlCol="0"/>
          <a:lstStyle/>
          <a:p>
            <a:endParaRPr/>
          </a:p>
        </p:txBody>
      </p:sp>
      <p:sp>
        <p:nvSpPr>
          <p:cNvPr id="3" name="object 3"/>
          <p:cNvSpPr txBox="1"/>
          <p:nvPr/>
        </p:nvSpPr>
        <p:spPr>
          <a:xfrm>
            <a:off x="849947" y="1446212"/>
            <a:ext cx="2030730" cy="243204"/>
          </a:xfrm>
          <a:prstGeom prst="rect">
            <a:avLst/>
          </a:prstGeom>
        </p:spPr>
        <p:txBody>
          <a:bodyPr vert="horz" wrap="square" lIns="0" tIns="15875" rIns="0" bIns="0" rtlCol="0">
            <a:spAutoFit/>
          </a:bodyPr>
          <a:lstStyle/>
          <a:p>
            <a:pPr marL="12700">
              <a:lnSpc>
                <a:spcPct val="100000"/>
              </a:lnSpc>
              <a:spcBef>
                <a:spcPts val="125"/>
              </a:spcBef>
            </a:pPr>
            <a:r>
              <a:rPr sz="1400" b="1" dirty="0">
                <a:solidFill>
                  <a:srgbClr val="292929"/>
                </a:solidFill>
                <a:latin typeface="Calibri"/>
                <a:cs typeface="Calibri"/>
              </a:rPr>
              <a:t>Step</a:t>
            </a:r>
            <a:r>
              <a:rPr sz="1400" b="1" spc="5" dirty="0">
                <a:solidFill>
                  <a:srgbClr val="292929"/>
                </a:solidFill>
                <a:latin typeface="Calibri"/>
                <a:cs typeface="Calibri"/>
              </a:rPr>
              <a:t> </a:t>
            </a:r>
            <a:r>
              <a:rPr sz="1400" b="1" spc="-10" dirty="0">
                <a:solidFill>
                  <a:srgbClr val="292929"/>
                </a:solidFill>
                <a:latin typeface="Calibri"/>
                <a:cs typeface="Calibri"/>
              </a:rPr>
              <a:t>1:</a:t>
            </a:r>
            <a:r>
              <a:rPr sz="1400" b="1" spc="-65" dirty="0">
                <a:solidFill>
                  <a:srgbClr val="292929"/>
                </a:solidFill>
                <a:latin typeface="Calibri"/>
                <a:cs typeface="Calibri"/>
              </a:rPr>
              <a:t> </a:t>
            </a:r>
            <a:r>
              <a:rPr sz="1400" b="1" dirty="0">
                <a:solidFill>
                  <a:srgbClr val="292929"/>
                </a:solidFill>
                <a:latin typeface="Calibri"/>
                <a:cs typeface="Calibri"/>
              </a:rPr>
              <a:t>Initiate</a:t>
            </a:r>
            <a:r>
              <a:rPr sz="1400" b="1" spc="-75" dirty="0">
                <a:solidFill>
                  <a:srgbClr val="292929"/>
                </a:solidFill>
                <a:latin typeface="Calibri"/>
                <a:cs typeface="Calibri"/>
              </a:rPr>
              <a:t> </a:t>
            </a:r>
            <a:r>
              <a:rPr sz="1400" b="1" dirty="0">
                <a:solidFill>
                  <a:srgbClr val="292929"/>
                </a:solidFill>
                <a:latin typeface="Calibri"/>
                <a:cs typeface="Calibri"/>
              </a:rPr>
              <a:t>API</a:t>
            </a:r>
            <a:r>
              <a:rPr sz="1400" b="1" spc="20" dirty="0">
                <a:solidFill>
                  <a:srgbClr val="292929"/>
                </a:solidFill>
                <a:latin typeface="Calibri"/>
                <a:cs typeface="Calibri"/>
              </a:rPr>
              <a:t> </a:t>
            </a:r>
            <a:r>
              <a:rPr sz="1400" b="1" spc="-10" dirty="0">
                <a:solidFill>
                  <a:srgbClr val="292929"/>
                </a:solidFill>
                <a:latin typeface="Calibri"/>
                <a:cs typeface="Calibri"/>
              </a:rPr>
              <a:t>Request</a:t>
            </a:r>
            <a:endParaRPr sz="1400">
              <a:latin typeface="Calibri"/>
              <a:cs typeface="Calibri"/>
            </a:endParaRPr>
          </a:p>
        </p:txBody>
      </p:sp>
      <p:sp>
        <p:nvSpPr>
          <p:cNvPr id="4" name="object 4"/>
          <p:cNvSpPr txBox="1"/>
          <p:nvPr/>
        </p:nvSpPr>
        <p:spPr>
          <a:xfrm>
            <a:off x="1307464" y="1703641"/>
            <a:ext cx="4031615" cy="691515"/>
          </a:xfrm>
          <a:prstGeom prst="rect">
            <a:avLst/>
          </a:prstGeom>
        </p:spPr>
        <p:txBody>
          <a:bodyPr vert="horz" wrap="square" lIns="0" tIns="41275" rIns="0" bIns="0" rtlCol="0">
            <a:spAutoFit/>
          </a:bodyPr>
          <a:lstStyle/>
          <a:p>
            <a:pPr marL="240029" marR="293370" indent="-227965">
              <a:lnSpc>
                <a:spcPts val="1500"/>
              </a:lnSpc>
              <a:spcBef>
                <a:spcPts val="325"/>
              </a:spcBef>
              <a:buFont typeface="Courier New"/>
              <a:buChar char="o"/>
              <a:tabLst>
                <a:tab pos="241300" algn="l"/>
              </a:tabLst>
            </a:pPr>
            <a:r>
              <a:rPr sz="1400" dirty="0">
                <a:solidFill>
                  <a:srgbClr val="292929"/>
                </a:solidFill>
                <a:latin typeface="Calibri"/>
                <a:cs typeface="Calibri"/>
              </a:rPr>
              <a:t>Use</a:t>
            </a:r>
            <a:r>
              <a:rPr sz="1400" spc="-15" dirty="0">
                <a:solidFill>
                  <a:srgbClr val="292929"/>
                </a:solidFill>
                <a:latin typeface="Calibri"/>
                <a:cs typeface="Calibri"/>
              </a:rPr>
              <a:t> </a:t>
            </a:r>
            <a:r>
              <a:rPr sz="1400" dirty="0">
                <a:solidFill>
                  <a:srgbClr val="292929"/>
                </a:solidFill>
                <a:latin typeface="Calibri"/>
                <a:cs typeface="Calibri"/>
              </a:rPr>
              <a:t>Python's</a:t>
            </a:r>
            <a:r>
              <a:rPr sz="1400" spc="-5" dirty="0">
                <a:solidFill>
                  <a:srgbClr val="292929"/>
                </a:solidFill>
                <a:latin typeface="Calibri"/>
                <a:cs typeface="Calibri"/>
              </a:rPr>
              <a:t> </a:t>
            </a:r>
            <a:r>
              <a:rPr sz="1400" spc="-10" dirty="0">
                <a:solidFill>
                  <a:srgbClr val="292929"/>
                </a:solidFill>
                <a:latin typeface="Calibri"/>
                <a:cs typeface="Calibri"/>
              </a:rPr>
              <a:t>`requests`</a:t>
            </a:r>
            <a:r>
              <a:rPr sz="1400" spc="-70" dirty="0">
                <a:solidFill>
                  <a:srgbClr val="292929"/>
                </a:solidFill>
                <a:latin typeface="Calibri"/>
                <a:cs typeface="Calibri"/>
              </a:rPr>
              <a:t> </a:t>
            </a:r>
            <a:r>
              <a:rPr sz="1400" dirty="0">
                <a:solidFill>
                  <a:srgbClr val="292929"/>
                </a:solidFill>
                <a:latin typeface="Calibri"/>
                <a:cs typeface="Calibri"/>
              </a:rPr>
              <a:t>library</a:t>
            </a:r>
            <a:r>
              <a:rPr sz="1400" spc="-10" dirty="0">
                <a:solidFill>
                  <a:srgbClr val="292929"/>
                </a:solidFill>
                <a:latin typeface="Calibri"/>
                <a:cs typeface="Calibri"/>
              </a:rPr>
              <a:t> </a:t>
            </a:r>
            <a:r>
              <a:rPr sz="1400" dirty="0">
                <a:solidFill>
                  <a:srgbClr val="292929"/>
                </a:solidFill>
                <a:latin typeface="Calibri"/>
                <a:cs typeface="Calibri"/>
              </a:rPr>
              <a:t>to</a:t>
            </a:r>
            <a:r>
              <a:rPr sz="1400" spc="-45" dirty="0">
                <a:solidFill>
                  <a:srgbClr val="292929"/>
                </a:solidFill>
                <a:latin typeface="Calibri"/>
                <a:cs typeface="Calibri"/>
              </a:rPr>
              <a:t> </a:t>
            </a:r>
            <a:r>
              <a:rPr sz="1400" dirty="0">
                <a:solidFill>
                  <a:srgbClr val="292929"/>
                </a:solidFill>
                <a:latin typeface="Calibri"/>
                <a:cs typeface="Calibri"/>
              </a:rPr>
              <a:t>connect</a:t>
            </a:r>
            <a:r>
              <a:rPr sz="1400" spc="-65" dirty="0">
                <a:solidFill>
                  <a:srgbClr val="292929"/>
                </a:solidFill>
                <a:latin typeface="Calibri"/>
                <a:cs typeface="Calibri"/>
              </a:rPr>
              <a:t> </a:t>
            </a:r>
            <a:r>
              <a:rPr sz="1400" dirty="0">
                <a:solidFill>
                  <a:srgbClr val="292929"/>
                </a:solidFill>
                <a:latin typeface="Calibri"/>
                <a:cs typeface="Calibri"/>
              </a:rPr>
              <a:t>to</a:t>
            </a:r>
            <a:r>
              <a:rPr sz="1400" spc="-45" dirty="0">
                <a:solidFill>
                  <a:srgbClr val="292929"/>
                </a:solidFill>
                <a:latin typeface="Calibri"/>
                <a:cs typeface="Calibri"/>
              </a:rPr>
              <a:t> </a:t>
            </a:r>
            <a:r>
              <a:rPr sz="1400" spc="-25" dirty="0">
                <a:solidFill>
                  <a:srgbClr val="292929"/>
                </a:solidFill>
                <a:latin typeface="Calibri"/>
                <a:cs typeface="Calibri"/>
              </a:rPr>
              <a:t>the 	</a:t>
            </a:r>
            <a:r>
              <a:rPr sz="1400" dirty="0">
                <a:solidFill>
                  <a:srgbClr val="292929"/>
                </a:solidFill>
                <a:latin typeface="Calibri"/>
                <a:cs typeface="Calibri"/>
              </a:rPr>
              <a:t>SpaceX</a:t>
            </a:r>
            <a:r>
              <a:rPr sz="1400" spc="-60" dirty="0">
                <a:solidFill>
                  <a:srgbClr val="292929"/>
                </a:solidFill>
                <a:latin typeface="Calibri"/>
                <a:cs typeface="Calibri"/>
              </a:rPr>
              <a:t> </a:t>
            </a:r>
            <a:r>
              <a:rPr sz="1400" spc="-20" dirty="0">
                <a:solidFill>
                  <a:srgbClr val="292929"/>
                </a:solidFill>
                <a:latin typeface="Calibri"/>
                <a:cs typeface="Calibri"/>
              </a:rPr>
              <a:t>API.</a:t>
            </a:r>
            <a:endParaRPr sz="1400">
              <a:latin typeface="Calibri"/>
              <a:cs typeface="Calibri"/>
            </a:endParaRPr>
          </a:p>
          <a:p>
            <a:pPr marL="240665" indent="-227965">
              <a:lnSpc>
                <a:spcPct val="100000"/>
              </a:lnSpc>
              <a:spcBef>
                <a:spcPts val="330"/>
              </a:spcBef>
              <a:buFont typeface="Courier New"/>
              <a:buChar char="o"/>
              <a:tabLst>
                <a:tab pos="240665" algn="l"/>
              </a:tabLst>
            </a:pPr>
            <a:r>
              <a:rPr sz="1400" dirty="0">
                <a:solidFill>
                  <a:srgbClr val="292929"/>
                </a:solidFill>
                <a:latin typeface="Calibri"/>
                <a:cs typeface="Calibri"/>
              </a:rPr>
              <a:t>Endpoint:</a:t>
            </a:r>
            <a:r>
              <a:rPr sz="1400" spc="-60" dirty="0">
                <a:solidFill>
                  <a:srgbClr val="292929"/>
                </a:solidFill>
                <a:latin typeface="Calibri"/>
                <a:cs typeface="Calibri"/>
              </a:rPr>
              <a:t> </a:t>
            </a:r>
            <a:r>
              <a:rPr sz="1400" spc="-10" dirty="0">
                <a:solidFill>
                  <a:srgbClr val="292929"/>
                </a:solidFill>
                <a:latin typeface="Calibri"/>
                <a:cs typeface="Calibri"/>
              </a:rPr>
              <a:t>`https://api.spacexdata.com/v4/launches`</a:t>
            </a:r>
            <a:endParaRPr sz="1400">
              <a:latin typeface="Calibri"/>
              <a:cs typeface="Calibri"/>
            </a:endParaRPr>
          </a:p>
        </p:txBody>
      </p:sp>
      <p:sp>
        <p:nvSpPr>
          <p:cNvPr id="5" name="object 5"/>
          <p:cNvSpPr txBox="1"/>
          <p:nvPr/>
        </p:nvSpPr>
        <p:spPr>
          <a:xfrm>
            <a:off x="849947" y="2791142"/>
            <a:ext cx="2011045" cy="243204"/>
          </a:xfrm>
          <a:prstGeom prst="rect">
            <a:avLst/>
          </a:prstGeom>
        </p:spPr>
        <p:txBody>
          <a:bodyPr vert="horz" wrap="square" lIns="0" tIns="15875" rIns="0" bIns="0" rtlCol="0">
            <a:spAutoFit/>
          </a:bodyPr>
          <a:lstStyle/>
          <a:p>
            <a:pPr marL="12700">
              <a:lnSpc>
                <a:spcPct val="100000"/>
              </a:lnSpc>
              <a:spcBef>
                <a:spcPts val="125"/>
              </a:spcBef>
            </a:pPr>
            <a:r>
              <a:rPr sz="1400" b="1" dirty="0">
                <a:solidFill>
                  <a:srgbClr val="292929"/>
                </a:solidFill>
                <a:latin typeface="Calibri"/>
                <a:cs typeface="Calibri"/>
              </a:rPr>
              <a:t>Step</a:t>
            </a:r>
            <a:r>
              <a:rPr sz="1400" b="1" spc="-5" dirty="0">
                <a:solidFill>
                  <a:srgbClr val="292929"/>
                </a:solidFill>
                <a:latin typeface="Calibri"/>
                <a:cs typeface="Calibri"/>
              </a:rPr>
              <a:t> </a:t>
            </a:r>
            <a:r>
              <a:rPr sz="1400" b="1" spc="-10" dirty="0">
                <a:solidFill>
                  <a:srgbClr val="292929"/>
                </a:solidFill>
                <a:latin typeface="Calibri"/>
                <a:cs typeface="Calibri"/>
              </a:rPr>
              <a:t>2:</a:t>
            </a:r>
            <a:r>
              <a:rPr sz="1400" b="1" spc="-65" dirty="0">
                <a:solidFill>
                  <a:srgbClr val="292929"/>
                </a:solidFill>
                <a:latin typeface="Calibri"/>
                <a:cs typeface="Calibri"/>
              </a:rPr>
              <a:t> </a:t>
            </a:r>
            <a:r>
              <a:rPr sz="1400" b="1" dirty="0">
                <a:solidFill>
                  <a:srgbClr val="292929"/>
                </a:solidFill>
                <a:latin typeface="Calibri"/>
                <a:cs typeface="Calibri"/>
              </a:rPr>
              <a:t>Parse</a:t>
            </a:r>
            <a:r>
              <a:rPr sz="1400" b="1" spc="-30" dirty="0">
                <a:solidFill>
                  <a:srgbClr val="292929"/>
                </a:solidFill>
                <a:latin typeface="Calibri"/>
                <a:cs typeface="Calibri"/>
              </a:rPr>
              <a:t> </a:t>
            </a:r>
            <a:r>
              <a:rPr sz="1400" b="1" dirty="0">
                <a:solidFill>
                  <a:srgbClr val="292929"/>
                </a:solidFill>
                <a:latin typeface="Calibri"/>
                <a:cs typeface="Calibri"/>
              </a:rPr>
              <a:t>API</a:t>
            </a:r>
            <a:r>
              <a:rPr sz="1400" b="1" spc="-55" dirty="0">
                <a:solidFill>
                  <a:srgbClr val="292929"/>
                </a:solidFill>
                <a:latin typeface="Calibri"/>
                <a:cs typeface="Calibri"/>
              </a:rPr>
              <a:t> </a:t>
            </a:r>
            <a:r>
              <a:rPr sz="1400" b="1" spc="-10" dirty="0">
                <a:solidFill>
                  <a:srgbClr val="292929"/>
                </a:solidFill>
                <a:latin typeface="Calibri"/>
                <a:cs typeface="Calibri"/>
              </a:rPr>
              <a:t>Response</a:t>
            </a:r>
            <a:endParaRPr sz="1400">
              <a:latin typeface="Calibri"/>
              <a:cs typeface="Calibri"/>
            </a:endParaRPr>
          </a:p>
        </p:txBody>
      </p:sp>
      <p:sp>
        <p:nvSpPr>
          <p:cNvPr id="6" name="object 6"/>
          <p:cNvSpPr txBox="1"/>
          <p:nvPr/>
        </p:nvSpPr>
        <p:spPr>
          <a:xfrm>
            <a:off x="1307464" y="3048698"/>
            <a:ext cx="3660775" cy="882015"/>
          </a:xfrm>
          <a:prstGeom prst="rect">
            <a:avLst/>
          </a:prstGeom>
        </p:spPr>
        <p:txBody>
          <a:bodyPr vert="horz" wrap="square" lIns="0" tIns="15875" rIns="0" bIns="0" rtlCol="0">
            <a:spAutoFit/>
          </a:bodyPr>
          <a:lstStyle/>
          <a:p>
            <a:pPr marL="240665" indent="-227965">
              <a:lnSpc>
                <a:spcPts val="1590"/>
              </a:lnSpc>
              <a:spcBef>
                <a:spcPts val="125"/>
              </a:spcBef>
              <a:buFont typeface="Courier New"/>
              <a:buChar char="o"/>
              <a:tabLst>
                <a:tab pos="240665" algn="l"/>
              </a:tabLst>
            </a:pPr>
            <a:r>
              <a:rPr sz="1400" spc="-10" dirty="0">
                <a:solidFill>
                  <a:srgbClr val="292929"/>
                </a:solidFill>
                <a:latin typeface="Calibri"/>
                <a:cs typeface="Calibri"/>
              </a:rPr>
              <a:t>Convert</a:t>
            </a:r>
            <a:r>
              <a:rPr sz="1400" spc="-55" dirty="0">
                <a:solidFill>
                  <a:srgbClr val="292929"/>
                </a:solidFill>
                <a:latin typeface="Calibri"/>
                <a:cs typeface="Calibri"/>
              </a:rPr>
              <a:t> </a:t>
            </a:r>
            <a:r>
              <a:rPr sz="1400" dirty="0">
                <a:solidFill>
                  <a:srgbClr val="292929"/>
                </a:solidFill>
                <a:latin typeface="Calibri"/>
                <a:cs typeface="Calibri"/>
              </a:rPr>
              <a:t>API</a:t>
            </a:r>
            <a:r>
              <a:rPr sz="1400" spc="-80" dirty="0">
                <a:solidFill>
                  <a:srgbClr val="292929"/>
                </a:solidFill>
                <a:latin typeface="Calibri"/>
                <a:cs typeface="Calibri"/>
              </a:rPr>
              <a:t> </a:t>
            </a:r>
            <a:r>
              <a:rPr sz="1400" dirty="0">
                <a:solidFill>
                  <a:srgbClr val="292929"/>
                </a:solidFill>
                <a:latin typeface="Calibri"/>
                <a:cs typeface="Calibri"/>
              </a:rPr>
              <a:t>response</a:t>
            </a:r>
            <a:r>
              <a:rPr sz="1400" spc="20" dirty="0">
                <a:solidFill>
                  <a:srgbClr val="292929"/>
                </a:solidFill>
                <a:latin typeface="Calibri"/>
                <a:cs typeface="Calibri"/>
              </a:rPr>
              <a:t> </a:t>
            </a:r>
            <a:r>
              <a:rPr sz="1400" spc="-10" dirty="0">
                <a:solidFill>
                  <a:srgbClr val="292929"/>
                </a:solidFill>
                <a:latin typeface="Calibri"/>
                <a:cs typeface="Calibri"/>
              </a:rPr>
              <a:t>from</a:t>
            </a:r>
            <a:r>
              <a:rPr sz="1400" spc="-40" dirty="0">
                <a:solidFill>
                  <a:srgbClr val="292929"/>
                </a:solidFill>
                <a:latin typeface="Calibri"/>
                <a:cs typeface="Calibri"/>
              </a:rPr>
              <a:t> </a:t>
            </a:r>
            <a:r>
              <a:rPr sz="1400" dirty="0">
                <a:solidFill>
                  <a:srgbClr val="292929"/>
                </a:solidFill>
                <a:latin typeface="Calibri"/>
                <a:cs typeface="Calibri"/>
              </a:rPr>
              <a:t>JSON</a:t>
            </a:r>
            <a:r>
              <a:rPr sz="1400" spc="-40" dirty="0">
                <a:solidFill>
                  <a:srgbClr val="292929"/>
                </a:solidFill>
                <a:latin typeface="Calibri"/>
                <a:cs typeface="Calibri"/>
              </a:rPr>
              <a:t> </a:t>
            </a:r>
            <a:r>
              <a:rPr sz="1400" dirty="0">
                <a:solidFill>
                  <a:srgbClr val="292929"/>
                </a:solidFill>
                <a:latin typeface="Calibri"/>
                <a:cs typeface="Calibri"/>
              </a:rPr>
              <a:t>to</a:t>
            </a:r>
            <a:r>
              <a:rPr sz="1400" spc="-20" dirty="0">
                <a:solidFill>
                  <a:srgbClr val="292929"/>
                </a:solidFill>
                <a:latin typeface="Calibri"/>
                <a:cs typeface="Calibri"/>
              </a:rPr>
              <a:t> </a:t>
            </a:r>
            <a:r>
              <a:rPr sz="1400" dirty="0">
                <a:solidFill>
                  <a:srgbClr val="292929"/>
                </a:solidFill>
                <a:latin typeface="Calibri"/>
                <a:cs typeface="Calibri"/>
              </a:rPr>
              <a:t>a</a:t>
            </a:r>
            <a:r>
              <a:rPr sz="1400" spc="45" dirty="0">
                <a:solidFill>
                  <a:srgbClr val="292929"/>
                </a:solidFill>
                <a:latin typeface="Calibri"/>
                <a:cs typeface="Calibri"/>
              </a:rPr>
              <a:t> </a:t>
            </a:r>
            <a:r>
              <a:rPr sz="1400" spc="-10" dirty="0">
                <a:solidFill>
                  <a:srgbClr val="292929"/>
                </a:solidFill>
                <a:latin typeface="Calibri"/>
                <a:cs typeface="Calibri"/>
              </a:rPr>
              <a:t>Python</a:t>
            </a:r>
            <a:endParaRPr sz="1400">
              <a:latin typeface="Calibri"/>
              <a:cs typeface="Calibri"/>
            </a:endParaRPr>
          </a:p>
          <a:p>
            <a:pPr marL="241300">
              <a:lnSpc>
                <a:spcPts val="1590"/>
              </a:lnSpc>
            </a:pPr>
            <a:r>
              <a:rPr sz="1400" spc="-10" dirty="0">
                <a:solidFill>
                  <a:srgbClr val="292929"/>
                </a:solidFill>
                <a:latin typeface="Calibri"/>
                <a:cs typeface="Calibri"/>
              </a:rPr>
              <a:t>dictionary.</a:t>
            </a:r>
            <a:endParaRPr sz="1400">
              <a:latin typeface="Calibri"/>
              <a:cs typeface="Calibri"/>
            </a:endParaRPr>
          </a:p>
          <a:p>
            <a:pPr marL="240665" indent="-227965">
              <a:lnSpc>
                <a:spcPts val="1590"/>
              </a:lnSpc>
              <a:spcBef>
                <a:spcPts val="350"/>
              </a:spcBef>
              <a:buFont typeface="Courier New"/>
              <a:buChar char="o"/>
              <a:tabLst>
                <a:tab pos="240665" algn="l"/>
              </a:tabLst>
            </a:pPr>
            <a:r>
              <a:rPr sz="1400" dirty="0">
                <a:solidFill>
                  <a:srgbClr val="292929"/>
                </a:solidFill>
                <a:latin typeface="Calibri"/>
                <a:cs typeface="Calibri"/>
              </a:rPr>
              <a:t>Extract</a:t>
            </a:r>
            <a:r>
              <a:rPr sz="1400" spc="-80" dirty="0">
                <a:solidFill>
                  <a:srgbClr val="292929"/>
                </a:solidFill>
                <a:latin typeface="Calibri"/>
                <a:cs typeface="Calibri"/>
              </a:rPr>
              <a:t> </a:t>
            </a:r>
            <a:r>
              <a:rPr sz="1400" dirty="0">
                <a:solidFill>
                  <a:srgbClr val="292929"/>
                </a:solidFill>
                <a:latin typeface="Calibri"/>
                <a:cs typeface="Calibri"/>
              </a:rPr>
              <a:t>relevant</a:t>
            </a:r>
            <a:r>
              <a:rPr sz="1400" spc="-30" dirty="0">
                <a:solidFill>
                  <a:srgbClr val="292929"/>
                </a:solidFill>
                <a:latin typeface="Calibri"/>
                <a:cs typeface="Calibri"/>
              </a:rPr>
              <a:t> </a:t>
            </a:r>
            <a:r>
              <a:rPr sz="1400" dirty="0">
                <a:solidFill>
                  <a:srgbClr val="292929"/>
                </a:solidFill>
                <a:latin typeface="Calibri"/>
                <a:cs typeface="Calibri"/>
              </a:rPr>
              <a:t>fields:</a:t>
            </a:r>
            <a:r>
              <a:rPr sz="1400" spc="-65" dirty="0">
                <a:solidFill>
                  <a:srgbClr val="292929"/>
                </a:solidFill>
                <a:latin typeface="Calibri"/>
                <a:cs typeface="Calibri"/>
              </a:rPr>
              <a:t> </a:t>
            </a:r>
            <a:r>
              <a:rPr sz="1400" dirty="0">
                <a:solidFill>
                  <a:srgbClr val="292929"/>
                </a:solidFill>
                <a:latin typeface="Calibri"/>
                <a:cs typeface="Calibri"/>
              </a:rPr>
              <a:t>launch</a:t>
            </a:r>
            <a:r>
              <a:rPr sz="1400" spc="-70" dirty="0">
                <a:solidFill>
                  <a:srgbClr val="292929"/>
                </a:solidFill>
                <a:latin typeface="Calibri"/>
                <a:cs typeface="Calibri"/>
              </a:rPr>
              <a:t> </a:t>
            </a:r>
            <a:r>
              <a:rPr sz="1400" dirty="0">
                <a:solidFill>
                  <a:srgbClr val="292929"/>
                </a:solidFill>
                <a:latin typeface="Calibri"/>
                <a:cs typeface="Calibri"/>
              </a:rPr>
              <a:t>date,</a:t>
            </a:r>
            <a:r>
              <a:rPr sz="1400" spc="-40" dirty="0">
                <a:solidFill>
                  <a:srgbClr val="292929"/>
                </a:solidFill>
                <a:latin typeface="Calibri"/>
                <a:cs typeface="Calibri"/>
              </a:rPr>
              <a:t> </a:t>
            </a:r>
            <a:r>
              <a:rPr sz="1400" spc="-10" dirty="0">
                <a:solidFill>
                  <a:srgbClr val="292929"/>
                </a:solidFill>
                <a:latin typeface="Calibri"/>
                <a:cs typeface="Calibri"/>
              </a:rPr>
              <a:t>launch</a:t>
            </a:r>
            <a:r>
              <a:rPr sz="1400" spc="-65" dirty="0">
                <a:solidFill>
                  <a:srgbClr val="292929"/>
                </a:solidFill>
                <a:latin typeface="Calibri"/>
                <a:cs typeface="Calibri"/>
              </a:rPr>
              <a:t> </a:t>
            </a:r>
            <a:r>
              <a:rPr sz="1400" spc="-10" dirty="0">
                <a:solidFill>
                  <a:srgbClr val="292929"/>
                </a:solidFill>
                <a:latin typeface="Calibri"/>
                <a:cs typeface="Calibri"/>
              </a:rPr>
              <a:t>site,</a:t>
            </a:r>
            <a:endParaRPr sz="1400">
              <a:latin typeface="Calibri"/>
              <a:cs typeface="Calibri"/>
            </a:endParaRPr>
          </a:p>
          <a:p>
            <a:pPr marL="241300">
              <a:lnSpc>
                <a:spcPts val="1590"/>
              </a:lnSpc>
            </a:pPr>
            <a:r>
              <a:rPr sz="1400" dirty="0">
                <a:solidFill>
                  <a:srgbClr val="292929"/>
                </a:solidFill>
                <a:latin typeface="Calibri"/>
                <a:cs typeface="Calibri"/>
              </a:rPr>
              <a:t>payload</a:t>
            </a:r>
            <a:r>
              <a:rPr sz="1400" spc="-80" dirty="0">
                <a:solidFill>
                  <a:srgbClr val="292929"/>
                </a:solidFill>
                <a:latin typeface="Calibri"/>
                <a:cs typeface="Calibri"/>
              </a:rPr>
              <a:t> </a:t>
            </a:r>
            <a:r>
              <a:rPr sz="1400" dirty="0">
                <a:solidFill>
                  <a:srgbClr val="292929"/>
                </a:solidFill>
                <a:latin typeface="Calibri"/>
                <a:cs typeface="Calibri"/>
              </a:rPr>
              <a:t>mass,</a:t>
            </a:r>
            <a:r>
              <a:rPr sz="1400" spc="-80" dirty="0">
                <a:solidFill>
                  <a:srgbClr val="292929"/>
                </a:solidFill>
                <a:latin typeface="Calibri"/>
                <a:cs typeface="Calibri"/>
              </a:rPr>
              <a:t> </a:t>
            </a:r>
            <a:r>
              <a:rPr sz="1400" dirty="0">
                <a:solidFill>
                  <a:srgbClr val="292929"/>
                </a:solidFill>
                <a:latin typeface="Calibri"/>
                <a:cs typeface="Calibri"/>
              </a:rPr>
              <a:t>rocket</a:t>
            </a:r>
            <a:r>
              <a:rPr sz="1400" spc="-15" dirty="0">
                <a:solidFill>
                  <a:srgbClr val="292929"/>
                </a:solidFill>
                <a:latin typeface="Calibri"/>
                <a:cs typeface="Calibri"/>
              </a:rPr>
              <a:t> </a:t>
            </a:r>
            <a:r>
              <a:rPr sz="1400" dirty="0">
                <a:solidFill>
                  <a:srgbClr val="292929"/>
                </a:solidFill>
                <a:latin typeface="Calibri"/>
                <a:cs typeface="Calibri"/>
              </a:rPr>
              <a:t>type,</a:t>
            </a:r>
            <a:r>
              <a:rPr sz="1400" spc="-40" dirty="0">
                <a:solidFill>
                  <a:srgbClr val="292929"/>
                </a:solidFill>
                <a:latin typeface="Calibri"/>
                <a:cs typeface="Calibri"/>
              </a:rPr>
              <a:t> </a:t>
            </a:r>
            <a:r>
              <a:rPr sz="1400" spc="-10" dirty="0">
                <a:solidFill>
                  <a:srgbClr val="292929"/>
                </a:solidFill>
                <a:latin typeface="Calibri"/>
                <a:cs typeface="Calibri"/>
              </a:rPr>
              <a:t>outcome.</a:t>
            </a:r>
            <a:endParaRPr sz="1400">
              <a:latin typeface="Calibri"/>
              <a:cs typeface="Calibri"/>
            </a:endParaRPr>
          </a:p>
        </p:txBody>
      </p:sp>
      <p:sp>
        <p:nvSpPr>
          <p:cNvPr id="7" name="object 7"/>
          <p:cNvSpPr txBox="1"/>
          <p:nvPr/>
        </p:nvSpPr>
        <p:spPr>
          <a:xfrm>
            <a:off x="849947" y="4285924"/>
            <a:ext cx="4368800" cy="799465"/>
          </a:xfrm>
          <a:prstGeom prst="rect">
            <a:avLst/>
          </a:prstGeom>
        </p:spPr>
        <p:txBody>
          <a:bodyPr vert="horz" wrap="square" lIns="0" tIns="56515" rIns="0" bIns="0" rtlCol="0">
            <a:spAutoFit/>
          </a:bodyPr>
          <a:lstStyle/>
          <a:p>
            <a:pPr marL="12700">
              <a:lnSpc>
                <a:spcPct val="100000"/>
              </a:lnSpc>
              <a:spcBef>
                <a:spcPts val="445"/>
              </a:spcBef>
            </a:pPr>
            <a:r>
              <a:rPr sz="1400" b="1" dirty="0">
                <a:solidFill>
                  <a:srgbClr val="292929"/>
                </a:solidFill>
                <a:latin typeface="Calibri"/>
                <a:cs typeface="Calibri"/>
              </a:rPr>
              <a:t>Step</a:t>
            </a:r>
            <a:r>
              <a:rPr sz="1400" b="1" spc="15" dirty="0">
                <a:solidFill>
                  <a:srgbClr val="292929"/>
                </a:solidFill>
                <a:latin typeface="Calibri"/>
                <a:cs typeface="Calibri"/>
              </a:rPr>
              <a:t> </a:t>
            </a:r>
            <a:r>
              <a:rPr sz="1400" b="1" spc="-10" dirty="0">
                <a:solidFill>
                  <a:srgbClr val="292929"/>
                </a:solidFill>
                <a:latin typeface="Calibri"/>
                <a:cs typeface="Calibri"/>
              </a:rPr>
              <a:t>3:</a:t>
            </a:r>
            <a:r>
              <a:rPr sz="1400" b="1" spc="-60" dirty="0">
                <a:solidFill>
                  <a:srgbClr val="292929"/>
                </a:solidFill>
                <a:latin typeface="Calibri"/>
                <a:cs typeface="Calibri"/>
              </a:rPr>
              <a:t> </a:t>
            </a:r>
            <a:r>
              <a:rPr sz="1400" b="1" dirty="0">
                <a:solidFill>
                  <a:srgbClr val="292929"/>
                </a:solidFill>
                <a:latin typeface="Calibri"/>
                <a:cs typeface="Calibri"/>
              </a:rPr>
              <a:t>Store</a:t>
            </a:r>
            <a:r>
              <a:rPr sz="1400" b="1" spc="-10" dirty="0">
                <a:solidFill>
                  <a:srgbClr val="292929"/>
                </a:solidFill>
                <a:latin typeface="Calibri"/>
                <a:cs typeface="Calibri"/>
              </a:rPr>
              <a:t> Data</a:t>
            </a:r>
            <a:r>
              <a:rPr sz="1400" b="1" spc="-70" dirty="0">
                <a:solidFill>
                  <a:srgbClr val="292929"/>
                </a:solidFill>
                <a:latin typeface="Calibri"/>
                <a:cs typeface="Calibri"/>
              </a:rPr>
              <a:t> </a:t>
            </a:r>
            <a:r>
              <a:rPr sz="1400" b="1" spc="-10" dirty="0">
                <a:solidFill>
                  <a:srgbClr val="292929"/>
                </a:solidFill>
                <a:latin typeface="Calibri"/>
                <a:cs typeface="Calibri"/>
              </a:rPr>
              <a:t>Locally</a:t>
            </a:r>
            <a:endParaRPr sz="1400">
              <a:latin typeface="Calibri"/>
              <a:cs typeface="Calibri"/>
            </a:endParaRPr>
          </a:p>
          <a:p>
            <a:pPr marL="697865" indent="-227965">
              <a:lnSpc>
                <a:spcPct val="100000"/>
              </a:lnSpc>
              <a:spcBef>
                <a:spcPts val="350"/>
              </a:spcBef>
              <a:buFont typeface="Courier New"/>
              <a:buChar char="o"/>
              <a:tabLst>
                <a:tab pos="697865" algn="l"/>
              </a:tabLst>
            </a:pPr>
            <a:r>
              <a:rPr sz="1400" dirty="0">
                <a:solidFill>
                  <a:srgbClr val="292929"/>
                </a:solidFill>
                <a:latin typeface="Calibri"/>
                <a:cs typeface="Calibri"/>
              </a:rPr>
              <a:t>Save</a:t>
            </a:r>
            <a:r>
              <a:rPr sz="1400" spc="-60" dirty="0">
                <a:solidFill>
                  <a:srgbClr val="292929"/>
                </a:solidFill>
                <a:latin typeface="Calibri"/>
                <a:cs typeface="Calibri"/>
              </a:rPr>
              <a:t> </a:t>
            </a:r>
            <a:r>
              <a:rPr sz="1400" spc="-10" dirty="0">
                <a:solidFill>
                  <a:srgbClr val="292929"/>
                </a:solidFill>
                <a:latin typeface="Calibri"/>
                <a:cs typeface="Calibri"/>
              </a:rPr>
              <a:t>extracted</a:t>
            </a:r>
            <a:r>
              <a:rPr sz="1400" spc="-25" dirty="0">
                <a:solidFill>
                  <a:srgbClr val="292929"/>
                </a:solidFill>
                <a:latin typeface="Calibri"/>
                <a:cs typeface="Calibri"/>
              </a:rPr>
              <a:t> </a:t>
            </a:r>
            <a:r>
              <a:rPr sz="1400" dirty="0">
                <a:solidFill>
                  <a:srgbClr val="292929"/>
                </a:solidFill>
                <a:latin typeface="Calibri"/>
                <a:cs typeface="Calibri"/>
              </a:rPr>
              <a:t>data</a:t>
            </a:r>
            <a:r>
              <a:rPr sz="1400" spc="-35" dirty="0">
                <a:solidFill>
                  <a:srgbClr val="292929"/>
                </a:solidFill>
                <a:latin typeface="Calibri"/>
                <a:cs typeface="Calibri"/>
              </a:rPr>
              <a:t> </a:t>
            </a:r>
            <a:r>
              <a:rPr sz="1400" dirty="0">
                <a:solidFill>
                  <a:srgbClr val="292929"/>
                </a:solidFill>
                <a:latin typeface="Calibri"/>
                <a:cs typeface="Calibri"/>
              </a:rPr>
              <a:t>into</a:t>
            </a:r>
            <a:r>
              <a:rPr sz="1400" spc="-25" dirty="0">
                <a:solidFill>
                  <a:srgbClr val="292929"/>
                </a:solidFill>
                <a:latin typeface="Calibri"/>
                <a:cs typeface="Calibri"/>
              </a:rPr>
              <a:t> </a:t>
            </a:r>
            <a:r>
              <a:rPr sz="1400" dirty="0">
                <a:solidFill>
                  <a:srgbClr val="292929"/>
                </a:solidFill>
                <a:latin typeface="Calibri"/>
                <a:cs typeface="Calibri"/>
              </a:rPr>
              <a:t>a</a:t>
            </a:r>
            <a:r>
              <a:rPr sz="1400" spc="-35" dirty="0">
                <a:solidFill>
                  <a:srgbClr val="292929"/>
                </a:solidFill>
                <a:latin typeface="Calibri"/>
                <a:cs typeface="Calibri"/>
              </a:rPr>
              <a:t> </a:t>
            </a:r>
            <a:r>
              <a:rPr sz="1400" dirty="0">
                <a:solidFill>
                  <a:srgbClr val="292929"/>
                </a:solidFill>
                <a:latin typeface="Calibri"/>
                <a:cs typeface="Calibri"/>
              </a:rPr>
              <a:t>pandas</a:t>
            </a:r>
            <a:r>
              <a:rPr sz="1400" spc="-35" dirty="0">
                <a:solidFill>
                  <a:srgbClr val="292929"/>
                </a:solidFill>
                <a:latin typeface="Calibri"/>
                <a:cs typeface="Calibri"/>
              </a:rPr>
              <a:t> </a:t>
            </a:r>
            <a:r>
              <a:rPr sz="1400" spc="-10" dirty="0">
                <a:solidFill>
                  <a:srgbClr val="292929"/>
                </a:solidFill>
                <a:latin typeface="Calibri"/>
                <a:cs typeface="Calibri"/>
              </a:rPr>
              <a:t>DataFrame.</a:t>
            </a:r>
            <a:endParaRPr sz="1400">
              <a:latin typeface="Calibri"/>
              <a:cs typeface="Calibri"/>
            </a:endParaRPr>
          </a:p>
          <a:p>
            <a:pPr marL="697865" indent="-227965">
              <a:lnSpc>
                <a:spcPct val="100000"/>
              </a:lnSpc>
              <a:spcBef>
                <a:spcPts val="350"/>
              </a:spcBef>
              <a:buFont typeface="Courier New"/>
              <a:buChar char="o"/>
              <a:tabLst>
                <a:tab pos="697865" algn="l"/>
              </a:tabLst>
            </a:pPr>
            <a:r>
              <a:rPr sz="1400" spc="-10" dirty="0">
                <a:solidFill>
                  <a:srgbClr val="292929"/>
                </a:solidFill>
                <a:latin typeface="Calibri"/>
                <a:cs typeface="Calibri"/>
              </a:rPr>
              <a:t>Store</a:t>
            </a:r>
            <a:r>
              <a:rPr sz="1400" spc="-65" dirty="0">
                <a:solidFill>
                  <a:srgbClr val="292929"/>
                </a:solidFill>
                <a:latin typeface="Calibri"/>
                <a:cs typeface="Calibri"/>
              </a:rPr>
              <a:t> </a:t>
            </a:r>
            <a:r>
              <a:rPr sz="1400" dirty="0">
                <a:solidFill>
                  <a:srgbClr val="292929"/>
                </a:solidFill>
                <a:latin typeface="Calibri"/>
                <a:cs typeface="Calibri"/>
              </a:rPr>
              <a:t>the</a:t>
            </a:r>
            <a:r>
              <a:rPr sz="1400" spc="5" dirty="0">
                <a:solidFill>
                  <a:srgbClr val="292929"/>
                </a:solidFill>
                <a:latin typeface="Calibri"/>
                <a:cs typeface="Calibri"/>
              </a:rPr>
              <a:t> </a:t>
            </a:r>
            <a:r>
              <a:rPr sz="1400" spc="-10" dirty="0">
                <a:solidFill>
                  <a:srgbClr val="292929"/>
                </a:solidFill>
                <a:latin typeface="Calibri"/>
                <a:cs typeface="Calibri"/>
              </a:rPr>
              <a:t>DataFrame</a:t>
            </a:r>
            <a:r>
              <a:rPr sz="1400" spc="-35" dirty="0">
                <a:solidFill>
                  <a:srgbClr val="292929"/>
                </a:solidFill>
                <a:latin typeface="Calibri"/>
                <a:cs typeface="Calibri"/>
              </a:rPr>
              <a:t> </a:t>
            </a:r>
            <a:r>
              <a:rPr sz="1400" dirty="0">
                <a:solidFill>
                  <a:srgbClr val="292929"/>
                </a:solidFill>
                <a:latin typeface="Calibri"/>
                <a:cs typeface="Calibri"/>
              </a:rPr>
              <a:t>locally</a:t>
            </a:r>
            <a:r>
              <a:rPr sz="1400" spc="-75" dirty="0">
                <a:solidFill>
                  <a:srgbClr val="292929"/>
                </a:solidFill>
                <a:latin typeface="Calibri"/>
                <a:cs typeface="Calibri"/>
              </a:rPr>
              <a:t> </a:t>
            </a:r>
            <a:r>
              <a:rPr sz="1400" dirty="0">
                <a:solidFill>
                  <a:srgbClr val="292929"/>
                </a:solidFill>
                <a:latin typeface="Calibri"/>
                <a:cs typeface="Calibri"/>
              </a:rPr>
              <a:t>for</a:t>
            </a:r>
            <a:r>
              <a:rPr sz="1400" spc="-5" dirty="0">
                <a:solidFill>
                  <a:srgbClr val="292929"/>
                </a:solidFill>
                <a:latin typeface="Calibri"/>
                <a:cs typeface="Calibri"/>
              </a:rPr>
              <a:t> </a:t>
            </a:r>
            <a:r>
              <a:rPr sz="1400" dirty="0">
                <a:solidFill>
                  <a:srgbClr val="292929"/>
                </a:solidFill>
                <a:latin typeface="Calibri"/>
                <a:cs typeface="Calibri"/>
              </a:rPr>
              <a:t>further</a:t>
            </a:r>
            <a:r>
              <a:rPr sz="1400" spc="-5" dirty="0">
                <a:solidFill>
                  <a:srgbClr val="292929"/>
                </a:solidFill>
                <a:latin typeface="Calibri"/>
                <a:cs typeface="Calibri"/>
              </a:rPr>
              <a:t> </a:t>
            </a:r>
            <a:r>
              <a:rPr sz="1400" spc="-10" dirty="0">
                <a:solidFill>
                  <a:srgbClr val="292929"/>
                </a:solidFill>
                <a:latin typeface="Calibri"/>
                <a:cs typeface="Calibri"/>
              </a:rPr>
              <a:t>processing.</a:t>
            </a:r>
            <a:endParaRPr sz="1400">
              <a:latin typeface="Calibri"/>
              <a:cs typeface="Calibri"/>
            </a:endParaRPr>
          </a:p>
        </p:txBody>
      </p:sp>
      <p:sp>
        <p:nvSpPr>
          <p:cNvPr id="8" name="object 8"/>
          <p:cNvSpPr txBox="1"/>
          <p:nvPr/>
        </p:nvSpPr>
        <p:spPr>
          <a:xfrm>
            <a:off x="849947" y="5623877"/>
            <a:ext cx="4387850" cy="243204"/>
          </a:xfrm>
          <a:prstGeom prst="rect">
            <a:avLst/>
          </a:prstGeom>
        </p:spPr>
        <p:txBody>
          <a:bodyPr vert="horz" wrap="square" lIns="0" tIns="15875" rIns="0" bIns="0" rtlCol="0">
            <a:spAutoFit/>
          </a:bodyPr>
          <a:lstStyle/>
          <a:p>
            <a:pPr marL="12700">
              <a:lnSpc>
                <a:spcPct val="100000"/>
              </a:lnSpc>
              <a:spcBef>
                <a:spcPts val="125"/>
              </a:spcBef>
            </a:pPr>
            <a:r>
              <a:rPr sz="1400" dirty="0">
                <a:solidFill>
                  <a:srgbClr val="292929"/>
                </a:solidFill>
                <a:latin typeface="Calibri"/>
                <a:cs typeface="Calibri"/>
              </a:rPr>
              <a:t>GitHub</a:t>
            </a:r>
            <a:r>
              <a:rPr sz="1400" spc="25" dirty="0">
                <a:solidFill>
                  <a:srgbClr val="292929"/>
                </a:solidFill>
                <a:latin typeface="Calibri"/>
                <a:cs typeface="Calibri"/>
              </a:rPr>
              <a:t> </a:t>
            </a:r>
            <a:r>
              <a:rPr sz="1400" dirty="0">
                <a:solidFill>
                  <a:srgbClr val="292929"/>
                </a:solidFill>
                <a:latin typeface="Calibri"/>
                <a:cs typeface="Calibri"/>
              </a:rPr>
              <a:t>URL:</a:t>
            </a:r>
            <a:r>
              <a:rPr sz="1400" spc="45" dirty="0">
                <a:solidFill>
                  <a:srgbClr val="292929"/>
                </a:solidFill>
                <a:latin typeface="Calibri"/>
                <a:cs typeface="Calibri"/>
              </a:rPr>
              <a:t> </a:t>
            </a:r>
            <a:r>
              <a:rPr sz="1400" dirty="0">
                <a:solidFill>
                  <a:srgbClr val="292929"/>
                </a:solidFill>
                <a:latin typeface="Calibri"/>
                <a:cs typeface="Calibri"/>
              </a:rPr>
              <a:t>1.</a:t>
            </a:r>
            <a:r>
              <a:rPr sz="1400" spc="-5" dirty="0">
                <a:solidFill>
                  <a:srgbClr val="292929"/>
                </a:solidFill>
                <a:latin typeface="Calibri"/>
                <a:cs typeface="Calibri"/>
              </a:rPr>
              <a:t> </a:t>
            </a:r>
            <a:r>
              <a:rPr sz="1400" spc="-10" dirty="0">
                <a:solidFill>
                  <a:srgbClr val="292929"/>
                </a:solidFill>
                <a:latin typeface="Calibri"/>
                <a:cs typeface="Calibri"/>
              </a:rPr>
              <a:t>jupyter-labs-spacex-</a:t>
            </a:r>
            <a:r>
              <a:rPr sz="1400" spc="-20" dirty="0">
                <a:solidFill>
                  <a:srgbClr val="292929"/>
                </a:solidFill>
                <a:latin typeface="Calibri"/>
                <a:cs typeface="Calibri"/>
              </a:rPr>
              <a:t>data-</a:t>
            </a:r>
            <a:r>
              <a:rPr sz="1400" spc="-10" dirty="0">
                <a:solidFill>
                  <a:srgbClr val="292929"/>
                </a:solidFill>
                <a:latin typeface="Calibri"/>
                <a:cs typeface="Calibri"/>
              </a:rPr>
              <a:t>collection-api.ipynb</a:t>
            </a:r>
            <a:endParaRPr sz="1400">
              <a:latin typeface="Calibri"/>
              <a:cs typeface="Calibri"/>
            </a:endParaRPr>
          </a:p>
        </p:txBody>
      </p:sp>
      <p:sp>
        <p:nvSpPr>
          <p:cNvPr id="9" name="object 9"/>
          <p:cNvSpPr txBox="1">
            <a:spLocks noGrp="1"/>
          </p:cNvSpPr>
          <p:nvPr>
            <p:ph type="title"/>
          </p:nvPr>
        </p:nvSpPr>
        <p:spPr>
          <a:xfrm>
            <a:off x="849312" y="420369"/>
            <a:ext cx="5857240" cy="586740"/>
          </a:xfrm>
          <a:prstGeom prst="rect">
            <a:avLst/>
          </a:prstGeom>
        </p:spPr>
        <p:txBody>
          <a:bodyPr vert="horz" wrap="square" lIns="0" tIns="16510" rIns="0" bIns="0" rtlCol="0">
            <a:spAutoFit/>
          </a:bodyPr>
          <a:lstStyle/>
          <a:p>
            <a:pPr marL="12700">
              <a:lnSpc>
                <a:spcPct val="100000"/>
              </a:lnSpc>
              <a:spcBef>
                <a:spcPts val="130"/>
              </a:spcBef>
            </a:pPr>
            <a:r>
              <a:rPr spc="-10" dirty="0"/>
              <a:t>Data</a:t>
            </a:r>
            <a:r>
              <a:rPr spc="-80" dirty="0"/>
              <a:t> </a:t>
            </a:r>
            <a:r>
              <a:rPr spc="-35" dirty="0"/>
              <a:t>Collection</a:t>
            </a:r>
            <a:r>
              <a:rPr spc="-40" dirty="0"/>
              <a:t> </a:t>
            </a:r>
            <a:r>
              <a:rPr spc="760" dirty="0"/>
              <a:t>–</a:t>
            </a:r>
            <a:r>
              <a:rPr spc="-50" dirty="0"/>
              <a:t> </a:t>
            </a:r>
            <a:r>
              <a:rPr spc="-200" dirty="0"/>
              <a:t>SpaceX</a:t>
            </a:r>
            <a:r>
              <a:rPr spc="-45" dirty="0"/>
              <a:t> </a:t>
            </a:r>
            <a:r>
              <a:rPr spc="-145" dirty="0"/>
              <a:t>API</a:t>
            </a:r>
          </a:p>
        </p:txBody>
      </p:sp>
      <p:grpSp>
        <p:nvGrpSpPr>
          <p:cNvPr id="10" name="object 10"/>
          <p:cNvGrpSpPr/>
          <p:nvPr/>
        </p:nvGrpSpPr>
        <p:grpSpPr>
          <a:xfrm>
            <a:off x="6599301" y="1465325"/>
            <a:ext cx="1765300" cy="1060450"/>
            <a:chOff x="6599301" y="1465325"/>
            <a:chExt cx="1765300" cy="1060450"/>
          </a:xfrm>
        </p:grpSpPr>
        <p:sp>
          <p:nvSpPr>
            <p:cNvPr id="11" name="object 11"/>
            <p:cNvSpPr/>
            <p:nvPr/>
          </p:nvSpPr>
          <p:spPr>
            <a:xfrm>
              <a:off x="6605651" y="1471675"/>
              <a:ext cx="1752600" cy="1047750"/>
            </a:xfrm>
            <a:custGeom>
              <a:avLst/>
              <a:gdLst/>
              <a:ahLst/>
              <a:cxnLst/>
              <a:rect l="l" t="t" r="r" b="b"/>
              <a:pathLst>
                <a:path w="1752600" h="1047750">
                  <a:moveTo>
                    <a:pt x="1647825" y="0"/>
                  </a:moveTo>
                  <a:lnTo>
                    <a:pt x="104648" y="0"/>
                  </a:lnTo>
                  <a:lnTo>
                    <a:pt x="63918" y="8225"/>
                  </a:lnTo>
                  <a:lnTo>
                    <a:pt x="30654" y="30654"/>
                  </a:lnTo>
                  <a:lnTo>
                    <a:pt x="8225" y="63918"/>
                  </a:lnTo>
                  <a:lnTo>
                    <a:pt x="0" y="104648"/>
                  </a:lnTo>
                  <a:lnTo>
                    <a:pt x="0" y="942975"/>
                  </a:lnTo>
                  <a:lnTo>
                    <a:pt x="8225" y="983724"/>
                  </a:lnTo>
                  <a:lnTo>
                    <a:pt x="30654" y="1017031"/>
                  </a:lnTo>
                  <a:lnTo>
                    <a:pt x="63918" y="1039504"/>
                  </a:lnTo>
                  <a:lnTo>
                    <a:pt x="104648" y="1047750"/>
                  </a:lnTo>
                  <a:lnTo>
                    <a:pt x="1647825" y="1047750"/>
                  </a:lnTo>
                  <a:lnTo>
                    <a:pt x="1688574" y="1039504"/>
                  </a:lnTo>
                  <a:lnTo>
                    <a:pt x="1721881" y="1017031"/>
                  </a:lnTo>
                  <a:lnTo>
                    <a:pt x="1744354" y="983724"/>
                  </a:lnTo>
                  <a:lnTo>
                    <a:pt x="1752600" y="942975"/>
                  </a:lnTo>
                  <a:lnTo>
                    <a:pt x="1752600" y="104648"/>
                  </a:lnTo>
                  <a:lnTo>
                    <a:pt x="1744354" y="63918"/>
                  </a:lnTo>
                  <a:lnTo>
                    <a:pt x="1721881" y="30654"/>
                  </a:lnTo>
                  <a:lnTo>
                    <a:pt x="1688574" y="8225"/>
                  </a:lnTo>
                  <a:lnTo>
                    <a:pt x="1647825" y="0"/>
                  </a:lnTo>
                  <a:close/>
                </a:path>
              </a:pathLst>
            </a:custGeom>
            <a:solidFill>
              <a:srgbClr val="4471C4"/>
            </a:solidFill>
          </p:spPr>
          <p:txBody>
            <a:bodyPr wrap="square" lIns="0" tIns="0" rIns="0" bIns="0" rtlCol="0"/>
            <a:lstStyle/>
            <a:p>
              <a:endParaRPr/>
            </a:p>
          </p:txBody>
        </p:sp>
        <p:sp>
          <p:nvSpPr>
            <p:cNvPr id="12" name="object 12"/>
            <p:cNvSpPr/>
            <p:nvPr/>
          </p:nvSpPr>
          <p:spPr>
            <a:xfrm>
              <a:off x="6605651" y="1471675"/>
              <a:ext cx="1752600" cy="1047750"/>
            </a:xfrm>
            <a:custGeom>
              <a:avLst/>
              <a:gdLst/>
              <a:ahLst/>
              <a:cxnLst/>
              <a:rect l="l" t="t" r="r" b="b"/>
              <a:pathLst>
                <a:path w="1752600" h="1047750">
                  <a:moveTo>
                    <a:pt x="0" y="104648"/>
                  </a:moveTo>
                  <a:lnTo>
                    <a:pt x="8225" y="63918"/>
                  </a:lnTo>
                  <a:lnTo>
                    <a:pt x="30654" y="30654"/>
                  </a:lnTo>
                  <a:lnTo>
                    <a:pt x="63918" y="8225"/>
                  </a:lnTo>
                  <a:lnTo>
                    <a:pt x="104648" y="0"/>
                  </a:lnTo>
                  <a:lnTo>
                    <a:pt x="1647825" y="0"/>
                  </a:lnTo>
                  <a:lnTo>
                    <a:pt x="1688574" y="8225"/>
                  </a:lnTo>
                  <a:lnTo>
                    <a:pt x="1721881" y="30654"/>
                  </a:lnTo>
                  <a:lnTo>
                    <a:pt x="1744354" y="63918"/>
                  </a:lnTo>
                  <a:lnTo>
                    <a:pt x="1752600" y="104648"/>
                  </a:lnTo>
                  <a:lnTo>
                    <a:pt x="1752600" y="942975"/>
                  </a:lnTo>
                  <a:lnTo>
                    <a:pt x="1744354" y="983724"/>
                  </a:lnTo>
                  <a:lnTo>
                    <a:pt x="1721881" y="1017031"/>
                  </a:lnTo>
                  <a:lnTo>
                    <a:pt x="1688574" y="1039504"/>
                  </a:lnTo>
                  <a:lnTo>
                    <a:pt x="1647825" y="1047750"/>
                  </a:lnTo>
                  <a:lnTo>
                    <a:pt x="104648" y="1047750"/>
                  </a:lnTo>
                  <a:lnTo>
                    <a:pt x="63918" y="1039504"/>
                  </a:lnTo>
                  <a:lnTo>
                    <a:pt x="30654" y="1017031"/>
                  </a:lnTo>
                  <a:lnTo>
                    <a:pt x="8225" y="983724"/>
                  </a:lnTo>
                  <a:lnTo>
                    <a:pt x="0" y="942975"/>
                  </a:lnTo>
                  <a:lnTo>
                    <a:pt x="0" y="104648"/>
                  </a:lnTo>
                  <a:close/>
                </a:path>
              </a:pathLst>
            </a:custGeom>
            <a:ln w="12700">
              <a:solidFill>
                <a:srgbClr val="FFFFFF"/>
              </a:solidFill>
            </a:ln>
          </p:spPr>
          <p:txBody>
            <a:bodyPr wrap="square" lIns="0" tIns="0" rIns="0" bIns="0" rtlCol="0"/>
            <a:lstStyle/>
            <a:p>
              <a:endParaRPr/>
            </a:p>
          </p:txBody>
        </p:sp>
      </p:grpSp>
      <p:sp>
        <p:nvSpPr>
          <p:cNvPr id="13" name="object 13"/>
          <p:cNvSpPr txBox="1"/>
          <p:nvPr/>
        </p:nvSpPr>
        <p:spPr>
          <a:xfrm>
            <a:off x="6684644" y="1897634"/>
            <a:ext cx="1603375" cy="162560"/>
          </a:xfrm>
          <a:prstGeom prst="rect">
            <a:avLst/>
          </a:prstGeom>
        </p:spPr>
        <p:txBody>
          <a:bodyPr vert="horz" wrap="square" lIns="0" tIns="12700" rIns="0" bIns="0" rtlCol="0">
            <a:spAutoFit/>
          </a:bodyPr>
          <a:lstStyle/>
          <a:p>
            <a:pPr>
              <a:lnSpc>
                <a:spcPct val="100000"/>
              </a:lnSpc>
              <a:spcBef>
                <a:spcPts val="100"/>
              </a:spcBef>
            </a:pPr>
            <a:r>
              <a:rPr sz="900" dirty="0">
                <a:solidFill>
                  <a:srgbClr val="FFFFFF"/>
                </a:solidFill>
                <a:latin typeface="Calibri"/>
                <a:cs typeface="Calibri"/>
              </a:rPr>
              <a:t>Initiate</a:t>
            </a:r>
            <a:r>
              <a:rPr sz="900" spc="-35" dirty="0">
                <a:solidFill>
                  <a:srgbClr val="FFFFFF"/>
                </a:solidFill>
                <a:latin typeface="Calibri"/>
                <a:cs typeface="Calibri"/>
              </a:rPr>
              <a:t> </a:t>
            </a:r>
            <a:r>
              <a:rPr sz="900" dirty="0">
                <a:solidFill>
                  <a:srgbClr val="FFFFFF"/>
                </a:solidFill>
                <a:latin typeface="Calibri"/>
                <a:cs typeface="Calibri"/>
              </a:rPr>
              <a:t>API</a:t>
            </a:r>
            <a:r>
              <a:rPr sz="900" spc="40" dirty="0">
                <a:solidFill>
                  <a:srgbClr val="FFFFFF"/>
                </a:solidFill>
                <a:latin typeface="Calibri"/>
                <a:cs typeface="Calibri"/>
              </a:rPr>
              <a:t> </a:t>
            </a:r>
            <a:r>
              <a:rPr sz="900" spc="-10" dirty="0">
                <a:solidFill>
                  <a:srgbClr val="FFFFFF"/>
                </a:solidFill>
                <a:latin typeface="Calibri"/>
                <a:cs typeface="Calibri"/>
              </a:rPr>
              <a:t>Request</a:t>
            </a:r>
            <a:r>
              <a:rPr sz="900" spc="-25" dirty="0">
                <a:solidFill>
                  <a:srgbClr val="FFFFFF"/>
                </a:solidFill>
                <a:latin typeface="Calibri"/>
                <a:cs typeface="Calibri"/>
              </a:rPr>
              <a:t> </a:t>
            </a:r>
            <a:r>
              <a:rPr sz="900" spc="-10" dirty="0">
                <a:solidFill>
                  <a:srgbClr val="FFFFFF"/>
                </a:solidFill>
                <a:latin typeface="Calibri"/>
                <a:cs typeface="Calibri"/>
              </a:rPr>
              <a:t>(requests.get)</a:t>
            </a:r>
            <a:endParaRPr sz="900">
              <a:latin typeface="Calibri"/>
              <a:cs typeface="Calibri"/>
            </a:endParaRPr>
          </a:p>
        </p:txBody>
      </p:sp>
      <p:grpSp>
        <p:nvGrpSpPr>
          <p:cNvPr id="14" name="object 14"/>
          <p:cNvGrpSpPr/>
          <p:nvPr/>
        </p:nvGrpSpPr>
        <p:grpSpPr>
          <a:xfrm>
            <a:off x="8505825" y="1465325"/>
            <a:ext cx="2316480" cy="1060450"/>
            <a:chOff x="8505825" y="1465325"/>
            <a:chExt cx="2316480" cy="1060450"/>
          </a:xfrm>
        </p:grpSpPr>
        <p:sp>
          <p:nvSpPr>
            <p:cNvPr id="15" name="object 15"/>
            <p:cNvSpPr/>
            <p:nvPr/>
          </p:nvSpPr>
          <p:spPr>
            <a:xfrm>
              <a:off x="8505825" y="1771649"/>
              <a:ext cx="371475" cy="438150"/>
            </a:xfrm>
            <a:custGeom>
              <a:avLst/>
              <a:gdLst/>
              <a:ahLst/>
              <a:cxnLst/>
              <a:rect l="l" t="t" r="r" b="b"/>
              <a:pathLst>
                <a:path w="371475" h="438150">
                  <a:moveTo>
                    <a:pt x="185800" y="0"/>
                  </a:moveTo>
                  <a:lnTo>
                    <a:pt x="185800" y="87629"/>
                  </a:lnTo>
                  <a:lnTo>
                    <a:pt x="0" y="87629"/>
                  </a:lnTo>
                  <a:lnTo>
                    <a:pt x="0" y="350520"/>
                  </a:lnTo>
                  <a:lnTo>
                    <a:pt x="185800" y="350520"/>
                  </a:lnTo>
                  <a:lnTo>
                    <a:pt x="185800" y="438150"/>
                  </a:lnTo>
                  <a:lnTo>
                    <a:pt x="371475" y="219075"/>
                  </a:lnTo>
                  <a:lnTo>
                    <a:pt x="185800" y="0"/>
                  </a:lnTo>
                  <a:close/>
                </a:path>
              </a:pathLst>
            </a:custGeom>
            <a:solidFill>
              <a:srgbClr val="AFBBDE"/>
            </a:solidFill>
          </p:spPr>
          <p:txBody>
            <a:bodyPr wrap="square" lIns="0" tIns="0" rIns="0" bIns="0" rtlCol="0"/>
            <a:lstStyle/>
            <a:p>
              <a:endParaRPr/>
            </a:p>
          </p:txBody>
        </p:sp>
        <p:sp>
          <p:nvSpPr>
            <p:cNvPr id="16" name="object 16"/>
            <p:cNvSpPr/>
            <p:nvPr/>
          </p:nvSpPr>
          <p:spPr>
            <a:xfrm>
              <a:off x="9063101" y="1471675"/>
              <a:ext cx="1752600" cy="1047750"/>
            </a:xfrm>
            <a:custGeom>
              <a:avLst/>
              <a:gdLst/>
              <a:ahLst/>
              <a:cxnLst/>
              <a:rect l="l" t="t" r="r" b="b"/>
              <a:pathLst>
                <a:path w="1752600" h="1047750">
                  <a:moveTo>
                    <a:pt x="1647825" y="0"/>
                  </a:moveTo>
                  <a:lnTo>
                    <a:pt x="104648" y="0"/>
                  </a:lnTo>
                  <a:lnTo>
                    <a:pt x="63918" y="8225"/>
                  </a:lnTo>
                  <a:lnTo>
                    <a:pt x="30654" y="30654"/>
                  </a:lnTo>
                  <a:lnTo>
                    <a:pt x="8225" y="63918"/>
                  </a:lnTo>
                  <a:lnTo>
                    <a:pt x="0" y="104648"/>
                  </a:lnTo>
                  <a:lnTo>
                    <a:pt x="0" y="942975"/>
                  </a:lnTo>
                  <a:lnTo>
                    <a:pt x="8225" y="983724"/>
                  </a:lnTo>
                  <a:lnTo>
                    <a:pt x="30654" y="1017031"/>
                  </a:lnTo>
                  <a:lnTo>
                    <a:pt x="63918" y="1039504"/>
                  </a:lnTo>
                  <a:lnTo>
                    <a:pt x="104648" y="1047750"/>
                  </a:lnTo>
                  <a:lnTo>
                    <a:pt x="1647825" y="1047750"/>
                  </a:lnTo>
                  <a:lnTo>
                    <a:pt x="1688574" y="1039504"/>
                  </a:lnTo>
                  <a:lnTo>
                    <a:pt x="1721881" y="1017031"/>
                  </a:lnTo>
                  <a:lnTo>
                    <a:pt x="1744354" y="983724"/>
                  </a:lnTo>
                  <a:lnTo>
                    <a:pt x="1752600" y="942975"/>
                  </a:lnTo>
                  <a:lnTo>
                    <a:pt x="1752600" y="104648"/>
                  </a:lnTo>
                  <a:lnTo>
                    <a:pt x="1744354" y="63918"/>
                  </a:lnTo>
                  <a:lnTo>
                    <a:pt x="1721881" y="30654"/>
                  </a:lnTo>
                  <a:lnTo>
                    <a:pt x="1688574" y="8225"/>
                  </a:lnTo>
                  <a:lnTo>
                    <a:pt x="1647825" y="0"/>
                  </a:lnTo>
                  <a:close/>
                </a:path>
              </a:pathLst>
            </a:custGeom>
            <a:solidFill>
              <a:srgbClr val="4471C4"/>
            </a:solidFill>
          </p:spPr>
          <p:txBody>
            <a:bodyPr wrap="square" lIns="0" tIns="0" rIns="0" bIns="0" rtlCol="0"/>
            <a:lstStyle/>
            <a:p>
              <a:endParaRPr/>
            </a:p>
          </p:txBody>
        </p:sp>
        <p:sp>
          <p:nvSpPr>
            <p:cNvPr id="17" name="object 17"/>
            <p:cNvSpPr/>
            <p:nvPr/>
          </p:nvSpPr>
          <p:spPr>
            <a:xfrm>
              <a:off x="9063101" y="1471675"/>
              <a:ext cx="1752600" cy="1047750"/>
            </a:xfrm>
            <a:custGeom>
              <a:avLst/>
              <a:gdLst/>
              <a:ahLst/>
              <a:cxnLst/>
              <a:rect l="l" t="t" r="r" b="b"/>
              <a:pathLst>
                <a:path w="1752600" h="1047750">
                  <a:moveTo>
                    <a:pt x="0" y="104648"/>
                  </a:moveTo>
                  <a:lnTo>
                    <a:pt x="8225" y="63918"/>
                  </a:lnTo>
                  <a:lnTo>
                    <a:pt x="30654" y="30654"/>
                  </a:lnTo>
                  <a:lnTo>
                    <a:pt x="63918" y="8225"/>
                  </a:lnTo>
                  <a:lnTo>
                    <a:pt x="104648" y="0"/>
                  </a:lnTo>
                  <a:lnTo>
                    <a:pt x="1647825" y="0"/>
                  </a:lnTo>
                  <a:lnTo>
                    <a:pt x="1688574" y="8225"/>
                  </a:lnTo>
                  <a:lnTo>
                    <a:pt x="1721881" y="30654"/>
                  </a:lnTo>
                  <a:lnTo>
                    <a:pt x="1744354" y="63918"/>
                  </a:lnTo>
                  <a:lnTo>
                    <a:pt x="1752600" y="104648"/>
                  </a:lnTo>
                  <a:lnTo>
                    <a:pt x="1752600" y="942975"/>
                  </a:lnTo>
                  <a:lnTo>
                    <a:pt x="1744354" y="983724"/>
                  </a:lnTo>
                  <a:lnTo>
                    <a:pt x="1721881" y="1017031"/>
                  </a:lnTo>
                  <a:lnTo>
                    <a:pt x="1688574" y="1039504"/>
                  </a:lnTo>
                  <a:lnTo>
                    <a:pt x="1647825" y="1047750"/>
                  </a:lnTo>
                  <a:lnTo>
                    <a:pt x="104648" y="1047750"/>
                  </a:lnTo>
                  <a:lnTo>
                    <a:pt x="63918" y="1039504"/>
                  </a:lnTo>
                  <a:lnTo>
                    <a:pt x="30654" y="1017031"/>
                  </a:lnTo>
                  <a:lnTo>
                    <a:pt x="8225" y="983724"/>
                  </a:lnTo>
                  <a:lnTo>
                    <a:pt x="0" y="942975"/>
                  </a:lnTo>
                  <a:lnTo>
                    <a:pt x="0" y="104648"/>
                  </a:lnTo>
                  <a:close/>
                </a:path>
              </a:pathLst>
            </a:custGeom>
            <a:ln w="12700">
              <a:solidFill>
                <a:srgbClr val="FFFFFF"/>
              </a:solidFill>
            </a:ln>
          </p:spPr>
          <p:txBody>
            <a:bodyPr wrap="square" lIns="0" tIns="0" rIns="0" bIns="0" rtlCol="0"/>
            <a:lstStyle/>
            <a:p>
              <a:endParaRPr/>
            </a:p>
          </p:txBody>
        </p:sp>
      </p:grpSp>
      <p:sp>
        <p:nvSpPr>
          <p:cNvPr id="18" name="object 18"/>
          <p:cNvSpPr txBox="1"/>
          <p:nvPr/>
        </p:nvSpPr>
        <p:spPr>
          <a:xfrm>
            <a:off x="9170669" y="1834896"/>
            <a:ext cx="1553210" cy="287020"/>
          </a:xfrm>
          <a:prstGeom prst="rect">
            <a:avLst/>
          </a:prstGeom>
        </p:spPr>
        <p:txBody>
          <a:bodyPr vert="horz" wrap="square" lIns="0" tIns="27305" rIns="0" bIns="0" rtlCol="0">
            <a:spAutoFit/>
          </a:bodyPr>
          <a:lstStyle/>
          <a:p>
            <a:pPr marL="41275" marR="5080" indent="-41275">
              <a:lnSpc>
                <a:spcPts val="980"/>
              </a:lnSpc>
              <a:spcBef>
                <a:spcPts val="215"/>
              </a:spcBef>
            </a:pPr>
            <a:r>
              <a:rPr sz="900" dirty="0">
                <a:solidFill>
                  <a:srgbClr val="FFFFFF"/>
                </a:solidFill>
                <a:latin typeface="Calibri"/>
                <a:cs typeface="Calibri"/>
              </a:rPr>
              <a:t>Fetch</a:t>
            </a:r>
            <a:r>
              <a:rPr sz="900" spc="-10" dirty="0">
                <a:solidFill>
                  <a:srgbClr val="FFFFFF"/>
                </a:solidFill>
                <a:latin typeface="Calibri"/>
                <a:cs typeface="Calibri"/>
              </a:rPr>
              <a:t> Launch</a:t>
            </a:r>
            <a:r>
              <a:rPr sz="900" spc="-5" dirty="0">
                <a:solidFill>
                  <a:srgbClr val="FFFFFF"/>
                </a:solidFill>
                <a:latin typeface="Calibri"/>
                <a:cs typeface="Calibri"/>
              </a:rPr>
              <a:t> </a:t>
            </a:r>
            <a:r>
              <a:rPr sz="900" dirty="0">
                <a:solidFill>
                  <a:srgbClr val="FFFFFF"/>
                </a:solidFill>
                <a:latin typeface="Calibri"/>
                <a:cs typeface="Calibri"/>
              </a:rPr>
              <a:t>Data</a:t>
            </a:r>
            <a:r>
              <a:rPr sz="900" spc="25" dirty="0">
                <a:solidFill>
                  <a:srgbClr val="FFFFFF"/>
                </a:solidFill>
                <a:latin typeface="Calibri"/>
                <a:cs typeface="Calibri"/>
              </a:rPr>
              <a:t> </a:t>
            </a:r>
            <a:r>
              <a:rPr sz="900" dirty="0">
                <a:solidFill>
                  <a:srgbClr val="FFFFFF"/>
                </a:solidFill>
                <a:latin typeface="Calibri"/>
                <a:cs typeface="Calibri"/>
              </a:rPr>
              <a:t>(launch</a:t>
            </a:r>
            <a:r>
              <a:rPr sz="900" spc="-10" dirty="0">
                <a:solidFill>
                  <a:srgbClr val="FFFFFF"/>
                </a:solidFill>
                <a:latin typeface="Calibri"/>
                <a:cs typeface="Calibri"/>
              </a:rPr>
              <a:t> dates,</a:t>
            </a:r>
            <a:r>
              <a:rPr sz="900" spc="500" dirty="0">
                <a:solidFill>
                  <a:srgbClr val="FFFFFF"/>
                </a:solidFill>
                <a:latin typeface="Calibri"/>
                <a:cs typeface="Calibri"/>
              </a:rPr>
              <a:t> </a:t>
            </a:r>
            <a:r>
              <a:rPr sz="900" dirty="0">
                <a:solidFill>
                  <a:srgbClr val="FFFFFF"/>
                </a:solidFill>
                <a:latin typeface="Calibri"/>
                <a:cs typeface="Calibri"/>
              </a:rPr>
              <a:t>sites,</a:t>
            </a:r>
            <a:r>
              <a:rPr sz="900" spc="-20" dirty="0">
                <a:solidFill>
                  <a:srgbClr val="FFFFFF"/>
                </a:solidFill>
                <a:latin typeface="Calibri"/>
                <a:cs typeface="Calibri"/>
              </a:rPr>
              <a:t> </a:t>
            </a:r>
            <a:r>
              <a:rPr sz="900" spc="-10" dirty="0">
                <a:solidFill>
                  <a:srgbClr val="FFFFFF"/>
                </a:solidFill>
                <a:latin typeface="Calibri"/>
                <a:cs typeface="Calibri"/>
              </a:rPr>
              <a:t>payloads,</a:t>
            </a:r>
            <a:r>
              <a:rPr sz="900" spc="-15" dirty="0">
                <a:solidFill>
                  <a:srgbClr val="FFFFFF"/>
                </a:solidFill>
                <a:latin typeface="Calibri"/>
                <a:cs typeface="Calibri"/>
              </a:rPr>
              <a:t> </a:t>
            </a:r>
            <a:r>
              <a:rPr sz="900" dirty="0">
                <a:solidFill>
                  <a:srgbClr val="FFFFFF"/>
                </a:solidFill>
                <a:latin typeface="Calibri"/>
                <a:cs typeface="Calibri"/>
              </a:rPr>
              <a:t>outcomes,</a:t>
            </a:r>
            <a:r>
              <a:rPr sz="900" spc="-10" dirty="0">
                <a:solidFill>
                  <a:srgbClr val="FFFFFF"/>
                </a:solidFill>
                <a:latin typeface="Calibri"/>
                <a:cs typeface="Calibri"/>
              </a:rPr>
              <a:t> etc.)</a:t>
            </a:r>
            <a:endParaRPr sz="900">
              <a:latin typeface="Calibri"/>
              <a:cs typeface="Calibri"/>
            </a:endParaRPr>
          </a:p>
        </p:txBody>
      </p:sp>
      <p:grpSp>
        <p:nvGrpSpPr>
          <p:cNvPr id="19" name="object 19"/>
          <p:cNvGrpSpPr/>
          <p:nvPr/>
        </p:nvGrpSpPr>
        <p:grpSpPr>
          <a:xfrm>
            <a:off x="9056751" y="2667000"/>
            <a:ext cx="1765300" cy="1611630"/>
            <a:chOff x="9056751" y="2667000"/>
            <a:chExt cx="1765300" cy="1611630"/>
          </a:xfrm>
        </p:grpSpPr>
        <p:sp>
          <p:nvSpPr>
            <p:cNvPr id="20" name="object 20"/>
            <p:cNvSpPr/>
            <p:nvPr/>
          </p:nvSpPr>
          <p:spPr>
            <a:xfrm>
              <a:off x="9715500" y="2667000"/>
              <a:ext cx="438150" cy="371475"/>
            </a:xfrm>
            <a:custGeom>
              <a:avLst/>
              <a:gdLst/>
              <a:ahLst/>
              <a:cxnLst/>
              <a:rect l="l" t="t" r="r" b="b"/>
              <a:pathLst>
                <a:path w="438150" h="371475">
                  <a:moveTo>
                    <a:pt x="350520" y="0"/>
                  </a:moveTo>
                  <a:lnTo>
                    <a:pt x="87629" y="0"/>
                  </a:lnTo>
                  <a:lnTo>
                    <a:pt x="87629" y="185800"/>
                  </a:lnTo>
                  <a:lnTo>
                    <a:pt x="0" y="185800"/>
                  </a:lnTo>
                  <a:lnTo>
                    <a:pt x="219075" y="371475"/>
                  </a:lnTo>
                  <a:lnTo>
                    <a:pt x="438150" y="185800"/>
                  </a:lnTo>
                  <a:lnTo>
                    <a:pt x="350520" y="185800"/>
                  </a:lnTo>
                  <a:lnTo>
                    <a:pt x="350520" y="0"/>
                  </a:lnTo>
                  <a:close/>
                </a:path>
              </a:pathLst>
            </a:custGeom>
            <a:solidFill>
              <a:srgbClr val="AFBBDE"/>
            </a:solidFill>
          </p:spPr>
          <p:txBody>
            <a:bodyPr wrap="square" lIns="0" tIns="0" rIns="0" bIns="0" rtlCol="0"/>
            <a:lstStyle/>
            <a:p>
              <a:endParaRPr/>
            </a:p>
          </p:txBody>
        </p:sp>
        <p:sp>
          <p:nvSpPr>
            <p:cNvPr id="21" name="object 21"/>
            <p:cNvSpPr/>
            <p:nvPr/>
          </p:nvSpPr>
          <p:spPr>
            <a:xfrm>
              <a:off x="9063101" y="3224276"/>
              <a:ext cx="1752600" cy="1047750"/>
            </a:xfrm>
            <a:custGeom>
              <a:avLst/>
              <a:gdLst/>
              <a:ahLst/>
              <a:cxnLst/>
              <a:rect l="l" t="t" r="r" b="b"/>
              <a:pathLst>
                <a:path w="1752600" h="1047750">
                  <a:moveTo>
                    <a:pt x="1647825" y="0"/>
                  </a:moveTo>
                  <a:lnTo>
                    <a:pt x="104648" y="0"/>
                  </a:lnTo>
                  <a:lnTo>
                    <a:pt x="63918" y="8225"/>
                  </a:lnTo>
                  <a:lnTo>
                    <a:pt x="30654" y="30654"/>
                  </a:lnTo>
                  <a:lnTo>
                    <a:pt x="8225" y="63918"/>
                  </a:lnTo>
                  <a:lnTo>
                    <a:pt x="0" y="104648"/>
                  </a:lnTo>
                  <a:lnTo>
                    <a:pt x="0" y="942975"/>
                  </a:lnTo>
                  <a:lnTo>
                    <a:pt x="8225" y="983724"/>
                  </a:lnTo>
                  <a:lnTo>
                    <a:pt x="30654" y="1017031"/>
                  </a:lnTo>
                  <a:lnTo>
                    <a:pt x="63918" y="1039504"/>
                  </a:lnTo>
                  <a:lnTo>
                    <a:pt x="104648" y="1047750"/>
                  </a:lnTo>
                  <a:lnTo>
                    <a:pt x="1647825" y="1047750"/>
                  </a:lnTo>
                  <a:lnTo>
                    <a:pt x="1688574" y="1039504"/>
                  </a:lnTo>
                  <a:lnTo>
                    <a:pt x="1721881" y="1017031"/>
                  </a:lnTo>
                  <a:lnTo>
                    <a:pt x="1744354" y="983724"/>
                  </a:lnTo>
                  <a:lnTo>
                    <a:pt x="1752600" y="942975"/>
                  </a:lnTo>
                  <a:lnTo>
                    <a:pt x="1752600" y="104648"/>
                  </a:lnTo>
                  <a:lnTo>
                    <a:pt x="1744354" y="63918"/>
                  </a:lnTo>
                  <a:lnTo>
                    <a:pt x="1721881" y="30654"/>
                  </a:lnTo>
                  <a:lnTo>
                    <a:pt x="1688574" y="8225"/>
                  </a:lnTo>
                  <a:lnTo>
                    <a:pt x="1647825" y="0"/>
                  </a:lnTo>
                  <a:close/>
                </a:path>
              </a:pathLst>
            </a:custGeom>
            <a:solidFill>
              <a:srgbClr val="4471C4"/>
            </a:solidFill>
          </p:spPr>
          <p:txBody>
            <a:bodyPr wrap="square" lIns="0" tIns="0" rIns="0" bIns="0" rtlCol="0"/>
            <a:lstStyle/>
            <a:p>
              <a:endParaRPr/>
            </a:p>
          </p:txBody>
        </p:sp>
        <p:sp>
          <p:nvSpPr>
            <p:cNvPr id="22" name="object 22"/>
            <p:cNvSpPr/>
            <p:nvPr/>
          </p:nvSpPr>
          <p:spPr>
            <a:xfrm>
              <a:off x="9063101" y="3224276"/>
              <a:ext cx="1752600" cy="1047750"/>
            </a:xfrm>
            <a:custGeom>
              <a:avLst/>
              <a:gdLst/>
              <a:ahLst/>
              <a:cxnLst/>
              <a:rect l="l" t="t" r="r" b="b"/>
              <a:pathLst>
                <a:path w="1752600" h="1047750">
                  <a:moveTo>
                    <a:pt x="0" y="104648"/>
                  </a:moveTo>
                  <a:lnTo>
                    <a:pt x="8225" y="63918"/>
                  </a:lnTo>
                  <a:lnTo>
                    <a:pt x="30654" y="30654"/>
                  </a:lnTo>
                  <a:lnTo>
                    <a:pt x="63918" y="8225"/>
                  </a:lnTo>
                  <a:lnTo>
                    <a:pt x="104648" y="0"/>
                  </a:lnTo>
                  <a:lnTo>
                    <a:pt x="1647825" y="0"/>
                  </a:lnTo>
                  <a:lnTo>
                    <a:pt x="1688574" y="8225"/>
                  </a:lnTo>
                  <a:lnTo>
                    <a:pt x="1721881" y="30654"/>
                  </a:lnTo>
                  <a:lnTo>
                    <a:pt x="1744354" y="63918"/>
                  </a:lnTo>
                  <a:lnTo>
                    <a:pt x="1752600" y="104648"/>
                  </a:lnTo>
                  <a:lnTo>
                    <a:pt x="1752600" y="942975"/>
                  </a:lnTo>
                  <a:lnTo>
                    <a:pt x="1744354" y="983724"/>
                  </a:lnTo>
                  <a:lnTo>
                    <a:pt x="1721881" y="1017031"/>
                  </a:lnTo>
                  <a:lnTo>
                    <a:pt x="1688574" y="1039504"/>
                  </a:lnTo>
                  <a:lnTo>
                    <a:pt x="1647825" y="1047750"/>
                  </a:lnTo>
                  <a:lnTo>
                    <a:pt x="104648" y="1047750"/>
                  </a:lnTo>
                  <a:lnTo>
                    <a:pt x="63918" y="1039504"/>
                  </a:lnTo>
                  <a:lnTo>
                    <a:pt x="30654" y="1017031"/>
                  </a:lnTo>
                  <a:lnTo>
                    <a:pt x="8225" y="983724"/>
                  </a:lnTo>
                  <a:lnTo>
                    <a:pt x="0" y="942975"/>
                  </a:lnTo>
                  <a:lnTo>
                    <a:pt x="0" y="104648"/>
                  </a:lnTo>
                  <a:close/>
                </a:path>
              </a:pathLst>
            </a:custGeom>
            <a:ln w="12700">
              <a:solidFill>
                <a:srgbClr val="FFFFFF"/>
              </a:solidFill>
            </a:ln>
          </p:spPr>
          <p:txBody>
            <a:bodyPr wrap="square" lIns="0" tIns="0" rIns="0" bIns="0" rtlCol="0"/>
            <a:lstStyle/>
            <a:p>
              <a:endParaRPr/>
            </a:p>
          </p:txBody>
        </p:sp>
      </p:grpSp>
      <p:sp>
        <p:nvSpPr>
          <p:cNvPr id="23" name="object 23"/>
          <p:cNvSpPr txBox="1"/>
          <p:nvPr/>
        </p:nvSpPr>
        <p:spPr>
          <a:xfrm>
            <a:off x="9311258" y="3592829"/>
            <a:ext cx="1266190" cy="287020"/>
          </a:xfrm>
          <a:prstGeom prst="rect">
            <a:avLst/>
          </a:prstGeom>
        </p:spPr>
        <p:txBody>
          <a:bodyPr vert="horz" wrap="square" lIns="0" tIns="12700" rIns="0" bIns="0" rtlCol="0">
            <a:spAutoFit/>
          </a:bodyPr>
          <a:lstStyle/>
          <a:p>
            <a:pPr marR="1270" algn="ctr">
              <a:lnSpc>
                <a:spcPts val="1030"/>
              </a:lnSpc>
              <a:spcBef>
                <a:spcPts val="100"/>
              </a:spcBef>
            </a:pPr>
            <a:r>
              <a:rPr sz="900" dirty="0">
                <a:solidFill>
                  <a:srgbClr val="FFFFFF"/>
                </a:solidFill>
                <a:latin typeface="Calibri"/>
                <a:cs typeface="Calibri"/>
              </a:rPr>
              <a:t>Parse</a:t>
            </a:r>
            <a:r>
              <a:rPr sz="900" spc="20" dirty="0">
                <a:solidFill>
                  <a:srgbClr val="FFFFFF"/>
                </a:solidFill>
                <a:latin typeface="Calibri"/>
                <a:cs typeface="Calibri"/>
              </a:rPr>
              <a:t> </a:t>
            </a:r>
            <a:r>
              <a:rPr sz="900" spc="-20" dirty="0">
                <a:solidFill>
                  <a:srgbClr val="FFFFFF"/>
                </a:solidFill>
                <a:latin typeface="Calibri"/>
                <a:cs typeface="Calibri"/>
              </a:rPr>
              <a:t>JSON</a:t>
            </a:r>
            <a:endParaRPr sz="900">
              <a:latin typeface="Calibri"/>
              <a:cs typeface="Calibri"/>
            </a:endParaRPr>
          </a:p>
          <a:p>
            <a:pPr marR="5080" algn="ctr">
              <a:lnSpc>
                <a:spcPts val="1030"/>
              </a:lnSpc>
            </a:pPr>
            <a:r>
              <a:rPr sz="900" dirty="0">
                <a:solidFill>
                  <a:srgbClr val="FFFFFF"/>
                </a:solidFill>
                <a:latin typeface="Calibri"/>
                <a:cs typeface="Calibri"/>
              </a:rPr>
              <a:t>Response</a:t>
            </a:r>
            <a:r>
              <a:rPr sz="900" spc="-45" dirty="0">
                <a:solidFill>
                  <a:srgbClr val="FFFFFF"/>
                </a:solidFill>
                <a:latin typeface="Calibri"/>
                <a:cs typeface="Calibri"/>
              </a:rPr>
              <a:t> </a:t>
            </a:r>
            <a:r>
              <a:rPr sz="900" spc="-10" dirty="0">
                <a:solidFill>
                  <a:srgbClr val="FFFFFF"/>
                </a:solidFill>
                <a:latin typeface="Calibri"/>
                <a:cs typeface="Calibri"/>
              </a:rPr>
              <a:t>(response.json())</a:t>
            </a:r>
            <a:endParaRPr sz="900">
              <a:latin typeface="Calibri"/>
              <a:cs typeface="Calibri"/>
            </a:endParaRPr>
          </a:p>
        </p:txBody>
      </p:sp>
      <p:grpSp>
        <p:nvGrpSpPr>
          <p:cNvPr id="24" name="object 24"/>
          <p:cNvGrpSpPr/>
          <p:nvPr/>
        </p:nvGrpSpPr>
        <p:grpSpPr>
          <a:xfrm>
            <a:off x="6599301" y="3217926"/>
            <a:ext cx="2297430" cy="1060450"/>
            <a:chOff x="6599301" y="3217926"/>
            <a:chExt cx="2297430" cy="1060450"/>
          </a:xfrm>
        </p:grpSpPr>
        <p:sp>
          <p:nvSpPr>
            <p:cNvPr id="25" name="object 25"/>
            <p:cNvSpPr/>
            <p:nvPr/>
          </p:nvSpPr>
          <p:spPr>
            <a:xfrm>
              <a:off x="8524875" y="3524250"/>
              <a:ext cx="371475" cy="438150"/>
            </a:xfrm>
            <a:custGeom>
              <a:avLst/>
              <a:gdLst/>
              <a:ahLst/>
              <a:cxnLst/>
              <a:rect l="l" t="t" r="r" b="b"/>
              <a:pathLst>
                <a:path w="371475" h="438150">
                  <a:moveTo>
                    <a:pt x="185800" y="0"/>
                  </a:moveTo>
                  <a:lnTo>
                    <a:pt x="0" y="219075"/>
                  </a:lnTo>
                  <a:lnTo>
                    <a:pt x="185800" y="438150"/>
                  </a:lnTo>
                  <a:lnTo>
                    <a:pt x="185800" y="350519"/>
                  </a:lnTo>
                  <a:lnTo>
                    <a:pt x="371475" y="350519"/>
                  </a:lnTo>
                  <a:lnTo>
                    <a:pt x="371475" y="87630"/>
                  </a:lnTo>
                  <a:lnTo>
                    <a:pt x="185800" y="87630"/>
                  </a:lnTo>
                  <a:lnTo>
                    <a:pt x="185800" y="0"/>
                  </a:lnTo>
                  <a:close/>
                </a:path>
              </a:pathLst>
            </a:custGeom>
            <a:solidFill>
              <a:srgbClr val="AFBBDE"/>
            </a:solidFill>
          </p:spPr>
          <p:txBody>
            <a:bodyPr wrap="square" lIns="0" tIns="0" rIns="0" bIns="0" rtlCol="0"/>
            <a:lstStyle/>
            <a:p>
              <a:endParaRPr/>
            </a:p>
          </p:txBody>
        </p:sp>
        <p:sp>
          <p:nvSpPr>
            <p:cNvPr id="26" name="object 26"/>
            <p:cNvSpPr/>
            <p:nvPr/>
          </p:nvSpPr>
          <p:spPr>
            <a:xfrm>
              <a:off x="6605651" y="3224276"/>
              <a:ext cx="1752600" cy="1047750"/>
            </a:xfrm>
            <a:custGeom>
              <a:avLst/>
              <a:gdLst/>
              <a:ahLst/>
              <a:cxnLst/>
              <a:rect l="l" t="t" r="r" b="b"/>
              <a:pathLst>
                <a:path w="1752600" h="1047750">
                  <a:moveTo>
                    <a:pt x="1647825" y="0"/>
                  </a:moveTo>
                  <a:lnTo>
                    <a:pt x="104648" y="0"/>
                  </a:lnTo>
                  <a:lnTo>
                    <a:pt x="63918" y="8225"/>
                  </a:lnTo>
                  <a:lnTo>
                    <a:pt x="30654" y="30654"/>
                  </a:lnTo>
                  <a:lnTo>
                    <a:pt x="8225" y="63918"/>
                  </a:lnTo>
                  <a:lnTo>
                    <a:pt x="0" y="104648"/>
                  </a:lnTo>
                  <a:lnTo>
                    <a:pt x="0" y="942975"/>
                  </a:lnTo>
                  <a:lnTo>
                    <a:pt x="8225" y="983724"/>
                  </a:lnTo>
                  <a:lnTo>
                    <a:pt x="30654" y="1017031"/>
                  </a:lnTo>
                  <a:lnTo>
                    <a:pt x="63918" y="1039504"/>
                  </a:lnTo>
                  <a:lnTo>
                    <a:pt x="104648" y="1047750"/>
                  </a:lnTo>
                  <a:lnTo>
                    <a:pt x="1647825" y="1047750"/>
                  </a:lnTo>
                  <a:lnTo>
                    <a:pt x="1688574" y="1039504"/>
                  </a:lnTo>
                  <a:lnTo>
                    <a:pt x="1721881" y="1017031"/>
                  </a:lnTo>
                  <a:lnTo>
                    <a:pt x="1744354" y="983724"/>
                  </a:lnTo>
                  <a:lnTo>
                    <a:pt x="1752600" y="942975"/>
                  </a:lnTo>
                  <a:lnTo>
                    <a:pt x="1752600" y="104648"/>
                  </a:lnTo>
                  <a:lnTo>
                    <a:pt x="1744354" y="63918"/>
                  </a:lnTo>
                  <a:lnTo>
                    <a:pt x="1721881" y="30654"/>
                  </a:lnTo>
                  <a:lnTo>
                    <a:pt x="1688574" y="8225"/>
                  </a:lnTo>
                  <a:lnTo>
                    <a:pt x="1647825" y="0"/>
                  </a:lnTo>
                  <a:close/>
                </a:path>
              </a:pathLst>
            </a:custGeom>
            <a:solidFill>
              <a:srgbClr val="4471C4"/>
            </a:solidFill>
          </p:spPr>
          <p:txBody>
            <a:bodyPr wrap="square" lIns="0" tIns="0" rIns="0" bIns="0" rtlCol="0"/>
            <a:lstStyle/>
            <a:p>
              <a:endParaRPr/>
            </a:p>
          </p:txBody>
        </p:sp>
        <p:sp>
          <p:nvSpPr>
            <p:cNvPr id="27" name="object 27"/>
            <p:cNvSpPr/>
            <p:nvPr/>
          </p:nvSpPr>
          <p:spPr>
            <a:xfrm>
              <a:off x="6605651" y="3224276"/>
              <a:ext cx="1752600" cy="1047750"/>
            </a:xfrm>
            <a:custGeom>
              <a:avLst/>
              <a:gdLst/>
              <a:ahLst/>
              <a:cxnLst/>
              <a:rect l="l" t="t" r="r" b="b"/>
              <a:pathLst>
                <a:path w="1752600" h="1047750">
                  <a:moveTo>
                    <a:pt x="0" y="104648"/>
                  </a:moveTo>
                  <a:lnTo>
                    <a:pt x="8225" y="63918"/>
                  </a:lnTo>
                  <a:lnTo>
                    <a:pt x="30654" y="30654"/>
                  </a:lnTo>
                  <a:lnTo>
                    <a:pt x="63918" y="8225"/>
                  </a:lnTo>
                  <a:lnTo>
                    <a:pt x="104648" y="0"/>
                  </a:lnTo>
                  <a:lnTo>
                    <a:pt x="1647825" y="0"/>
                  </a:lnTo>
                  <a:lnTo>
                    <a:pt x="1688574" y="8225"/>
                  </a:lnTo>
                  <a:lnTo>
                    <a:pt x="1721881" y="30654"/>
                  </a:lnTo>
                  <a:lnTo>
                    <a:pt x="1744354" y="63918"/>
                  </a:lnTo>
                  <a:lnTo>
                    <a:pt x="1752600" y="104648"/>
                  </a:lnTo>
                  <a:lnTo>
                    <a:pt x="1752600" y="942975"/>
                  </a:lnTo>
                  <a:lnTo>
                    <a:pt x="1744354" y="983724"/>
                  </a:lnTo>
                  <a:lnTo>
                    <a:pt x="1721881" y="1017031"/>
                  </a:lnTo>
                  <a:lnTo>
                    <a:pt x="1688574" y="1039504"/>
                  </a:lnTo>
                  <a:lnTo>
                    <a:pt x="1647825" y="1047750"/>
                  </a:lnTo>
                  <a:lnTo>
                    <a:pt x="104648" y="1047750"/>
                  </a:lnTo>
                  <a:lnTo>
                    <a:pt x="63918" y="1039504"/>
                  </a:lnTo>
                  <a:lnTo>
                    <a:pt x="30654" y="1017031"/>
                  </a:lnTo>
                  <a:lnTo>
                    <a:pt x="8225" y="983724"/>
                  </a:lnTo>
                  <a:lnTo>
                    <a:pt x="0" y="942975"/>
                  </a:lnTo>
                  <a:lnTo>
                    <a:pt x="0" y="104648"/>
                  </a:lnTo>
                  <a:close/>
                </a:path>
              </a:pathLst>
            </a:custGeom>
            <a:ln w="12700">
              <a:solidFill>
                <a:srgbClr val="FFFFFF"/>
              </a:solidFill>
            </a:ln>
          </p:spPr>
          <p:txBody>
            <a:bodyPr wrap="square" lIns="0" tIns="0" rIns="0" bIns="0" rtlCol="0"/>
            <a:lstStyle/>
            <a:p>
              <a:endParaRPr/>
            </a:p>
          </p:txBody>
        </p:sp>
      </p:grpSp>
      <p:sp>
        <p:nvSpPr>
          <p:cNvPr id="28" name="object 28"/>
          <p:cNvSpPr txBox="1"/>
          <p:nvPr/>
        </p:nvSpPr>
        <p:spPr>
          <a:xfrm>
            <a:off x="6694551" y="3592829"/>
            <a:ext cx="1584325" cy="287020"/>
          </a:xfrm>
          <a:prstGeom prst="rect">
            <a:avLst/>
          </a:prstGeom>
        </p:spPr>
        <p:txBody>
          <a:bodyPr vert="horz" wrap="square" lIns="0" tIns="12700" rIns="0" bIns="0" rtlCol="0">
            <a:spAutoFit/>
          </a:bodyPr>
          <a:lstStyle/>
          <a:p>
            <a:pPr marR="5080" algn="ctr">
              <a:lnSpc>
                <a:spcPts val="1030"/>
              </a:lnSpc>
              <a:spcBef>
                <a:spcPts val="100"/>
              </a:spcBef>
            </a:pPr>
            <a:r>
              <a:rPr sz="900" dirty="0">
                <a:solidFill>
                  <a:srgbClr val="FFFFFF"/>
                </a:solidFill>
                <a:latin typeface="Calibri"/>
                <a:cs typeface="Calibri"/>
              </a:rPr>
              <a:t>Extract</a:t>
            </a:r>
            <a:r>
              <a:rPr sz="900" spc="35" dirty="0">
                <a:solidFill>
                  <a:srgbClr val="FFFFFF"/>
                </a:solidFill>
                <a:latin typeface="Calibri"/>
                <a:cs typeface="Calibri"/>
              </a:rPr>
              <a:t> </a:t>
            </a:r>
            <a:r>
              <a:rPr sz="900" spc="-10" dirty="0">
                <a:solidFill>
                  <a:srgbClr val="FFFFFF"/>
                </a:solidFill>
                <a:latin typeface="Calibri"/>
                <a:cs typeface="Calibri"/>
              </a:rPr>
              <a:t>Relevant</a:t>
            </a:r>
            <a:r>
              <a:rPr sz="900" spc="-35" dirty="0">
                <a:solidFill>
                  <a:srgbClr val="FFFFFF"/>
                </a:solidFill>
                <a:latin typeface="Calibri"/>
                <a:cs typeface="Calibri"/>
              </a:rPr>
              <a:t> </a:t>
            </a:r>
            <a:r>
              <a:rPr sz="900" dirty="0">
                <a:solidFill>
                  <a:srgbClr val="FFFFFF"/>
                </a:solidFill>
                <a:latin typeface="Calibri"/>
                <a:cs typeface="Calibri"/>
              </a:rPr>
              <a:t>Fields</a:t>
            </a:r>
            <a:r>
              <a:rPr sz="900" spc="-10" dirty="0">
                <a:solidFill>
                  <a:srgbClr val="FFFFFF"/>
                </a:solidFill>
                <a:latin typeface="Calibri"/>
                <a:cs typeface="Calibri"/>
              </a:rPr>
              <a:t> </a:t>
            </a:r>
            <a:r>
              <a:rPr sz="900" dirty="0">
                <a:solidFill>
                  <a:srgbClr val="FFFFFF"/>
                </a:solidFill>
                <a:latin typeface="Calibri"/>
                <a:cs typeface="Calibri"/>
              </a:rPr>
              <a:t>(date,</a:t>
            </a:r>
            <a:r>
              <a:rPr sz="900" spc="-35" dirty="0">
                <a:solidFill>
                  <a:srgbClr val="FFFFFF"/>
                </a:solidFill>
                <a:latin typeface="Calibri"/>
                <a:cs typeface="Calibri"/>
              </a:rPr>
              <a:t> </a:t>
            </a:r>
            <a:r>
              <a:rPr sz="900" spc="-20" dirty="0">
                <a:solidFill>
                  <a:srgbClr val="FFFFFF"/>
                </a:solidFill>
                <a:latin typeface="Calibri"/>
                <a:cs typeface="Calibri"/>
              </a:rPr>
              <a:t>site,</a:t>
            </a:r>
            <a:endParaRPr sz="900">
              <a:latin typeface="Calibri"/>
              <a:cs typeface="Calibri"/>
            </a:endParaRPr>
          </a:p>
          <a:p>
            <a:pPr marR="9525" algn="ctr">
              <a:lnSpc>
                <a:spcPts val="1030"/>
              </a:lnSpc>
            </a:pPr>
            <a:r>
              <a:rPr sz="900" dirty="0">
                <a:solidFill>
                  <a:srgbClr val="FFFFFF"/>
                </a:solidFill>
                <a:latin typeface="Calibri"/>
                <a:cs typeface="Calibri"/>
              </a:rPr>
              <a:t>payload,</a:t>
            </a:r>
            <a:r>
              <a:rPr sz="900" spc="-35" dirty="0">
                <a:solidFill>
                  <a:srgbClr val="FFFFFF"/>
                </a:solidFill>
                <a:latin typeface="Calibri"/>
                <a:cs typeface="Calibri"/>
              </a:rPr>
              <a:t> </a:t>
            </a:r>
            <a:r>
              <a:rPr sz="900" dirty="0">
                <a:solidFill>
                  <a:srgbClr val="FFFFFF"/>
                </a:solidFill>
                <a:latin typeface="Calibri"/>
                <a:cs typeface="Calibri"/>
              </a:rPr>
              <a:t>rocket, </a:t>
            </a:r>
            <a:r>
              <a:rPr sz="900" spc="-10" dirty="0">
                <a:solidFill>
                  <a:srgbClr val="FFFFFF"/>
                </a:solidFill>
                <a:latin typeface="Calibri"/>
                <a:cs typeface="Calibri"/>
              </a:rPr>
              <a:t>outcome)</a:t>
            </a:r>
            <a:endParaRPr sz="900">
              <a:latin typeface="Calibri"/>
              <a:cs typeface="Calibri"/>
            </a:endParaRPr>
          </a:p>
        </p:txBody>
      </p:sp>
      <p:grpSp>
        <p:nvGrpSpPr>
          <p:cNvPr id="29" name="object 29"/>
          <p:cNvGrpSpPr/>
          <p:nvPr/>
        </p:nvGrpSpPr>
        <p:grpSpPr>
          <a:xfrm>
            <a:off x="6599301" y="4429125"/>
            <a:ext cx="1765300" cy="1611630"/>
            <a:chOff x="6599301" y="4429125"/>
            <a:chExt cx="1765300" cy="1611630"/>
          </a:xfrm>
        </p:grpSpPr>
        <p:sp>
          <p:nvSpPr>
            <p:cNvPr id="30" name="object 30"/>
            <p:cNvSpPr/>
            <p:nvPr/>
          </p:nvSpPr>
          <p:spPr>
            <a:xfrm>
              <a:off x="7258050" y="4429125"/>
              <a:ext cx="438150" cy="371475"/>
            </a:xfrm>
            <a:custGeom>
              <a:avLst/>
              <a:gdLst/>
              <a:ahLst/>
              <a:cxnLst/>
              <a:rect l="l" t="t" r="r" b="b"/>
              <a:pathLst>
                <a:path w="438150" h="371475">
                  <a:moveTo>
                    <a:pt x="350520" y="0"/>
                  </a:moveTo>
                  <a:lnTo>
                    <a:pt x="87629" y="0"/>
                  </a:lnTo>
                  <a:lnTo>
                    <a:pt x="87629" y="185800"/>
                  </a:lnTo>
                  <a:lnTo>
                    <a:pt x="0" y="185800"/>
                  </a:lnTo>
                  <a:lnTo>
                    <a:pt x="219075" y="371475"/>
                  </a:lnTo>
                  <a:lnTo>
                    <a:pt x="438150" y="185800"/>
                  </a:lnTo>
                  <a:lnTo>
                    <a:pt x="350520" y="185800"/>
                  </a:lnTo>
                  <a:lnTo>
                    <a:pt x="350520" y="0"/>
                  </a:lnTo>
                  <a:close/>
                </a:path>
              </a:pathLst>
            </a:custGeom>
            <a:solidFill>
              <a:srgbClr val="AFBBDE"/>
            </a:solidFill>
          </p:spPr>
          <p:txBody>
            <a:bodyPr wrap="square" lIns="0" tIns="0" rIns="0" bIns="0" rtlCol="0"/>
            <a:lstStyle/>
            <a:p>
              <a:endParaRPr/>
            </a:p>
          </p:txBody>
        </p:sp>
        <p:sp>
          <p:nvSpPr>
            <p:cNvPr id="31" name="object 31"/>
            <p:cNvSpPr/>
            <p:nvPr/>
          </p:nvSpPr>
          <p:spPr>
            <a:xfrm>
              <a:off x="6605651" y="4976876"/>
              <a:ext cx="1752600" cy="1057275"/>
            </a:xfrm>
            <a:custGeom>
              <a:avLst/>
              <a:gdLst/>
              <a:ahLst/>
              <a:cxnLst/>
              <a:rect l="l" t="t" r="r" b="b"/>
              <a:pathLst>
                <a:path w="1752600" h="1057275">
                  <a:moveTo>
                    <a:pt x="1646808" y="0"/>
                  </a:moveTo>
                  <a:lnTo>
                    <a:pt x="105664" y="0"/>
                  </a:lnTo>
                  <a:lnTo>
                    <a:pt x="64508" y="8294"/>
                  </a:lnTo>
                  <a:lnTo>
                    <a:pt x="30924" y="30924"/>
                  </a:lnTo>
                  <a:lnTo>
                    <a:pt x="8294" y="64508"/>
                  </a:lnTo>
                  <a:lnTo>
                    <a:pt x="0" y="105663"/>
                  </a:lnTo>
                  <a:lnTo>
                    <a:pt x="0" y="951484"/>
                  </a:lnTo>
                  <a:lnTo>
                    <a:pt x="8294" y="992639"/>
                  </a:lnTo>
                  <a:lnTo>
                    <a:pt x="30924" y="1026245"/>
                  </a:lnTo>
                  <a:lnTo>
                    <a:pt x="64508" y="1048903"/>
                  </a:lnTo>
                  <a:lnTo>
                    <a:pt x="105664" y="1057211"/>
                  </a:lnTo>
                  <a:lnTo>
                    <a:pt x="1646808" y="1057211"/>
                  </a:lnTo>
                  <a:lnTo>
                    <a:pt x="1687984" y="1048903"/>
                  </a:lnTo>
                  <a:lnTo>
                    <a:pt x="1721611" y="1026245"/>
                  </a:lnTo>
                  <a:lnTo>
                    <a:pt x="1744285" y="992639"/>
                  </a:lnTo>
                  <a:lnTo>
                    <a:pt x="1752600" y="951484"/>
                  </a:lnTo>
                  <a:lnTo>
                    <a:pt x="1752600" y="105663"/>
                  </a:lnTo>
                  <a:lnTo>
                    <a:pt x="1744285" y="64508"/>
                  </a:lnTo>
                  <a:lnTo>
                    <a:pt x="1721611" y="30924"/>
                  </a:lnTo>
                  <a:lnTo>
                    <a:pt x="1687984" y="8294"/>
                  </a:lnTo>
                  <a:lnTo>
                    <a:pt x="1646808" y="0"/>
                  </a:lnTo>
                  <a:close/>
                </a:path>
              </a:pathLst>
            </a:custGeom>
            <a:solidFill>
              <a:srgbClr val="4471C4"/>
            </a:solidFill>
          </p:spPr>
          <p:txBody>
            <a:bodyPr wrap="square" lIns="0" tIns="0" rIns="0" bIns="0" rtlCol="0"/>
            <a:lstStyle/>
            <a:p>
              <a:endParaRPr/>
            </a:p>
          </p:txBody>
        </p:sp>
        <p:sp>
          <p:nvSpPr>
            <p:cNvPr id="32" name="object 32"/>
            <p:cNvSpPr/>
            <p:nvPr/>
          </p:nvSpPr>
          <p:spPr>
            <a:xfrm>
              <a:off x="6605651" y="4976876"/>
              <a:ext cx="1752600" cy="1057275"/>
            </a:xfrm>
            <a:custGeom>
              <a:avLst/>
              <a:gdLst/>
              <a:ahLst/>
              <a:cxnLst/>
              <a:rect l="l" t="t" r="r" b="b"/>
              <a:pathLst>
                <a:path w="1752600" h="1057275">
                  <a:moveTo>
                    <a:pt x="0" y="105663"/>
                  </a:moveTo>
                  <a:lnTo>
                    <a:pt x="8294" y="64508"/>
                  </a:lnTo>
                  <a:lnTo>
                    <a:pt x="30924" y="30924"/>
                  </a:lnTo>
                  <a:lnTo>
                    <a:pt x="64508" y="8294"/>
                  </a:lnTo>
                  <a:lnTo>
                    <a:pt x="105664" y="0"/>
                  </a:lnTo>
                  <a:lnTo>
                    <a:pt x="1646808" y="0"/>
                  </a:lnTo>
                  <a:lnTo>
                    <a:pt x="1687984" y="8294"/>
                  </a:lnTo>
                  <a:lnTo>
                    <a:pt x="1721611" y="30924"/>
                  </a:lnTo>
                  <a:lnTo>
                    <a:pt x="1744285" y="64508"/>
                  </a:lnTo>
                  <a:lnTo>
                    <a:pt x="1752600" y="105663"/>
                  </a:lnTo>
                  <a:lnTo>
                    <a:pt x="1752600" y="951484"/>
                  </a:lnTo>
                  <a:lnTo>
                    <a:pt x="1744285" y="992639"/>
                  </a:lnTo>
                  <a:lnTo>
                    <a:pt x="1721611" y="1026245"/>
                  </a:lnTo>
                  <a:lnTo>
                    <a:pt x="1687984" y="1048903"/>
                  </a:lnTo>
                  <a:lnTo>
                    <a:pt x="1646808" y="1057211"/>
                  </a:lnTo>
                  <a:lnTo>
                    <a:pt x="105664" y="1057211"/>
                  </a:lnTo>
                  <a:lnTo>
                    <a:pt x="64508" y="1048903"/>
                  </a:lnTo>
                  <a:lnTo>
                    <a:pt x="30924" y="1026245"/>
                  </a:lnTo>
                  <a:lnTo>
                    <a:pt x="8294" y="992639"/>
                  </a:lnTo>
                  <a:lnTo>
                    <a:pt x="0" y="951484"/>
                  </a:lnTo>
                  <a:lnTo>
                    <a:pt x="0" y="105663"/>
                  </a:lnTo>
                  <a:close/>
                </a:path>
              </a:pathLst>
            </a:custGeom>
            <a:ln w="12700">
              <a:solidFill>
                <a:srgbClr val="FFFFFF"/>
              </a:solidFill>
            </a:ln>
          </p:spPr>
          <p:txBody>
            <a:bodyPr wrap="square" lIns="0" tIns="0" rIns="0" bIns="0" rtlCol="0"/>
            <a:lstStyle/>
            <a:p>
              <a:endParaRPr/>
            </a:p>
          </p:txBody>
        </p:sp>
      </p:grpSp>
      <p:sp>
        <p:nvSpPr>
          <p:cNvPr id="33" name="object 33"/>
          <p:cNvSpPr txBox="1"/>
          <p:nvPr/>
        </p:nvSpPr>
        <p:spPr>
          <a:xfrm>
            <a:off x="6736715" y="5350192"/>
            <a:ext cx="1499235" cy="287020"/>
          </a:xfrm>
          <a:prstGeom prst="rect">
            <a:avLst/>
          </a:prstGeom>
        </p:spPr>
        <p:txBody>
          <a:bodyPr vert="horz" wrap="square" lIns="0" tIns="12700" rIns="0" bIns="0" rtlCol="0">
            <a:spAutoFit/>
          </a:bodyPr>
          <a:lstStyle/>
          <a:p>
            <a:pPr marR="6350" algn="ctr">
              <a:lnSpc>
                <a:spcPts val="1030"/>
              </a:lnSpc>
              <a:spcBef>
                <a:spcPts val="100"/>
              </a:spcBef>
            </a:pPr>
            <a:r>
              <a:rPr sz="900" dirty="0">
                <a:solidFill>
                  <a:srgbClr val="FFFFFF"/>
                </a:solidFill>
                <a:latin typeface="Calibri"/>
                <a:cs typeface="Calibri"/>
              </a:rPr>
              <a:t>Store Data</a:t>
            </a:r>
            <a:r>
              <a:rPr sz="900" spc="-50" dirty="0">
                <a:solidFill>
                  <a:srgbClr val="FFFFFF"/>
                </a:solidFill>
                <a:latin typeface="Calibri"/>
                <a:cs typeface="Calibri"/>
              </a:rPr>
              <a:t> </a:t>
            </a:r>
            <a:r>
              <a:rPr sz="900" spc="-25" dirty="0">
                <a:solidFill>
                  <a:srgbClr val="FFFFFF"/>
                </a:solidFill>
                <a:latin typeface="Calibri"/>
                <a:cs typeface="Calibri"/>
              </a:rPr>
              <a:t>in</a:t>
            </a:r>
            <a:endParaRPr sz="900">
              <a:latin typeface="Calibri"/>
              <a:cs typeface="Calibri"/>
            </a:endParaRPr>
          </a:p>
          <a:p>
            <a:pPr marR="5080" algn="ctr">
              <a:lnSpc>
                <a:spcPts val="1030"/>
              </a:lnSpc>
            </a:pPr>
            <a:r>
              <a:rPr sz="900" dirty="0">
                <a:solidFill>
                  <a:srgbClr val="FFFFFF"/>
                </a:solidFill>
                <a:latin typeface="Calibri"/>
                <a:cs typeface="Calibri"/>
              </a:rPr>
              <a:t>DataFrame</a:t>
            </a:r>
            <a:r>
              <a:rPr sz="900" spc="-20" dirty="0">
                <a:solidFill>
                  <a:srgbClr val="FFFFFF"/>
                </a:solidFill>
                <a:latin typeface="Calibri"/>
                <a:cs typeface="Calibri"/>
              </a:rPr>
              <a:t> </a:t>
            </a:r>
            <a:r>
              <a:rPr sz="900" spc="-10" dirty="0">
                <a:solidFill>
                  <a:srgbClr val="FFFFFF"/>
                </a:solidFill>
                <a:latin typeface="Calibri"/>
                <a:cs typeface="Calibri"/>
              </a:rPr>
              <a:t>(pandas.DataFrame)</a:t>
            </a:r>
            <a:endParaRPr sz="900">
              <a:latin typeface="Calibri"/>
              <a:cs typeface="Calibri"/>
            </a:endParaRPr>
          </a:p>
        </p:txBody>
      </p:sp>
      <p:grpSp>
        <p:nvGrpSpPr>
          <p:cNvPr id="34" name="object 34"/>
          <p:cNvGrpSpPr/>
          <p:nvPr/>
        </p:nvGrpSpPr>
        <p:grpSpPr>
          <a:xfrm>
            <a:off x="8505825" y="4970526"/>
            <a:ext cx="2316480" cy="1069975"/>
            <a:chOff x="8505825" y="4970526"/>
            <a:chExt cx="2316480" cy="1069975"/>
          </a:xfrm>
        </p:grpSpPr>
        <p:sp>
          <p:nvSpPr>
            <p:cNvPr id="35" name="object 35"/>
            <p:cNvSpPr/>
            <p:nvPr/>
          </p:nvSpPr>
          <p:spPr>
            <a:xfrm>
              <a:off x="8505825" y="5286375"/>
              <a:ext cx="371475" cy="428625"/>
            </a:xfrm>
            <a:custGeom>
              <a:avLst/>
              <a:gdLst/>
              <a:ahLst/>
              <a:cxnLst/>
              <a:rect l="l" t="t" r="r" b="b"/>
              <a:pathLst>
                <a:path w="371475" h="428625">
                  <a:moveTo>
                    <a:pt x="185800" y="0"/>
                  </a:moveTo>
                  <a:lnTo>
                    <a:pt x="185800" y="85725"/>
                  </a:lnTo>
                  <a:lnTo>
                    <a:pt x="0" y="85725"/>
                  </a:lnTo>
                  <a:lnTo>
                    <a:pt x="0" y="342900"/>
                  </a:lnTo>
                  <a:lnTo>
                    <a:pt x="185800" y="342900"/>
                  </a:lnTo>
                  <a:lnTo>
                    <a:pt x="185800" y="428625"/>
                  </a:lnTo>
                  <a:lnTo>
                    <a:pt x="371475" y="214375"/>
                  </a:lnTo>
                  <a:lnTo>
                    <a:pt x="185800" y="0"/>
                  </a:lnTo>
                  <a:close/>
                </a:path>
              </a:pathLst>
            </a:custGeom>
            <a:solidFill>
              <a:srgbClr val="AFBBDE"/>
            </a:solidFill>
          </p:spPr>
          <p:txBody>
            <a:bodyPr wrap="square" lIns="0" tIns="0" rIns="0" bIns="0" rtlCol="0"/>
            <a:lstStyle/>
            <a:p>
              <a:endParaRPr/>
            </a:p>
          </p:txBody>
        </p:sp>
        <p:sp>
          <p:nvSpPr>
            <p:cNvPr id="36" name="object 36"/>
            <p:cNvSpPr/>
            <p:nvPr/>
          </p:nvSpPr>
          <p:spPr>
            <a:xfrm>
              <a:off x="9063101" y="4976876"/>
              <a:ext cx="1752600" cy="1057275"/>
            </a:xfrm>
            <a:custGeom>
              <a:avLst/>
              <a:gdLst/>
              <a:ahLst/>
              <a:cxnLst/>
              <a:rect l="l" t="t" r="r" b="b"/>
              <a:pathLst>
                <a:path w="1752600" h="1057275">
                  <a:moveTo>
                    <a:pt x="1646808" y="0"/>
                  </a:moveTo>
                  <a:lnTo>
                    <a:pt x="105664" y="0"/>
                  </a:lnTo>
                  <a:lnTo>
                    <a:pt x="64508" y="8294"/>
                  </a:lnTo>
                  <a:lnTo>
                    <a:pt x="30924" y="30924"/>
                  </a:lnTo>
                  <a:lnTo>
                    <a:pt x="8294" y="64508"/>
                  </a:lnTo>
                  <a:lnTo>
                    <a:pt x="0" y="105663"/>
                  </a:lnTo>
                  <a:lnTo>
                    <a:pt x="0" y="951484"/>
                  </a:lnTo>
                  <a:lnTo>
                    <a:pt x="8294" y="992639"/>
                  </a:lnTo>
                  <a:lnTo>
                    <a:pt x="30924" y="1026245"/>
                  </a:lnTo>
                  <a:lnTo>
                    <a:pt x="64508" y="1048903"/>
                  </a:lnTo>
                  <a:lnTo>
                    <a:pt x="105664" y="1057211"/>
                  </a:lnTo>
                  <a:lnTo>
                    <a:pt x="1646808" y="1057211"/>
                  </a:lnTo>
                  <a:lnTo>
                    <a:pt x="1687984" y="1048903"/>
                  </a:lnTo>
                  <a:lnTo>
                    <a:pt x="1721611" y="1026245"/>
                  </a:lnTo>
                  <a:lnTo>
                    <a:pt x="1744285" y="992639"/>
                  </a:lnTo>
                  <a:lnTo>
                    <a:pt x="1752600" y="951484"/>
                  </a:lnTo>
                  <a:lnTo>
                    <a:pt x="1752600" y="105663"/>
                  </a:lnTo>
                  <a:lnTo>
                    <a:pt x="1744285" y="64508"/>
                  </a:lnTo>
                  <a:lnTo>
                    <a:pt x="1721611" y="30924"/>
                  </a:lnTo>
                  <a:lnTo>
                    <a:pt x="1687984" y="8294"/>
                  </a:lnTo>
                  <a:lnTo>
                    <a:pt x="1646808" y="0"/>
                  </a:lnTo>
                  <a:close/>
                </a:path>
              </a:pathLst>
            </a:custGeom>
            <a:solidFill>
              <a:srgbClr val="4471C4"/>
            </a:solidFill>
          </p:spPr>
          <p:txBody>
            <a:bodyPr wrap="square" lIns="0" tIns="0" rIns="0" bIns="0" rtlCol="0"/>
            <a:lstStyle/>
            <a:p>
              <a:endParaRPr/>
            </a:p>
          </p:txBody>
        </p:sp>
        <p:sp>
          <p:nvSpPr>
            <p:cNvPr id="37" name="object 37"/>
            <p:cNvSpPr/>
            <p:nvPr/>
          </p:nvSpPr>
          <p:spPr>
            <a:xfrm>
              <a:off x="9063101" y="4976876"/>
              <a:ext cx="1752600" cy="1057275"/>
            </a:xfrm>
            <a:custGeom>
              <a:avLst/>
              <a:gdLst/>
              <a:ahLst/>
              <a:cxnLst/>
              <a:rect l="l" t="t" r="r" b="b"/>
              <a:pathLst>
                <a:path w="1752600" h="1057275">
                  <a:moveTo>
                    <a:pt x="0" y="105663"/>
                  </a:moveTo>
                  <a:lnTo>
                    <a:pt x="8294" y="64508"/>
                  </a:lnTo>
                  <a:lnTo>
                    <a:pt x="30924" y="30924"/>
                  </a:lnTo>
                  <a:lnTo>
                    <a:pt x="64508" y="8294"/>
                  </a:lnTo>
                  <a:lnTo>
                    <a:pt x="105664" y="0"/>
                  </a:lnTo>
                  <a:lnTo>
                    <a:pt x="1646808" y="0"/>
                  </a:lnTo>
                  <a:lnTo>
                    <a:pt x="1687984" y="8294"/>
                  </a:lnTo>
                  <a:lnTo>
                    <a:pt x="1721611" y="30924"/>
                  </a:lnTo>
                  <a:lnTo>
                    <a:pt x="1744285" y="64508"/>
                  </a:lnTo>
                  <a:lnTo>
                    <a:pt x="1752600" y="105663"/>
                  </a:lnTo>
                  <a:lnTo>
                    <a:pt x="1752600" y="951484"/>
                  </a:lnTo>
                  <a:lnTo>
                    <a:pt x="1744285" y="992639"/>
                  </a:lnTo>
                  <a:lnTo>
                    <a:pt x="1721611" y="1026245"/>
                  </a:lnTo>
                  <a:lnTo>
                    <a:pt x="1687984" y="1048903"/>
                  </a:lnTo>
                  <a:lnTo>
                    <a:pt x="1646808" y="1057211"/>
                  </a:lnTo>
                  <a:lnTo>
                    <a:pt x="105664" y="1057211"/>
                  </a:lnTo>
                  <a:lnTo>
                    <a:pt x="64508" y="1048903"/>
                  </a:lnTo>
                  <a:lnTo>
                    <a:pt x="30924" y="1026245"/>
                  </a:lnTo>
                  <a:lnTo>
                    <a:pt x="8294" y="992639"/>
                  </a:lnTo>
                  <a:lnTo>
                    <a:pt x="0" y="951484"/>
                  </a:lnTo>
                  <a:lnTo>
                    <a:pt x="0" y="105663"/>
                  </a:lnTo>
                  <a:close/>
                </a:path>
              </a:pathLst>
            </a:custGeom>
            <a:ln w="12700">
              <a:solidFill>
                <a:srgbClr val="FFFFFF"/>
              </a:solidFill>
            </a:ln>
          </p:spPr>
          <p:txBody>
            <a:bodyPr wrap="square" lIns="0" tIns="0" rIns="0" bIns="0" rtlCol="0"/>
            <a:lstStyle/>
            <a:p>
              <a:endParaRPr/>
            </a:p>
          </p:txBody>
        </p:sp>
      </p:grpSp>
      <p:sp>
        <p:nvSpPr>
          <p:cNvPr id="38" name="object 38"/>
          <p:cNvSpPr txBox="1"/>
          <p:nvPr/>
        </p:nvSpPr>
        <p:spPr>
          <a:xfrm>
            <a:off x="9254108" y="5350192"/>
            <a:ext cx="1384935" cy="287020"/>
          </a:xfrm>
          <a:prstGeom prst="rect">
            <a:avLst/>
          </a:prstGeom>
        </p:spPr>
        <p:txBody>
          <a:bodyPr vert="horz" wrap="square" lIns="0" tIns="12700" rIns="0" bIns="0" rtlCol="0">
            <a:spAutoFit/>
          </a:bodyPr>
          <a:lstStyle/>
          <a:p>
            <a:pPr marR="5080" algn="ctr">
              <a:lnSpc>
                <a:spcPts val="1030"/>
              </a:lnSpc>
              <a:spcBef>
                <a:spcPts val="100"/>
              </a:spcBef>
            </a:pPr>
            <a:r>
              <a:rPr sz="900" dirty="0">
                <a:solidFill>
                  <a:srgbClr val="FFFFFF"/>
                </a:solidFill>
                <a:latin typeface="Calibri"/>
                <a:cs typeface="Calibri"/>
              </a:rPr>
              <a:t>Save</a:t>
            </a:r>
            <a:r>
              <a:rPr sz="900" spc="-50" dirty="0">
                <a:solidFill>
                  <a:srgbClr val="FFFFFF"/>
                </a:solidFill>
                <a:latin typeface="Calibri"/>
                <a:cs typeface="Calibri"/>
              </a:rPr>
              <a:t> </a:t>
            </a:r>
            <a:r>
              <a:rPr sz="900" dirty="0">
                <a:solidFill>
                  <a:srgbClr val="FFFFFF"/>
                </a:solidFill>
                <a:latin typeface="Calibri"/>
                <a:cs typeface="Calibri"/>
              </a:rPr>
              <a:t>Data</a:t>
            </a:r>
            <a:r>
              <a:rPr sz="900" spc="-35" dirty="0">
                <a:solidFill>
                  <a:srgbClr val="FFFFFF"/>
                </a:solidFill>
                <a:latin typeface="Calibri"/>
                <a:cs typeface="Calibri"/>
              </a:rPr>
              <a:t> </a:t>
            </a:r>
            <a:r>
              <a:rPr sz="900" dirty="0">
                <a:solidFill>
                  <a:srgbClr val="FFFFFF"/>
                </a:solidFill>
                <a:latin typeface="Calibri"/>
                <a:cs typeface="Calibri"/>
              </a:rPr>
              <a:t>Locally</a:t>
            </a:r>
            <a:r>
              <a:rPr sz="900" spc="-15" dirty="0">
                <a:solidFill>
                  <a:srgbClr val="FFFFFF"/>
                </a:solidFill>
                <a:latin typeface="Calibri"/>
                <a:cs typeface="Calibri"/>
              </a:rPr>
              <a:t> </a:t>
            </a:r>
            <a:r>
              <a:rPr sz="900" dirty="0">
                <a:solidFill>
                  <a:srgbClr val="FFFFFF"/>
                </a:solidFill>
                <a:latin typeface="Calibri"/>
                <a:cs typeface="Calibri"/>
              </a:rPr>
              <a:t>(data.csv</a:t>
            </a:r>
            <a:r>
              <a:rPr sz="900" spc="-5" dirty="0">
                <a:solidFill>
                  <a:srgbClr val="FFFFFF"/>
                </a:solidFill>
                <a:latin typeface="Calibri"/>
                <a:cs typeface="Calibri"/>
              </a:rPr>
              <a:t> </a:t>
            </a:r>
            <a:r>
              <a:rPr sz="900" spc="-25" dirty="0">
                <a:solidFill>
                  <a:srgbClr val="FFFFFF"/>
                </a:solidFill>
                <a:latin typeface="Calibri"/>
                <a:cs typeface="Calibri"/>
              </a:rPr>
              <a:t>or</a:t>
            </a:r>
            <a:endParaRPr sz="900">
              <a:latin typeface="Calibri"/>
              <a:cs typeface="Calibri"/>
            </a:endParaRPr>
          </a:p>
          <a:p>
            <a:pPr marR="3175" algn="ctr">
              <a:lnSpc>
                <a:spcPts val="1030"/>
              </a:lnSpc>
            </a:pPr>
            <a:r>
              <a:rPr sz="900" spc="-10" dirty="0">
                <a:solidFill>
                  <a:srgbClr val="FFFFFF"/>
                </a:solidFill>
                <a:latin typeface="Calibri"/>
                <a:cs typeface="Calibri"/>
              </a:rPr>
              <a:t>database)</a:t>
            </a:r>
            <a:endParaRPr sz="900">
              <a:latin typeface="Calibri"/>
              <a:cs typeface="Calibri"/>
            </a:endParaRPr>
          </a:p>
        </p:txBody>
      </p:sp>
      <p:sp>
        <p:nvSpPr>
          <p:cNvPr id="39" name="object 39"/>
          <p:cNvSpPr txBox="1">
            <a:spLocks noGrp="1"/>
          </p:cNvSpPr>
          <p:nvPr>
            <p:ph type="sldNum" sz="quarter" idx="7"/>
          </p:nvPr>
        </p:nvSpPr>
        <p:spPr>
          <a:prstGeom prst="rect">
            <a:avLst/>
          </a:prstGeom>
        </p:spPr>
        <p:txBody>
          <a:bodyPr vert="horz" wrap="square" lIns="0" tIns="0" rIns="0" bIns="0" rtlCol="0">
            <a:spAutoFit/>
          </a:bodyPr>
          <a:lstStyle/>
          <a:p>
            <a:pPr marL="160020">
              <a:lnSpc>
                <a:spcPts val="1810"/>
              </a:lnSpc>
            </a:pPr>
            <a:fld id="{81D60167-4931-47E6-BA6A-407CBD079E47}" type="slidenum">
              <a:rPr spc="35" dirty="0"/>
              <a:t>9</a:t>
            </a:fld>
            <a:endParaRPr spc="3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02030" y="1448815"/>
            <a:ext cx="2393315" cy="265430"/>
          </a:xfrm>
          <a:prstGeom prst="rect">
            <a:avLst/>
          </a:prstGeom>
        </p:spPr>
        <p:txBody>
          <a:bodyPr vert="horz" wrap="square" lIns="0" tIns="15875" rIns="0" bIns="0" rtlCol="0">
            <a:spAutoFit/>
          </a:bodyPr>
          <a:lstStyle/>
          <a:p>
            <a:pPr marL="12700">
              <a:lnSpc>
                <a:spcPct val="100000"/>
              </a:lnSpc>
              <a:spcBef>
                <a:spcPts val="125"/>
              </a:spcBef>
            </a:pPr>
            <a:r>
              <a:rPr sz="1550" dirty="0">
                <a:solidFill>
                  <a:srgbClr val="292929"/>
                </a:solidFill>
                <a:latin typeface="Calibri"/>
                <a:cs typeface="Calibri"/>
              </a:rPr>
              <a:t>Step</a:t>
            </a:r>
            <a:r>
              <a:rPr sz="1550" spc="15" dirty="0">
                <a:solidFill>
                  <a:srgbClr val="292929"/>
                </a:solidFill>
                <a:latin typeface="Calibri"/>
                <a:cs typeface="Calibri"/>
              </a:rPr>
              <a:t> </a:t>
            </a:r>
            <a:r>
              <a:rPr sz="1550" dirty="0">
                <a:solidFill>
                  <a:srgbClr val="292929"/>
                </a:solidFill>
                <a:latin typeface="Calibri"/>
                <a:cs typeface="Calibri"/>
              </a:rPr>
              <a:t>1:</a:t>
            </a:r>
            <a:r>
              <a:rPr sz="1550" spc="55" dirty="0">
                <a:solidFill>
                  <a:srgbClr val="292929"/>
                </a:solidFill>
                <a:latin typeface="Calibri"/>
                <a:cs typeface="Calibri"/>
              </a:rPr>
              <a:t> </a:t>
            </a:r>
            <a:r>
              <a:rPr sz="1550" dirty="0">
                <a:solidFill>
                  <a:srgbClr val="292929"/>
                </a:solidFill>
                <a:latin typeface="Calibri"/>
                <a:cs typeface="Calibri"/>
              </a:rPr>
              <a:t>Initiate</a:t>
            </a:r>
            <a:r>
              <a:rPr sz="1550" spc="65" dirty="0">
                <a:solidFill>
                  <a:srgbClr val="292929"/>
                </a:solidFill>
                <a:latin typeface="Calibri"/>
                <a:cs typeface="Calibri"/>
              </a:rPr>
              <a:t> </a:t>
            </a:r>
            <a:r>
              <a:rPr sz="1550" dirty="0">
                <a:solidFill>
                  <a:srgbClr val="292929"/>
                </a:solidFill>
                <a:latin typeface="Calibri"/>
                <a:cs typeface="Calibri"/>
              </a:rPr>
              <a:t>Web</a:t>
            </a:r>
            <a:r>
              <a:rPr sz="1550" spc="20" dirty="0">
                <a:solidFill>
                  <a:srgbClr val="292929"/>
                </a:solidFill>
                <a:latin typeface="Calibri"/>
                <a:cs typeface="Calibri"/>
              </a:rPr>
              <a:t> </a:t>
            </a:r>
            <a:r>
              <a:rPr sz="1550" spc="-10" dirty="0">
                <a:solidFill>
                  <a:srgbClr val="292929"/>
                </a:solidFill>
                <a:latin typeface="Calibri"/>
                <a:cs typeface="Calibri"/>
              </a:rPr>
              <a:t>Scraping</a:t>
            </a:r>
            <a:endParaRPr sz="1550">
              <a:latin typeface="Calibri"/>
              <a:cs typeface="Calibri"/>
            </a:endParaRPr>
          </a:p>
        </p:txBody>
      </p:sp>
      <p:sp>
        <p:nvSpPr>
          <p:cNvPr id="3" name="object 3"/>
          <p:cNvSpPr txBox="1"/>
          <p:nvPr/>
        </p:nvSpPr>
        <p:spPr>
          <a:xfrm>
            <a:off x="1002030" y="1734502"/>
            <a:ext cx="4747260" cy="3700145"/>
          </a:xfrm>
          <a:prstGeom prst="rect">
            <a:avLst/>
          </a:prstGeom>
        </p:spPr>
        <p:txBody>
          <a:bodyPr vert="horz" wrap="square" lIns="0" tIns="36830" rIns="0" bIns="0" rtlCol="0">
            <a:spAutoFit/>
          </a:bodyPr>
          <a:lstStyle/>
          <a:p>
            <a:pPr marL="696595" marR="511809" indent="-227329">
              <a:lnSpc>
                <a:spcPts val="1730"/>
              </a:lnSpc>
              <a:spcBef>
                <a:spcPts val="290"/>
              </a:spcBef>
              <a:buFont typeface="Courier New"/>
              <a:buChar char="o"/>
              <a:tabLst>
                <a:tab pos="698500" algn="l"/>
              </a:tabLst>
            </a:pPr>
            <a:r>
              <a:rPr sz="1550" dirty="0">
                <a:solidFill>
                  <a:srgbClr val="292929"/>
                </a:solidFill>
                <a:latin typeface="Calibri"/>
                <a:cs typeface="Calibri"/>
              </a:rPr>
              <a:t>Use</a:t>
            </a:r>
            <a:r>
              <a:rPr sz="1550" spc="130" dirty="0">
                <a:solidFill>
                  <a:srgbClr val="292929"/>
                </a:solidFill>
                <a:latin typeface="Calibri"/>
                <a:cs typeface="Calibri"/>
              </a:rPr>
              <a:t> </a:t>
            </a:r>
            <a:r>
              <a:rPr sz="1550" dirty="0">
                <a:solidFill>
                  <a:srgbClr val="292929"/>
                </a:solidFill>
                <a:latin typeface="Calibri"/>
                <a:cs typeface="Calibri"/>
              </a:rPr>
              <a:t>Python's</a:t>
            </a:r>
            <a:r>
              <a:rPr sz="1550" spc="75" dirty="0">
                <a:solidFill>
                  <a:srgbClr val="292929"/>
                </a:solidFill>
                <a:latin typeface="Calibri"/>
                <a:cs typeface="Calibri"/>
              </a:rPr>
              <a:t> </a:t>
            </a:r>
            <a:r>
              <a:rPr sz="1550" dirty="0">
                <a:solidFill>
                  <a:srgbClr val="292929"/>
                </a:solidFill>
                <a:latin typeface="Calibri"/>
                <a:cs typeface="Calibri"/>
              </a:rPr>
              <a:t>`requests`</a:t>
            </a:r>
            <a:r>
              <a:rPr sz="1550" spc="75" dirty="0">
                <a:solidFill>
                  <a:srgbClr val="292929"/>
                </a:solidFill>
                <a:latin typeface="Calibri"/>
                <a:cs typeface="Calibri"/>
              </a:rPr>
              <a:t> </a:t>
            </a:r>
            <a:r>
              <a:rPr sz="1550" dirty="0">
                <a:solidFill>
                  <a:srgbClr val="292929"/>
                </a:solidFill>
                <a:latin typeface="Calibri"/>
                <a:cs typeface="Calibri"/>
              </a:rPr>
              <a:t>library</a:t>
            </a:r>
            <a:r>
              <a:rPr sz="1550" spc="130" dirty="0">
                <a:solidFill>
                  <a:srgbClr val="292929"/>
                </a:solidFill>
                <a:latin typeface="Calibri"/>
                <a:cs typeface="Calibri"/>
              </a:rPr>
              <a:t> </a:t>
            </a:r>
            <a:r>
              <a:rPr sz="1550" dirty="0">
                <a:solidFill>
                  <a:srgbClr val="292929"/>
                </a:solidFill>
                <a:latin typeface="Calibri"/>
                <a:cs typeface="Calibri"/>
              </a:rPr>
              <a:t>to</a:t>
            </a:r>
            <a:r>
              <a:rPr sz="1550" spc="75" dirty="0">
                <a:solidFill>
                  <a:srgbClr val="292929"/>
                </a:solidFill>
                <a:latin typeface="Calibri"/>
                <a:cs typeface="Calibri"/>
              </a:rPr>
              <a:t> </a:t>
            </a:r>
            <a:r>
              <a:rPr sz="1550" dirty="0">
                <a:solidFill>
                  <a:srgbClr val="292929"/>
                </a:solidFill>
                <a:latin typeface="Calibri"/>
                <a:cs typeface="Calibri"/>
              </a:rPr>
              <a:t>fetch</a:t>
            </a:r>
            <a:r>
              <a:rPr sz="1550" spc="80" dirty="0">
                <a:solidFill>
                  <a:srgbClr val="292929"/>
                </a:solidFill>
                <a:latin typeface="Calibri"/>
                <a:cs typeface="Calibri"/>
              </a:rPr>
              <a:t> </a:t>
            </a:r>
            <a:r>
              <a:rPr sz="1550" spc="-25" dirty="0">
                <a:solidFill>
                  <a:srgbClr val="292929"/>
                </a:solidFill>
                <a:latin typeface="Calibri"/>
                <a:cs typeface="Calibri"/>
              </a:rPr>
              <a:t>the 	</a:t>
            </a:r>
            <a:r>
              <a:rPr sz="1550" dirty="0">
                <a:solidFill>
                  <a:srgbClr val="292929"/>
                </a:solidFill>
                <a:latin typeface="Calibri"/>
                <a:cs typeface="Calibri"/>
              </a:rPr>
              <a:t>HTML</a:t>
            </a:r>
            <a:r>
              <a:rPr sz="1550" spc="120" dirty="0">
                <a:solidFill>
                  <a:srgbClr val="292929"/>
                </a:solidFill>
                <a:latin typeface="Calibri"/>
                <a:cs typeface="Calibri"/>
              </a:rPr>
              <a:t> </a:t>
            </a:r>
            <a:r>
              <a:rPr sz="1550" dirty="0">
                <a:solidFill>
                  <a:srgbClr val="292929"/>
                </a:solidFill>
                <a:latin typeface="Calibri"/>
                <a:cs typeface="Calibri"/>
              </a:rPr>
              <a:t>content</a:t>
            </a:r>
            <a:r>
              <a:rPr sz="1550" spc="95" dirty="0">
                <a:solidFill>
                  <a:srgbClr val="292929"/>
                </a:solidFill>
                <a:latin typeface="Calibri"/>
                <a:cs typeface="Calibri"/>
              </a:rPr>
              <a:t> </a:t>
            </a:r>
            <a:r>
              <a:rPr sz="1550" dirty="0">
                <a:solidFill>
                  <a:srgbClr val="292929"/>
                </a:solidFill>
                <a:latin typeface="Calibri"/>
                <a:cs typeface="Calibri"/>
              </a:rPr>
              <a:t>of</a:t>
            </a:r>
            <a:r>
              <a:rPr sz="1550" spc="70" dirty="0">
                <a:solidFill>
                  <a:srgbClr val="292929"/>
                </a:solidFill>
                <a:latin typeface="Calibri"/>
                <a:cs typeface="Calibri"/>
              </a:rPr>
              <a:t> </a:t>
            </a:r>
            <a:r>
              <a:rPr sz="1550" dirty="0">
                <a:solidFill>
                  <a:srgbClr val="292929"/>
                </a:solidFill>
                <a:latin typeface="Calibri"/>
                <a:cs typeface="Calibri"/>
              </a:rPr>
              <a:t>the</a:t>
            </a:r>
            <a:r>
              <a:rPr sz="1550" spc="150" dirty="0">
                <a:solidFill>
                  <a:srgbClr val="292929"/>
                </a:solidFill>
                <a:latin typeface="Calibri"/>
                <a:cs typeface="Calibri"/>
              </a:rPr>
              <a:t> </a:t>
            </a:r>
            <a:r>
              <a:rPr sz="1550" dirty="0">
                <a:solidFill>
                  <a:srgbClr val="292929"/>
                </a:solidFill>
                <a:latin typeface="Calibri"/>
                <a:cs typeface="Calibri"/>
              </a:rPr>
              <a:t>Wikipedia</a:t>
            </a:r>
            <a:r>
              <a:rPr sz="1550" spc="100" dirty="0">
                <a:solidFill>
                  <a:srgbClr val="292929"/>
                </a:solidFill>
                <a:latin typeface="Calibri"/>
                <a:cs typeface="Calibri"/>
              </a:rPr>
              <a:t> </a:t>
            </a:r>
            <a:r>
              <a:rPr sz="1550" spc="-20" dirty="0">
                <a:solidFill>
                  <a:srgbClr val="292929"/>
                </a:solidFill>
                <a:latin typeface="Calibri"/>
                <a:cs typeface="Calibri"/>
              </a:rPr>
              <a:t>page.</a:t>
            </a:r>
            <a:endParaRPr sz="1550">
              <a:latin typeface="Calibri"/>
              <a:cs typeface="Calibri"/>
            </a:endParaRPr>
          </a:p>
          <a:p>
            <a:pPr marL="697230" indent="-227329">
              <a:lnSpc>
                <a:spcPts val="1795"/>
              </a:lnSpc>
              <a:spcBef>
                <a:spcPts val="355"/>
              </a:spcBef>
              <a:buFont typeface="Courier New"/>
              <a:buChar char="o"/>
              <a:tabLst>
                <a:tab pos="697230" algn="l"/>
              </a:tabLst>
            </a:pPr>
            <a:r>
              <a:rPr sz="1550" dirty="0">
                <a:solidFill>
                  <a:srgbClr val="292929"/>
                </a:solidFill>
                <a:latin typeface="Calibri"/>
                <a:cs typeface="Calibri"/>
              </a:rPr>
              <a:t>Target</a:t>
            </a:r>
            <a:r>
              <a:rPr sz="1550" spc="-75" dirty="0">
                <a:solidFill>
                  <a:srgbClr val="292929"/>
                </a:solidFill>
                <a:latin typeface="Calibri"/>
                <a:cs typeface="Calibri"/>
              </a:rPr>
              <a:t> </a:t>
            </a:r>
            <a:r>
              <a:rPr sz="1550" spc="-20" dirty="0">
                <a:solidFill>
                  <a:srgbClr val="292929"/>
                </a:solidFill>
                <a:latin typeface="Calibri"/>
                <a:cs typeface="Calibri"/>
              </a:rPr>
              <a:t>URL:</a:t>
            </a:r>
            <a:endParaRPr sz="1550">
              <a:latin typeface="Calibri"/>
              <a:cs typeface="Calibri"/>
            </a:endParaRPr>
          </a:p>
          <a:p>
            <a:pPr marL="698500" marR="5080">
              <a:lnSpc>
                <a:spcPts val="1730"/>
              </a:lnSpc>
              <a:spcBef>
                <a:spcPts val="100"/>
              </a:spcBef>
            </a:pPr>
            <a:r>
              <a:rPr sz="1550" spc="-10" dirty="0">
                <a:solidFill>
                  <a:srgbClr val="292929"/>
                </a:solidFill>
                <a:latin typeface="Calibri"/>
                <a:cs typeface="Calibri"/>
              </a:rPr>
              <a:t>`https://en.wikipedia.org/wiki/List_of_Falcon_9_</a:t>
            </a:r>
            <a:r>
              <a:rPr sz="1550" spc="500" dirty="0">
                <a:solidFill>
                  <a:srgbClr val="292929"/>
                </a:solidFill>
                <a:latin typeface="Calibri"/>
                <a:cs typeface="Calibri"/>
              </a:rPr>
              <a:t> </a:t>
            </a:r>
            <a:r>
              <a:rPr sz="1550" spc="-10" dirty="0">
                <a:solidFill>
                  <a:srgbClr val="292929"/>
                </a:solidFill>
                <a:latin typeface="Calibri"/>
                <a:cs typeface="Calibri"/>
              </a:rPr>
              <a:t>and_Falcon_Heavy_launches`</a:t>
            </a:r>
            <a:endParaRPr sz="1550">
              <a:latin typeface="Calibri"/>
              <a:cs typeface="Calibri"/>
            </a:endParaRPr>
          </a:p>
          <a:p>
            <a:pPr marL="12700">
              <a:lnSpc>
                <a:spcPct val="100000"/>
              </a:lnSpc>
              <a:spcBef>
                <a:spcPts val="805"/>
              </a:spcBef>
            </a:pPr>
            <a:r>
              <a:rPr sz="1550" dirty="0">
                <a:solidFill>
                  <a:srgbClr val="292929"/>
                </a:solidFill>
                <a:latin typeface="Calibri"/>
                <a:cs typeface="Calibri"/>
              </a:rPr>
              <a:t>Step</a:t>
            </a:r>
            <a:r>
              <a:rPr sz="1550" spc="50" dirty="0">
                <a:solidFill>
                  <a:srgbClr val="292929"/>
                </a:solidFill>
                <a:latin typeface="Calibri"/>
                <a:cs typeface="Calibri"/>
              </a:rPr>
              <a:t> </a:t>
            </a:r>
            <a:r>
              <a:rPr sz="1550" dirty="0">
                <a:solidFill>
                  <a:srgbClr val="292929"/>
                </a:solidFill>
                <a:latin typeface="Calibri"/>
                <a:cs typeface="Calibri"/>
              </a:rPr>
              <a:t>2:</a:t>
            </a:r>
            <a:r>
              <a:rPr sz="1550" spc="80" dirty="0">
                <a:solidFill>
                  <a:srgbClr val="292929"/>
                </a:solidFill>
                <a:latin typeface="Calibri"/>
                <a:cs typeface="Calibri"/>
              </a:rPr>
              <a:t> </a:t>
            </a:r>
            <a:r>
              <a:rPr sz="1550" dirty="0">
                <a:solidFill>
                  <a:srgbClr val="292929"/>
                </a:solidFill>
                <a:latin typeface="Calibri"/>
                <a:cs typeface="Calibri"/>
              </a:rPr>
              <a:t>Parse</a:t>
            </a:r>
            <a:r>
              <a:rPr sz="1550" spc="20" dirty="0">
                <a:solidFill>
                  <a:srgbClr val="292929"/>
                </a:solidFill>
                <a:latin typeface="Calibri"/>
                <a:cs typeface="Calibri"/>
              </a:rPr>
              <a:t> </a:t>
            </a:r>
            <a:r>
              <a:rPr sz="1550" dirty="0">
                <a:solidFill>
                  <a:srgbClr val="292929"/>
                </a:solidFill>
                <a:latin typeface="Calibri"/>
                <a:cs typeface="Calibri"/>
              </a:rPr>
              <a:t>HTML</a:t>
            </a:r>
            <a:r>
              <a:rPr sz="1550" spc="70" dirty="0">
                <a:solidFill>
                  <a:srgbClr val="292929"/>
                </a:solidFill>
                <a:latin typeface="Calibri"/>
                <a:cs typeface="Calibri"/>
              </a:rPr>
              <a:t> </a:t>
            </a:r>
            <a:r>
              <a:rPr sz="1550" spc="-10" dirty="0">
                <a:solidFill>
                  <a:srgbClr val="292929"/>
                </a:solidFill>
                <a:latin typeface="Calibri"/>
                <a:cs typeface="Calibri"/>
              </a:rPr>
              <a:t>Content</a:t>
            </a:r>
            <a:endParaRPr sz="1550">
              <a:latin typeface="Calibri"/>
              <a:cs typeface="Calibri"/>
            </a:endParaRPr>
          </a:p>
          <a:p>
            <a:pPr marL="697230" indent="-227329">
              <a:lnSpc>
                <a:spcPct val="100000"/>
              </a:lnSpc>
              <a:spcBef>
                <a:spcPts val="395"/>
              </a:spcBef>
              <a:buFont typeface="Courier New"/>
              <a:buChar char="o"/>
              <a:tabLst>
                <a:tab pos="697230" algn="l"/>
              </a:tabLst>
            </a:pPr>
            <a:r>
              <a:rPr sz="1550" dirty="0">
                <a:solidFill>
                  <a:srgbClr val="292929"/>
                </a:solidFill>
                <a:latin typeface="Calibri"/>
                <a:cs typeface="Calibri"/>
              </a:rPr>
              <a:t>Use</a:t>
            </a:r>
            <a:r>
              <a:rPr sz="1550" spc="165" dirty="0">
                <a:solidFill>
                  <a:srgbClr val="292929"/>
                </a:solidFill>
                <a:latin typeface="Calibri"/>
                <a:cs typeface="Calibri"/>
              </a:rPr>
              <a:t> </a:t>
            </a:r>
            <a:r>
              <a:rPr sz="1550" dirty="0">
                <a:solidFill>
                  <a:srgbClr val="292929"/>
                </a:solidFill>
                <a:latin typeface="Calibri"/>
                <a:cs typeface="Calibri"/>
              </a:rPr>
              <a:t>`BeautifulSoup`</a:t>
            </a:r>
            <a:r>
              <a:rPr sz="1550" spc="95" dirty="0">
                <a:solidFill>
                  <a:srgbClr val="292929"/>
                </a:solidFill>
                <a:latin typeface="Calibri"/>
                <a:cs typeface="Calibri"/>
              </a:rPr>
              <a:t> </a:t>
            </a:r>
            <a:r>
              <a:rPr sz="1550" dirty="0">
                <a:solidFill>
                  <a:srgbClr val="292929"/>
                </a:solidFill>
                <a:latin typeface="Calibri"/>
                <a:cs typeface="Calibri"/>
              </a:rPr>
              <a:t>to</a:t>
            </a:r>
            <a:r>
              <a:rPr sz="1550" spc="95" dirty="0">
                <a:solidFill>
                  <a:srgbClr val="292929"/>
                </a:solidFill>
                <a:latin typeface="Calibri"/>
                <a:cs typeface="Calibri"/>
              </a:rPr>
              <a:t> </a:t>
            </a:r>
            <a:r>
              <a:rPr sz="1550" dirty="0">
                <a:solidFill>
                  <a:srgbClr val="292929"/>
                </a:solidFill>
                <a:latin typeface="Calibri"/>
                <a:cs typeface="Calibri"/>
              </a:rPr>
              <a:t>parse</a:t>
            </a:r>
            <a:r>
              <a:rPr sz="1550" spc="65" dirty="0">
                <a:solidFill>
                  <a:srgbClr val="292929"/>
                </a:solidFill>
                <a:latin typeface="Calibri"/>
                <a:cs typeface="Calibri"/>
              </a:rPr>
              <a:t> </a:t>
            </a:r>
            <a:r>
              <a:rPr sz="1550" dirty="0">
                <a:solidFill>
                  <a:srgbClr val="292929"/>
                </a:solidFill>
                <a:latin typeface="Calibri"/>
                <a:cs typeface="Calibri"/>
              </a:rPr>
              <a:t>the</a:t>
            </a:r>
            <a:r>
              <a:rPr sz="1550" spc="60" dirty="0">
                <a:solidFill>
                  <a:srgbClr val="292929"/>
                </a:solidFill>
                <a:latin typeface="Calibri"/>
                <a:cs typeface="Calibri"/>
              </a:rPr>
              <a:t> </a:t>
            </a:r>
            <a:r>
              <a:rPr sz="1550" dirty="0">
                <a:solidFill>
                  <a:srgbClr val="292929"/>
                </a:solidFill>
                <a:latin typeface="Calibri"/>
                <a:cs typeface="Calibri"/>
              </a:rPr>
              <a:t>HTML</a:t>
            </a:r>
            <a:r>
              <a:rPr sz="1550" spc="130" dirty="0">
                <a:solidFill>
                  <a:srgbClr val="292929"/>
                </a:solidFill>
                <a:latin typeface="Calibri"/>
                <a:cs typeface="Calibri"/>
              </a:rPr>
              <a:t> </a:t>
            </a:r>
            <a:r>
              <a:rPr sz="1550" spc="-10" dirty="0">
                <a:solidFill>
                  <a:srgbClr val="292929"/>
                </a:solidFill>
                <a:latin typeface="Calibri"/>
                <a:cs typeface="Calibri"/>
              </a:rPr>
              <a:t>content.</a:t>
            </a:r>
            <a:endParaRPr sz="1550">
              <a:latin typeface="Calibri"/>
              <a:cs typeface="Calibri"/>
            </a:endParaRPr>
          </a:p>
          <a:p>
            <a:pPr marL="696595" marR="509905" indent="-227329">
              <a:lnSpc>
                <a:spcPts val="1730"/>
              </a:lnSpc>
              <a:spcBef>
                <a:spcPts val="560"/>
              </a:spcBef>
              <a:buFont typeface="Courier New"/>
              <a:buChar char="o"/>
              <a:tabLst>
                <a:tab pos="698500" algn="l"/>
              </a:tabLst>
            </a:pPr>
            <a:r>
              <a:rPr sz="1550" dirty="0">
                <a:solidFill>
                  <a:srgbClr val="292929"/>
                </a:solidFill>
                <a:latin typeface="Calibri"/>
                <a:cs typeface="Calibri"/>
              </a:rPr>
              <a:t>Extract</a:t>
            </a:r>
            <a:r>
              <a:rPr sz="1550" spc="100" dirty="0">
                <a:solidFill>
                  <a:srgbClr val="292929"/>
                </a:solidFill>
                <a:latin typeface="Calibri"/>
                <a:cs typeface="Calibri"/>
              </a:rPr>
              <a:t> </a:t>
            </a:r>
            <a:r>
              <a:rPr sz="1550" dirty="0">
                <a:solidFill>
                  <a:srgbClr val="292929"/>
                </a:solidFill>
                <a:latin typeface="Calibri"/>
                <a:cs typeface="Calibri"/>
              </a:rPr>
              <a:t>the</a:t>
            </a:r>
            <a:r>
              <a:rPr sz="1550" spc="150" dirty="0">
                <a:solidFill>
                  <a:srgbClr val="292929"/>
                </a:solidFill>
                <a:latin typeface="Calibri"/>
                <a:cs typeface="Calibri"/>
              </a:rPr>
              <a:t> </a:t>
            </a:r>
            <a:r>
              <a:rPr sz="1550" dirty="0">
                <a:solidFill>
                  <a:srgbClr val="292929"/>
                </a:solidFill>
                <a:latin typeface="Calibri"/>
                <a:cs typeface="Calibri"/>
              </a:rPr>
              <a:t>HTML</a:t>
            </a:r>
            <a:r>
              <a:rPr sz="1550" spc="114" dirty="0">
                <a:solidFill>
                  <a:srgbClr val="292929"/>
                </a:solidFill>
                <a:latin typeface="Calibri"/>
                <a:cs typeface="Calibri"/>
              </a:rPr>
              <a:t> </a:t>
            </a:r>
            <a:r>
              <a:rPr sz="1550" dirty="0">
                <a:solidFill>
                  <a:srgbClr val="292929"/>
                </a:solidFill>
                <a:latin typeface="Calibri"/>
                <a:cs typeface="Calibri"/>
              </a:rPr>
              <a:t>table</a:t>
            </a:r>
            <a:r>
              <a:rPr sz="1550" spc="60" dirty="0">
                <a:solidFill>
                  <a:srgbClr val="292929"/>
                </a:solidFill>
                <a:latin typeface="Calibri"/>
                <a:cs typeface="Calibri"/>
              </a:rPr>
              <a:t> </a:t>
            </a:r>
            <a:r>
              <a:rPr sz="1550" dirty="0">
                <a:solidFill>
                  <a:srgbClr val="292929"/>
                </a:solidFill>
                <a:latin typeface="Calibri"/>
                <a:cs typeface="Calibri"/>
              </a:rPr>
              <a:t>containing</a:t>
            </a:r>
            <a:r>
              <a:rPr sz="1550" spc="110" dirty="0">
                <a:solidFill>
                  <a:srgbClr val="292929"/>
                </a:solidFill>
                <a:latin typeface="Calibri"/>
                <a:cs typeface="Calibri"/>
              </a:rPr>
              <a:t> </a:t>
            </a:r>
            <a:r>
              <a:rPr sz="1550" dirty="0">
                <a:solidFill>
                  <a:srgbClr val="292929"/>
                </a:solidFill>
                <a:latin typeface="Calibri"/>
                <a:cs typeface="Calibri"/>
              </a:rPr>
              <a:t>Falcon</a:t>
            </a:r>
            <a:r>
              <a:rPr sz="1550" spc="95" dirty="0">
                <a:solidFill>
                  <a:srgbClr val="292929"/>
                </a:solidFill>
                <a:latin typeface="Calibri"/>
                <a:cs typeface="Calibri"/>
              </a:rPr>
              <a:t> </a:t>
            </a:r>
            <a:r>
              <a:rPr sz="1550" spc="-50" dirty="0">
                <a:solidFill>
                  <a:srgbClr val="292929"/>
                </a:solidFill>
                <a:latin typeface="Calibri"/>
                <a:cs typeface="Calibri"/>
              </a:rPr>
              <a:t>9 	</a:t>
            </a:r>
            <a:r>
              <a:rPr sz="1550" dirty="0">
                <a:solidFill>
                  <a:srgbClr val="292929"/>
                </a:solidFill>
                <a:latin typeface="Calibri"/>
                <a:cs typeface="Calibri"/>
              </a:rPr>
              <a:t>launch</a:t>
            </a:r>
            <a:r>
              <a:rPr sz="1550" spc="120" dirty="0">
                <a:solidFill>
                  <a:srgbClr val="292929"/>
                </a:solidFill>
                <a:latin typeface="Calibri"/>
                <a:cs typeface="Calibri"/>
              </a:rPr>
              <a:t> </a:t>
            </a:r>
            <a:r>
              <a:rPr sz="1550" spc="-10" dirty="0">
                <a:solidFill>
                  <a:srgbClr val="292929"/>
                </a:solidFill>
                <a:latin typeface="Calibri"/>
                <a:cs typeface="Calibri"/>
              </a:rPr>
              <a:t>records.</a:t>
            </a:r>
            <a:endParaRPr sz="1550">
              <a:latin typeface="Calibri"/>
              <a:cs typeface="Calibri"/>
            </a:endParaRPr>
          </a:p>
          <a:p>
            <a:pPr marL="12700">
              <a:lnSpc>
                <a:spcPct val="100000"/>
              </a:lnSpc>
              <a:spcBef>
                <a:spcPts val="800"/>
              </a:spcBef>
            </a:pPr>
            <a:r>
              <a:rPr sz="1550" dirty="0">
                <a:solidFill>
                  <a:srgbClr val="292929"/>
                </a:solidFill>
                <a:latin typeface="Calibri"/>
                <a:cs typeface="Calibri"/>
              </a:rPr>
              <a:t>Step</a:t>
            </a:r>
            <a:r>
              <a:rPr sz="1550" spc="40" dirty="0">
                <a:solidFill>
                  <a:srgbClr val="292929"/>
                </a:solidFill>
                <a:latin typeface="Calibri"/>
                <a:cs typeface="Calibri"/>
              </a:rPr>
              <a:t> </a:t>
            </a:r>
            <a:r>
              <a:rPr sz="1550" dirty="0">
                <a:solidFill>
                  <a:srgbClr val="292929"/>
                </a:solidFill>
                <a:latin typeface="Calibri"/>
                <a:cs typeface="Calibri"/>
              </a:rPr>
              <a:t>3:</a:t>
            </a:r>
            <a:r>
              <a:rPr sz="1550" spc="80" dirty="0">
                <a:solidFill>
                  <a:srgbClr val="292929"/>
                </a:solidFill>
                <a:latin typeface="Calibri"/>
                <a:cs typeface="Calibri"/>
              </a:rPr>
              <a:t> </a:t>
            </a:r>
            <a:r>
              <a:rPr sz="1550" dirty="0">
                <a:solidFill>
                  <a:srgbClr val="292929"/>
                </a:solidFill>
                <a:latin typeface="Calibri"/>
                <a:cs typeface="Calibri"/>
              </a:rPr>
              <a:t>Convert</a:t>
            </a:r>
            <a:r>
              <a:rPr sz="1550" spc="50" dirty="0">
                <a:solidFill>
                  <a:srgbClr val="292929"/>
                </a:solidFill>
                <a:latin typeface="Calibri"/>
                <a:cs typeface="Calibri"/>
              </a:rPr>
              <a:t> </a:t>
            </a:r>
            <a:r>
              <a:rPr sz="1550" dirty="0">
                <a:solidFill>
                  <a:srgbClr val="292929"/>
                </a:solidFill>
                <a:latin typeface="Calibri"/>
                <a:cs typeface="Calibri"/>
              </a:rPr>
              <a:t>to</a:t>
            </a:r>
            <a:r>
              <a:rPr sz="1550" spc="65" dirty="0">
                <a:solidFill>
                  <a:srgbClr val="292929"/>
                </a:solidFill>
                <a:latin typeface="Calibri"/>
                <a:cs typeface="Calibri"/>
              </a:rPr>
              <a:t> </a:t>
            </a:r>
            <a:r>
              <a:rPr sz="1550" spc="-10" dirty="0">
                <a:solidFill>
                  <a:srgbClr val="292929"/>
                </a:solidFill>
                <a:latin typeface="Calibri"/>
                <a:cs typeface="Calibri"/>
              </a:rPr>
              <a:t>DataFrame</a:t>
            </a:r>
            <a:endParaRPr sz="1550">
              <a:latin typeface="Calibri"/>
              <a:cs typeface="Calibri"/>
            </a:endParaRPr>
          </a:p>
          <a:p>
            <a:pPr marL="697230" marR="83820" indent="-227965">
              <a:lnSpc>
                <a:spcPts val="1730"/>
              </a:lnSpc>
              <a:spcBef>
                <a:spcPts val="565"/>
              </a:spcBef>
              <a:buFont typeface="Courier New"/>
              <a:buChar char="o"/>
              <a:tabLst>
                <a:tab pos="698500" algn="l"/>
              </a:tabLst>
            </a:pPr>
            <a:r>
              <a:rPr sz="1550" dirty="0">
                <a:solidFill>
                  <a:srgbClr val="292929"/>
                </a:solidFill>
                <a:latin typeface="Calibri"/>
                <a:cs typeface="Calibri"/>
              </a:rPr>
              <a:t>Convert</a:t>
            </a:r>
            <a:r>
              <a:rPr sz="1550" spc="70" dirty="0">
                <a:solidFill>
                  <a:srgbClr val="292929"/>
                </a:solidFill>
                <a:latin typeface="Calibri"/>
                <a:cs typeface="Calibri"/>
              </a:rPr>
              <a:t> </a:t>
            </a:r>
            <a:r>
              <a:rPr sz="1550" dirty="0">
                <a:solidFill>
                  <a:srgbClr val="292929"/>
                </a:solidFill>
                <a:latin typeface="Calibri"/>
                <a:cs typeface="Calibri"/>
              </a:rPr>
              <a:t>the</a:t>
            </a:r>
            <a:r>
              <a:rPr sz="1550" spc="120" dirty="0">
                <a:solidFill>
                  <a:srgbClr val="292929"/>
                </a:solidFill>
                <a:latin typeface="Calibri"/>
                <a:cs typeface="Calibri"/>
              </a:rPr>
              <a:t> </a:t>
            </a:r>
            <a:r>
              <a:rPr sz="1550" dirty="0">
                <a:solidFill>
                  <a:srgbClr val="292929"/>
                </a:solidFill>
                <a:latin typeface="Calibri"/>
                <a:cs typeface="Calibri"/>
              </a:rPr>
              <a:t>extracted</a:t>
            </a:r>
            <a:r>
              <a:rPr sz="1550" spc="70" dirty="0">
                <a:solidFill>
                  <a:srgbClr val="292929"/>
                </a:solidFill>
                <a:latin typeface="Calibri"/>
                <a:cs typeface="Calibri"/>
              </a:rPr>
              <a:t> </a:t>
            </a:r>
            <a:r>
              <a:rPr sz="1550" dirty="0">
                <a:solidFill>
                  <a:srgbClr val="292929"/>
                </a:solidFill>
                <a:latin typeface="Calibri"/>
                <a:cs typeface="Calibri"/>
              </a:rPr>
              <a:t>HTML</a:t>
            </a:r>
            <a:r>
              <a:rPr sz="1550" spc="85" dirty="0">
                <a:solidFill>
                  <a:srgbClr val="292929"/>
                </a:solidFill>
                <a:latin typeface="Calibri"/>
                <a:cs typeface="Calibri"/>
              </a:rPr>
              <a:t> </a:t>
            </a:r>
            <a:r>
              <a:rPr sz="1550" dirty="0">
                <a:solidFill>
                  <a:srgbClr val="292929"/>
                </a:solidFill>
                <a:latin typeface="Calibri"/>
                <a:cs typeface="Calibri"/>
              </a:rPr>
              <a:t>table</a:t>
            </a:r>
            <a:r>
              <a:rPr sz="1550" spc="114" dirty="0">
                <a:solidFill>
                  <a:srgbClr val="292929"/>
                </a:solidFill>
                <a:latin typeface="Calibri"/>
                <a:cs typeface="Calibri"/>
              </a:rPr>
              <a:t> </a:t>
            </a:r>
            <a:r>
              <a:rPr sz="1550" dirty="0">
                <a:solidFill>
                  <a:srgbClr val="292929"/>
                </a:solidFill>
                <a:latin typeface="Calibri"/>
                <a:cs typeface="Calibri"/>
              </a:rPr>
              <a:t>into</a:t>
            </a:r>
            <a:r>
              <a:rPr sz="1550" spc="70" dirty="0">
                <a:solidFill>
                  <a:srgbClr val="292929"/>
                </a:solidFill>
                <a:latin typeface="Calibri"/>
                <a:cs typeface="Calibri"/>
              </a:rPr>
              <a:t> </a:t>
            </a:r>
            <a:r>
              <a:rPr sz="1550" dirty="0">
                <a:solidFill>
                  <a:srgbClr val="292929"/>
                </a:solidFill>
                <a:latin typeface="Calibri"/>
                <a:cs typeface="Calibri"/>
              </a:rPr>
              <a:t>a</a:t>
            </a:r>
            <a:r>
              <a:rPr sz="1550" spc="65" dirty="0">
                <a:solidFill>
                  <a:srgbClr val="292929"/>
                </a:solidFill>
                <a:latin typeface="Calibri"/>
                <a:cs typeface="Calibri"/>
              </a:rPr>
              <a:t> </a:t>
            </a:r>
            <a:r>
              <a:rPr sz="1550" spc="-10" dirty="0">
                <a:solidFill>
                  <a:srgbClr val="292929"/>
                </a:solidFill>
                <a:latin typeface="Calibri"/>
                <a:cs typeface="Calibri"/>
              </a:rPr>
              <a:t>pandas 	DataFrame.</a:t>
            </a:r>
            <a:endParaRPr sz="1550">
              <a:latin typeface="Calibri"/>
              <a:cs typeface="Calibri"/>
            </a:endParaRPr>
          </a:p>
          <a:p>
            <a:pPr marL="696595" marR="120014" indent="-227329">
              <a:lnSpc>
                <a:spcPts val="1730"/>
              </a:lnSpc>
              <a:spcBef>
                <a:spcPts val="520"/>
              </a:spcBef>
              <a:buFont typeface="Courier New"/>
              <a:buChar char="o"/>
              <a:tabLst>
                <a:tab pos="698500" algn="l"/>
              </a:tabLst>
            </a:pPr>
            <a:r>
              <a:rPr sz="1550" dirty="0">
                <a:solidFill>
                  <a:srgbClr val="292929"/>
                </a:solidFill>
                <a:latin typeface="Calibri"/>
                <a:cs typeface="Calibri"/>
              </a:rPr>
              <a:t>Clean</a:t>
            </a:r>
            <a:r>
              <a:rPr sz="1550" spc="120" dirty="0">
                <a:solidFill>
                  <a:srgbClr val="292929"/>
                </a:solidFill>
                <a:latin typeface="Calibri"/>
                <a:cs typeface="Calibri"/>
              </a:rPr>
              <a:t> </a:t>
            </a:r>
            <a:r>
              <a:rPr sz="1550" dirty="0">
                <a:solidFill>
                  <a:srgbClr val="292929"/>
                </a:solidFill>
                <a:latin typeface="Calibri"/>
                <a:cs typeface="Calibri"/>
              </a:rPr>
              <a:t>and</a:t>
            </a:r>
            <a:r>
              <a:rPr sz="1550" spc="120" dirty="0">
                <a:solidFill>
                  <a:srgbClr val="292929"/>
                </a:solidFill>
                <a:latin typeface="Calibri"/>
                <a:cs typeface="Calibri"/>
              </a:rPr>
              <a:t> </a:t>
            </a:r>
            <a:r>
              <a:rPr sz="1550" dirty="0">
                <a:solidFill>
                  <a:srgbClr val="292929"/>
                </a:solidFill>
                <a:latin typeface="Calibri"/>
                <a:cs typeface="Calibri"/>
              </a:rPr>
              <a:t>format</a:t>
            </a:r>
            <a:r>
              <a:rPr sz="1550" spc="125" dirty="0">
                <a:solidFill>
                  <a:srgbClr val="292929"/>
                </a:solidFill>
                <a:latin typeface="Calibri"/>
                <a:cs typeface="Calibri"/>
              </a:rPr>
              <a:t> </a:t>
            </a:r>
            <a:r>
              <a:rPr sz="1550" dirty="0">
                <a:solidFill>
                  <a:srgbClr val="292929"/>
                </a:solidFill>
                <a:latin typeface="Calibri"/>
                <a:cs typeface="Calibri"/>
              </a:rPr>
              <a:t>the</a:t>
            </a:r>
            <a:r>
              <a:rPr sz="1550" spc="60" dirty="0">
                <a:solidFill>
                  <a:srgbClr val="292929"/>
                </a:solidFill>
                <a:latin typeface="Calibri"/>
                <a:cs typeface="Calibri"/>
              </a:rPr>
              <a:t> </a:t>
            </a:r>
            <a:r>
              <a:rPr sz="1550" dirty="0">
                <a:solidFill>
                  <a:srgbClr val="292929"/>
                </a:solidFill>
                <a:latin typeface="Calibri"/>
                <a:cs typeface="Calibri"/>
              </a:rPr>
              <a:t>DataFrame,</a:t>
            </a:r>
            <a:r>
              <a:rPr sz="1550" spc="105" dirty="0">
                <a:solidFill>
                  <a:srgbClr val="292929"/>
                </a:solidFill>
                <a:latin typeface="Calibri"/>
                <a:cs typeface="Calibri"/>
              </a:rPr>
              <a:t> </a:t>
            </a:r>
            <a:r>
              <a:rPr sz="1550" dirty="0">
                <a:solidFill>
                  <a:srgbClr val="292929"/>
                </a:solidFill>
                <a:latin typeface="Calibri"/>
                <a:cs typeface="Calibri"/>
              </a:rPr>
              <a:t>ensuring</a:t>
            </a:r>
            <a:r>
              <a:rPr sz="1550" spc="135" dirty="0">
                <a:solidFill>
                  <a:srgbClr val="292929"/>
                </a:solidFill>
                <a:latin typeface="Calibri"/>
                <a:cs typeface="Calibri"/>
              </a:rPr>
              <a:t> </a:t>
            </a:r>
            <a:r>
              <a:rPr sz="1550" spc="-20" dirty="0">
                <a:solidFill>
                  <a:srgbClr val="292929"/>
                </a:solidFill>
                <a:latin typeface="Calibri"/>
                <a:cs typeface="Calibri"/>
              </a:rPr>
              <a:t>data 	</a:t>
            </a:r>
            <a:r>
              <a:rPr sz="1550" spc="-10" dirty="0">
                <a:solidFill>
                  <a:srgbClr val="292929"/>
                </a:solidFill>
                <a:latin typeface="Calibri"/>
                <a:cs typeface="Calibri"/>
              </a:rPr>
              <a:t>consistency.</a:t>
            </a:r>
            <a:endParaRPr sz="1550">
              <a:latin typeface="Calibri"/>
              <a:cs typeface="Calibri"/>
            </a:endParaRPr>
          </a:p>
        </p:txBody>
      </p:sp>
      <p:sp>
        <p:nvSpPr>
          <p:cNvPr id="4" name="object 4"/>
          <p:cNvSpPr txBox="1">
            <a:spLocks noGrp="1"/>
          </p:cNvSpPr>
          <p:nvPr>
            <p:ph type="title"/>
          </p:nvPr>
        </p:nvSpPr>
        <p:spPr>
          <a:xfrm>
            <a:off x="1002030" y="573405"/>
            <a:ext cx="5259070" cy="586740"/>
          </a:xfrm>
          <a:prstGeom prst="rect">
            <a:avLst/>
          </a:prstGeom>
        </p:spPr>
        <p:txBody>
          <a:bodyPr vert="horz" wrap="square" lIns="0" tIns="16510" rIns="0" bIns="0" rtlCol="0">
            <a:spAutoFit/>
          </a:bodyPr>
          <a:lstStyle/>
          <a:p>
            <a:pPr marL="12700">
              <a:lnSpc>
                <a:spcPct val="100000"/>
              </a:lnSpc>
              <a:spcBef>
                <a:spcPts val="130"/>
              </a:spcBef>
            </a:pPr>
            <a:r>
              <a:rPr spc="-20" dirty="0"/>
              <a:t>Data</a:t>
            </a:r>
            <a:r>
              <a:rPr spc="-65" dirty="0"/>
              <a:t> </a:t>
            </a:r>
            <a:r>
              <a:rPr spc="-35" dirty="0"/>
              <a:t>Collection </a:t>
            </a:r>
            <a:r>
              <a:rPr dirty="0"/>
              <a:t>-</a:t>
            </a:r>
            <a:r>
              <a:rPr spc="-60" dirty="0"/>
              <a:t> </a:t>
            </a:r>
            <a:r>
              <a:rPr spc="-70" dirty="0"/>
              <a:t>Scraping</a:t>
            </a:r>
          </a:p>
        </p:txBody>
      </p:sp>
      <p:grpSp>
        <p:nvGrpSpPr>
          <p:cNvPr id="5" name="object 5"/>
          <p:cNvGrpSpPr/>
          <p:nvPr/>
        </p:nvGrpSpPr>
        <p:grpSpPr>
          <a:xfrm>
            <a:off x="6191313" y="1790700"/>
            <a:ext cx="5238750" cy="4248150"/>
            <a:chOff x="6191313" y="1790700"/>
            <a:chExt cx="5238750" cy="4248150"/>
          </a:xfrm>
        </p:grpSpPr>
        <p:sp>
          <p:nvSpPr>
            <p:cNvPr id="6" name="object 6"/>
            <p:cNvSpPr/>
            <p:nvPr/>
          </p:nvSpPr>
          <p:spPr>
            <a:xfrm>
              <a:off x="6196076" y="1795462"/>
              <a:ext cx="5229225" cy="4238625"/>
            </a:xfrm>
            <a:custGeom>
              <a:avLst/>
              <a:gdLst/>
              <a:ahLst/>
              <a:cxnLst/>
              <a:rect l="l" t="t" r="r" b="b"/>
              <a:pathLst>
                <a:path w="5229225" h="4238625">
                  <a:moveTo>
                    <a:pt x="0" y="4238625"/>
                  </a:moveTo>
                  <a:lnTo>
                    <a:pt x="5229225" y="4238625"/>
                  </a:lnTo>
                  <a:lnTo>
                    <a:pt x="5229225" y="0"/>
                  </a:lnTo>
                  <a:lnTo>
                    <a:pt x="0" y="0"/>
                  </a:lnTo>
                  <a:lnTo>
                    <a:pt x="0" y="4238625"/>
                  </a:lnTo>
                  <a:close/>
                </a:path>
              </a:pathLst>
            </a:custGeom>
            <a:ln w="9525">
              <a:solidFill>
                <a:srgbClr val="0A48CA"/>
              </a:solidFill>
              <a:prstDash val="sysDash"/>
            </a:ln>
          </p:spPr>
          <p:txBody>
            <a:bodyPr wrap="square" lIns="0" tIns="0" rIns="0" bIns="0" rtlCol="0"/>
            <a:lstStyle/>
            <a:p>
              <a:endParaRPr/>
            </a:p>
          </p:txBody>
        </p:sp>
        <p:sp>
          <p:nvSpPr>
            <p:cNvPr id="7" name="object 7"/>
            <p:cNvSpPr/>
            <p:nvPr/>
          </p:nvSpPr>
          <p:spPr>
            <a:xfrm>
              <a:off x="6481826" y="1805050"/>
              <a:ext cx="1581150" cy="942975"/>
            </a:xfrm>
            <a:custGeom>
              <a:avLst/>
              <a:gdLst/>
              <a:ahLst/>
              <a:cxnLst/>
              <a:rect l="l" t="t" r="r" b="b"/>
              <a:pathLst>
                <a:path w="1581150" h="942975">
                  <a:moveTo>
                    <a:pt x="1486789" y="0"/>
                  </a:moveTo>
                  <a:lnTo>
                    <a:pt x="94233" y="0"/>
                  </a:lnTo>
                  <a:lnTo>
                    <a:pt x="57542" y="7401"/>
                  </a:lnTo>
                  <a:lnTo>
                    <a:pt x="27590" y="27590"/>
                  </a:lnTo>
                  <a:lnTo>
                    <a:pt x="7401" y="57542"/>
                  </a:lnTo>
                  <a:lnTo>
                    <a:pt x="0" y="94234"/>
                  </a:lnTo>
                  <a:lnTo>
                    <a:pt x="0" y="848613"/>
                  </a:lnTo>
                  <a:lnTo>
                    <a:pt x="7401" y="885324"/>
                  </a:lnTo>
                  <a:lnTo>
                    <a:pt x="27590" y="915320"/>
                  </a:lnTo>
                  <a:lnTo>
                    <a:pt x="57542" y="935553"/>
                  </a:lnTo>
                  <a:lnTo>
                    <a:pt x="94233" y="942975"/>
                  </a:lnTo>
                  <a:lnTo>
                    <a:pt x="1486789" y="942975"/>
                  </a:lnTo>
                  <a:lnTo>
                    <a:pt x="1523499" y="935553"/>
                  </a:lnTo>
                  <a:lnTo>
                    <a:pt x="1553495" y="915320"/>
                  </a:lnTo>
                  <a:lnTo>
                    <a:pt x="1573728" y="885324"/>
                  </a:lnTo>
                  <a:lnTo>
                    <a:pt x="1581150" y="848613"/>
                  </a:lnTo>
                  <a:lnTo>
                    <a:pt x="1581150" y="94234"/>
                  </a:lnTo>
                  <a:lnTo>
                    <a:pt x="1573728" y="57542"/>
                  </a:lnTo>
                  <a:lnTo>
                    <a:pt x="1553495" y="27590"/>
                  </a:lnTo>
                  <a:lnTo>
                    <a:pt x="1523499" y="7401"/>
                  </a:lnTo>
                  <a:lnTo>
                    <a:pt x="1486789" y="0"/>
                  </a:lnTo>
                  <a:close/>
                </a:path>
              </a:pathLst>
            </a:custGeom>
            <a:solidFill>
              <a:srgbClr val="4471C4"/>
            </a:solidFill>
          </p:spPr>
          <p:txBody>
            <a:bodyPr wrap="square" lIns="0" tIns="0" rIns="0" bIns="0" rtlCol="0"/>
            <a:lstStyle/>
            <a:p>
              <a:endParaRPr/>
            </a:p>
          </p:txBody>
        </p:sp>
        <p:sp>
          <p:nvSpPr>
            <p:cNvPr id="8" name="object 8"/>
            <p:cNvSpPr/>
            <p:nvPr/>
          </p:nvSpPr>
          <p:spPr>
            <a:xfrm>
              <a:off x="6481826" y="1805050"/>
              <a:ext cx="1581150" cy="942975"/>
            </a:xfrm>
            <a:custGeom>
              <a:avLst/>
              <a:gdLst/>
              <a:ahLst/>
              <a:cxnLst/>
              <a:rect l="l" t="t" r="r" b="b"/>
              <a:pathLst>
                <a:path w="1581150" h="942975">
                  <a:moveTo>
                    <a:pt x="0" y="94234"/>
                  </a:moveTo>
                  <a:lnTo>
                    <a:pt x="7401" y="57542"/>
                  </a:lnTo>
                  <a:lnTo>
                    <a:pt x="27590" y="27590"/>
                  </a:lnTo>
                  <a:lnTo>
                    <a:pt x="57542" y="7401"/>
                  </a:lnTo>
                  <a:lnTo>
                    <a:pt x="94233" y="0"/>
                  </a:lnTo>
                  <a:lnTo>
                    <a:pt x="1486789" y="0"/>
                  </a:lnTo>
                  <a:lnTo>
                    <a:pt x="1523499" y="7401"/>
                  </a:lnTo>
                  <a:lnTo>
                    <a:pt x="1553495" y="27590"/>
                  </a:lnTo>
                  <a:lnTo>
                    <a:pt x="1573728" y="57542"/>
                  </a:lnTo>
                  <a:lnTo>
                    <a:pt x="1581150" y="94234"/>
                  </a:lnTo>
                  <a:lnTo>
                    <a:pt x="1581150" y="848613"/>
                  </a:lnTo>
                  <a:lnTo>
                    <a:pt x="1573728" y="885324"/>
                  </a:lnTo>
                  <a:lnTo>
                    <a:pt x="1553495" y="915320"/>
                  </a:lnTo>
                  <a:lnTo>
                    <a:pt x="1523499" y="935553"/>
                  </a:lnTo>
                  <a:lnTo>
                    <a:pt x="1486789" y="942975"/>
                  </a:lnTo>
                  <a:lnTo>
                    <a:pt x="94233" y="942975"/>
                  </a:lnTo>
                  <a:lnTo>
                    <a:pt x="57542" y="935553"/>
                  </a:lnTo>
                  <a:lnTo>
                    <a:pt x="27590" y="915320"/>
                  </a:lnTo>
                  <a:lnTo>
                    <a:pt x="7401" y="885324"/>
                  </a:lnTo>
                  <a:lnTo>
                    <a:pt x="0" y="848613"/>
                  </a:lnTo>
                  <a:lnTo>
                    <a:pt x="0" y="94234"/>
                  </a:lnTo>
                  <a:close/>
                </a:path>
              </a:pathLst>
            </a:custGeom>
            <a:ln w="12700">
              <a:solidFill>
                <a:srgbClr val="FFFFFF"/>
              </a:solidFill>
            </a:ln>
          </p:spPr>
          <p:txBody>
            <a:bodyPr wrap="square" lIns="0" tIns="0" rIns="0" bIns="0" rtlCol="0"/>
            <a:lstStyle/>
            <a:p>
              <a:endParaRPr/>
            </a:p>
          </p:txBody>
        </p:sp>
      </p:grpSp>
      <p:sp>
        <p:nvSpPr>
          <p:cNvPr id="9" name="object 9"/>
          <p:cNvSpPr txBox="1"/>
          <p:nvPr/>
        </p:nvSpPr>
        <p:spPr>
          <a:xfrm>
            <a:off x="6594856" y="2052637"/>
            <a:ext cx="1339215" cy="401320"/>
          </a:xfrm>
          <a:prstGeom prst="rect">
            <a:avLst/>
          </a:prstGeom>
        </p:spPr>
        <p:txBody>
          <a:bodyPr vert="horz" wrap="square" lIns="0" tIns="15875" rIns="0" bIns="0" rtlCol="0">
            <a:spAutoFit/>
          </a:bodyPr>
          <a:lstStyle/>
          <a:p>
            <a:pPr marL="19050" algn="ctr">
              <a:lnSpc>
                <a:spcPts val="1465"/>
              </a:lnSpc>
              <a:spcBef>
                <a:spcPts val="125"/>
              </a:spcBef>
            </a:pPr>
            <a:r>
              <a:rPr sz="1250" dirty="0">
                <a:solidFill>
                  <a:srgbClr val="FFFFFF"/>
                </a:solidFill>
                <a:latin typeface="Calibri"/>
                <a:cs typeface="Calibri"/>
              </a:rPr>
              <a:t>Request</a:t>
            </a:r>
            <a:r>
              <a:rPr sz="1250" spc="95" dirty="0">
                <a:solidFill>
                  <a:srgbClr val="FFFFFF"/>
                </a:solidFill>
                <a:latin typeface="Calibri"/>
                <a:cs typeface="Calibri"/>
              </a:rPr>
              <a:t> </a:t>
            </a:r>
            <a:r>
              <a:rPr sz="1250" spc="-25" dirty="0">
                <a:solidFill>
                  <a:srgbClr val="FFFFFF"/>
                </a:solidFill>
                <a:latin typeface="Calibri"/>
                <a:cs typeface="Calibri"/>
              </a:rPr>
              <a:t>Web</a:t>
            </a:r>
            <a:endParaRPr sz="1250">
              <a:latin typeface="Calibri"/>
              <a:cs typeface="Calibri"/>
            </a:endParaRPr>
          </a:p>
          <a:p>
            <a:pPr marR="5080" algn="ctr">
              <a:lnSpc>
                <a:spcPts val="1465"/>
              </a:lnSpc>
            </a:pPr>
            <a:r>
              <a:rPr sz="1250" dirty="0">
                <a:solidFill>
                  <a:srgbClr val="FFFFFF"/>
                </a:solidFill>
                <a:latin typeface="Calibri"/>
                <a:cs typeface="Calibri"/>
              </a:rPr>
              <a:t>Page</a:t>
            </a:r>
            <a:r>
              <a:rPr sz="1250" spc="330" dirty="0">
                <a:solidFill>
                  <a:srgbClr val="FFFFFF"/>
                </a:solidFill>
                <a:latin typeface="Calibri"/>
                <a:cs typeface="Calibri"/>
              </a:rPr>
              <a:t> </a:t>
            </a:r>
            <a:r>
              <a:rPr sz="1250" spc="-10" dirty="0">
                <a:solidFill>
                  <a:srgbClr val="FFFFFF"/>
                </a:solidFill>
                <a:latin typeface="Calibri"/>
                <a:cs typeface="Calibri"/>
              </a:rPr>
              <a:t>(requests.get)</a:t>
            </a:r>
            <a:endParaRPr sz="1250">
              <a:latin typeface="Calibri"/>
              <a:cs typeface="Calibri"/>
            </a:endParaRPr>
          </a:p>
        </p:txBody>
      </p:sp>
      <p:grpSp>
        <p:nvGrpSpPr>
          <p:cNvPr id="10" name="object 10"/>
          <p:cNvGrpSpPr/>
          <p:nvPr/>
        </p:nvGrpSpPr>
        <p:grpSpPr>
          <a:xfrm>
            <a:off x="8201025" y="1798701"/>
            <a:ext cx="2087880" cy="955675"/>
            <a:chOff x="8201025" y="1798701"/>
            <a:chExt cx="2087880" cy="955675"/>
          </a:xfrm>
        </p:grpSpPr>
        <p:sp>
          <p:nvSpPr>
            <p:cNvPr id="11" name="object 11"/>
            <p:cNvSpPr/>
            <p:nvPr/>
          </p:nvSpPr>
          <p:spPr>
            <a:xfrm>
              <a:off x="8201025" y="2076450"/>
              <a:ext cx="333375" cy="390525"/>
            </a:xfrm>
            <a:custGeom>
              <a:avLst/>
              <a:gdLst/>
              <a:ahLst/>
              <a:cxnLst/>
              <a:rect l="l" t="t" r="r" b="b"/>
              <a:pathLst>
                <a:path w="333375" h="390525">
                  <a:moveTo>
                    <a:pt x="166750" y="0"/>
                  </a:moveTo>
                  <a:lnTo>
                    <a:pt x="166750" y="78104"/>
                  </a:lnTo>
                  <a:lnTo>
                    <a:pt x="0" y="78104"/>
                  </a:lnTo>
                  <a:lnTo>
                    <a:pt x="0" y="312420"/>
                  </a:lnTo>
                  <a:lnTo>
                    <a:pt x="166750" y="312420"/>
                  </a:lnTo>
                  <a:lnTo>
                    <a:pt x="166750" y="390525"/>
                  </a:lnTo>
                  <a:lnTo>
                    <a:pt x="333375" y="195199"/>
                  </a:lnTo>
                  <a:lnTo>
                    <a:pt x="166750" y="0"/>
                  </a:lnTo>
                  <a:close/>
                </a:path>
              </a:pathLst>
            </a:custGeom>
            <a:solidFill>
              <a:srgbClr val="AFBBDE"/>
            </a:solidFill>
          </p:spPr>
          <p:txBody>
            <a:bodyPr wrap="square" lIns="0" tIns="0" rIns="0" bIns="0" rtlCol="0"/>
            <a:lstStyle/>
            <a:p>
              <a:endParaRPr/>
            </a:p>
          </p:txBody>
        </p:sp>
        <p:sp>
          <p:nvSpPr>
            <p:cNvPr id="12" name="object 12"/>
            <p:cNvSpPr/>
            <p:nvPr/>
          </p:nvSpPr>
          <p:spPr>
            <a:xfrm>
              <a:off x="8701151" y="1805051"/>
              <a:ext cx="1581150" cy="942975"/>
            </a:xfrm>
            <a:custGeom>
              <a:avLst/>
              <a:gdLst/>
              <a:ahLst/>
              <a:cxnLst/>
              <a:rect l="l" t="t" r="r" b="b"/>
              <a:pathLst>
                <a:path w="1581150" h="942975">
                  <a:moveTo>
                    <a:pt x="1486789" y="0"/>
                  </a:moveTo>
                  <a:lnTo>
                    <a:pt x="94233" y="0"/>
                  </a:lnTo>
                  <a:lnTo>
                    <a:pt x="57542" y="7401"/>
                  </a:lnTo>
                  <a:lnTo>
                    <a:pt x="27590" y="27590"/>
                  </a:lnTo>
                  <a:lnTo>
                    <a:pt x="7401" y="57542"/>
                  </a:lnTo>
                  <a:lnTo>
                    <a:pt x="0" y="94234"/>
                  </a:lnTo>
                  <a:lnTo>
                    <a:pt x="0" y="848613"/>
                  </a:lnTo>
                  <a:lnTo>
                    <a:pt x="7401" y="885324"/>
                  </a:lnTo>
                  <a:lnTo>
                    <a:pt x="27590" y="915320"/>
                  </a:lnTo>
                  <a:lnTo>
                    <a:pt x="57542" y="935553"/>
                  </a:lnTo>
                  <a:lnTo>
                    <a:pt x="94233" y="942975"/>
                  </a:lnTo>
                  <a:lnTo>
                    <a:pt x="1486789" y="942975"/>
                  </a:lnTo>
                  <a:lnTo>
                    <a:pt x="1523499" y="935553"/>
                  </a:lnTo>
                  <a:lnTo>
                    <a:pt x="1553495" y="915320"/>
                  </a:lnTo>
                  <a:lnTo>
                    <a:pt x="1573728" y="885324"/>
                  </a:lnTo>
                  <a:lnTo>
                    <a:pt x="1581150" y="848613"/>
                  </a:lnTo>
                  <a:lnTo>
                    <a:pt x="1581150" y="94234"/>
                  </a:lnTo>
                  <a:lnTo>
                    <a:pt x="1573728" y="57542"/>
                  </a:lnTo>
                  <a:lnTo>
                    <a:pt x="1553495" y="27590"/>
                  </a:lnTo>
                  <a:lnTo>
                    <a:pt x="1523499" y="7401"/>
                  </a:lnTo>
                  <a:lnTo>
                    <a:pt x="1486789" y="0"/>
                  </a:lnTo>
                  <a:close/>
                </a:path>
              </a:pathLst>
            </a:custGeom>
            <a:solidFill>
              <a:srgbClr val="4471C4"/>
            </a:solidFill>
          </p:spPr>
          <p:txBody>
            <a:bodyPr wrap="square" lIns="0" tIns="0" rIns="0" bIns="0" rtlCol="0"/>
            <a:lstStyle/>
            <a:p>
              <a:endParaRPr/>
            </a:p>
          </p:txBody>
        </p:sp>
        <p:sp>
          <p:nvSpPr>
            <p:cNvPr id="13" name="object 13"/>
            <p:cNvSpPr/>
            <p:nvPr/>
          </p:nvSpPr>
          <p:spPr>
            <a:xfrm>
              <a:off x="8701151" y="1805051"/>
              <a:ext cx="1581150" cy="942975"/>
            </a:xfrm>
            <a:custGeom>
              <a:avLst/>
              <a:gdLst/>
              <a:ahLst/>
              <a:cxnLst/>
              <a:rect l="l" t="t" r="r" b="b"/>
              <a:pathLst>
                <a:path w="1581150" h="942975">
                  <a:moveTo>
                    <a:pt x="0" y="94234"/>
                  </a:moveTo>
                  <a:lnTo>
                    <a:pt x="7401" y="57542"/>
                  </a:lnTo>
                  <a:lnTo>
                    <a:pt x="27590" y="27590"/>
                  </a:lnTo>
                  <a:lnTo>
                    <a:pt x="57542" y="7401"/>
                  </a:lnTo>
                  <a:lnTo>
                    <a:pt x="94233" y="0"/>
                  </a:lnTo>
                  <a:lnTo>
                    <a:pt x="1486789" y="0"/>
                  </a:lnTo>
                  <a:lnTo>
                    <a:pt x="1523499" y="7401"/>
                  </a:lnTo>
                  <a:lnTo>
                    <a:pt x="1553495" y="27590"/>
                  </a:lnTo>
                  <a:lnTo>
                    <a:pt x="1573728" y="57542"/>
                  </a:lnTo>
                  <a:lnTo>
                    <a:pt x="1581150" y="94234"/>
                  </a:lnTo>
                  <a:lnTo>
                    <a:pt x="1581150" y="848613"/>
                  </a:lnTo>
                  <a:lnTo>
                    <a:pt x="1573728" y="885324"/>
                  </a:lnTo>
                  <a:lnTo>
                    <a:pt x="1553495" y="915320"/>
                  </a:lnTo>
                  <a:lnTo>
                    <a:pt x="1523499" y="935553"/>
                  </a:lnTo>
                  <a:lnTo>
                    <a:pt x="1486789" y="942975"/>
                  </a:lnTo>
                  <a:lnTo>
                    <a:pt x="94233" y="942975"/>
                  </a:lnTo>
                  <a:lnTo>
                    <a:pt x="57542" y="935553"/>
                  </a:lnTo>
                  <a:lnTo>
                    <a:pt x="27590" y="915320"/>
                  </a:lnTo>
                  <a:lnTo>
                    <a:pt x="7401" y="885324"/>
                  </a:lnTo>
                  <a:lnTo>
                    <a:pt x="0" y="848613"/>
                  </a:lnTo>
                  <a:lnTo>
                    <a:pt x="0" y="94234"/>
                  </a:lnTo>
                  <a:close/>
                </a:path>
              </a:pathLst>
            </a:custGeom>
            <a:ln w="12700">
              <a:solidFill>
                <a:srgbClr val="FFFFFF"/>
              </a:solidFill>
            </a:ln>
          </p:spPr>
          <p:txBody>
            <a:bodyPr wrap="square" lIns="0" tIns="0" rIns="0" bIns="0" rtlCol="0"/>
            <a:lstStyle/>
            <a:p>
              <a:endParaRPr/>
            </a:p>
          </p:txBody>
        </p:sp>
      </p:grpSp>
      <p:sp>
        <p:nvSpPr>
          <p:cNvPr id="14" name="object 14"/>
          <p:cNvSpPr txBox="1"/>
          <p:nvPr/>
        </p:nvSpPr>
        <p:spPr>
          <a:xfrm>
            <a:off x="8806180" y="2052637"/>
            <a:ext cx="1381125" cy="401320"/>
          </a:xfrm>
          <a:prstGeom prst="rect">
            <a:avLst/>
          </a:prstGeom>
        </p:spPr>
        <p:txBody>
          <a:bodyPr vert="horz" wrap="square" lIns="0" tIns="15875" rIns="0" bIns="0" rtlCol="0">
            <a:spAutoFit/>
          </a:bodyPr>
          <a:lstStyle/>
          <a:p>
            <a:pPr marR="5080" algn="ctr">
              <a:lnSpc>
                <a:spcPts val="1465"/>
              </a:lnSpc>
              <a:spcBef>
                <a:spcPts val="125"/>
              </a:spcBef>
            </a:pPr>
            <a:r>
              <a:rPr sz="1250" dirty="0">
                <a:solidFill>
                  <a:srgbClr val="FFFFFF"/>
                </a:solidFill>
                <a:latin typeface="Calibri"/>
                <a:cs typeface="Calibri"/>
              </a:rPr>
              <a:t>Parse</a:t>
            </a:r>
            <a:r>
              <a:rPr sz="1250" spc="85" dirty="0">
                <a:solidFill>
                  <a:srgbClr val="FFFFFF"/>
                </a:solidFill>
                <a:latin typeface="Calibri"/>
                <a:cs typeface="Calibri"/>
              </a:rPr>
              <a:t> </a:t>
            </a:r>
            <a:r>
              <a:rPr sz="1250" dirty="0">
                <a:solidFill>
                  <a:srgbClr val="FFFFFF"/>
                </a:solidFill>
                <a:latin typeface="Calibri"/>
                <a:cs typeface="Calibri"/>
              </a:rPr>
              <a:t>HTML</a:t>
            </a:r>
            <a:r>
              <a:rPr sz="1250" spc="30" dirty="0">
                <a:solidFill>
                  <a:srgbClr val="FFFFFF"/>
                </a:solidFill>
                <a:latin typeface="Calibri"/>
                <a:cs typeface="Calibri"/>
              </a:rPr>
              <a:t> </a:t>
            </a:r>
            <a:r>
              <a:rPr sz="1250" spc="-10" dirty="0">
                <a:solidFill>
                  <a:srgbClr val="FFFFFF"/>
                </a:solidFill>
                <a:latin typeface="Calibri"/>
                <a:cs typeface="Calibri"/>
              </a:rPr>
              <a:t>Content</a:t>
            </a:r>
            <a:endParaRPr sz="1250">
              <a:latin typeface="Calibri"/>
              <a:cs typeface="Calibri"/>
            </a:endParaRPr>
          </a:p>
          <a:p>
            <a:pPr marR="5080" algn="ctr">
              <a:lnSpc>
                <a:spcPts val="1465"/>
              </a:lnSpc>
            </a:pPr>
            <a:r>
              <a:rPr sz="1250" spc="-10" dirty="0">
                <a:solidFill>
                  <a:srgbClr val="FFFFFF"/>
                </a:solidFill>
                <a:latin typeface="Calibri"/>
                <a:cs typeface="Calibri"/>
              </a:rPr>
              <a:t>(BeautifulSoup)</a:t>
            </a:r>
            <a:endParaRPr sz="1250">
              <a:latin typeface="Calibri"/>
              <a:cs typeface="Calibri"/>
            </a:endParaRPr>
          </a:p>
        </p:txBody>
      </p:sp>
      <p:grpSp>
        <p:nvGrpSpPr>
          <p:cNvPr id="15" name="object 15"/>
          <p:cNvGrpSpPr/>
          <p:nvPr/>
        </p:nvGrpSpPr>
        <p:grpSpPr>
          <a:xfrm>
            <a:off x="8694801" y="2886075"/>
            <a:ext cx="1593850" cy="1449705"/>
            <a:chOff x="8694801" y="2886075"/>
            <a:chExt cx="1593850" cy="1449705"/>
          </a:xfrm>
        </p:grpSpPr>
        <p:sp>
          <p:nvSpPr>
            <p:cNvPr id="16" name="object 16"/>
            <p:cNvSpPr/>
            <p:nvPr/>
          </p:nvSpPr>
          <p:spPr>
            <a:xfrm>
              <a:off x="9286875" y="2886075"/>
              <a:ext cx="390525" cy="333375"/>
            </a:xfrm>
            <a:custGeom>
              <a:avLst/>
              <a:gdLst/>
              <a:ahLst/>
              <a:cxnLst/>
              <a:rect l="l" t="t" r="r" b="b"/>
              <a:pathLst>
                <a:path w="390525" h="333375">
                  <a:moveTo>
                    <a:pt x="312420" y="0"/>
                  </a:moveTo>
                  <a:lnTo>
                    <a:pt x="78104" y="0"/>
                  </a:lnTo>
                  <a:lnTo>
                    <a:pt x="78104" y="166624"/>
                  </a:lnTo>
                  <a:lnTo>
                    <a:pt x="0" y="166624"/>
                  </a:lnTo>
                  <a:lnTo>
                    <a:pt x="195325" y="333375"/>
                  </a:lnTo>
                  <a:lnTo>
                    <a:pt x="390525" y="166624"/>
                  </a:lnTo>
                  <a:lnTo>
                    <a:pt x="312420" y="166624"/>
                  </a:lnTo>
                  <a:lnTo>
                    <a:pt x="312420" y="0"/>
                  </a:lnTo>
                  <a:close/>
                </a:path>
              </a:pathLst>
            </a:custGeom>
            <a:solidFill>
              <a:srgbClr val="AFBBDE"/>
            </a:solidFill>
          </p:spPr>
          <p:txBody>
            <a:bodyPr wrap="square" lIns="0" tIns="0" rIns="0" bIns="0" rtlCol="0"/>
            <a:lstStyle/>
            <a:p>
              <a:endParaRPr/>
            </a:p>
          </p:txBody>
        </p:sp>
        <p:sp>
          <p:nvSpPr>
            <p:cNvPr id="17" name="object 17"/>
            <p:cNvSpPr/>
            <p:nvPr/>
          </p:nvSpPr>
          <p:spPr>
            <a:xfrm>
              <a:off x="8701151" y="3386201"/>
              <a:ext cx="1581150" cy="942975"/>
            </a:xfrm>
            <a:custGeom>
              <a:avLst/>
              <a:gdLst/>
              <a:ahLst/>
              <a:cxnLst/>
              <a:rect l="l" t="t" r="r" b="b"/>
              <a:pathLst>
                <a:path w="1581150" h="942975">
                  <a:moveTo>
                    <a:pt x="1486789" y="0"/>
                  </a:moveTo>
                  <a:lnTo>
                    <a:pt x="94233" y="0"/>
                  </a:lnTo>
                  <a:lnTo>
                    <a:pt x="57542" y="7401"/>
                  </a:lnTo>
                  <a:lnTo>
                    <a:pt x="27590" y="27590"/>
                  </a:lnTo>
                  <a:lnTo>
                    <a:pt x="7401" y="57542"/>
                  </a:lnTo>
                  <a:lnTo>
                    <a:pt x="0" y="94234"/>
                  </a:lnTo>
                  <a:lnTo>
                    <a:pt x="0" y="848613"/>
                  </a:lnTo>
                  <a:lnTo>
                    <a:pt x="7401" y="885324"/>
                  </a:lnTo>
                  <a:lnTo>
                    <a:pt x="27590" y="915320"/>
                  </a:lnTo>
                  <a:lnTo>
                    <a:pt x="57542" y="935553"/>
                  </a:lnTo>
                  <a:lnTo>
                    <a:pt x="94233" y="942975"/>
                  </a:lnTo>
                  <a:lnTo>
                    <a:pt x="1486789" y="942975"/>
                  </a:lnTo>
                  <a:lnTo>
                    <a:pt x="1523499" y="935553"/>
                  </a:lnTo>
                  <a:lnTo>
                    <a:pt x="1553495" y="915320"/>
                  </a:lnTo>
                  <a:lnTo>
                    <a:pt x="1573728" y="885324"/>
                  </a:lnTo>
                  <a:lnTo>
                    <a:pt x="1581150" y="848613"/>
                  </a:lnTo>
                  <a:lnTo>
                    <a:pt x="1581150" y="94234"/>
                  </a:lnTo>
                  <a:lnTo>
                    <a:pt x="1573728" y="57542"/>
                  </a:lnTo>
                  <a:lnTo>
                    <a:pt x="1553495" y="27590"/>
                  </a:lnTo>
                  <a:lnTo>
                    <a:pt x="1523499" y="7401"/>
                  </a:lnTo>
                  <a:lnTo>
                    <a:pt x="1486789" y="0"/>
                  </a:lnTo>
                  <a:close/>
                </a:path>
              </a:pathLst>
            </a:custGeom>
            <a:solidFill>
              <a:srgbClr val="4471C4"/>
            </a:solidFill>
          </p:spPr>
          <p:txBody>
            <a:bodyPr wrap="square" lIns="0" tIns="0" rIns="0" bIns="0" rtlCol="0"/>
            <a:lstStyle/>
            <a:p>
              <a:endParaRPr/>
            </a:p>
          </p:txBody>
        </p:sp>
        <p:sp>
          <p:nvSpPr>
            <p:cNvPr id="18" name="object 18"/>
            <p:cNvSpPr/>
            <p:nvPr/>
          </p:nvSpPr>
          <p:spPr>
            <a:xfrm>
              <a:off x="8701151" y="3386201"/>
              <a:ext cx="1581150" cy="942975"/>
            </a:xfrm>
            <a:custGeom>
              <a:avLst/>
              <a:gdLst/>
              <a:ahLst/>
              <a:cxnLst/>
              <a:rect l="l" t="t" r="r" b="b"/>
              <a:pathLst>
                <a:path w="1581150" h="942975">
                  <a:moveTo>
                    <a:pt x="0" y="94234"/>
                  </a:moveTo>
                  <a:lnTo>
                    <a:pt x="7401" y="57542"/>
                  </a:lnTo>
                  <a:lnTo>
                    <a:pt x="27590" y="27590"/>
                  </a:lnTo>
                  <a:lnTo>
                    <a:pt x="57542" y="7401"/>
                  </a:lnTo>
                  <a:lnTo>
                    <a:pt x="94233" y="0"/>
                  </a:lnTo>
                  <a:lnTo>
                    <a:pt x="1486789" y="0"/>
                  </a:lnTo>
                  <a:lnTo>
                    <a:pt x="1523499" y="7401"/>
                  </a:lnTo>
                  <a:lnTo>
                    <a:pt x="1553495" y="27590"/>
                  </a:lnTo>
                  <a:lnTo>
                    <a:pt x="1573728" y="57542"/>
                  </a:lnTo>
                  <a:lnTo>
                    <a:pt x="1581150" y="94234"/>
                  </a:lnTo>
                  <a:lnTo>
                    <a:pt x="1581150" y="848613"/>
                  </a:lnTo>
                  <a:lnTo>
                    <a:pt x="1573728" y="885324"/>
                  </a:lnTo>
                  <a:lnTo>
                    <a:pt x="1553495" y="915320"/>
                  </a:lnTo>
                  <a:lnTo>
                    <a:pt x="1523499" y="935553"/>
                  </a:lnTo>
                  <a:lnTo>
                    <a:pt x="1486789" y="942975"/>
                  </a:lnTo>
                  <a:lnTo>
                    <a:pt x="94233" y="942975"/>
                  </a:lnTo>
                  <a:lnTo>
                    <a:pt x="57542" y="935553"/>
                  </a:lnTo>
                  <a:lnTo>
                    <a:pt x="27590" y="915320"/>
                  </a:lnTo>
                  <a:lnTo>
                    <a:pt x="7401" y="885324"/>
                  </a:lnTo>
                  <a:lnTo>
                    <a:pt x="0" y="848613"/>
                  </a:lnTo>
                  <a:lnTo>
                    <a:pt x="0" y="94234"/>
                  </a:lnTo>
                  <a:close/>
                </a:path>
              </a:pathLst>
            </a:custGeom>
            <a:ln w="12700">
              <a:solidFill>
                <a:srgbClr val="FFFFFF"/>
              </a:solidFill>
            </a:ln>
          </p:spPr>
          <p:txBody>
            <a:bodyPr wrap="square" lIns="0" tIns="0" rIns="0" bIns="0" rtlCol="0"/>
            <a:lstStyle/>
            <a:p>
              <a:endParaRPr/>
            </a:p>
          </p:txBody>
        </p:sp>
      </p:grpSp>
      <p:sp>
        <p:nvSpPr>
          <p:cNvPr id="19" name="object 19"/>
          <p:cNvSpPr txBox="1"/>
          <p:nvPr/>
        </p:nvSpPr>
        <p:spPr>
          <a:xfrm>
            <a:off x="8983980" y="3543617"/>
            <a:ext cx="1021080" cy="582930"/>
          </a:xfrm>
          <a:prstGeom prst="rect">
            <a:avLst/>
          </a:prstGeom>
        </p:spPr>
        <p:txBody>
          <a:bodyPr vert="horz" wrap="square" lIns="0" tIns="29209" rIns="0" bIns="0" rtlCol="0">
            <a:spAutoFit/>
          </a:bodyPr>
          <a:lstStyle/>
          <a:p>
            <a:pPr marR="5080" indent="5080" algn="ctr">
              <a:lnSpc>
                <a:spcPts val="1430"/>
              </a:lnSpc>
              <a:spcBef>
                <a:spcPts val="229"/>
              </a:spcBef>
            </a:pPr>
            <a:r>
              <a:rPr sz="1250" dirty="0">
                <a:solidFill>
                  <a:srgbClr val="FFFFFF"/>
                </a:solidFill>
                <a:latin typeface="Calibri"/>
                <a:cs typeface="Calibri"/>
              </a:rPr>
              <a:t>Extract</a:t>
            </a:r>
            <a:r>
              <a:rPr sz="1250" spc="114" dirty="0">
                <a:solidFill>
                  <a:srgbClr val="FFFFFF"/>
                </a:solidFill>
                <a:latin typeface="Calibri"/>
                <a:cs typeface="Calibri"/>
              </a:rPr>
              <a:t> </a:t>
            </a:r>
            <a:r>
              <a:rPr sz="1250" spc="-10" dirty="0">
                <a:solidFill>
                  <a:srgbClr val="FFFFFF"/>
                </a:solidFill>
                <a:latin typeface="Calibri"/>
                <a:cs typeface="Calibri"/>
              </a:rPr>
              <a:t>Launch </a:t>
            </a:r>
            <a:r>
              <a:rPr sz="1250" dirty="0">
                <a:solidFill>
                  <a:srgbClr val="FFFFFF"/>
                </a:solidFill>
                <a:latin typeface="Calibri"/>
                <a:cs typeface="Calibri"/>
              </a:rPr>
              <a:t>Records</a:t>
            </a:r>
            <a:r>
              <a:rPr sz="1250" spc="75" dirty="0">
                <a:solidFill>
                  <a:srgbClr val="FFFFFF"/>
                </a:solidFill>
                <a:latin typeface="Calibri"/>
                <a:cs typeface="Calibri"/>
              </a:rPr>
              <a:t> </a:t>
            </a:r>
            <a:r>
              <a:rPr sz="1250" spc="-10" dirty="0">
                <a:solidFill>
                  <a:srgbClr val="FFFFFF"/>
                </a:solidFill>
                <a:latin typeface="Calibri"/>
                <a:cs typeface="Calibri"/>
              </a:rPr>
              <a:t>(HTML table)</a:t>
            </a:r>
            <a:endParaRPr sz="1250">
              <a:latin typeface="Calibri"/>
              <a:cs typeface="Calibri"/>
            </a:endParaRPr>
          </a:p>
        </p:txBody>
      </p:sp>
      <p:grpSp>
        <p:nvGrpSpPr>
          <p:cNvPr id="20" name="object 20"/>
          <p:cNvGrpSpPr/>
          <p:nvPr/>
        </p:nvGrpSpPr>
        <p:grpSpPr>
          <a:xfrm>
            <a:off x="6475476" y="3379851"/>
            <a:ext cx="2078355" cy="955675"/>
            <a:chOff x="6475476" y="3379851"/>
            <a:chExt cx="2078355" cy="955675"/>
          </a:xfrm>
        </p:grpSpPr>
        <p:sp>
          <p:nvSpPr>
            <p:cNvPr id="21" name="object 21"/>
            <p:cNvSpPr/>
            <p:nvPr/>
          </p:nvSpPr>
          <p:spPr>
            <a:xfrm>
              <a:off x="8220075" y="3657600"/>
              <a:ext cx="333375" cy="390525"/>
            </a:xfrm>
            <a:custGeom>
              <a:avLst/>
              <a:gdLst/>
              <a:ahLst/>
              <a:cxnLst/>
              <a:rect l="l" t="t" r="r" b="b"/>
              <a:pathLst>
                <a:path w="333375" h="390525">
                  <a:moveTo>
                    <a:pt x="166750" y="0"/>
                  </a:moveTo>
                  <a:lnTo>
                    <a:pt x="0" y="195199"/>
                  </a:lnTo>
                  <a:lnTo>
                    <a:pt x="166750" y="390525"/>
                  </a:lnTo>
                  <a:lnTo>
                    <a:pt x="166750" y="312419"/>
                  </a:lnTo>
                  <a:lnTo>
                    <a:pt x="333375" y="312419"/>
                  </a:lnTo>
                  <a:lnTo>
                    <a:pt x="333375" y="78105"/>
                  </a:lnTo>
                  <a:lnTo>
                    <a:pt x="166750" y="78105"/>
                  </a:lnTo>
                  <a:lnTo>
                    <a:pt x="166750" y="0"/>
                  </a:lnTo>
                  <a:close/>
                </a:path>
              </a:pathLst>
            </a:custGeom>
            <a:solidFill>
              <a:srgbClr val="AFBBDE"/>
            </a:solidFill>
          </p:spPr>
          <p:txBody>
            <a:bodyPr wrap="square" lIns="0" tIns="0" rIns="0" bIns="0" rtlCol="0"/>
            <a:lstStyle/>
            <a:p>
              <a:endParaRPr/>
            </a:p>
          </p:txBody>
        </p:sp>
        <p:sp>
          <p:nvSpPr>
            <p:cNvPr id="22" name="object 22"/>
            <p:cNvSpPr/>
            <p:nvPr/>
          </p:nvSpPr>
          <p:spPr>
            <a:xfrm>
              <a:off x="6481826" y="3386201"/>
              <a:ext cx="1581150" cy="942975"/>
            </a:xfrm>
            <a:custGeom>
              <a:avLst/>
              <a:gdLst/>
              <a:ahLst/>
              <a:cxnLst/>
              <a:rect l="l" t="t" r="r" b="b"/>
              <a:pathLst>
                <a:path w="1581150" h="942975">
                  <a:moveTo>
                    <a:pt x="1486789" y="0"/>
                  </a:moveTo>
                  <a:lnTo>
                    <a:pt x="94233" y="0"/>
                  </a:lnTo>
                  <a:lnTo>
                    <a:pt x="57542" y="7401"/>
                  </a:lnTo>
                  <a:lnTo>
                    <a:pt x="27590" y="27590"/>
                  </a:lnTo>
                  <a:lnTo>
                    <a:pt x="7401" y="57542"/>
                  </a:lnTo>
                  <a:lnTo>
                    <a:pt x="0" y="94234"/>
                  </a:lnTo>
                  <a:lnTo>
                    <a:pt x="0" y="848613"/>
                  </a:lnTo>
                  <a:lnTo>
                    <a:pt x="7401" y="885324"/>
                  </a:lnTo>
                  <a:lnTo>
                    <a:pt x="27590" y="915320"/>
                  </a:lnTo>
                  <a:lnTo>
                    <a:pt x="57542" y="935553"/>
                  </a:lnTo>
                  <a:lnTo>
                    <a:pt x="94233" y="942975"/>
                  </a:lnTo>
                  <a:lnTo>
                    <a:pt x="1486789" y="942975"/>
                  </a:lnTo>
                  <a:lnTo>
                    <a:pt x="1523499" y="935553"/>
                  </a:lnTo>
                  <a:lnTo>
                    <a:pt x="1553495" y="915320"/>
                  </a:lnTo>
                  <a:lnTo>
                    <a:pt x="1573728" y="885324"/>
                  </a:lnTo>
                  <a:lnTo>
                    <a:pt x="1581150" y="848613"/>
                  </a:lnTo>
                  <a:lnTo>
                    <a:pt x="1581150" y="94234"/>
                  </a:lnTo>
                  <a:lnTo>
                    <a:pt x="1573728" y="57542"/>
                  </a:lnTo>
                  <a:lnTo>
                    <a:pt x="1553495" y="27590"/>
                  </a:lnTo>
                  <a:lnTo>
                    <a:pt x="1523499" y="7401"/>
                  </a:lnTo>
                  <a:lnTo>
                    <a:pt x="1486789" y="0"/>
                  </a:lnTo>
                  <a:close/>
                </a:path>
              </a:pathLst>
            </a:custGeom>
            <a:solidFill>
              <a:srgbClr val="4471C4"/>
            </a:solidFill>
          </p:spPr>
          <p:txBody>
            <a:bodyPr wrap="square" lIns="0" tIns="0" rIns="0" bIns="0" rtlCol="0"/>
            <a:lstStyle/>
            <a:p>
              <a:endParaRPr/>
            </a:p>
          </p:txBody>
        </p:sp>
        <p:sp>
          <p:nvSpPr>
            <p:cNvPr id="23" name="object 23"/>
            <p:cNvSpPr/>
            <p:nvPr/>
          </p:nvSpPr>
          <p:spPr>
            <a:xfrm>
              <a:off x="6481826" y="3386201"/>
              <a:ext cx="1581150" cy="942975"/>
            </a:xfrm>
            <a:custGeom>
              <a:avLst/>
              <a:gdLst/>
              <a:ahLst/>
              <a:cxnLst/>
              <a:rect l="l" t="t" r="r" b="b"/>
              <a:pathLst>
                <a:path w="1581150" h="942975">
                  <a:moveTo>
                    <a:pt x="0" y="94234"/>
                  </a:moveTo>
                  <a:lnTo>
                    <a:pt x="7401" y="57542"/>
                  </a:lnTo>
                  <a:lnTo>
                    <a:pt x="27590" y="27590"/>
                  </a:lnTo>
                  <a:lnTo>
                    <a:pt x="57542" y="7401"/>
                  </a:lnTo>
                  <a:lnTo>
                    <a:pt x="94233" y="0"/>
                  </a:lnTo>
                  <a:lnTo>
                    <a:pt x="1486789" y="0"/>
                  </a:lnTo>
                  <a:lnTo>
                    <a:pt x="1523499" y="7401"/>
                  </a:lnTo>
                  <a:lnTo>
                    <a:pt x="1553495" y="27590"/>
                  </a:lnTo>
                  <a:lnTo>
                    <a:pt x="1573728" y="57542"/>
                  </a:lnTo>
                  <a:lnTo>
                    <a:pt x="1581150" y="94234"/>
                  </a:lnTo>
                  <a:lnTo>
                    <a:pt x="1581150" y="848613"/>
                  </a:lnTo>
                  <a:lnTo>
                    <a:pt x="1573728" y="885324"/>
                  </a:lnTo>
                  <a:lnTo>
                    <a:pt x="1553495" y="915320"/>
                  </a:lnTo>
                  <a:lnTo>
                    <a:pt x="1523499" y="935553"/>
                  </a:lnTo>
                  <a:lnTo>
                    <a:pt x="1486789" y="942975"/>
                  </a:lnTo>
                  <a:lnTo>
                    <a:pt x="94233" y="942975"/>
                  </a:lnTo>
                  <a:lnTo>
                    <a:pt x="57542" y="935553"/>
                  </a:lnTo>
                  <a:lnTo>
                    <a:pt x="27590" y="915320"/>
                  </a:lnTo>
                  <a:lnTo>
                    <a:pt x="7401" y="885324"/>
                  </a:lnTo>
                  <a:lnTo>
                    <a:pt x="0" y="848613"/>
                  </a:lnTo>
                  <a:lnTo>
                    <a:pt x="0" y="94234"/>
                  </a:lnTo>
                  <a:close/>
                </a:path>
              </a:pathLst>
            </a:custGeom>
            <a:ln w="12700">
              <a:solidFill>
                <a:srgbClr val="FFFFFF"/>
              </a:solidFill>
            </a:ln>
          </p:spPr>
          <p:txBody>
            <a:bodyPr wrap="square" lIns="0" tIns="0" rIns="0" bIns="0" rtlCol="0"/>
            <a:lstStyle/>
            <a:p>
              <a:endParaRPr/>
            </a:p>
          </p:txBody>
        </p:sp>
      </p:grpSp>
      <p:sp>
        <p:nvSpPr>
          <p:cNvPr id="24" name="object 24"/>
          <p:cNvSpPr txBox="1"/>
          <p:nvPr/>
        </p:nvSpPr>
        <p:spPr>
          <a:xfrm>
            <a:off x="6597015" y="3543617"/>
            <a:ext cx="1365885" cy="582930"/>
          </a:xfrm>
          <a:prstGeom prst="rect">
            <a:avLst/>
          </a:prstGeom>
        </p:spPr>
        <p:txBody>
          <a:bodyPr vert="horz" wrap="square" lIns="0" tIns="29209" rIns="0" bIns="0" rtlCol="0">
            <a:spAutoFit/>
          </a:bodyPr>
          <a:lstStyle/>
          <a:p>
            <a:pPr marR="5080" indent="200025">
              <a:lnSpc>
                <a:spcPts val="1430"/>
              </a:lnSpc>
              <a:spcBef>
                <a:spcPts val="229"/>
              </a:spcBef>
            </a:pPr>
            <a:r>
              <a:rPr sz="1250" dirty="0">
                <a:solidFill>
                  <a:srgbClr val="FFFFFF"/>
                </a:solidFill>
                <a:latin typeface="Calibri"/>
                <a:cs typeface="Calibri"/>
              </a:rPr>
              <a:t>Convert</a:t>
            </a:r>
            <a:r>
              <a:rPr sz="1250" spc="75" dirty="0">
                <a:solidFill>
                  <a:srgbClr val="FFFFFF"/>
                </a:solidFill>
                <a:latin typeface="Calibri"/>
                <a:cs typeface="Calibri"/>
              </a:rPr>
              <a:t> </a:t>
            </a:r>
            <a:r>
              <a:rPr sz="1250" spc="-20" dirty="0">
                <a:solidFill>
                  <a:srgbClr val="FFFFFF"/>
                </a:solidFill>
                <a:latin typeface="Calibri"/>
                <a:cs typeface="Calibri"/>
              </a:rPr>
              <a:t>HTML </a:t>
            </a:r>
            <a:r>
              <a:rPr sz="1250" dirty="0">
                <a:solidFill>
                  <a:srgbClr val="FFFFFF"/>
                </a:solidFill>
                <a:latin typeface="Calibri"/>
                <a:cs typeface="Calibri"/>
              </a:rPr>
              <a:t>Table</a:t>
            </a:r>
            <a:r>
              <a:rPr sz="1250" spc="30" dirty="0">
                <a:solidFill>
                  <a:srgbClr val="FFFFFF"/>
                </a:solidFill>
                <a:latin typeface="Calibri"/>
                <a:cs typeface="Calibri"/>
              </a:rPr>
              <a:t> </a:t>
            </a:r>
            <a:r>
              <a:rPr sz="1250" dirty="0">
                <a:solidFill>
                  <a:srgbClr val="FFFFFF"/>
                </a:solidFill>
                <a:latin typeface="Calibri"/>
                <a:cs typeface="Calibri"/>
              </a:rPr>
              <a:t>to</a:t>
            </a:r>
            <a:r>
              <a:rPr sz="1250" spc="-10" dirty="0">
                <a:solidFill>
                  <a:srgbClr val="FFFFFF"/>
                </a:solidFill>
                <a:latin typeface="Calibri"/>
                <a:cs typeface="Calibri"/>
              </a:rPr>
              <a:t> DataFrame (pandas.DataFrame)</a:t>
            </a:r>
            <a:endParaRPr sz="1250">
              <a:latin typeface="Calibri"/>
              <a:cs typeface="Calibri"/>
            </a:endParaRPr>
          </a:p>
        </p:txBody>
      </p:sp>
      <p:grpSp>
        <p:nvGrpSpPr>
          <p:cNvPr id="25" name="object 25"/>
          <p:cNvGrpSpPr/>
          <p:nvPr/>
        </p:nvGrpSpPr>
        <p:grpSpPr>
          <a:xfrm>
            <a:off x="6475476" y="4467225"/>
            <a:ext cx="1593850" cy="1449705"/>
            <a:chOff x="6475476" y="4467225"/>
            <a:chExt cx="1593850" cy="1449705"/>
          </a:xfrm>
        </p:grpSpPr>
        <p:sp>
          <p:nvSpPr>
            <p:cNvPr id="26" name="object 26"/>
            <p:cNvSpPr/>
            <p:nvPr/>
          </p:nvSpPr>
          <p:spPr>
            <a:xfrm>
              <a:off x="7077075" y="4467225"/>
              <a:ext cx="390525" cy="333375"/>
            </a:xfrm>
            <a:custGeom>
              <a:avLst/>
              <a:gdLst/>
              <a:ahLst/>
              <a:cxnLst/>
              <a:rect l="l" t="t" r="r" b="b"/>
              <a:pathLst>
                <a:path w="390525" h="333375">
                  <a:moveTo>
                    <a:pt x="312420" y="0"/>
                  </a:moveTo>
                  <a:lnTo>
                    <a:pt x="78104" y="0"/>
                  </a:lnTo>
                  <a:lnTo>
                    <a:pt x="78104" y="166624"/>
                  </a:lnTo>
                  <a:lnTo>
                    <a:pt x="0" y="166624"/>
                  </a:lnTo>
                  <a:lnTo>
                    <a:pt x="195325" y="333375"/>
                  </a:lnTo>
                  <a:lnTo>
                    <a:pt x="390525" y="166624"/>
                  </a:lnTo>
                  <a:lnTo>
                    <a:pt x="312420" y="166624"/>
                  </a:lnTo>
                  <a:lnTo>
                    <a:pt x="312420" y="0"/>
                  </a:lnTo>
                  <a:close/>
                </a:path>
              </a:pathLst>
            </a:custGeom>
            <a:solidFill>
              <a:srgbClr val="AFBBDE"/>
            </a:solidFill>
          </p:spPr>
          <p:txBody>
            <a:bodyPr wrap="square" lIns="0" tIns="0" rIns="0" bIns="0" rtlCol="0"/>
            <a:lstStyle/>
            <a:p>
              <a:endParaRPr/>
            </a:p>
          </p:txBody>
        </p:sp>
        <p:sp>
          <p:nvSpPr>
            <p:cNvPr id="27" name="object 27"/>
            <p:cNvSpPr/>
            <p:nvPr/>
          </p:nvSpPr>
          <p:spPr>
            <a:xfrm>
              <a:off x="6481826" y="4967351"/>
              <a:ext cx="1581150" cy="942975"/>
            </a:xfrm>
            <a:custGeom>
              <a:avLst/>
              <a:gdLst/>
              <a:ahLst/>
              <a:cxnLst/>
              <a:rect l="l" t="t" r="r" b="b"/>
              <a:pathLst>
                <a:path w="1581150" h="942975">
                  <a:moveTo>
                    <a:pt x="1486789" y="0"/>
                  </a:moveTo>
                  <a:lnTo>
                    <a:pt x="94233" y="0"/>
                  </a:lnTo>
                  <a:lnTo>
                    <a:pt x="57542" y="7401"/>
                  </a:lnTo>
                  <a:lnTo>
                    <a:pt x="27590" y="27590"/>
                  </a:lnTo>
                  <a:lnTo>
                    <a:pt x="7401" y="57542"/>
                  </a:lnTo>
                  <a:lnTo>
                    <a:pt x="0" y="94234"/>
                  </a:lnTo>
                  <a:lnTo>
                    <a:pt x="0" y="848614"/>
                  </a:lnTo>
                  <a:lnTo>
                    <a:pt x="7401" y="885320"/>
                  </a:lnTo>
                  <a:lnTo>
                    <a:pt x="27590" y="915293"/>
                  </a:lnTo>
                  <a:lnTo>
                    <a:pt x="57542" y="935501"/>
                  </a:lnTo>
                  <a:lnTo>
                    <a:pt x="94233" y="942911"/>
                  </a:lnTo>
                  <a:lnTo>
                    <a:pt x="1486789" y="942911"/>
                  </a:lnTo>
                  <a:lnTo>
                    <a:pt x="1523499" y="935501"/>
                  </a:lnTo>
                  <a:lnTo>
                    <a:pt x="1553495" y="915293"/>
                  </a:lnTo>
                  <a:lnTo>
                    <a:pt x="1573728" y="885320"/>
                  </a:lnTo>
                  <a:lnTo>
                    <a:pt x="1581150" y="848614"/>
                  </a:lnTo>
                  <a:lnTo>
                    <a:pt x="1581150" y="94234"/>
                  </a:lnTo>
                  <a:lnTo>
                    <a:pt x="1573728" y="57542"/>
                  </a:lnTo>
                  <a:lnTo>
                    <a:pt x="1553495" y="27590"/>
                  </a:lnTo>
                  <a:lnTo>
                    <a:pt x="1523499" y="7401"/>
                  </a:lnTo>
                  <a:lnTo>
                    <a:pt x="1486789" y="0"/>
                  </a:lnTo>
                  <a:close/>
                </a:path>
              </a:pathLst>
            </a:custGeom>
            <a:solidFill>
              <a:srgbClr val="4471C4"/>
            </a:solidFill>
          </p:spPr>
          <p:txBody>
            <a:bodyPr wrap="square" lIns="0" tIns="0" rIns="0" bIns="0" rtlCol="0"/>
            <a:lstStyle/>
            <a:p>
              <a:endParaRPr/>
            </a:p>
          </p:txBody>
        </p:sp>
        <p:sp>
          <p:nvSpPr>
            <p:cNvPr id="28" name="object 28"/>
            <p:cNvSpPr/>
            <p:nvPr/>
          </p:nvSpPr>
          <p:spPr>
            <a:xfrm>
              <a:off x="6481826" y="4967351"/>
              <a:ext cx="1581150" cy="942975"/>
            </a:xfrm>
            <a:custGeom>
              <a:avLst/>
              <a:gdLst/>
              <a:ahLst/>
              <a:cxnLst/>
              <a:rect l="l" t="t" r="r" b="b"/>
              <a:pathLst>
                <a:path w="1581150" h="942975">
                  <a:moveTo>
                    <a:pt x="0" y="94234"/>
                  </a:moveTo>
                  <a:lnTo>
                    <a:pt x="7401" y="57542"/>
                  </a:lnTo>
                  <a:lnTo>
                    <a:pt x="27590" y="27590"/>
                  </a:lnTo>
                  <a:lnTo>
                    <a:pt x="57542" y="7401"/>
                  </a:lnTo>
                  <a:lnTo>
                    <a:pt x="94233" y="0"/>
                  </a:lnTo>
                  <a:lnTo>
                    <a:pt x="1486789" y="0"/>
                  </a:lnTo>
                  <a:lnTo>
                    <a:pt x="1523499" y="7401"/>
                  </a:lnTo>
                  <a:lnTo>
                    <a:pt x="1553495" y="27590"/>
                  </a:lnTo>
                  <a:lnTo>
                    <a:pt x="1573728" y="57542"/>
                  </a:lnTo>
                  <a:lnTo>
                    <a:pt x="1581150" y="94234"/>
                  </a:lnTo>
                  <a:lnTo>
                    <a:pt x="1581150" y="848614"/>
                  </a:lnTo>
                  <a:lnTo>
                    <a:pt x="1573728" y="885320"/>
                  </a:lnTo>
                  <a:lnTo>
                    <a:pt x="1553495" y="915293"/>
                  </a:lnTo>
                  <a:lnTo>
                    <a:pt x="1523499" y="935501"/>
                  </a:lnTo>
                  <a:lnTo>
                    <a:pt x="1486789" y="942911"/>
                  </a:lnTo>
                  <a:lnTo>
                    <a:pt x="94233" y="942911"/>
                  </a:lnTo>
                  <a:lnTo>
                    <a:pt x="57542" y="935501"/>
                  </a:lnTo>
                  <a:lnTo>
                    <a:pt x="27590" y="915293"/>
                  </a:lnTo>
                  <a:lnTo>
                    <a:pt x="7401" y="885320"/>
                  </a:lnTo>
                  <a:lnTo>
                    <a:pt x="0" y="848614"/>
                  </a:lnTo>
                  <a:lnTo>
                    <a:pt x="0" y="94234"/>
                  </a:lnTo>
                  <a:close/>
                </a:path>
              </a:pathLst>
            </a:custGeom>
            <a:ln w="12700">
              <a:solidFill>
                <a:srgbClr val="FFFFFF"/>
              </a:solidFill>
            </a:ln>
          </p:spPr>
          <p:txBody>
            <a:bodyPr wrap="square" lIns="0" tIns="0" rIns="0" bIns="0" rtlCol="0"/>
            <a:lstStyle/>
            <a:p>
              <a:endParaRPr/>
            </a:p>
          </p:txBody>
        </p:sp>
      </p:grpSp>
      <p:sp>
        <p:nvSpPr>
          <p:cNvPr id="29" name="object 29"/>
          <p:cNvSpPr txBox="1"/>
          <p:nvPr/>
        </p:nvSpPr>
        <p:spPr>
          <a:xfrm>
            <a:off x="6565518" y="5125783"/>
            <a:ext cx="1433830" cy="582930"/>
          </a:xfrm>
          <a:prstGeom prst="rect">
            <a:avLst/>
          </a:prstGeom>
        </p:spPr>
        <p:txBody>
          <a:bodyPr vert="horz" wrap="square" lIns="0" tIns="29209" rIns="0" bIns="0" rtlCol="0">
            <a:spAutoFit/>
          </a:bodyPr>
          <a:lstStyle/>
          <a:p>
            <a:pPr marL="118745" marR="120014" algn="ctr">
              <a:lnSpc>
                <a:spcPts val="1430"/>
              </a:lnSpc>
              <a:spcBef>
                <a:spcPts val="229"/>
              </a:spcBef>
            </a:pPr>
            <a:r>
              <a:rPr sz="1250" dirty="0">
                <a:solidFill>
                  <a:srgbClr val="FFFFFF"/>
                </a:solidFill>
                <a:latin typeface="Calibri"/>
                <a:cs typeface="Calibri"/>
              </a:rPr>
              <a:t>Clean</a:t>
            </a:r>
            <a:r>
              <a:rPr sz="1250" spc="75" dirty="0">
                <a:solidFill>
                  <a:srgbClr val="FFFFFF"/>
                </a:solidFill>
                <a:latin typeface="Calibri"/>
                <a:cs typeface="Calibri"/>
              </a:rPr>
              <a:t> </a:t>
            </a:r>
            <a:r>
              <a:rPr sz="1250" dirty="0">
                <a:solidFill>
                  <a:srgbClr val="FFFFFF"/>
                </a:solidFill>
                <a:latin typeface="Calibri"/>
                <a:cs typeface="Calibri"/>
              </a:rPr>
              <a:t>and</a:t>
            </a:r>
            <a:r>
              <a:rPr sz="1250" spc="80" dirty="0">
                <a:solidFill>
                  <a:srgbClr val="FFFFFF"/>
                </a:solidFill>
                <a:latin typeface="Calibri"/>
                <a:cs typeface="Calibri"/>
              </a:rPr>
              <a:t> </a:t>
            </a:r>
            <a:r>
              <a:rPr sz="1250" spc="-10" dirty="0">
                <a:solidFill>
                  <a:srgbClr val="FFFFFF"/>
                </a:solidFill>
                <a:latin typeface="Calibri"/>
                <a:cs typeface="Calibri"/>
              </a:rPr>
              <a:t>Format </a:t>
            </a:r>
            <a:r>
              <a:rPr sz="1250" dirty="0">
                <a:solidFill>
                  <a:srgbClr val="FFFFFF"/>
                </a:solidFill>
                <a:latin typeface="Calibri"/>
                <a:cs typeface="Calibri"/>
              </a:rPr>
              <a:t>Data</a:t>
            </a:r>
            <a:r>
              <a:rPr sz="1250" spc="55" dirty="0">
                <a:solidFill>
                  <a:srgbClr val="FFFFFF"/>
                </a:solidFill>
                <a:latin typeface="Calibri"/>
                <a:cs typeface="Calibri"/>
              </a:rPr>
              <a:t> </a:t>
            </a:r>
            <a:r>
              <a:rPr sz="1250" dirty="0">
                <a:solidFill>
                  <a:srgbClr val="FFFFFF"/>
                </a:solidFill>
                <a:latin typeface="Calibri"/>
                <a:cs typeface="Calibri"/>
              </a:rPr>
              <a:t>(drop</a:t>
            </a:r>
            <a:r>
              <a:rPr sz="1250" spc="25" dirty="0">
                <a:solidFill>
                  <a:srgbClr val="FFFFFF"/>
                </a:solidFill>
                <a:latin typeface="Calibri"/>
                <a:cs typeface="Calibri"/>
              </a:rPr>
              <a:t> </a:t>
            </a:r>
            <a:r>
              <a:rPr sz="1250" spc="-10" dirty="0">
                <a:solidFill>
                  <a:srgbClr val="FFFFFF"/>
                </a:solidFill>
                <a:latin typeface="Calibri"/>
                <a:cs typeface="Calibri"/>
              </a:rPr>
              <a:t>nulls,</a:t>
            </a:r>
            <a:endParaRPr sz="1250">
              <a:latin typeface="Calibri"/>
              <a:cs typeface="Calibri"/>
            </a:endParaRPr>
          </a:p>
          <a:p>
            <a:pPr marR="5080" algn="ctr">
              <a:lnSpc>
                <a:spcPts val="1390"/>
              </a:lnSpc>
            </a:pPr>
            <a:r>
              <a:rPr sz="1250" dirty="0">
                <a:solidFill>
                  <a:srgbClr val="FFFFFF"/>
                </a:solidFill>
                <a:latin typeface="Calibri"/>
                <a:cs typeface="Calibri"/>
              </a:rPr>
              <a:t>standardize</a:t>
            </a:r>
            <a:r>
              <a:rPr sz="1250" spc="90" dirty="0">
                <a:solidFill>
                  <a:srgbClr val="FFFFFF"/>
                </a:solidFill>
                <a:latin typeface="Calibri"/>
                <a:cs typeface="Calibri"/>
              </a:rPr>
              <a:t> </a:t>
            </a:r>
            <a:r>
              <a:rPr sz="1250" spc="-10" dirty="0">
                <a:solidFill>
                  <a:srgbClr val="FFFFFF"/>
                </a:solidFill>
                <a:latin typeface="Calibri"/>
                <a:cs typeface="Calibri"/>
              </a:rPr>
              <a:t>columns)</a:t>
            </a:r>
            <a:endParaRPr sz="1250">
              <a:latin typeface="Calibri"/>
              <a:cs typeface="Calibri"/>
            </a:endParaRPr>
          </a:p>
        </p:txBody>
      </p:sp>
      <p:sp>
        <p:nvSpPr>
          <p:cNvPr id="31" name="object 31"/>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10</a:t>
            </a:fld>
            <a:endParaRPr spc="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11</a:t>
            </a:fld>
            <a:endParaRPr spc="60"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0" dirty="0"/>
              <a:t>Data</a:t>
            </a:r>
            <a:r>
              <a:rPr spc="-210" dirty="0"/>
              <a:t> </a:t>
            </a:r>
            <a:r>
              <a:rPr spc="-55" dirty="0"/>
              <a:t>Wrangling</a:t>
            </a:r>
          </a:p>
        </p:txBody>
      </p:sp>
      <p:sp>
        <p:nvSpPr>
          <p:cNvPr id="25" name="TextBox 24">
            <a:extLst>
              <a:ext uri="{FF2B5EF4-FFF2-40B4-BE49-F238E27FC236}">
                <a16:creationId xmlns:a16="http://schemas.microsoft.com/office/drawing/2014/main" id="{C7C13100-4998-DB92-504A-263EAD9C186B}"/>
              </a:ext>
            </a:extLst>
          </p:cNvPr>
          <p:cNvSpPr txBox="1"/>
          <p:nvPr/>
        </p:nvSpPr>
        <p:spPr>
          <a:xfrm>
            <a:off x="849311" y="1447800"/>
            <a:ext cx="10493375" cy="4486100"/>
          </a:xfrm>
          <a:prstGeom prst="rect">
            <a:avLst/>
          </a:prstGeom>
          <a:noFill/>
        </p:spPr>
        <p:txBody>
          <a:bodyPr wrap="square" rtlCol="0">
            <a:spAutoFit/>
          </a:bodyPr>
          <a:lstStyle/>
          <a:p>
            <a:pPr>
              <a:lnSpc>
                <a:spcPct val="150000"/>
              </a:lnSpc>
              <a:buNone/>
            </a:pPr>
            <a:r>
              <a:rPr lang="en-US" sz="1600" b="1" dirty="0">
                <a:latin typeface="+mj-lt"/>
              </a:rPr>
              <a:t>Data Wrangling Overview</a:t>
            </a:r>
          </a:p>
          <a:p>
            <a:pPr>
              <a:lnSpc>
                <a:spcPct val="150000"/>
              </a:lnSpc>
            </a:pPr>
            <a:r>
              <a:rPr lang="en-US" sz="1600" dirty="0">
                <a:latin typeface="+mj-lt"/>
              </a:rPr>
              <a:t>Data wrangling, also known as data munging, is the process of cleaning, transforming, and organizing raw data into a structured format suitable for analysis. This crucial step ensures data quality and reliability, enabling accurate analysis and decision-making.</a:t>
            </a:r>
          </a:p>
          <a:p>
            <a:pPr>
              <a:lnSpc>
                <a:spcPct val="150000"/>
              </a:lnSpc>
              <a:buNone/>
            </a:pPr>
            <a:r>
              <a:rPr lang="en-US" sz="1600" b="1" dirty="0">
                <a:latin typeface="+mj-lt"/>
              </a:rPr>
              <a:t>Step 1: Data Cleaning</a:t>
            </a:r>
          </a:p>
          <a:p>
            <a:pPr>
              <a:lnSpc>
                <a:spcPct val="150000"/>
              </a:lnSpc>
              <a:buNone/>
            </a:pPr>
            <a:r>
              <a:rPr lang="en-US" sz="1600" dirty="0">
                <a:latin typeface="+mj-lt"/>
              </a:rPr>
              <a:t>Data cleaning involves identifying and rectifying inaccuracies or inconsistencies in the dataset to enhance its quality. Key tasks include:​</a:t>
            </a:r>
          </a:p>
          <a:p>
            <a:pPr marL="285750" indent="-285750">
              <a:lnSpc>
                <a:spcPct val="150000"/>
              </a:lnSpc>
              <a:buFont typeface="Arial" panose="020B0604020202020204" pitchFamily="34" charset="0"/>
              <a:buChar char="•"/>
            </a:pPr>
            <a:r>
              <a:rPr lang="en-US" sz="1600" b="1" dirty="0">
                <a:latin typeface="+mj-lt"/>
              </a:rPr>
              <a:t>Handling Missing Values</a:t>
            </a:r>
            <a:r>
              <a:rPr lang="en-US" sz="1600" dirty="0">
                <a:latin typeface="+mj-lt"/>
              </a:rPr>
              <a:t>: Detect and address missing data using appropriate imputation techniques (e.g., mean, median, mode) or by removing rows/columns with excessive missing values.</a:t>
            </a:r>
          </a:p>
          <a:p>
            <a:pPr marL="285750" indent="-285750">
              <a:lnSpc>
                <a:spcPct val="150000"/>
              </a:lnSpc>
              <a:buFont typeface="Arial" panose="020B0604020202020204" pitchFamily="34" charset="0"/>
              <a:buChar char="•"/>
            </a:pPr>
            <a:r>
              <a:rPr lang="en-US" sz="1600" b="1" dirty="0">
                <a:latin typeface="+mj-lt"/>
              </a:rPr>
              <a:t>Removing Duplicates</a:t>
            </a:r>
            <a:r>
              <a:rPr lang="en-US" sz="1600" dirty="0">
                <a:latin typeface="+mj-lt"/>
              </a:rPr>
              <a:t>: Eliminate redundant entries to prevent skewed analysis results.</a:t>
            </a:r>
          </a:p>
          <a:p>
            <a:pPr marL="285750" indent="-285750">
              <a:lnSpc>
                <a:spcPct val="150000"/>
              </a:lnSpc>
              <a:buFont typeface="Arial" panose="020B0604020202020204" pitchFamily="34" charset="0"/>
              <a:buChar char="•"/>
            </a:pPr>
            <a:r>
              <a:rPr lang="en-US" sz="1600" b="1" dirty="0">
                <a:latin typeface="+mj-lt"/>
              </a:rPr>
              <a:t>Correcting Inconsistencies</a:t>
            </a:r>
            <a:r>
              <a:rPr lang="en-US" sz="1600" dirty="0">
                <a:latin typeface="+mj-lt"/>
              </a:rPr>
              <a:t>: Standardize data formats, such as date representations and categorical labels, to ensure uniformity across the dataset.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312" y="1440878"/>
            <a:ext cx="10493374" cy="4858318"/>
          </a:xfrm>
          <a:prstGeom prst="rect">
            <a:avLst/>
          </a:prstGeom>
        </p:spPr>
        <p:txBody>
          <a:bodyPr vert="horz" wrap="square" lIns="0" tIns="43815" rIns="0" bIns="0" rtlCol="0">
            <a:spAutoFit/>
          </a:bodyPr>
          <a:lstStyle/>
          <a:p>
            <a:pPr>
              <a:lnSpc>
                <a:spcPct val="150000"/>
              </a:lnSpc>
              <a:buNone/>
            </a:pPr>
            <a:r>
              <a:rPr lang="en-US" sz="1400" b="1" dirty="0">
                <a:latin typeface="+mj-lt"/>
              </a:rPr>
              <a:t>Step 2: Data Transformation</a:t>
            </a:r>
          </a:p>
          <a:p>
            <a:pPr marL="285750" indent="-285750">
              <a:lnSpc>
                <a:spcPct val="150000"/>
              </a:lnSpc>
              <a:buFont typeface="Arial" panose="020B0604020202020204" pitchFamily="34" charset="0"/>
              <a:buChar char="•"/>
            </a:pPr>
            <a:r>
              <a:rPr lang="en-US" sz="1400" dirty="0">
                <a:latin typeface="+mj-lt"/>
              </a:rPr>
              <a:t>Data transformation converts data into appropriate formats, facilitating effective analysis. Key tasks include:​</a:t>
            </a:r>
          </a:p>
          <a:p>
            <a:pPr marL="285750" indent="-285750">
              <a:lnSpc>
                <a:spcPct val="150000"/>
              </a:lnSpc>
              <a:buFont typeface="Arial" panose="020B0604020202020204" pitchFamily="34" charset="0"/>
              <a:buChar char="•"/>
            </a:pPr>
            <a:r>
              <a:rPr lang="en-US" sz="1400" b="1" dirty="0">
                <a:latin typeface="+mj-lt"/>
              </a:rPr>
              <a:t>Data Type Conversion</a:t>
            </a:r>
            <a:r>
              <a:rPr lang="en-US" sz="1400" dirty="0">
                <a:latin typeface="+mj-lt"/>
              </a:rPr>
              <a:t>: Ensure each feature has the correct data type (e.g., converting strings to datetime objects).</a:t>
            </a:r>
          </a:p>
          <a:p>
            <a:pPr marL="285750" indent="-285750">
              <a:lnSpc>
                <a:spcPct val="150000"/>
              </a:lnSpc>
              <a:buFont typeface="Arial" panose="020B0604020202020204" pitchFamily="34" charset="0"/>
              <a:buChar char="•"/>
            </a:pPr>
            <a:r>
              <a:rPr lang="en-US" sz="1400" b="1" dirty="0">
                <a:latin typeface="+mj-lt"/>
              </a:rPr>
              <a:t>Text Standardization</a:t>
            </a:r>
            <a:r>
              <a:rPr lang="en-US" sz="1400" dirty="0">
                <a:latin typeface="+mj-lt"/>
              </a:rPr>
              <a:t>: Normalize text data by converting to lowercase, removing whitespace, and correcting misspellings.​</a:t>
            </a:r>
          </a:p>
          <a:p>
            <a:pPr marL="285750" indent="-285750">
              <a:lnSpc>
                <a:spcPct val="150000"/>
              </a:lnSpc>
              <a:buFont typeface="Arial" panose="020B0604020202020204" pitchFamily="34" charset="0"/>
              <a:buChar char="•"/>
            </a:pPr>
            <a:r>
              <a:rPr lang="en-US" sz="1400" b="1" dirty="0">
                <a:latin typeface="+mj-lt"/>
              </a:rPr>
              <a:t>Feature Engineering</a:t>
            </a:r>
            <a:r>
              <a:rPr lang="en-US" sz="1400" dirty="0">
                <a:latin typeface="+mj-lt"/>
              </a:rPr>
              <a:t>: Create new features from existing data (e.g., extracting the year from a date) to enrich the dataset.​</a:t>
            </a:r>
          </a:p>
          <a:p>
            <a:pPr marL="285750" indent="-285750">
              <a:lnSpc>
                <a:spcPct val="150000"/>
              </a:lnSpc>
              <a:buFont typeface="Arial" panose="020B0604020202020204" pitchFamily="34" charset="0"/>
              <a:buChar char="•"/>
            </a:pPr>
            <a:r>
              <a:rPr lang="en-US" sz="1400" b="1" dirty="0">
                <a:latin typeface="+mj-lt"/>
              </a:rPr>
              <a:t>Normalization/Scaling</a:t>
            </a:r>
            <a:r>
              <a:rPr lang="en-US" sz="1400" dirty="0">
                <a:latin typeface="+mj-lt"/>
              </a:rPr>
              <a:t>: Apply techniques like Min-Max scaling or Z-score standardization to numerical features, ensuring they contribute equally to the analysis.</a:t>
            </a:r>
            <a:endParaRPr lang="en-US" sz="1400" dirty="0">
              <a:solidFill>
                <a:srgbClr val="292929"/>
              </a:solidFill>
              <a:latin typeface="+mj-lt"/>
              <a:cs typeface="Calibri"/>
            </a:endParaRPr>
          </a:p>
          <a:p>
            <a:pPr>
              <a:lnSpc>
                <a:spcPct val="150000"/>
              </a:lnSpc>
              <a:buNone/>
            </a:pPr>
            <a:r>
              <a:rPr lang="en-US" sz="1400" b="1" dirty="0">
                <a:latin typeface="+mj-lt"/>
              </a:rPr>
              <a:t>Step 3: Data Integration</a:t>
            </a:r>
          </a:p>
          <a:p>
            <a:pPr marL="171450" indent="-171450">
              <a:lnSpc>
                <a:spcPct val="150000"/>
              </a:lnSpc>
              <a:buFont typeface="Arial" panose="020B0604020202020204" pitchFamily="34" charset="0"/>
              <a:buChar char="•"/>
            </a:pPr>
            <a:r>
              <a:rPr lang="en-US" sz="1400" b="1" dirty="0">
                <a:latin typeface="+mj-lt"/>
              </a:rPr>
              <a:t>Merge Datasets</a:t>
            </a:r>
            <a:r>
              <a:rPr lang="en-US" sz="1400" dirty="0">
                <a:latin typeface="+mj-lt"/>
              </a:rPr>
              <a:t>: Combine data from diverse origins into a single, comprehensive dataset.</a:t>
            </a:r>
          </a:p>
          <a:p>
            <a:pPr marL="171450" indent="-171450">
              <a:lnSpc>
                <a:spcPct val="150000"/>
              </a:lnSpc>
              <a:buFont typeface="Arial" panose="020B0604020202020204" pitchFamily="34" charset="0"/>
              <a:buChar char="•"/>
            </a:pPr>
            <a:r>
              <a:rPr lang="en-US" sz="1400" b="1" dirty="0">
                <a:latin typeface="+mj-lt"/>
              </a:rPr>
              <a:t>Standardize Structure</a:t>
            </a:r>
            <a:r>
              <a:rPr lang="en-US" sz="1400" dirty="0">
                <a:latin typeface="+mj-lt"/>
              </a:rPr>
              <a:t>: Ensure consistent column names, data types, and formats to enable seamless integration and downstream processing.</a:t>
            </a:r>
            <a:endParaRPr lang="en-US" sz="1400" dirty="0">
              <a:solidFill>
                <a:srgbClr val="292929"/>
              </a:solidFill>
              <a:latin typeface="+mj-lt"/>
              <a:cs typeface="Calibri"/>
            </a:endParaRPr>
          </a:p>
          <a:p>
            <a:pPr>
              <a:lnSpc>
                <a:spcPct val="150000"/>
              </a:lnSpc>
              <a:buNone/>
            </a:pPr>
            <a:r>
              <a:rPr lang="en-US" sz="1400" b="1" dirty="0">
                <a:latin typeface="+mj-lt"/>
              </a:rPr>
              <a:t>Step 4: Data Validation</a:t>
            </a:r>
          </a:p>
          <a:p>
            <a:pPr marL="171450" indent="-171450">
              <a:lnSpc>
                <a:spcPct val="150000"/>
              </a:lnSpc>
              <a:buFont typeface="Arial" panose="020B0604020202020204" pitchFamily="34" charset="0"/>
              <a:buChar char="•"/>
            </a:pPr>
            <a:r>
              <a:rPr lang="en-US" sz="1400" b="1" dirty="0">
                <a:latin typeface="+mj-lt"/>
              </a:rPr>
              <a:t>Remove Duplicates</a:t>
            </a:r>
            <a:r>
              <a:rPr lang="en-US" sz="1400" dirty="0">
                <a:latin typeface="+mj-lt"/>
              </a:rPr>
              <a:t>: Identify and eliminate redundant records that may skew analysis.</a:t>
            </a:r>
          </a:p>
          <a:p>
            <a:pPr marL="171450" indent="-171450">
              <a:lnSpc>
                <a:spcPct val="150000"/>
              </a:lnSpc>
              <a:buFont typeface="Arial" panose="020B0604020202020204" pitchFamily="34" charset="0"/>
              <a:buChar char="•"/>
            </a:pPr>
            <a:r>
              <a:rPr lang="en-US" sz="1400" b="1" dirty="0">
                <a:latin typeface="+mj-lt"/>
              </a:rPr>
              <a:t>Verify Data Accuracy</a:t>
            </a:r>
            <a:r>
              <a:rPr lang="en-US" sz="1400" dirty="0">
                <a:latin typeface="+mj-lt"/>
              </a:rPr>
              <a:t>: Cross-check entries to confirm their correctness and consistency.</a:t>
            </a:r>
          </a:p>
          <a:p>
            <a:pPr marL="171450" indent="-171450">
              <a:lnSpc>
                <a:spcPct val="150000"/>
              </a:lnSpc>
              <a:buFont typeface="Arial" panose="020B0604020202020204" pitchFamily="34" charset="0"/>
              <a:buChar char="•"/>
            </a:pPr>
            <a:r>
              <a:rPr lang="en-US" sz="1400" b="1" dirty="0">
                <a:latin typeface="+mj-lt"/>
              </a:rPr>
              <a:t>Enforce Data Integrity</a:t>
            </a:r>
            <a:r>
              <a:rPr lang="en-US" sz="1400" dirty="0">
                <a:latin typeface="+mj-lt"/>
              </a:rPr>
              <a:t>: Ensure values fall within expected ranges and adhere to defined formats or categories.</a:t>
            </a:r>
          </a:p>
          <a:p>
            <a:pPr>
              <a:lnSpc>
                <a:spcPct val="150000"/>
              </a:lnSpc>
            </a:pPr>
            <a:endParaRPr lang="en-US" sz="1400" dirty="0">
              <a:latin typeface="+mj-lt"/>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12</a:t>
            </a:fld>
            <a:endParaRPr spc="60" dirty="0"/>
          </a:p>
        </p:txBody>
      </p:sp>
      <p:sp>
        <p:nvSpPr>
          <p:cNvPr id="4" name="object 4"/>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0" dirty="0"/>
              <a:t>Data</a:t>
            </a:r>
            <a:r>
              <a:rPr spc="-210" dirty="0"/>
              <a:t> </a:t>
            </a:r>
            <a:r>
              <a:rPr spc="-55" dirty="0"/>
              <a:t>Wrangling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0" dirty="0"/>
              <a:t>Data</a:t>
            </a:r>
            <a:r>
              <a:rPr spc="-185" dirty="0"/>
              <a:t> </a:t>
            </a:r>
            <a:r>
              <a:rPr spc="-30" dirty="0"/>
              <a:t>Wrangling</a:t>
            </a:r>
            <a:r>
              <a:rPr spc="-145" dirty="0"/>
              <a:t> </a:t>
            </a:r>
            <a:r>
              <a:rPr spc="-40" dirty="0"/>
              <a:t>Flowchart</a:t>
            </a:r>
          </a:p>
        </p:txBody>
      </p:sp>
      <p:grpSp>
        <p:nvGrpSpPr>
          <p:cNvPr id="3" name="object 3"/>
          <p:cNvGrpSpPr/>
          <p:nvPr/>
        </p:nvGrpSpPr>
        <p:grpSpPr>
          <a:xfrm>
            <a:off x="2998851" y="1474850"/>
            <a:ext cx="1536700" cy="1363980"/>
            <a:chOff x="2998851" y="1474850"/>
            <a:chExt cx="1536700" cy="1363980"/>
          </a:xfrm>
        </p:grpSpPr>
        <p:sp>
          <p:nvSpPr>
            <p:cNvPr id="4" name="object 4"/>
            <p:cNvSpPr/>
            <p:nvPr/>
          </p:nvSpPr>
          <p:spPr>
            <a:xfrm>
              <a:off x="3238500" y="1704974"/>
              <a:ext cx="142875" cy="1133475"/>
            </a:xfrm>
            <a:custGeom>
              <a:avLst/>
              <a:gdLst/>
              <a:ahLst/>
              <a:cxnLst/>
              <a:rect l="l" t="t" r="r" b="b"/>
              <a:pathLst>
                <a:path w="142875" h="1133475">
                  <a:moveTo>
                    <a:pt x="142875" y="0"/>
                  </a:moveTo>
                  <a:lnTo>
                    <a:pt x="0" y="0"/>
                  </a:lnTo>
                  <a:lnTo>
                    <a:pt x="0" y="1133475"/>
                  </a:lnTo>
                  <a:lnTo>
                    <a:pt x="142875" y="1133475"/>
                  </a:lnTo>
                  <a:lnTo>
                    <a:pt x="142875" y="0"/>
                  </a:lnTo>
                  <a:close/>
                </a:path>
              </a:pathLst>
            </a:custGeom>
            <a:solidFill>
              <a:srgbClr val="AFBBDE"/>
            </a:solidFill>
          </p:spPr>
          <p:txBody>
            <a:bodyPr wrap="square" lIns="0" tIns="0" rIns="0" bIns="0" rtlCol="0"/>
            <a:lstStyle/>
            <a:p>
              <a:endParaRPr/>
            </a:p>
          </p:txBody>
        </p:sp>
        <p:sp>
          <p:nvSpPr>
            <p:cNvPr id="5" name="object 5"/>
            <p:cNvSpPr/>
            <p:nvPr/>
          </p:nvSpPr>
          <p:spPr>
            <a:xfrm>
              <a:off x="3005201" y="1481200"/>
              <a:ext cx="1524000" cy="914400"/>
            </a:xfrm>
            <a:custGeom>
              <a:avLst/>
              <a:gdLst/>
              <a:ahLst/>
              <a:cxnLst/>
              <a:rect l="l" t="t" r="r" b="b"/>
              <a:pathLst>
                <a:path w="1524000" h="914400">
                  <a:moveTo>
                    <a:pt x="1432560" y="0"/>
                  </a:moveTo>
                  <a:lnTo>
                    <a:pt x="91440" y="0"/>
                  </a:lnTo>
                  <a:lnTo>
                    <a:pt x="55828" y="7179"/>
                  </a:lnTo>
                  <a:lnTo>
                    <a:pt x="26765" y="26765"/>
                  </a:lnTo>
                  <a:lnTo>
                    <a:pt x="7179" y="55828"/>
                  </a:lnTo>
                  <a:lnTo>
                    <a:pt x="0" y="91439"/>
                  </a:lnTo>
                  <a:lnTo>
                    <a:pt x="0" y="822960"/>
                  </a:lnTo>
                  <a:lnTo>
                    <a:pt x="7179" y="858518"/>
                  </a:lnTo>
                  <a:lnTo>
                    <a:pt x="26765" y="887587"/>
                  </a:lnTo>
                  <a:lnTo>
                    <a:pt x="55828" y="907202"/>
                  </a:lnTo>
                  <a:lnTo>
                    <a:pt x="91440" y="914400"/>
                  </a:lnTo>
                  <a:lnTo>
                    <a:pt x="1432560" y="914400"/>
                  </a:lnTo>
                  <a:lnTo>
                    <a:pt x="1468118" y="907202"/>
                  </a:lnTo>
                  <a:lnTo>
                    <a:pt x="1497187" y="887587"/>
                  </a:lnTo>
                  <a:lnTo>
                    <a:pt x="1516802" y="858518"/>
                  </a:lnTo>
                  <a:lnTo>
                    <a:pt x="1524000" y="822960"/>
                  </a:lnTo>
                  <a:lnTo>
                    <a:pt x="1524000" y="91439"/>
                  </a:lnTo>
                  <a:lnTo>
                    <a:pt x="1516802" y="55828"/>
                  </a:lnTo>
                  <a:lnTo>
                    <a:pt x="1497187" y="26765"/>
                  </a:lnTo>
                  <a:lnTo>
                    <a:pt x="1468118" y="7179"/>
                  </a:lnTo>
                  <a:lnTo>
                    <a:pt x="1432560" y="0"/>
                  </a:lnTo>
                  <a:close/>
                </a:path>
              </a:pathLst>
            </a:custGeom>
            <a:solidFill>
              <a:srgbClr val="4471C4"/>
            </a:solidFill>
          </p:spPr>
          <p:txBody>
            <a:bodyPr wrap="square" lIns="0" tIns="0" rIns="0" bIns="0" rtlCol="0"/>
            <a:lstStyle/>
            <a:p>
              <a:endParaRPr/>
            </a:p>
          </p:txBody>
        </p:sp>
        <p:sp>
          <p:nvSpPr>
            <p:cNvPr id="6" name="object 6"/>
            <p:cNvSpPr/>
            <p:nvPr/>
          </p:nvSpPr>
          <p:spPr>
            <a:xfrm>
              <a:off x="3005201" y="1481200"/>
              <a:ext cx="1524000" cy="914400"/>
            </a:xfrm>
            <a:custGeom>
              <a:avLst/>
              <a:gdLst/>
              <a:ahLst/>
              <a:cxnLst/>
              <a:rect l="l" t="t" r="r" b="b"/>
              <a:pathLst>
                <a:path w="1524000" h="914400">
                  <a:moveTo>
                    <a:pt x="0" y="91439"/>
                  </a:moveTo>
                  <a:lnTo>
                    <a:pt x="7179" y="55828"/>
                  </a:lnTo>
                  <a:lnTo>
                    <a:pt x="26765" y="26765"/>
                  </a:lnTo>
                  <a:lnTo>
                    <a:pt x="55828" y="7179"/>
                  </a:lnTo>
                  <a:lnTo>
                    <a:pt x="91440" y="0"/>
                  </a:lnTo>
                  <a:lnTo>
                    <a:pt x="1432560" y="0"/>
                  </a:lnTo>
                  <a:lnTo>
                    <a:pt x="1468118" y="7179"/>
                  </a:lnTo>
                  <a:lnTo>
                    <a:pt x="1497187" y="26765"/>
                  </a:lnTo>
                  <a:lnTo>
                    <a:pt x="1516802" y="55828"/>
                  </a:lnTo>
                  <a:lnTo>
                    <a:pt x="1524000" y="91439"/>
                  </a:lnTo>
                  <a:lnTo>
                    <a:pt x="1524000" y="822960"/>
                  </a:lnTo>
                  <a:lnTo>
                    <a:pt x="1516802" y="858518"/>
                  </a:lnTo>
                  <a:lnTo>
                    <a:pt x="1497187" y="887587"/>
                  </a:lnTo>
                  <a:lnTo>
                    <a:pt x="1468118" y="907202"/>
                  </a:lnTo>
                  <a:lnTo>
                    <a:pt x="1432560" y="914400"/>
                  </a:lnTo>
                  <a:lnTo>
                    <a:pt x="91440" y="914400"/>
                  </a:lnTo>
                  <a:lnTo>
                    <a:pt x="55828" y="907202"/>
                  </a:lnTo>
                  <a:lnTo>
                    <a:pt x="26765" y="887587"/>
                  </a:lnTo>
                  <a:lnTo>
                    <a:pt x="7179" y="858518"/>
                  </a:lnTo>
                  <a:lnTo>
                    <a:pt x="0" y="822960"/>
                  </a:lnTo>
                  <a:lnTo>
                    <a:pt x="0" y="91439"/>
                  </a:lnTo>
                  <a:close/>
                </a:path>
              </a:pathLst>
            </a:custGeom>
            <a:ln w="12700">
              <a:solidFill>
                <a:srgbClr val="FFFFFF"/>
              </a:solidFill>
            </a:ln>
          </p:spPr>
          <p:txBody>
            <a:bodyPr wrap="square" lIns="0" tIns="0" rIns="0" bIns="0" rtlCol="0"/>
            <a:lstStyle/>
            <a:p>
              <a:endParaRPr/>
            </a:p>
          </p:txBody>
        </p:sp>
      </p:grpSp>
      <p:sp>
        <p:nvSpPr>
          <p:cNvPr id="7" name="object 7"/>
          <p:cNvSpPr txBox="1"/>
          <p:nvPr/>
        </p:nvSpPr>
        <p:spPr>
          <a:xfrm>
            <a:off x="3223895" y="1626615"/>
            <a:ext cx="1080770" cy="582295"/>
          </a:xfrm>
          <a:prstGeom prst="rect">
            <a:avLst/>
          </a:prstGeom>
        </p:spPr>
        <p:txBody>
          <a:bodyPr vert="horz" wrap="square" lIns="0" tIns="15875" rIns="0" bIns="0" rtlCol="0">
            <a:spAutoFit/>
          </a:bodyPr>
          <a:lstStyle/>
          <a:p>
            <a:pPr marL="12700">
              <a:lnSpc>
                <a:spcPts val="1465"/>
              </a:lnSpc>
              <a:spcBef>
                <a:spcPts val="125"/>
              </a:spcBef>
            </a:pPr>
            <a:r>
              <a:rPr sz="1250" dirty="0">
                <a:solidFill>
                  <a:srgbClr val="FFFFFF"/>
                </a:solidFill>
                <a:latin typeface="Calibri"/>
                <a:cs typeface="Calibri"/>
              </a:rPr>
              <a:t>Identify</a:t>
            </a:r>
            <a:r>
              <a:rPr sz="1250" spc="105" dirty="0">
                <a:solidFill>
                  <a:srgbClr val="FFFFFF"/>
                </a:solidFill>
                <a:latin typeface="Calibri"/>
                <a:cs typeface="Calibri"/>
              </a:rPr>
              <a:t> </a:t>
            </a:r>
            <a:r>
              <a:rPr sz="1250" spc="-10" dirty="0">
                <a:solidFill>
                  <a:srgbClr val="FFFFFF"/>
                </a:solidFill>
                <a:latin typeface="Calibri"/>
                <a:cs typeface="Calibri"/>
              </a:rPr>
              <a:t>Missing</a:t>
            </a:r>
            <a:endParaRPr sz="1250">
              <a:latin typeface="Calibri"/>
              <a:cs typeface="Calibri"/>
            </a:endParaRPr>
          </a:p>
          <a:p>
            <a:pPr marL="36830" marR="59055" indent="289560">
              <a:lnSpc>
                <a:spcPts val="1430"/>
              </a:lnSpc>
              <a:spcBef>
                <a:spcPts val="65"/>
              </a:spcBef>
            </a:pPr>
            <a:r>
              <a:rPr sz="1250" spc="-10" dirty="0">
                <a:solidFill>
                  <a:srgbClr val="FFFFFF"/>
                </a:solidFill>
                <a:latin typeface="Calibri"/>
                <a:cs typeface="Calibri"/>
              </a:rPr>
              <a:t>Values (pandas.isnull)</a:t>
            </a:r>
            <a:endParaRPr sz="1250">
              <a:latin typeface="Calibri"/>
              <a:cs typeface="Calibri"/>
            </a:endParaRPr>
          </a:p>
        </p:txBody>
      </p:sp>
      <p:grpSp>
        <p:nvGrpSpPr>
          <p:cNvPr id="8" name="object 8"/>
          <p:cNvGrpSpPr/>
          <p:nvPr/>
        </p:nvGrpSpPr>
        <p:grpSpPr>
          <a:xfrm>
            <a:off x="2998851" y="2617851"/>
            <a:ext cx="1536700" cy="1363980"/>
            <a:chOff x="2998851" y="2617851"/>
            <a:chExt cx="1536700" cy="1363980"/>
          </a:xfrm>
        </p:grpSpPr>
        <p:sp>
          <p:nvSpPr>
            <p:cNvPr id="9" name="object 9"/>
            <p:cNvSpPr/>
            <p:nvPr/>
          </p:nvSpPr>
          <p:spPr>
            <a:xfrm>
              <a:off x="3238500" y="2847975"/>
              <a:ext cx="142875" cy="1133475"/>
            </a:xfrm>
            <a:custGeom>
              <a:avLst/>
              <a:gdLst/>
              <a:ahLst/>
              <a:cxnLst/>
              <a:rect l="l" t="t" r="r" b="b"/>
              <a:pathLst>
                <a:path w="142875" h="1133475">
                  <a:moveTo>
                    <a:pt x="142875" y="0"/>
                  </a:moveTo>
                  <a:lnTo>
                    <a:pt x="0" y="0"/>
                  </a:lnTo>
                  <a:lnTo>
                    <a:pt x="0" y="1133475"/>
                  </a:lnTo>
                  <a:lnTo>
                    <a:pt x="142875" y="1133475"/>
                  </a:lnTo>
                  <a:lnTo>
                    <a:pt x="142875" y="0"/>
                  </a:lnTo>
                  <a:close/>
                </a:path>
              </a:pathLst>
            </a:custGeom>
            <a:solidFill>
              <a:srgbClr val="AFBBDE"/>
            </a:solidFill>
          </p:spPr>
          <p:txBody>
            <a:bodyPr wrap="square" lIns="0" tIns="0" rIns="0" bIns="0" rtlCol="0"/>
            <a:lstStyle/>
            <a:p>
              <a:endParaRPr/>
            </a:p>
          </p:txBody>
        </p:sp>
        <p:sp>
          <p:nvSpPr>
            <p:cNvPr id="10" name="object 10"/>
            <p:cNvSpPr/>
            <p:nvPr/>
          </p:nvSpPr>
          <p:spPr>
            <a:xfrm>
              <a:off x="3005201" y="2624201"/>
              <a:ext cx="1524000" cy="914400"/>
            </a:xfrm>
            <a:custGeom>
              <a:avLst/>
              <a:gdLst/>
              <a:ahLst/>
              <a:cxnLst/>
              <a:rect l="l" t="t" r="r" b="b"/>
              <a:pathLst>
                <a:path w="1524000" h="914400">
                  <a:moveTo>
                    <a:pt x="1432560" y="0"/>
                  </a:moveTo>
                  <a:lnTo>
                    <a:pt x="91440" y="0"/>
                  </a:lnTo>
                  <a:lnTo>
                    <a:pt x="55828" y="7179"/>
                  </a:lnTo>
                  <a:lnTo>
                    <a:pt x="26765" y="26765"/>
                  </a:lnTo>
                  <a:lnTo>
                    <a:pt x="7179" y="55828"/>
                  </a:lnTo>
                  <a:lnTo>
                    <a:pt x="0" y="91439"/>
                  </a:lnTo>
                  <a:lnTo>
                    <a:pt x="0" y="822960"/>
                  </a:lnTo>
                  <a:lnTo>
                    <a:pt x="7179" y="858518"/>
                  </a:lnTo>
                  <a:lnTo>
                    <a:pt x="26765" y="887587"/>
                  </a:lnTo>
                  <a:lnTo>
                    <a:pt x="55828" y="907202"/>
                  </a:lnTo>
                  <a:lnTo>
                    <a:pt x="91440" y="914400"/>
                  </a:lnTo>
                  <a:lnTo>
                    <a:pt x="1432560" y="914400"/>
                  </a:lnTo>
                  <a:lnTo>
                    <a:pt x="1468118" y="907202"/>
                  </a:lnTo>
                  <a:lnTo>
                    <a:pt x="1497187" y="887587"/>
                  </a:lnTo>
                  <a:lnTo>
                    <a:pt x="1516802" y="858518"/>
                  </a:lnTo>
                  <a:lnTo>
                    <a:pt x="1524000" y="822960"/>
                  </a:lnTo>
                  <a:lnTo>
                    <a:pt x="1524000" y="91439"/>
                  </a:lnTo>
                  <a:lnTo>
                    <a:pt x="1516802" y="55828"/>
                  </a:lnTo>
                  <a:lnTo>
                    <a:pt x="1497187" y="26765"/>
                  </a:lnTo>
                  <a:lnTo>
                    <a:pt x="1468118" y="7179"/>
                  </a:lnTo>
                  <a:lnTo>
                    <a:pt x="1432560" y="0"/>
                  </a:lnTo>
                  <a:close/>
                </a:path>
              </a:pathLst>
            </a:custGeom>
            <a:solidFill>
              <a:srgbClr val="4471C4"/>
            </a:solidFill>
          </p:spPr>
          <p:txBody>
            <a:bodyPr wrap="square" lIns="0" tIns="0" rIns="0" bIns="0" rtlCol="0"/>
            <a:lstStyle/>
            <a:p>
              <a:endParaRPr/>
            </a:p>
          </p:txBody>
        </p:sp>
        <p:sp>
          <p:nvSpPr>
            <p:cNvPr id="11" name="object 11"/>
            <p:cNvSpPr/>
            <p:nvPr/>
          </p:nvSpPr>
          <p:spPr>
            <a:xfrm>
              <a:off x="3005201" y="2624201"/>
              <a:ext cx="1524000" cy="914400"/>
            </a:xfrm>
            <a:custGeom>
              <a:avLst/>
              <a:gdLst/>
              <a:ahLst/>
              <a:cxnLst/>
              <a:rect l="l" t="t" r="r" b="b"/>
              <a:pathLst>
                <a:path w="1524000" h="914400">
                  <a:moveTo>
                    <a:pt x="0" y="91439"/>
                  </a:moveTo>
                  <a:lnTo>
                    <a:pt x="7179" y="55828"/>
                  </a:lnTo>
                  <a:lnTo>
                    <a:pt x="26765" y="26765"/>
                  </a:lnTo>
                  <a:lnTo>
                    <a:pt x="55828" y="7179"/>
                  </a:lnTo>
                  <a:lnTo>
                    <a:pt x="91440" y="0"/>
                  </a:lnTo>
                  <a:lnTo>
                    <a:pt x="1432560" y="0"/>
                  </a:lnTo>
                  <a:lnTo>
                    <a:pt x="1468118" y="7179"/>
                  </a:lnTo>
                  <a:lnTo>
                    <a:pt x="1497187" y="26765"/>
                  </a:lnTo>
                  <a:lnTo>
                    <a:pt x="1516802" y="55828"/>
                  </a:lnTo>
                  <a:lnTo>
                    <a:pt x="1524000" y="91439"/>
                  </a:lnTo>
                  <a:lnTo>
                    <a:pt x="1524000" y="822960"/>
                  </a:lnTo>
                  <a:lnTo>
                    <a:pt x="1516802" y="858518"/>
                  </a:lnTo>
                  <a:lnTo>
                    <a:pt x="1497187" y="887587"/>
                  </a:lnTo>
                  <a:lnTo>
                    <a:pt x="1468118" y="907202"/>
                  </a:lnTo>
                  <a:lnTo>
                    <a:pt x="1432560" y="914400"/>
                  </a:lnTo>
                  <a:lnTo>
                    <a:pt x="91440" y="914400"/>
                  </a:lnTo>
                  <a:lnTo>
                    <a:pt x="55828" y="907202"/>
                  </a:lnTo>
                  <a:lnTo>
                    <a:pt x="26765" y="887587"/>
                  </a:lnTo>
                  <a:lnTo>
                    <a:pt x="7179" y="858518"/>
                  </a:lnTo>
                  <a:lnTo>
                    <a:pt x="0" y="822960"/>
                  </a:lnTo>
                  <a:lnTo>
                    <a:pt x="0" y="91439"/>
                  </a:lnTo>
                  <a:close/>
                </a:path>
              </a:pathLst>
            </a:custGeom>
            <a:ln w="12700">
              <a:solidFill>
                <a:srgbClr val="FFFFFF"/>
              </a:solidFill>
            </a:ln>
          </p:spPr>
          <p:txBody>
            <a:bodyPr wrap="square" lIns="0" tIns="0" rIns="0" bIns="0" rtlCol="0"/>
            <a:lstStyle/>
            <a:p>
              <a:endParaRPr/>
            </a:p>
          </p:txBody>
        </p:sp>
      </p:grpSp>
      <p:sp>
        <p:nvSpPr>
          <p:cNvPr id="12" name="object 12"/>
          <p:cNvSpPr txBox="1"/>
          <p:nvPr/>
        </p:nvSpPr>
        <p:spPr>
          <a:xfrm>
            <a:off x="3210941" y="2769552"/>
            <a:ext cx="1114425" cy="582295"/>
          </a:xfrm>
          <a:prstGeom prst="rect">
            <a:avLst/>
          </a:prstGeom>
        </p:spPr>
        <p:txBody>
          <a:bodyPr vert="horz" wrap="square" lIns="0" tIns="29209" rIns="0" bIns="0" rtlCol="0">
            <a:spAutoFit/>
          </a:bodyPr>
          <a:lstStyle/>
          <a:p>
            <a:pPr marL="12700" marR="5080" algn="ctr">
              <a:lnSpc>
                <a:spcPts val="1430"/>
              </a:lnSpc>
              <a:spcBef>
                <a:spcPts val="229"/>
              </a:spcBef>
            </a:pPr>
            <a:r>
              <a:rPr sz="1250" spc="-10" dirty="0">
                <a:solidFill>
                  <a:srgbClr val="FFFFFF"/>
                </a:solidFill>
                <a:latin typeface="Calibri"/>
                <a:cs typeface="Calibri"/>
              </a:rPr>
              <a:t>Impute/Remove </a:t>
            </a:r>
            <a:r>
              <a:rPr sz="1250" dirty="0">
                <a:solidFill>
                  <a:srgbClr val="FFFFFF"/>
                </a:solidFill>
                <a:latin typeface="Calibri"/>
                <a:cs typeface="Calibri"/>
              </a:rPr>
              <a:t>Missing</a:t>
            </a:r>
            <a:r>
              <a:rPr sz="1250" spc="165" dirty="0">
                <a:solidFill>
                  <a:srgbClr val="FFFFFF"/>
                </a:solidFill>
                <a:latin typeface="Calibri"/>
                <a:cs typeface="Calibri"/>
              </a:rPr>
              <a:t> </a:t>
            </a:r>
            <a:r>
              <a:rPr sz="1250" spc="-20" dirty="0">
                <a:solidFill>
                  <a:srgbClr val="FFFFFF"/>
                </a:solidFill>
                <a:latin typeface="Calibri"/>
                <a:cs typeface="Calibri"/>
              </a:rPr>
              <a:t>Data </a:t>
            </a:r>
            <a:r>
              <a:rPr sz="1250" spc="-10" dirty="0">
                <a:solidFill>
                  <a:srgbClr val="FFFFFF"/>
                </a:solidFill>
                <a:latin typeface="Calibri"/>
                <a:cs typeface="Calibri"/>
              </a:rPr>
              <a:t>(fillna/dropna)</a:t>
            </a:r>
            <a:endParaRPr sz="1250">
              <a:latin typeface="Calibri"/>
              <a:cs typeface="Calibri"/>
            </a:endParaRPr>
          </a:p>
        </p:txBody>
      </p:sp>
      <p:grpSp>
        <p:nvGrpSpPr>
          <p:cNvPr id="13" name="object 13"/>
          <p:cNvGrpSpPr/>
          <p:nvPr/>
        </p:nvGrpSpPr>
        <p:grpSpPr>
          <a:xfrm>
            <a:off x="2998851" y="3760851"/>
            <a:ext cx="1536700" cy="1363980"/>
            <a:chOff x="2998851" y="3760851"/>
            <a:chExt cx="1536700" cy="1363980"/>
          </a:xfrm>
        </p:grpSpPr>
        <p:sp>
          <p:nvSpPr>
            <p:cNvPr id="14" name="object 14"/>
            <p:cNvSpPr/>
            <p:nvPr/>
          </p:nvSpPr>
          <p:spPr>
            <a:xfrm>
              <a:off x="3238500" y="3990975"/>
              <a:ext cx="142875" cy="1133475"/>
            </a:xfrm>
            <a:custGeom>
              <a:avLst/>
              <a:gdLst/>
              <a:ahLst/>
              <a:cxnLst/>
              <a:rect l="l" t="t" r="r" b="b"/>
              <a:pathLst>
                <a:path w="142875" h="1133475">
                  <a:moveTo>
                    <a:pt x="142875" y="0"/>
                  </a:moveTo>
                  <a:lnTo>
                    <a:pt x="0" y="0"/>
                  </a:lnTo>
                  <a:lnTo>
                    <a:pt x="0" y="1133475"/>
                  </a:lnTo>
                  <a:lnTo>
                    <a:pt x="142875" y="1133475"/>
                  </a:lnTo>
                  <a:lnTo>
                    <a:pt x="142875" y="0"/>
                  </a:lnTo>
                  <a:close/>
                </a:path>
              </a:pathLst>
            </a:custGeom>
            <a:solidFill>
              <a:srgbClr val="AFBBDE"/>
            </a:solidFill>
          </p:spPr>
          <p:txBody>
            <a:bodyPr wrap="square" lIns="0" tIns="0" rIns="0" bIns="0" rtlCol="0"/>
            <a:lstStyle/>
            <a:p>
              <a:endParaRPr/>
            </a:p>
          </p:txBody>
        </p:sp>
        <p:sp>
          <p:nvSpPr>
            <p:cNvPr id="15" name="object 15"/>
            <p:cNvSpPr/>
            <p:nvPr/>
          </p:nvSpPr>
          <p:spPr>
            <a:xfrm>
              <a:off x="3005201" y="3767201"/>
              <a:ext cx="1524000" cy="914400"/>
            </a:xfrm>
            <a:custGeom>
              <a:avLst/>
              <a:gdLst/>
              <a:ahLst/>
              <a:cxnLst/>
              <a:rect l="l" t="t" r="r" b="b"/>
              <a:pathLst>
                <a:path w="1524000" h="914400">
                  <a:moveTo>
                    <a:pt x="1432560" y="0"/>
                  </a:moveTo>
                  <a:lnTo>
                    <a:pt x="91440" y="0"/>
                  </a:lnTo>
                  <a:lnTo>
                    <a:pt x="55828" y="7179"/>
                  </a:lnTo>
                  <a:lnTo>
                    <a:pt x="26765" y="26765"/>
                  </a:lnTo>
                  <a:lnTo>
                    <a:pt x="7179" y="55828"/>
                  </a:lnTo>
                  <a:lnTo>
                    <a:pt x="0" y="91440"/>
                  </a:lnTo>
                  <a:lnTo>
                    <a:pt x="0" y="822960"/>
                  </a:lnTo>
                  <a:lnTo>
                    <a:pt x="7179" y="858518"/>
                  </a:lnTo>
                  <a:lnTo>
                    <a:pt x="26765" y="887587"/>
                  </a:lnTo>
                  <a:lnTo>
                    <a:pt x="55828" y="907202"/>
                  </a:lnTo>
                  <a:lnTo>
                    <a:pt x="91440" y="914400"/>
                  </a:lnTo>
                  <a:lnTo>
                    <a:pt x="1432560" y="914400"/>
                  </a:lnTo>
                  <a:lnTo>
                    <a:pt x="1468118" y="907202"/>
                  </a:lnTo>
                  <a:lnTo>
                    <a:pt x="1497187" y="887587"/>
                  </a:lnTo>
                  <a:lnTo>
                    <a:pt x="1516802" y="858518"/>
                  </a:lnTo>
                  <a:lnTo>
                    <a:pt x="1524000" y="822960"/>
                  </a:lnTo>
                  <a:lnTo>
                    <a:pt x="1524000" y="91440"/>
                  </a:lnTo>
                  <a:lnTo>
                    <a:pt x="1516802" y="55828"/>
                  </a:lnTo>
                  <a:lnTo>
                    <a:pt x="1497187" y="26765"/>
                  </a:lnTo>
                  <a:lnTo>
                    <a:pt x="1468118" y="7179"/>
                  </a:lnTo>
                  <a:lnTo>
                    <a:pt x="1432560" y="0"/>
                  </a:lnTo>
                  <a:close/>
                </a:path>
              </a:pathLst>
            </a:custGeom>
            <a:solidFill>
              <a:srgbClr val="4471C4"/>
            </a:solidFill>
          </p:spPr>
          <p:txBody>
            <a:bodyPr wrap="square" lIns="0" tIns="0" rIns="0" bIns="0" rtlCol="0"/>
            <a:lstStyle/>
            <a:p>
              <a:endParaRPr/>
            </a:p>
          </p:txBody>
        </p:sp>
        <p:sp>
          <p:nvSpPr>
            <p:cNvPr id="16" name="object 16"/>
            <p:cNvSpPr/>
            <p:nvPr/>
          </p:nvSpPr>
          <p:spPr>
            <a:xfrm>
              <a:off x="3005201" y="3767201"/>
              <a:ext cx="1524000" cy="914400"/>
            </a:xfrm>
            <a:custGeom>
              <a:avLst/>
              <a:gdLst/>
              <a:ahLst/>
              <a:cxnLst/>
              <a:rect l="l" t="t" r="r" b="b"/>
              <a:pathLst>
                <a:path w="1524000" h="914400">
                  <a:moveTo>
                    <a:pt x="0" y="91440"/>
                  </a:moveTo>
                  <a:lnTo>
                    <a:pt x="7179" y="55828"/>
                  </a:lnTo>
                  <a:lnTo>
                    <a:pt x="26765" y="26765"/>
                  </a:lnTo>
                  <a:lnTo>
                    <a:pt x="55828" y="7179"/>
                  </a:lnTo>
                  <a:lnTo>
                    <a:pt x="91440" y="0"/>
                  </a:lnTo>
                  <a:lnTo>
                    <a:pt x="1432560" y="0"/>
                  </a:lnTo>
                  <a:lnTo>
                    <a:pt x="1468118" y="7179"/>
                  </a:lnTo>
                  <a:lnTo>
                    <a:pt x="1497187" y="26765"/>
                  </a:lnTo>
                  <a:lnTo>
                    <a:pt x="1516802" y="55828"/>
                  </a:lnTo>
                  <a:lnTo>
                    <a:pt x="1524000" y="91440"/>
                  </a:lnTo>
                  <a:lnTo>
                    <a:pt x="1524000" y="822960"/>
                  </a:lnTo>
                  <a:lnTo>
                    <a:pt x="1516802" y="858518"/>
                  </a:lnTo>
                  <a:lnTo>
                    <a:pt x="1497187" y="887587"/>
                  </a:lnTo>
                  <a:lnTo>
                    <a:pt x="1468118" y="907202"/>
                  </a:lnTo>
                  <a:lnTo>
                    <a:pt x="1432560" y="914400"/>
                  </a:lnTo>
                  <a:lnTo>
                    <a:pt x="91440" y="914400"/>
                  </a:lnTo>
                  <a:lnTo>
                    <a:pt x="55828" y="907202"/>
                  </a:lnTo>
                  <a:lnTo>
                    <a:pt x="26765" y="887587"/>
                  </a:lnTo>
                  <a:lnTo>
                    <a:pt x="7179" y="858518"/>
                  </a:lnTo>
                  <a:lnTo>
                    <a:pt x="0" y="822960"/>
                  </a:lnTo>
                  <a:lnTo>
                    <a:pt x="0" y="91440"/>
                  </a:lnTo>
                  <a:close/>
                </a:path>
              </a:pathLst>
            </a:custGeom>
            <a:ln w="12700">
              <a:solidFill>
                <a:srgbClr val="FFFFFF"/>
              </a:solidFill>
            </a:ln>
          </p:spPr>
          <p:txBody>
            <a:bodyPr wrap="square" lIns="0" tIns="0" rIns="0" bIns="0" rtlCol="0"/>
            <a:lstStyle/>
            <a:p>
              <a:endParaRPr/>
            </a:p>
          </p:txBody>
        </p:sp>
      </p:grpSp>
      <p:sp>
        <p:nvSpPr>
          <p:cNvPr id="17" name="object 17"/>
          <p:cNvSpPr txBox="1"/>
          <p:nvPr/>
        </p:nvSpPr>
        <p:spPr>
          <a:xfrm>
            <a:off x="3108070" y="3912806"/>
            <a:ext cx="1316990" cy="582930"/>
          </a:xfrm>
          <a:prstGeom prst="rect">
            <a:avLst/>
          </a:prstGeom>
        </p:spPr>
        <p:txBody>
          <a:bodyPr vert="horz" wrap="square" lIns="0" tIns="29209" rIns="0" bIns="0" rtlCol="0">
            <a:spAutoFit/>
          </a:bodyPr>
          <a:lstStyle/>
          <a:p>
            <a:pPr marL="12700" marR="5080" algn="ctr">
              <a:lnSpc>
                <a:spcPts val="1430"/>
              </a:lnSpc>
              <a:spcBef>
                <a:spcPts val="229"/>
              </a:spcBef>
            </a:pPr>
            <a:r>
              <a:rPr sz="1250" dirty="0">
                <a:solidFill>
                  <a:srgbClr val="FFFFFF"/>
                </a:solidFill>
                <a:latin typeface="Calibri"/>
                <a:cs typeface="Calibri"/>
              </a:rPr>
              <a:t>Convert</a:t>
            </a:r>
            <a:r>
              <a:rPr sz="1250" spc="40" dirty="0">
                <a:solidFill>
                  <a:srgbClr val="FFFFFF"/>
                </a:solidFill>
                <a:latin typeface="Calibri"/>
                <a:cs typeface="Calibri"/>
              </a:rPr>
              <a:t> </a:t>
            </a:r>
            <a:r>
              <a:rPr sz="1250" dirty="0">
                <a:solidFill>
                  <a:srgbClr val="FFFFFF"/>
                </a:solidFill>
                <a:latin typeface="Calibri"/>
                <a:cs typeface="Calibri"/>
              </a:rPr>
              <a:t>Data</a:t>
            </a:r>
            <a:r>
              <a:rPr sz="1250" spc="90" dirty="0">
                <a:solidFill>
                  <a:srgbClr val="FFFFFF"/>
                </a:solidFill>
                <a:latin typeface="Calibri"/>
                <a:cs typeface="Calibri"/>
              </a:rPr>
              <a:t> </a:t>
            </a:r>
            <a:r>
              <a:rPr sz="1250" spc="-20" dirty="0">
                <a:solidFill>
                  <a:srgbClr val="FFFFFF"/>
                </a:solidFill>
                <a:latin typeface="Calibri"/>
                <a:cs typeface="Calibri"/>
              </a:rPr>
              <a:t>Types </a:t>
            </a:r>
            <a:r>
              <a:rPr sz="1250" spc="-10" dirty="0">
                <a:solidFill>
                  <a:srgbClr val="FFFFFF"/>
                </a:solidFill>
                <a:latin typeface="Calibri"/>
                <a:cs typeface="Calibri"/>
              </a:rPr>
              <a:t>(pd.to_datetime, astype)</a:t>
            </a:r>
            <a:endParaRPr sz="1250">
              <a:latin typeface="Calibri"/>
              <a:cs typeface="Calibri"/>
            </a:endParaRPr>
          </a:p>
        </p:txBody>
      </p:sp>
      <p:grpSp>
        <p:nvGrpSpPr>
          <p:cNvPr id="18" name="object 18"/>
          <p:cNvGrpSpPr/>
          <p:nvPr/>
        </p:nvGrpSpPr>
        <p:grpSpPr>
          <a:xfrm>
            <a:off x="2998851" y="4903851"/>
            <a:ext cx="2335530" cy="927100"/>
            <a:chOff x="2998851" y="4903851"/>
            <a:chExt cx="2335530" cy="927100"/>
          </a:xfrm>
        </p:grpSpPr>
        <p:sp>
          <p:nvSpPr>
            <p:cNvPr id="19" name="object 19"/>
            <p:cNvSpPr/>
            <p:nvPr/>
          </p:nvSpPr>
          <p:spPr>
            <a:xfrm>
              <a:off x="3314700" y="5057775"/>
              <a:ext cx="2019300" cy="142875"/>
            </a:xfrm>
            <a:custGeom>
              <a:avLst/>
              <a:gdLst/>
              <a:ahLst/>
              <a:cxnLst/>
              <a:rect l="l" t="t" r="r" b="b"/>
              <a:pathLst>
                <a:path w="2019300" h="142875">
                  <a:moveTo>
                    <a:pt x="2019300" y="0"/>
                  </a:moveTo>
                  <a:lnTo>
                    <a:pt x="0" y="0"/>
                  </a:lnTo>
                  <a:lnTo>
                    <a:pt x="0" y="142875"/>
                  </a:lnTo>
                  <a:lnTo>
                    <a:pt x="2019300" y="142875"/>
                  </a:lnTo>
                  <a:lnTo>
                    <a:pt x="2019300" y="0"/>
                  </a:lnTo>
                  <a:close/>
                </a:path>
              </a:pathLst>
            </a:custGeom>
            <a:solidFill>
              <a:srgbClr val="AFBBDE"/>
            </a:solidFill>
          </p:spPr>
          <p:txBody>
            <a:bodyPr wrap="square" lIns="0" tIns="0" rIns="0" bIns="0" rtlCol="0"/>
            <a:lstStyle/>
            <a:p>
              <a:endParaRPr/>
            </a:p>
          </p:txBody>
        </p:sp>
        <p:sp>
          <p:nvSpPr>
            <p:cNvPr id="20" name="object 20"/>
            <p:cNvSpPr/>
            <p:nvPr/>
          </p:nvSpPr>
          <p:spPr>
            <a:xfrm>
              <a:off x="3005201" y="4910201"/>
              <a:ext cx="1524000" cy="914400"/>
            </a:xfrm>
            <a:custGeom>
              <a:avLst/>
              <a:gdLst/>
              <a:ahLst/>
              <a:cxnLst/>
              <a:rect l="l" t="t" r="r" b="b"/>
              <a:pathLst>
                <a:path w="1524000" h="914400">
                  <a:moveTo>
                    <a:pt x="1432560" y="0"/>
                  </a:moveTo>
                  <a:lnTo>
                    <a:pt x="91440" y="0"/>
                  </a:lnTo>
                  <a:lnTo>
                    <a:pt x="55828" y="7179"/>
                  </a:lnTo>
                  <a:lnTo>
                    <a:pt x="26765" y="26765"/>
                  </a:lnTo>
                  <a:lnTo>
                    <a:pt x="7179" y="55828"/>
                  </a:lnTo>
                  <a:lnTo>
                    <a:pt x="0" y="91440"/>
                  </a:lnTo>
                  <a:lnTo>
                    <a:pt x="0" y="822896"/>
                  </a:lnTo>
                  <a:lnTo>
                    <a:pt x="7179" y="858486"/>
                  </a:lnTo>
                  <a:lnTo>
                    <a:pt x="26765" y="887552"/>
                  </a:lnTo>
                  <a:lnTo>
                    <a:pt x="55828" y="907149"/>
                  </a:lnTo>
                  <a:lnTo>
                    <a:pt x="91440" y="914336"/>
                  </a:lnTo>
                  <a:lnTo>
                    <a:pt x="1432560" y="914336"/>
                  </a:lnTo>
                  <a:lnTo>
                    <a:pt x="1468118" y="907149"/>
                  </a:lnTo>
                  <a:lnTo>
                    <a:pt x="1497187" y="887552"/>
                  </a:lnTo>
                  <a:lnTo>
                    <a:pt x="1516802" y="858486"/>
                  </a:lnTo>
                  <a:lnTo>
                    <a:pt x="1524000" y="822896"/>
                  </a:lnTo>
                  <a:lnTo>
                    <a:pt x="1524000" y="91440"/>
                  </a:lnTo>
                  <a:lnTo>
                    <a:pt x="1516802" y="55828"/>
                  </a:lnTo>
                  <a:lnTo>
                    <a:pt x="1497187" y="26765"/>
                  </a:lnTo>
                  <a:lnTo>
                    <a:pt x="1468118" y="7179"/>
                  </a:lnTo>
                  <a:lnTo>
                    <a:pt x="1432560" y="0"/>
                  </a:lnTo>
                  <a:close/>
                </a:path>
              </a:pathLst>
            </a:custGeom>
            <a:solidFill>
              <a:srgbClr val="4471C4"/>
            </a:solidFill>
          </p:spPr>
          <p:txBody>
            <a:bodyPr wrap="square" lIns="0" tIns="0" rIns="0" bIns="0" rtlCol="0"/>
            <a:lstStyle/>
            <a:p>
              <a:endParaRPr/>
            </a:p>
          </p:txBody>
        </p:sp>
        <p:sp>
          <p:nvSpPr>
            <p:cNvPr id="21" name="object 21"/>
            <p:cNvSpPr/>
            <p:nvPr/>
          </p:nvSpPr>
          <p:spPr>
            <a:xfrm>
              <a:off x="3005201" y="4910201"/>
              <a:ext cx="1524000" cy="914400"/>
            </a:xfrm>
            <a:custGeom>
              <a:avLst/>
              <a:gdLst/>
              <a:ahLst/>
              <a:cxnLst/>
              <a:rect l="l" t="t" r="r" b="b"/>
              <a:pathLst>
                <a:path w="1524000" h="914400">
                  <a:moveTo>
                    <a:pt x="0" y="91440"/>
                  </a:moveTo>
                  <a:lnTo>
                    <a:pt x="7179" y="55828"/>
                  </a:lnTo>
                  <a:lnTo>
                    <a:pt x="26765" y="26765"/>
                  </a:lnTo>
                  <a:lnTo>
                    <a:pt x="55828" y="7179"/>
                  </a:lnTo>
                  <a:lnTo>
                    <a:pt x="91440" y="0"/>
                  </a:lnTo>
                  <a:lnTo>
                    <a:pt x="1432560" y="0"/>
                  </a:lnTo>
                  <a:lnTo>
                    <a:pt x="1468118" y="7179"/>
                  </a:lnTo>
                  <a:lnTo>
                    <a:pt x="1497187" y="26765"/>
                  </a:lnTo>
                  <a:lnTo>
                    <a:pt x="1516802" y="55828"/>
                  </a:lnTo>
                  <a:lnTo>
                    <a:pt x="1524000" y="91440"/>
                  </a:lnTo>
                  <a:lnTo>
                    <a:pt x="1524000" y="822896"/>
                  </a:lnTo>
                  <a:lnTo>
                    <a:pt x="1516802" y="858486"/>
                  </a:lnTo>
                  <a:lnTo>
                    <a:pt x="1497187" y="887552"/>
                  </a:lnTo>
                  <a:lnTo>
                    <a:pt x="1468118" y="907149"/>
                  </a:lnTo>
                  <a:lnTo>
                    <a:pt x="1432560" y="914336"/>
                  </a:lnTo>
                  <a:lnTo>
                    <a:pt x="91440" y="914336"/>
                  </a:lnTo>
                  <a:lnTo>
                    <a:pt x="55828" y="907149"/>
                  </a:lnTo>
                  <a:lnTo>
                    <a:pt x="26765" y="887552"/>
                  </a:lnTo>
                  <a:lnTo>
                    <a:pt x="7179" y="858486"/>
                  </a:lnTo>
                  <a:lnTo>
                    <a:pt x="0" y="822896"/>
                  </a:lnTo>
                  <a:lnTo>
                    <a:pt x="0" y="91440"/>
                  </a:lnTo>
                  <a:close/>
                </a:path>
              </a:pathLst>
            </a:custGeom>
            <a:ln w="12700">
              <a:solidFill>
                <a:srgbClr val="FFFFFF"/>
              </a:solidFill>
            </a:ln>
          </p:spPr>
          <p:txBody>
            <a:bodyPr wrap="square" lIns="0" tIns="0" rIns="0" bIns="0" rtlCol="0"/>
            <a:lstStyle/>
            <a:p>
              <a:endParaRPr/>
            </a:p>
          </p:txBody>
        </p:sp>
      </p:grpSp>
      <p:sp>
        <p:nvSpPr>
          <p:cNvPr id="22" name="object 22"/>
          <p:cNvSpPr txBox="1"/>
          <p:nvPr/>
        </p:nvSpPr>
        <p:spPr>
          <a:xfrm>
            <a:off x="3208020" y="5147691"/>
            <a:ext cx="1116330" cy="400685"/>
          </a:xfrm>
          <a:prstGeom prst="rect">
            <a:avLst/>
          </a:prstGeom>
        </p:spPr>
        <p:txBody>
          <a:bodyPr vert="horz" wrap="square" lIns="0" tIns="15875" rIns="0" bIns="0" rtlCol="0">
            <a:spAutoFit/>
          </a:bodyPr>
          <a:lstStyle/>
          <a:p>
            <a:pPr marL="12700">
              <a:lnSpc>
                <a:spcPts val="1460"/>
              </a:lnSpc>
              <a:spcBef>
                <a:spcPts val="125"/>
              </a:spcBef>
            </a:pPr>
            <a:r>
              <a:rPr sz="1250" dirty="0">
                <a:solidFill>
                  <a:srgbClr val="FFFFFF"/>
                </a:solidFill>
                <a:latin typeface="Calibri"/>
                <a:cs typeface="Calibri"/>
              </a:rPr>
              <a:t>Standardize</a:t>
            </a:r>
            <a:r>
              <a:rPr sz="1250" spc="65" dirty="0">
                <a:solidFill>
                  <a:srgbClr val="FFFFFF"/>
                </a:solidFill>
                <a:latin typeface="Calibri"/>
                <a:cs typeface="Calibri"/>
              </a:rPr>
              <a:t> </a:t>
            </a:r>
            <a:r>
              <a:rPr sz="1250" spc="-20" dirty="0">
                <a:solidFill>
                  <a:srgbClr val="FFFFFF"/>
                </a:solidFill>
                <a:latin typeface="Calibri"/>
                <a:cs typeface="Calibri"/>
              </a:rPr>
              <a:t>Text</a:t>
            </a:r>
            <a:endParaRPr sz="1250">
              <a:latin typeface="Calibri"/>
              <a:cs typeface="Calibri"/>
            </a:endParaRPr>
          </a:p>
          <a:p>
            <a:pPr marL="36830">
              <a:lnSpc>
                <a:spcPts val="1460"/>
              </a:lnSpc>
            </a:pPr>
            <a:r>
              <a:rPr sz="1250" spc="-10" dirty="0">
                <a:solidFill>
                  <a:srgbClr val="FFFFFF"/>
                </a:solidFill>
                <a:latin typeface="Calibri"/>
                <a:cs typeface="Calibri"/>
              </a:rPr>
              <a:t>(str.lower,</a:t>
            </a:r>
            <a:r>
              <a:rPr sz="1250" dirty="0">
                <a:solidFill>
                  <a:srgbClr val="FFFFFF"/>
                </a:solidFill>
                <a:latin typeface="Calibri"/>
                <a:cs typeface="Calibri"/>
              </a:rPr>
              <a:t> </a:t>
            </a:r>
            <a:r>
              <a:rPr sz="1250" spc="-10" dirty="0">
                <a:solidFill>
                  <a:srgbClr val="FFFFFF"/>
                </a:solidFill>
                <a:latin typeface="Calibri"/>
                <a:cs typeface="Calibri"/>
              </a:rPr>
              <a:t>strip)</a:t>
            </a:r>
            <a:endParaRPr sz="1250">
              <a:latin typeface="Calibri"/>
              <a:cs typeface="Calibri"/>
            </a:endParaRPr>
          </a:p>
        </p:txBody>
      </p:sp>
      <p:grpSp>
        <p:nvGrpSpPr>
          <p:cNvPr id="23" name="object 23"/>
          <p:cNvGrpSpPr/>
          <p:nvPr/>
        </p:nvGrpSpPr>
        <p:grpSpPr>
          <a:xfrm>
            <a:off x="5027676" y="3990975"/>
            <a:ext cx="1536700" cy="1840230"/>
            <a:chOff x="5027676" y="3990975"/>
            <a:chExt cx="1536700" cy="1840230"/>
          </a:xfrm>
        </p:grpSpPr>
        <p:sp>
          <p:nvSpPr>
            <p:cNvPr id="24" name="object 24"/>
            <p:cNvSpPr/>
            <p:nvPr/>
          </p:nvSpPr>
          <p:spPr>
            <a:xfrm>
              <a:off x="5267325" y="3990975"/>
              <a:ext cx="133350" cy="1133475"/>
            </a:xfrm>
            <a:custGeom>
              <a:avLst/>
              <a:gdLst/>
              <a:ahLst/>
              <a:cxnLst/>
              <a:rect l="l" t="t" r="r" b="b"/>
              <a:pathLst>
                <a:path w="133350" h="1133475">
                  <a:moveTo>
                    <a:pt x="133350" y="0"/>
                  </a:moveTo>
                  <a:lnTo>
                    <a:pt x="0" y="0"/>
                  </a:lnTo>
                  <a:lnTo>
                    <a:pt x="0" y="1133475"/>
                  </a:lnTo>
                  <a:lnTo>
                    <a:pt x="133350" y="1133475"/>
                  </a:lnTo>
                  <a:lnTo>
                    <a:pt x="133350" y="0"/>
                  </a:lnTo>
                  <a:close/>
                </a:path>
              </a:pathLst>
            </a:custGeom>
            <a:solidFill>
              <a:srgbClr val="AFBBDE"/>
            </a:solidFill>
          </p:spPr>
          <p:txBody>
            <a:bodyPr wrap="square" lIns="0" tIns="0" rIns="0" bIns="0" rtlCol="0"/>
            <a:lstStyle/>
            <a:p>
              <a:endParaRPr/>
            </a:p>
          </p:txBody>
        </p:sp>
        <p:sp>
          <p:nvSpPr>
            <p:cNvPr id="25" name="object 25"/>
            <p:cNvSpPr/>
            <p:nvPr/>
          </p:nvSpPr>
          <p:spPr>
            <a:xfrm>
              <a:off x="5034026" y="4910200"/>
              <a:ext cx="1524000" cy="914400"/>
            </a:xfrm>
            <a:custGeom>
              <a:avLst/>
              <a:gdLst/>
              <a:ahLst/>
              <a:cxnLst/>
              <a:rect l="l" t="t" r="r" b="b"/>
              <a:pathLst>
                <a:path w="1524000" h="914400">
                  <a:moveTo>
                    <a:pt x="1432560" y="0"/>
                  </a:moveTo>
                  <a:lnTo>
                    <a:pt x="91439" y="0"/>
                  </a:lnTo>
                  <a:lnTo>
                    <a:pt x="55828" y="7179"/>
                  </a:lnTo>
                  <a:lnTo>
                    <a:pt x="26765" y="26765"/>
                  </a:lnTo>
                  <a:lnTo>
                    <a:pt x="7179" y="55828"/>
                  </a:lnTo>
                  <a:lnTo>
                    <a:pt x="0" y="91440"/>
                  </a:lnTo>
                  <a:lnTo>
                    <a:pt x="0" y="822896"/>
                  </a:lnTo>
                  <a:lnTo>
                    <a:pt x="7179" y="858486"/>
                  </a:lnTo>
                  <a:lnTo>
                    <a:pt x="26765" y="887552"/>
                  </a:lnTo>
                  <a:lnTo>
                    <a:pt x="55828" y="907149"/>
                  </a:lnTo>
                  <a:lnTo>
                    <a:pt x="91439" y="914336"/>
                  </a:lnTo>
                  <a:lnTo>
                    <a:pt x="1432560" y="914336"/>
                  </a:lnTo>
                  <a:lnTo>
                    <a:pt x="1468118" y="907149"/>
                  </a:lnTo>
                  <a:lnTo>
                    <a:pt x="1497187" y="887552"/>
                  </a:lnTo>
                  <a:lnTo>
                    <a:pt x="1516802" y="858486"/>
                  </a:lnTo>
                  <a:lnTo>
                    <a:pt x="1524000" y="822896"/>
                  </a:lnTo>
                  <a:lnTo>
                    <a:pt x="1524000" y="91440"/>
                  </a:lnTo>
                  <a:lnTo>
                    <a:pt x="1516802" y="55828"/>
                  </a:lnTo>
                  <a:lnTo>
                    <a:pt x="1497187" y="26765"/>
                  </a:lnTo>
                  <a:lnTo>
                    <a:pt x="1468118" y="7179"/>
                  </a:lnTo>
                  <a:lnTo>
                    <a:pt x="1432560" y="0"/>
                  </a:lnTo>
                  <a:close/>
                </a:path>
              </a:pathLst>
            </a:custGeom>
            <a:solidFill>
              <a:srgbClr val="4471C4"/>
            </a:solidFill>
          </p:spPr>
          <p:txBody>
            <a:bodyPr wrap="square" lIns="0" tIns="0" rIns="0" bIns="0" rtlCol="0"/>
            <a:lstStyle/>
            <a:p>
              <a:endParaRPr/>
            </a:p>
          </p:txBody>
        </p:sp>
        <p:sp>
          <p:nvSpPr>
            <p:cNvPr id="26" name="object 26"/>
            <p:cNvSpPr/>
            <p:nvPr/>
          </p:nvSpPr>
          <p:spPr>
            <a:xfrm>
              <a:off x="5034026" y="4910200"/>
              <a:ext cx="1524000" cy="914400"/>
            </a:xfrm>
            <a:custGeom>
              <a:avLst/>
              <a:gdLst/>
              <a:ahLst/>
              <a:cxnLst/>
              <a:rect l="l" t="t" r="r" b="b"/>
              <a:pathLst>
                <a:path w="1524000" h="914400">
                  <a:moveTo>
                    <a:pt x="0" y="91440"/>
                  </a:moveTo>
                  <a:lnTo>
                    <a:pt x="7179" y="55828"/>
                  </a:lnTo>
                  <a:lnTo>
                    <a:pt x="26765" y="26765"/>
                  </a:lnTo>
                  <a:lnTo>
                    <a:pt x="55828" y="7179"/>
                  </a:lnTo>
                  <a:lnTo>
                    <a:pt x="91439" y="0"/>
                  </a:lnTo>
                  <a:lnTo>
                    <a:pt x="1432560" y="0"/>
                  </a:lnTo>
                  <a:lnTo>
                    <a:pt x="1468118" y="7179"/>
                  </a:lnTo>
                  <a:lnTo>
                    <a:pt x="1497187" y="26765"/>
                  </a:lnTo>
                  <a:lnTo>
                    <a:pt x="1516802" y="55828"/>
                  </a:lnTo>
                  <a:lnTo>
                    <a:pt x="1524000" y="91440"/>
                  </a:lnTo>
                  <a:lnTo>
                    <a:pt x="1524000" y="822896"/>
                  </a:lnTo>
                  <a:lnTo>
                    <a:pt x="1516802" y="858486"/>
                  </a:lnTo>
                  <a:lnTo>
                    <a:pt x="1497187" y="887552"/>
                  </a:lnTo>
                  <a:lnTo>
                    <a:pt x="1468118" y="907149"/>
                  </a:lnTo>
                  <a:lnTo>
                    <a:pt x="1432560" y="914336"/>
                  </a:lnTo>
                  <a:lnTo>
                    <a:pt x="91439" y="914336"/>
                  </a:lnTo>
                  <a:lnTo>
                    <a:pt x="55828" y="907149"/>
                  </a:lnTo>
                  <a:lnTo>
                    <a:pt x="26765" y="887552"/>
                  </a:lnTo>
                  <a:lnTo>
                    <a:pt x="7179" y="858486"/>
                  </a:lnTo>
                  <a:lnTo>
                    <a:pt x="0" y="822896"/>
                  </a:lnTo>
                  <a:lnTo>
                    <a:pt x="0" y="91440"/>
                  </a:lnTo>
                  <a:close/>
                </a:path>
              </a:pathLst>
            </a:custGeom>
            <a:ln w="12700">
              <a:solidFill>
                <a:srgbClr val="FFFFFF"/>
              </a:solidFill>
            </a:ln>
          </p:spPr>
          <p:txBody>
            <a:bodyPr wrap="square" lIns="0" tIns="0" rIns="0" bIns="0" rtlCol="0"/>
            <a:lstStyle/>
            <a:p>
              <a:endParaRPr/>
            </a:p>
          </p:txBody>
        </p:sp>
      </p:grpSp>
      <p:sp>
        <p:nvSpPr>
          <p:cNvPr id="27" name="object 27"/>
          <p:cNvSpPr txBox="1"/>
          <p:nvPr/>
        </p:nvSpPr>
        <p:spPr>
          <a:xfrm>
            <a:off x="5109590" y="5056187"/>
            <a:ext cx="1366520" cy="582930"/>
          </a:xfrm>
          <a:prstGeom prst="rect">
            <a:avLst/>
          </a:prstGeom>
        </p:spPr>
        <p:txBody>
          <a:bodyPr vert="horz" wrap="square" lIns="0" tIns="29209" rIns="0" bIns="0" rtlCol="0">
            <a:spAutoFit/>
          </a:bodyPr>
          <a:lstStyle/>
          <a:p>
            <a:pPr marL="12700" marR="5080" algn="ctr">
              <a:lnSpc>
                <a:spcPts val="1430"/>
              </a:lnSpc>
              <a:spcBef>
                <a:spcPts val="229"/>
              </a:spcBef>
            </a:pPr>
            <a:r>
              <a:rPr sz="1250" dirty="0">
                <a:solidFill>
                  <a:srgbClr val="FFFFFF"/>
                </a:solidFill>
                <a:latin typeface="Calibri"/>
                <a:cs typeface="Calibri"/>
              </a:rPr>
              <a:t>Feature</a:t>
            </a:r>
            <a:r>
              <a:rPr sz="1250" spc="75" dirty="0">
                <a:solidFill>
                  <a:srgbClr val="FFFFFF"/>
                </a:solidFill>
                <a:latin typeface="Calibri"/>
                <a:cs typeface="Calibri"/>
              </a:rPr>
              <a:t> </a:t>
            </a:r>
            <a:r>
              <a:rPr sz="1250" spc="-10" dirty="0">
                <a:solidFill>
                  <a:srgbClr val="FFFFFF"/>
                </a:solidFill>
                <a:latin typeface="Calibri"/>
                <a:cs typeface="Calibri"/>
              </a:rPr>
              <a:t>Engineering </a:t>
            </a:r>
            <a:r>
              <a:rPr sz="1250" dirty="0">
                <a:solidFill>
                  <a:srgbClr val="FFFFFF"/>
                </a:solidFill>
                <a:latin typeface="Calibri"/>
                <a:cs typeface="Calibri"/>
              </a:rPr>
              <a:t>(create</a:t>
            </a:r>
            <a:r>
              <a:rPr sz="1250" spc="45" dirty="0">
                <a:solidFill>
                  <a:srgbClr val="FFFFFF"/>
                </a:solidFill>
                <a:latin typeface="Calibri"/>
                <a:cs typeface="Calibri"/>
              </a:rPr>
              <a:t> </a:t>
            </a:r>
            <a:r>
              <a:rPr sz="1250" spc="-25" dirty="0">
                <a:solidFill>
                  <a:srgbClr val="FFFFFF"/>
                </a:solidFill>
                <a:latin typeface="Calibri"/>
                <a:cs typeface="Calibri"/>
              </a:rPr>
              <a:t>new </a:t>
            </a:r>
            <a:r>
              <a:rPr sz="1250" spc="-10" dirty="0">
                <a:solidFill>
                  <a:srgbClr val="FFFFFF"/>
                </a:solidFill>
                <a:latin typeface="Calibri"/>
                <a:cs typeface="Calibri"/>
              </a:rPr>
              <a:t>columns)</a:t>
            </a:r>
            <a:endParaRPr sz="1250">
              <a:latin typeface="Calibri"/>
              <a:cs typeface="Calibri"/>
            </a:endParaRPr>
          </a:p>
        </p:txBody>
      </p:sp>
      <p:grpSp>
        <p:nvGrpSpPr>
          <p:cNvPr id="28" name="object 28"/>
          <p:cNvGrpSpPr/>
          <p:nvPr/>
        </p:nvGrpSpPr>
        <p:grpSpPr>
          <a:xfrm>
            <a:off x="5027676" y="2847975"/>
            <a:ext cx="1536700" cy="1840230"/>
            <a:chOff x="5027676" y="2847975"/>
            <a:chExt cx="1536700" cy="1840230"/>
          </a:xfrm>
        </p:grpSpPr>
        <p:sp>
          <p:nvSpPr>
            <p:cNvPr id="29" name="object 29"/>
            <p:cNvSpPr/>
            <p:nvPr/>
          </p:nvSpPr>
          <p:spPr>
            <a:xfrm>
              <a:off x="5267325" y="2847975"/>
              <a:ext cx="133350" cy="1133475"/>
            </a:xfrm>
            <a:custGeom>
              <a:avLst/>
              <a:gdLst/>
              <a:ahLst/>
              <a:cxnLst/>
              <a:rect l="l" t="t" r="r" b="b"/>
              <a:pathLst>
                <a:path w="133350" h="1133475">
                  <a:moveTo>
                    <a:pt x="133350" y="0"/>
                  </a:moveTo>
                  <a:lnTo>
                    <a:pt x="0" y="0"/>
                  </a:lnTo>
                  <a:lnTo>
                    <a:pt x="0" y="1133475"/>
                  </a:lnTo>
                  <a:lnTo>
                    <a:pt x="133350" y="1133475"/>
                  </a:lnTo>
                  <a:lnTo>
                    <a:pt x="133350" y="0"/>
                  </a:lnTo>
                  <a:close/>
                </a:path>
              </a:pathLst>
            </a:custGeom>
            <a:solidFill>
              <a:srgbClr val="AFBBDE"/>
            </a:solidFill>
          </p:spPr>
          <p:txBody>
            <a:bodyPr wrap="square" lIns="0" tIns="0" rIns="0" bIns="0" rtlCol="0"/>
            <a:lstStyle/>
            <a:p>
              <a:endParaRPr/>
            </a:p>
          </p:txBody>
        </p:sp>
        <p:sp>
          <p:nvSpPr>
            <p:cNvPr id="30" name="object 30"/>
            <p:cNvSpPr/>
            <p:nvPr/>
          </p:nvSpPr>
          <p:spPr>
            <a:xfrm>
              <a:off x="5034026" y="3767200"/>
              <a:ext cx="1524000" cy="914400"/>
            </a:xfrm>
            <a:custGeom>
              <a:avLst/>
              <a:gdLst/>
              <a:ahLst/>
              <a:cxnLst/>
              <a:rect l="l" t="t" r="r" b="b"/>
              <a:pathLst>
                <a:path w="1524000" h="914400">
                  <a:moveTo>
                    <a:pt x="1432560" y="0"/>
                  </a:moveTo>
                  <a:lnTo>
                    <a:pt x="91439" y="0"/>
                  </a:lnTo>
                  <a:lnTo>
                    <a:pt x="55828" y="7179"/>
                  </a:lnTo>
                  <a:lnTo>
                    <a:pt x="26765" y="26765"/>
                  </a:lnTo>
                  <a:lnTo>
                    <a:pt x="7179" y="55828"/>
                  </a:lnTo>
                  <a:lnTo>
                    <a:pt x="0" y="91440"/>
                  </a:lnTo>
                  <a:lnTo>
                    <a:pt x="0" y="822960"/>
                  </a:lnTo>
                  <a:lnTo>
                    <a:pt x="7179" y="858518"/>
                  </a:lnTo>
                  <a:lnTo>
                    <a:pt x="26765" y="887587"/>
                  </a:lnTo>
                  <a:lnTo>
                    <a:pt x="55828" y="907202"/>
                  </a:lnTo>
                  <a:lnTo>
                    <a:pt x="91439" y="914400"/>
                  </a:lnTo>
                  <a:lnTo>
                    <a:pt x="1432560" y="914400"/>
                  </a:lnTo>
                  <a:lnTo>
                    <a:pt x="1468118" y="907202"/>
                  </a:lnTo>
                  <a:lnTo>
                    <a:pt x="1497187" y="887587"/>
                  </a:lnTo>
                  <a:lnTo>
                    <a:pt x="1516802" y="858518"/>
                  </a:lnTo>
                  <a:lnTo>
                    <a:pt x="1524000" y="822960"/>
                  </a:lnTo>
                  <a:lnTo>
                    <a:pt x="1524000" y="91440"/>
                  </a:lnTo>
                  <a:lnTo>
                    <a:pt x="1516802" y="55828"/>
                  </a:lnTo>
                  <a:lnTo>
                    <a:pt x="1497187" y="26765"/>
                  </a:lnTo>
                  <a:lnTo>
                    <a:pt x="1468118" y="7179"/>
                  </a:lnTo>
                  <a:lnTo>
                    <a:pt x="1432560" y="0"/>
                  </a:lnTo>
                  <a:close/>
                </a:path>
              </a:pathLst>
            </a:custGeom>
            <a:solidFill>
              <a:srgbClr val="4471C4"/>
            </a:solidFill>
          </p:spPr>
          <p:txBody>
            <a:bodyPr wrap="square" lIns="0" tIns="0" rIns="0" bIns="0" rtlCol="0"/>
            <a:lstStyle/>
            <a:p>
              <a:endParaRPr/>
            </a:p>
          </p:txBody>
        </p:sp>
        <p:sp>
          <p:nvSpPr>
            <p:cNvPr id="31" name="object 31"/>
            <p:cNvSpPr/>
            <p:nvPr/>
          </p:nvSpPr>
          <p:spPr>
            <a:xfrm>
              <a:off x="5034026" y="3767200"/>
              <a:ext cx="1524000" cy="914400"/>
            </a:xfrm>
            <a:custGeom>
              <a:avLst/>
              <a:gdLst/>
              <a:ahLst/>
              <a:cxnLst/>
              <a:rect l="l" t="t" r="r" b="b"/>
              <a:pathLst>
                <a:path w="1524000" h="914400">
                  <a:moveTo>
                    <a:pt x="0" y="91440"/>
                  </a:moveTo>
                  <a:lnTo>
                    <a:pt x="7179" y="55828"/>
                  </a:lnTo>
                  <a:lnTo>
                    <a:pt x="26765" y="26765"/>
                  </a:lnTo>
                  <a:lnTo>
                    <a:pt x="55828" y="7179"/>
                  </a:lnTo>
                  <a:lnTo>
                    <a:pt x="91439" y="0"/>
                  </a:lnTo>
                  <a:lnTo>
                    <a:pt x="1432560" y="0"/>
                  </a:lnTo>
                  <a:lnTo>
                    <a:pt x="1468118" y="7179"/>
                  </a:lnTo>
                  <a:lnTo>
                    <a:pt x="1497187" y="26765"/>
                  </a:lnTo>
                  <a:lnTo>
                    <a:pt x="1516802" y="55828"/>
                  </a:lnTo>
                  <a:lnTo>
                    <a:pt x="1524000" y="91440"/>
                  </a:lnTo>
                  <a:lnTo>
                    <a:pt x="1524000" y="822960"/>
                  </a:lnTo>
                  <a:lnTo>
                    <a:pt x="1516802" y="858518"/>
                  </a:lnTo>
                  <a:lnTo>
                    <a:pt x="1497187" y="887587"/>
                  </a:lnTo>
                  <a:lnTo>
                    <a:pt x="1468118" y="907202"/>
                  </a:lnTo>
                  <a:lnTo>
                    <a:pt x="1432560" y="914400"/>
                  </a:lnTo>
                  <a:lnTo>
                    <a:pt x="91439" y="914400"/>
                  </a:lnTo>
                  <a:lnTo>
                    <a:pt x="55828" y="907202"/>
                  </a:lnTo>
                  <a:lnTo>
                    <a:pt x="26765" y="887587"/>
                  </a:lnTo>
                  <a:lnTo>
                    <a:pt x="7179" y="858518"/>
                  </a:lnTo>
                  <a:lnTo>
                    <a:pt x="0" y="822960"/>
                  </a:lnTo>
                  <a:lnTo>
                    <a:pt x="0" y="91440"/>
                  </a:lnTo>
                  <a:close/>
                </a:path>
              </a:pathLst>
            </a:custGeom>
            <a:ln w="12700">
              <a:solidFill>
                <a:srgbClr val="FFFFFF"/>
              </a:solidFill>
            </a:ln>
          </p:spPr>
          <p:txBody>
            <a:bodyPr wrap="square" lIns="0" tIns="0" rIns="0" bIns="0" rtlCol="0"/>
            <a:lstStyle/>
            <a:p>
              <a:endParaRPr/>
            </a:p>
          </p:txBody>
        </p:sp>
      </p:grpSp>
      <p:sp>
        <p:nvSpPr>
          <p:cNvPr id="32" name="object 32"/>
          <p:cNvSpPr txBox="1"/>
          <p:nvPr/>
        </p:nvSpPr>
        <p:spPr>
          <a:xfrm>
            <a:off x="5237226" y="3822128"/>
            <a:ext cx="1114425" cy="773430"/>
          </a:xfrm>
          <a:prstGeom prst="rect">
            <a:avLst/>
          </a:prstGeom>
        </p:spPr>
        <p:txBody>
          <a:bodyPr vert="horz" wrap="square" lIns="0" tIns="22225" rIns="0" bIns="0" rtlCol="0">
            <a:spAutoFit/>
          </a:bodyPr>
          <a:lstStyle/>
          <a:p>
            <a:pPr marL="12700" marR="5080" algn="ctr">
              <a:lnSpc>
                <a:spcPct val="96800"/>
              </a:lnSpc>
              <a:spcBef>
                <a:spcPts val="175"/>
              </a:spcBef>
            </a:pPr>
            <a:r>
              <a:rPr sz="1250" spc="-10" dirty="0">
                <a:solidFill>
                  <a:srgbClr val="FFFFFF"/>
                </a:solidFill>
                <a:latin typeface="Calibri"/>
                <a:cs typeface="Calibri"/>
              </a:rPr>
              <a:t>Normalize/Scale Features (MinMaxScaler, StandardScaler)</a:t>
            </a:r>
            <a:endParaRPr sz="1250">
              <a:latin typeface="Calibri"/>
              <a:cs typeface="Calibri"/>
            </a:endParaRPr>
          </a:p>
        </p:txBody>
      </p:sp>
      <p:grpSp>
        <p:nvGrpSpPr>
          <p:cNvPr id="33" name="object 33"/>
          <p:cNvGrpSpPr/>
          <p:nvPr/>
        </p:nvGrpSpPr>
        <p:grpSpPr>
          <a:xfrm>
            <a:off x="5027676" y="1704975"/>
            <a:ext cx="1536700" cy="1840230"/>
            <a:chOff x="5027676" y="1704975"/>
            <a:chExt cx="1536700" cy="1840230"/>
          </a:xfrm>
        </p:grpSpPr>
        <p:sp>
          <p:nvSpPr>
            <p:cNvPr id="34" name="object 34"/>
            <p:cNvSpPr/>
            <p:nvPr/>
          </p:nvSpPr>
          <p:spPr>
            <a:xfrm>
              <a:off x="5267325" y="1704975"/>
              <a:ext cx="133350" cy="1133475"/>
            </a:xfrm>
            <a:custGeom>
              <a:avLst/>
              <a:gdLst/>
              <a:ahLst/>
              <a:cxnLst/>
              <a:rect l="l" t="t" r="r" b="b"/>
              <a:pathLst>
                <a:path w="133350" h="1133475">
                  <a:moveTo>
                    <a:pt x="133350" y="0"/>
                  </a:moveTo>
                  <a:lnTo>
                    <a:pt x="0" y="0"/>
                  </a:lnTo>
                  <a:lnTo>
                    <a:pt x="0" y="1133475"/>
                  </a:lnTo>
                  <a:lnTo>
                    <a:pt x="133350" y="1133475"/>
                  </a:lnTo>
                  <a:lnTo>
                    <a:pt x="133350" y="0"/>
                  </a:lnTo>
                  <a:close/>
                </a:path>
              </a:pathLst>
            </a:custGeom>
            <a:solidFill>
              <a:srgbClr val="AFBBDE"/>
            </a:solidFill>
          </p:spPr>
          <p:txBody>
            <a:bodyPr wrap="square" lIns="0" tIns="0" rIns="0" bIns="0" rtlCol="0"/>
            <a:lstStyle/>
            <a:p>
              <a:endParaRPr/>
            </a:p>
          </p:txBody>
        </p:sp>
        <p:sp>
          <p:nvSpPr>
            <p:cNvPr id="35" name="object 35"/>
            <p:cNvSpPr/>
            <p:nvPr/>
          </p:nvSpPr>
          <p:spPr>
            <a:xfrm>
              <a:off x="5034026" y="2624200"/>
              <a:ext cx="1524000" cy="914400"/>
            </a:xfrm>
            <a:custGeom>
              <a:avLst/>
              <a:gdLst/>
              <a:ahLst/>
              <a:cxnLst/>
              <a:rect l="l" t="t" r="r" b="b"/>
              <a:pathLst>
                <a:path w="1524000" h="914400">
                  <a:moveTo>
                    <a:pt x="1432560" y="0"/>
                  </a:moveTo>
                  <a:lnTo>
                    <a:pt x="91439" y="0"/>
                  </a:lnTo>
                  <a:lnTo>
                    <a:pt x="55828" y="7179"/>
                  </a:lnTo>
                  <a:lnTo>
                    <a:pt x="26765" y="26765"/>
                  </a:lnTo>
                  <a:lnTo>
                    <a:pt x="7179" y="55828"/>
                  </a:lnTo>
                  <a:lnTo>
                    <a:pt x="0" y="91439"/>
                  </a:lnTo>
                  <a:lnTo>
                    <a:pt x="0" y="822960"/>
                  </a:lnTo>
                  <a:lnTo>
                    <a:pt x="7179" y="858518"/>
                  </a:lnTo>
                  <a:lnTo>
                    <a:pt x="26765" y="887587"/>
                  </a:lnTo>
                  <a:lnTo>
                    <a:pt x="55828" y="907202"/>
                  </a:lnTo>
                  <a:lnTo>
                    <a:pt x="91439" y="914400"/>
                  </a:lnTo>
                  <a:lnTo>
                    <a:pt x="1432560" y="914400"/>
                  </a:lnTo>
                  <a:lnTo>
                    <a:pt x="1468118" y="907202"/>
                  </a:lnTo>
                  <a:lnTo>
                    <a:pt x="1497187" y="887587"/>
                  </a:lnTo>
                  <a:lnTo>
                    <a:pt x="1516802" y="858518"/>
                  </a:lnTo>
                  <a:lnTo>
                    <a:pt x="1524000" y="822960"/>
                  </a:lnTo>
                  <a:lnTo>
                    <a:pt x="1524000" y="91439"/>
                  </a:lnTo>
                  <a:lnTo>
                    <a:pt x="1516802" y="55828"/>
                  </a:lnTo>
                  <a:lnTo>
                    <a:pt x="1497187" y="26765"/>
                  </a:lnTo>
                  <a:lnTo>
                    <a:pt x="1468118" y="7179"/>
                  </a:lnTo>
                  <a:lnTo>
                    <a:pt x="1432560" y="0"/>
                  </a:lnTo>
                  <a:close/>
                </a:path>
              </a:pathLst>
            </a:custGeom>
            <a:solidFill>
              <a:srgbClr val="4471C4"/>
            </a:solidFill>
          </p:spPr>
          <p:txBody>
            <a:bodyPr wrap="square" lIns="0" tIns="0" rIns="0" bIns="0" rtlCol="0"/>
            <a:lstStyle/>
            <a:p>
              <a:endParaRPr/>
            </a:p>
          </p:txBody>
        </p:sp>
        <p:sp>
          <p:nvSpPr>
            <p:cNvPr id="36" name="object 36"/>
            <p:cNvSpPr/>
            <p:nvPr/>
          </p:nvSpPr>
          <p:spPr>
            <a:xfrm>
              <a:off x="5034026" y="2624200"/>
              <a:ext cx="1524000" cy="914400"/>
            </a:xfrm>
            <a:custGeom>
              <a:avLst/>
              <a:gdLst/>
              <a:ahLst/>
              <a:cxnLst/>
              <a:rect l="l" t="t" r="r" b="b"/>
              <a:pathLst>
                <a:path w="1524000" h="914400">
                  <a:moveTo>
                    <a:pt x="0" y="91439"/>
                  </a:moveTo>
                  <a:lnTo>
                    <a:pt x="7179" y="55828"/>
                  </a:lnTo>
                  <a:lnTo>
                    <a:pt x="26765" y="26765"/>
                  </a:lnTo>
                  <a:lnTo>
                    <a:pt x="55828" y="7179"/>
                  </a:lnTo>
                  <a:lnTo>
                    <a:pt x="91439" y="0"/>
                  </a:lnTo>
                  <a:lnTo>
                    <a:pt x="1432560" y="0"/>
                  </a:lnTo>
                  <a:lnTo>
                    <a:pt x="1468118" y="7179"/>
                  </a:lnTo>
                  <a:lnTo>
                    <a:pt x="1497187" y="26765"/>
                  </a:lnTo>
                  <a:lnTo>
                    <a:pt x="1516802" y="55828"/>
                  </a:lnTo>
                  <a:lnTo>
                    <a:pt x="1524000" y="91439"/>
                  </a:lnTo>
                  <a:lnTo>
                    <a:pt x="1524000" y="822960"/>
                  </a:lnTo>
                  <a:lnTo>
                    <a:pt x="1516802" y="858518"/>
                  </a:lnTo>
                  <a:lnTo>
                    <a:pt x="1497187" y="887587"/>
                  </a:lnTo>
                  <a:lnTo>
                    <a:pt x="1468118" y="907202"/>
                  </a:lnTo>
                  <a:lnTo>
                    <a:pt x="1432560" y="914400"/>
                  </a:lnTo>
                  <a:lnTo>
                    <a:pt x="91439" y="914400"/>
                  </a:lnTo>
                  <a:lnTo>
                    <a:pt x="55828" y="907202"/>
                  </a:lnTo>
                  <a:lnTo>
                    <a:pt x="26765" y="887587"/>
                  </a:lnTo>
                  <a:lnTo>
                    <a:pt x="7179" y="858518"/>
                  </a:lnTo>
                  <a:lnTo>
                    <a:pt x="0" y="822960"/>
                  </a:lnTo>
                  <a:lnTo>
                    <a:pt x="0" y="91439"/>
                  </a:lnTo>
                  <a:close/>
                </a:path>
              </a:pathLst>
            </a:custGeom>
            <a:ln w="12700">
              <a:solidFill>
                <a:srgbClr val="FFFFFF"/>
              </a:solidFill>
            </a:ln>
          </p:spPr>
          <p:txBody>
            <a:bodyPr wrap="square" lIns="0" tIns="0" rIns="0" bIns="0" rtlCol="0"/>
            <a:lstStyle/>
            <a:p>
              <a:endParaRPr/>
            </a:p>
          </p:txBody>
        </p:sp>
      </p:grpSp>
      <p:sp>
        <p:nvSpPr>
          <p:cNvPr id="37" name="object 37"/>
          <p:cNvSpPr txBox="1"/>
          <p:nvPr/>
        </p:nvSpPr>
        <p:spPr>
          <a:xfrm>
            <a:off x="5144770" y="2769552"/>
            <a:ext cx="1297305" cy="582295"/>
          </a:xfrm>
          <a:prstGeom prst="rect">
            <a:avLst/>
          </a:prstGeom>
        </p:spPr>
        <p:txBody>
          <a:bodyPr vert="horz" wrap="square" lIns="0" tIns="29209" rIns="0" bIns="0" rtlCol="0">
            <a:spAutoFit/>
          </a:bodyPr>
          <a:lstStyle/>
          <a:p>
            <a:pPr marL="282575" marR="5080" indent="-269875">
              <a:lnSpc>
                <a:spcPts val="1430"/>
              </a:lnSpc>
              <a:spcBef>
                <a:spcPts val="229"/>
              </a:spcBef>
            </a:pPr>
            <a:r>
              <a:rPr sz="1250" dirty="0">
                <a:solidFill>
                  <a:srgbClr val="FFFFFF"/>
                </a:solidFill>
                <a:latin typeface="Calibri"/>
                <a:cs typeface="Calibri"/>
              </a:rPr>
              <a:t>Merge</a:t>
            </a:r>
            <a:r>
              <a:rPr sz="1250" spc="95" dirty="0">
                <a:solidFill>
                  <a:srgbClr val="FFFFFF"/>
                </a:solidFill>
                <a:latin typeface="Calibri"/>
                <a:cs typeface="Calibri"/>
              </a:rPr>
              <a:t> </a:t>
            </a:r>
            <a:r>
              <a:rPr sz="1250" spc="-10" dirty="0">
                <a:solidFill>
                  <a:srgbClr val="FFFFFF"/>
                </a:solidFill>
                <a:latin typeface="Calibri"/>
                <a:cs typeface="Calibri"/>
              </a:rPr>
              <a:t>DataFrames (pd.merge, pd.concat)</a:t>
            </a:r>
            <a:endParaRPr sz="1250">
              <a:latin typeface="Calibri"/>
              <a:cs typeface="Calibri"/>
            </a:endParaRPr>
          </a:p>
        </p:txBody>
      </p:sp>
      <p:grpSp>
        <p:nvGrpSpPr>
          <p:cNvPr id="38" name="object 38"/>
          <p:cNvGrpSpPr/>
          <p:nvPr/>
        </p:nvGrpSpPr>
        <p:grpSpPr>
          <a:xfrm>
            <a:off x="5027676" y="1474850"/>
            <a:ext cx="2335530" cy="927100"/>
            <a:chOff x="5027676" y="1474850"/>
            <a:chExt cx="2335530" cy="927100"/>
          </a:xfrm>
        </p:grpSpPr>
        <p:sp>
          <p:nvSpPr>
            <p:cNvPr id="39" name="object 39"/>
            <p:cNvSpPr/>
            <p:nvPr/>
          </p:nvSpPr>
          <p:spPr>
            <a:xfrm>
              <a:off x="5334000" y="1638299"/>
              <a:ext cx="2028825" cy="133350"/>
            </a:xfrm>
            <a:custGeom>
              <a:avLst/>
              <a:gdLst/>
              <a:ahLst/>
              <a:cxnLst/>
              <a:rect l="l" t="t" r="r" b="b"/>
              <a:pathLst>
                <a:path w="2028825" h="133350">
                  <a:moveTo>
                    <a:pt x="2028825" y="0"/>
                  </a:moveTo>
                  <a:lnTo>
                    <a:pt x="0" y="0"/>
                  </a:lnTo>
                  <a:lnTo>
                    <a:pt x="0" y="133350"/>
                  </a:lnTo>
                  <a:lnTo>
                    <a:pt x="2028825" y="133350"/>
                  </a:lnTo>
                  <a:lnTo>
                    <a:pt x="2028825" y="0"/>
                  </a:lnTo>
                  <a:close/>
                </a:path>
              </a:pathLst>
            </a:custGeom>
            <a:solidFill>
              <a:srgbClr val="AFBBDE"/>
            </a:solidFill>
          </p:spPr>
          <p:txBody>
            <a:bodyPr wrap="square" lIns="0" tIns="0" rIns="0" bIns="0" rtlCol="0"/>
            <a:lstStyle/>
            <a:p>
              <a:endParaRPr/>
            </a:p>
          </p:txBody>
        </p:sp>
        <p:sp>
          <p:nvSpPr>
            <p:cNvPr id="40" name="object 40"/>
            <p:cNvSpPr/>
            <p:nvPr/>
          </p:nvSpPr>
          <p:spPr>
            <a:xfrm>
              <a:off x="5034026" y="1481200"/>
              <a:ext cx="1524000" cy="914400"/>
            </a:xfrm>
            <a:custGeom>
              <a:avLst/>
              <a:gdLst/>
              <a:ahLst/>
              <a:cxnLst/>
              <a:rect l="l" t="t" r="r" b="b"/>
              <a:pathLst>
                <a:path w="1524000" h="914400">
                  <a:moveTo>
                    <a:pt x="1432560" y="0"/>
                  </a:moveTo>
                  <a:lnTo>
                    <a:pt x="91439" y="0"/>
                  </a:lnTo>
                  <a:lnTo>
                    <a:pt x="55828" y="7179"/>
                  </a:lnTo>
                  <a:lnTo>
                    <a:pt x="26765" y="26765"/>
                  </a:lnTo>
                  <a:lnTo>
                    <a:pt x="7179" y="55828"/>
                  </a:lnTo>
                  <a:lnTo>
                    <a:pt x="0" y="91439"/>
                  </a:lnTo>
                  <a:lnTo>
                    <a:pt x="0" y="822960"/>
                  </a:lnTo>
                  <a:lnTo>
                    <a:pt x="7179" y="858518"/>
                  </a:lnTo>
                  <a:lnTo>
                    <a:pt x="26765" y="887587"/>
                  </a:lnTo>
                  <a:lnTo>
                    <a:pt x="55828" y="907202"/>
                  </a:lnTo>
                  <a:lnTo>
                    <a:pt x="91439" y="914400"/>
                  </a:lnTo>
                  <a:lnTo>
                    <a:pt x="1432560" y="914400"/>
                  </a:lnTo>
                  <a:lnTo>
                    <a:pt x="1468118" y="907202"/>
                  </a:lnTo>
                  <a:lnTo>
                    <a:pt x="1497187" y="887587"/>
                  </a:lnTo>
                  <a:lnTo>
                    <a:pt x="1516802" y="858518"/>
                  </a:lnTo>
                  <a:lnTo>
                    <a:pt x="1524000" y="822960"/>
                  </a:lnTo>
                  <a:lnTo>
                    <a:pt x="1524000" y="91439"/>
                  </a:lnTo>
                  <a:lnTo>
                    <a:pt x="1516802" y="55828"/>
                  </a:lnTo>
                  <a:lnTo>
                    <a:pt x="1497187" y="26765"/>
                  </a:lnTo>
                  <a:lnTo>
                    <a:pt x="1468118" y="7179"/>
                  </a:lnTo>
                  <a:lnTo>
                    <a:pt x="1432560" y="0"/>
                  </a:lnTo>
                  <a:close/>
                </a:path>
              </a:pathLst>
            </a:custGeom>
            <a:solidFill>
              <a:srgbClr val="4471C4"/>
            </a:solidFill>
          </p:spPr>
          <p:txBody>
            <a:bodyPr wrap="square" lIns="0" tIns="0" rIns="0" bIns="0" rtlCol="0"/>
            <a:lstStyle/>
            <a:p>
              <a:endParaRPr/>
            </a:p>
          </p:txBody>
        </p:sp>
        <p:sp>
          <p:nvSpPr>
            <p:cNvPr id="41" name="object 41"/>
            <p:cNvSpPr/>
            <p:nvPr/>
          </p:nvSpPr>
          <p:spPr>
            <a:xfrm>
              <a:off x="5034026" y="1481200"/>
              <a:ext cx="1524000" cy="914400"/>
            </a:xfrm>
            <a:custGeom>
              <a:avLst/>
              <a:gdLst/>
              <a:ahLst/>
              <a:cxnLst/>
              <a:rect l="l" t="t" r="r" b="b"/>
              <a:pathLst>
                <a:path w="1524000" h="914400">
                  <a:moveTo>
                    <a:pt x="0" y="91439"/>
                  </a:moveTo>
                  <a:lnTo>
                    <a:pt x="7179" y="55828"/>
                  </a:lnTo>
                  <a:lnTo>
                    <a:pt x="26765" y="26765"/>
                  </a:lnTo>
                  <a:lnTo>
                    <a:pt x="55828" y="7179"/>
                  </a:lnTo>
                  <a:lnTo>
                    <a:pt x="91439" y="0"/>
                  </a:lnTo>
                  <a:lnTo>
                    <a:pt x="1432560" y="0"/>
                  </a:lnTo>
                  <a:lnTo>
                    <a:pt x="1468118" y="7179"/>
                  </a:lnTo>
                  <a:lnTo>
                    <a:pt x="1497187" y="26765"/>
                  </a:lnTo>
                  <a:lnTo>
                    <a:pt x="1516802" y="55828"/>
                  </a:lnTo>
                  <a:lnTo>
                    <a:pt x="1524000" y="91439"/>
                  </a:lnTo>
                  <a:lnTo>
                    <a:pt x="1524000" y="822960"/>
                  </a:lnTo>
                  <a:lnTo>
                    <a:pt x="1516802" y="858518"/>
                  </a:lnTo>
                  <a:lnTo>
                    <a:pt x="1497187" y="887587"/>
                  </a:lnTo>
                  <a:lnTo>
                    <a:pt x="1468118" y="907202"/>
                  </a:lnTo>
                  <a:lnTo>
                    <a:pt x="1432560" y="914400"/>
                  </a:lnTo>
                  <a:lnTo>
                    <a:pt x="91439" y="914400"/>
                  </a:lnTo>
                  <a:lnTo>
                    <a:pt x="55828" y="907202"/>
                  </a:lnTo>
                  <a:lnTo>
                    <a:pt x="26765" y="887587"/>
                  </a:lnTo>
                  <a:lnTo>
                    <a:pt x="7179" y="858518"/>
                  </a:lnTo>
                  <a:lnTo>
                    <a:pt x="0" y="822960"/>
                  </a:lnTo>
                  <a:lnTo>
                    <a:pt x="0" y="91439"/>
                  </a:lnTo>
                  <a:close/>
                </a:path>
              </a:pathLst>
            </a:custGeom>
            <a:ln w="12700">
              <a:solidFill>
                <a:srgbClr val="FFFFFF"/>
              </a:solidFill>
            </a:ln>
          </p:spPr>
          <p:txBody>
            <a:bodyPr wrap="square" lIns="0" tIns="0" rIns="0" bIns="0" rtlCol="0"/>
            <a:lstStyle/>
            <a:p>
              <a:endParaRPr/>
            </a:p>
          </p:txBody>
        </p:sp>
      </p:grpSp>
      <p:sp>
        <p:nvSpPr>
          <p:cNvPr id="42" name="object 42"/>
          <p:cNvSpPr txBox="1"/>
          <p:nvPr/>
        </p:nvSpPr>
        <p:spPr>
          <a:xfrm>
            <a:off x="5108955" y="1626615"/>
            <a:ext cx="1368425" cy="582295"/>
          </a:xfrm>
          <a:prstGeom prst="rect">
            <a:avLst/>
          </a:prstGeom>
        </p:spPr>
        <p:txBody>
          <a:bodyPr vert="horz" wrap="square" lIns="0" tIns="24765" rIns="0" bIns="0" rtlCol="0">
            <a:spAutoFit/>
          </a:bodyPr>
          <a:lstStyle/>
          <a:p>
            <a:pPr marL="12065" marR="5080" indent="-4445" algn="ctr">
              <a:lnSpc>
                <a:spcPct val="95100"/>
              </a:lnSpc>
              <a:spcBef>
                <a:spcPts val="195"/>
              </a:spcBef>
            </a:pPr>
            <a:r>
              <a:rPr sz="1250" dirty="0">
                <a:solidFill>
                  <a:srgbClr val="FFFFFF"/>
                </a:solidFill>
                <a:latin typeface="Calibri"/>
                <a:cs typeface="Calibri"/>
              </a:rPr>
              <a:t>Ensure</a:t>
            </a:r>
            <a:r>
              <a:rPr sz="1250" spc="85" dirty="0">
                <a:solidFill>
                  <a:srgbClr val="FFFFFF"/>
                </a:solidFill>
                <a:latin typeface="Calibri"/>
                <a:cs typeface="Calibri"/>
              </a:rPr>
              <a:t> </a:t>
            </a:r>
            <a:r>
              <a:rPr sz="1250" spc="-10" dirty="0">
                <a:solidFill>
                  <a:srgbClr val="FFFFFF"/>
                </a:solidFill>
                <a:latin typeface="Calibri"/>
                <a:cs typeface="Calibri"/>
              </a:rPr>
              <a:t>Consistency </a:t>
            </a:r>
            <a:r>
              <a:rPr sz="1250" dirty="0">
                <a:solidFill>
                  <a:srgbClr val="FFFFFF"/>
                </a:solidFill>
                <a:latin typeface="Calibri"/>
                <a:cs typeface="Calibri"/>
              </a:rPr>
              <a:t>(align</a:t>
            </a:r>
            <a:r>
              <a:rPr sz="1250" spc="110" dirty="0">
                <a:solidFill>
                  <a:srgbClr val="FFFFFF"/>
                </a:solidFill>
                <a:latin typeface="Calibri"/>
                <a:cs typeface="Calibri"/>
              </a:rPr>
              <a:t> </a:t>
            </a:r>
            <a:r>
              <a:rPr sz="1250" dirty="0">
                <a:solidFill>
                  <a:srgbClr val="FFFFFF"/>
                </a:solidFill>
                <a:latin typeface="Calibri"/>
                <a:cs typeface="Calibri"/>
              </a:rPr>
              <a:t>columns,</a:t>
            </a:r>
            <a:r>
              <a:rPr sz="1250" spc="80" dirty="0">
                <a:solidFill>
                  <a:srgbClr val="FFFFFF"/>
                </a:solidFill>
                <a:latin typeface="Calibri"/>
                <a:cs typeface="Calibri"/>
              </a:rPr>
              <a:t> </a:t>
            </a:r>
            <a:r>
              <a:rPr sz="1250" spc="-20" dirty="0">
                <a:solidFill>
                  <a:srgbClr val="FFFFFF"/>
                </a:solidFill>
                <a:latin typeface="Calibri"/>
                <a:cs typeface="Calibri"/>
              </a:rPr>
              <a:t>data </a:t>
            </a:r>
            <a:r>
              <a:rPr sz="1250" spc="-10" dirty="0">
                <a:solidFill>
                  <a:srgbClr val="FFFFFF"/>
                </a:solidFill>
                <a:latin typeface="Calibri"/>
                <a:cs typeface="Calibri"/>
              </a:rPr>
              <a:t>types)</a:t>
            </a:r>
            <a:endParaRPr sz="1250">
              <a:latin typeface="Calibri"/>
              <a:cs typeface="Calibri"/>
            </a:endParaRPr>
          </a:p>
        </p:txBody>
      </p:sp>
      <p:grpSp>
        <p:nvGrpSpPr>
          <p:cNvPr id="43" name="object 43"/>
          <p:cNvGrpSpPr/>
          <p:nvPr/>
        </p:nvGrpSpPr>
        <p:grpSpPr>
          <a:xfrm>
            <a:off x="7056501" y="1474850"/>
            <a:ext cx="1527175" cy="1363980"/>
            <a:chOff x="7056501" y="1474850"/>
            <a:chExt cx="1527175" cy="1363980"/>
          </a:xfrm>
        </p:grpSpPr>
        <p:sp>
          <p:nvSpPr>
            <p:cNvPr id="44" name="object 44"/>
            <p:cNvSpPr/>
            <p:nvPr/>
          </p:nvSpPr>
          <p:spPr>
            <a:xfrm>
              <a:off x="7296150" y="1704974"/>
              <a:ext cx="133350" cy="1133475"/>
            </a:xfrm>
            <a:custGeom>
              <a:avLst/>
              <a:gdLst/>
              <a:ahLst/>
              <a:cxnLst/>
              <a:rect l="l" t="t" r="r" b="b"/>
              <a:pathLst>
                <a:path w="133350" h="1133475">
                  <a:moveTo>
                    <a:pt x="133350" y="0"/>
                  </a:moveTo>
                  <a:lnTo>
                    <a:pt x="0" y="0"/>
                  </a:lnTo>
                  <a:lnTo>
                    <a:pt x="0" y="1133475"/>
                  </a:lnTo>
                  <a:lnTo>
                    <a:pt x="133350" y="1133475"/>
                  </a:lnTo>
                  <a:lnTo>
                    <a:pt x="133350" y="0"/>
                  </a:lnTo>
                  <a:close/>
                </a:path>
              </a:pathLst>
            </a:custGeom>
            <a:solidFill>
              <a:srgbClr val="AFBBDE"/>
            </a:solidFill>
          </p:spPr>
          <p:txBody>
            <a:bodyPr wrap="square" lIns="0" tIns="0" rIns="0" bIns="0" rtlCol="0"/>
            <a:lstStyle/>
            <a:p>
              <a:endParaRPr/>
            </a:p>
          </p:txBody>
        </p:sp>
        <p:sp>
          <p:nvSpPr>
            <p:cNvPr id="45" name="object 45"/>
            <p:cNvSpPr/>
            <p:nvPr/>
          </p:nvSpPr>
          <p:spPr>
            <a:xfrm>
              <a:off x="7062851" y="1481200"/>
              <a:ext cx="1514475" cy="914400"/>
            </a:xfrm>
            <a:custGeom>
              <a:avLst/>
              <a:gdLst/>
              <a:ahLst/>
              <a:cxnLst/>
              <a:rect l="l" t="t" r="r" b="b"/>
              <a:pathLst>
                <a:path w="1514475" h="914400">
                  <a:moveTo>
                    <a:pt x="1422907" y="0"/>
                  </a:moveTo>
                  <a:lnTo>
                    <a:pt x="91440" y="0"/>
                  </a:lnTo>
                  <a:lnTo>
                    <a:pt x="55828" y="7179"/>
                  </a:lnTo>
                  <a:lnTo>
                    <a:pt x="26765" y="26765"/>
                  </a:lnTo>
                  <a:lnTo>
                    <a:pt x="7179" y="55828"/>
                  </a:lnTo>
                  <a:lnTo>
                    <a:pt x="0" y="91439"/>
                  </a:lnTo>
                  <a:lnTo>
                    <a:pt x="0" y="822960"/>
                  </a:lnTo>
                  <a:lnTo>
                    <a:pt x="7179" y="858518"/>
                  </a:lnTo>
                  <a:lnTo>
                    <a:pt x="26765" y="887587"/>
                  </a:lnTo>
                  <a:lnTo>
                    <a:pt x="55828" y="907202"/>
                  </a:lnTo>
                  <a:lnTo>
                    <a:pt x="91440" y="914400"/>
                  </a:lnTo>
                  <a:lnTo>
                    <a:pt x="1422907" y="914400"/>
                  </a:lnTo>
                  <a:lnTo>
                    <a:pt x="1458539" y="907202"/>
                  </a:lnTo>
                  <a:lnTo>
                    <a:pt x="1487646" y="887587"/>
                  </a:lnTo>
                  <a:lnTo>
                    <a:pt x="1507275" y="858518"/>
                  </a:lnTo>
                  <a:lnTo>
                    <a:pt x="1514475" y="822960"/>
                  </a:lnTo>
                  <a:lnTo>
                    <a:pt x="1514475" y="91439"/>
                  </a:lnTo>
                  <a:lnTo>
                    <a:pt x="1507275" y="55828"/>
                  </a:lnTo>
                  <a:lnTo>
                    <a:pt x="1487646" y="26765"/>
                  </a:lnTo>
                  <a:lnTo>
                    <a:pt x="1458539" y="7179"/>
                  </a:lnTo>
                  <a:lnTo>
                    <a:pt x="1422907" y="0"/>
                  </a:lnTo>
                  <a:close/>
                </a:path>
              </a:pathLst>
            </a:custGeom>
            <a:solidFill>
              <a:srgbClr val="4471C4"/>
            </a:solidFill>
          </p:spPr>
          <p:txBody>
            <a:bodyPr wrap="square" lIns="0" tIns="0" rIns="0" bIns="0" rtlCol="0"/>
            <a:lstStyle/>
            <a:p>
              <a:endParaRPr/>
            </a:p>
          </p:txBody>
        </p:sp>
        <p:sp>
          <p:nvSpPr>
            <p:cNvPr id="46" name="object 46"/>
            <p:cNvSpPr/>
            <p:nvPr/>
          </p:nvSpPr>
          <p:spPr>
            <a:xfrm>
              <a:off x="7062851" y="1481200"/>
              <a:ext cx="1514475" cy="914400"/>
            </a:xfrm>
            <a:custGeom>
              <a:avLst/>
              <a:gdLst/>
              <a:ahLst/>
              <a:cxnLst/>
              <a:rect l="l" t="t" r="r" b="b"/>
              <a:pathLst>
                <a:path w="1514475" h="914400">
                  <a:moveTo>
                    <a:pt x="0" y="91439"/>
                  </a:moveTo>
                  <a:lnTo>
                    <a:pt x="7179" y="55828"/>
                  </a:lnTo>
                  <a:lnTo>
                    <a:pt x="26765" y="26765"/>
                  </a:lnTo>
                  <a:lnTo>
                    <a:pt x="55828" y="7179"/>
                  </a:lnTo>
                  <a:lnTo>
                    <a:pt x="91440" y="0"/>
                  </a:lnTo>
                  <a:lnTo>
                    <a:pt x="1422907" y="0"/>
                  </a:lnTo>
                  <a:lnTo>
                    <a:pt x="1458539" y="7179"/>
                  </a:lnTo>
                  <a:lnTo>
                    <a:pt x="1487646" y="26765"/>
                  </a:lnTo>
                  <a:lnTo>
                    <a:pt x="1507275" y="55828"/>
                  </a:lnTo>
                  <a:lnTo>
                    <a:pt x="1514475" y="91439"/>
                  </a:lnTo>
                  <a:lnTo>
                    <a:pt x="1514475" y="822960"/>
                  </a:lnTo>
                  <a:lnTo>
                    <a:pt x="1507275" y="858518"/>
                  </a:lnTo>
                  <a:lnTo>
                    <a:pt x="1487646" y="887587"/>
                  </a:lnTo>
                  <a:lnTo>
                    <a:pt x="1458539" y="907202"/>
                  </a:lnTo>
                  <a:lnTo>
                    <a:pt x="1422907" y="914400"/>
                  </a:lnTo>
                  <a:lnTo>
                    <a:pt x="91440" y="914400"/>
                  </a:lnTo>
                  <a:lnTo>
                    <a:pt x="55828" y="907202"/>
                  </a:lnTo>
                  <a:lnTo>
                    <a:pt x="26765" y="887587"/>
                  </a:lnTo>
                  <a:lnTo>
                    <a:pt x="7179" y="858518"/>
                  </a:lnTo>
                  <a:lnTo>
                    <a:pt x="0" y="822960"/>
                  </a:lnTo>
                  <a:lnTo>
                    <a:pt x="0" y="91439"/>
                  </a:lnTo>
                  <a:close/>
                </a:path>
              </a:pathLst>
            </a:custGeom>
            <a:ln w="12700">
              <a:solidFill>
                <a:srgbClr val="FFFFFF"/>
              </a:solidFill>
            </a:ln>
          </p:spPr>
          <p:txBody>
            <a:bodyPr wrap="square" lIns="0" tIns="0" rIns="0" bIns="0" rtlCol="0"/>
            <a:lstStyle/>
            <a:p>
              <a:endParaRPr/>
            </a:p>
          </p:txBody>
        </p:sp>
      </p:grpSp>
      <p:sp>
        <p:nvSpPr>
          <p:cNvPr id="47" name="object 47"/>
          <p:cNvSpPr txBox="1"/>
          <p:nvPr/>
        </p:nvSpPr>
        <p:spPr>
          <a:xfrm>
            <a:off x="7125334" y="1626615"/>
            <a:ext cx="1391285" cy="582295"/>
          </a:xfrm>
          <a:prstGeom prst="rect">
            <a:avLst/>
          </a:prstGeom>
        </p:spPr>
        <p:txBody>
          <a:bodyPr vert="horz" wrap="square" lIns="0" tIns="24765" rIns="0" bIns="0" rtlCol="0">
            <a:spAutoFit/>
          </a:bodyPr>
          <a:lstStyle/>
          <a:p>
            <a:pPr marL="12700" marR="5080" algn="ctr">
              <a:lnSpc>
                <a:spcPct val="95100"/>
              </a:lnSpc>
              <a:spcBef>
                <a:spcPts val="195"/>
              </a:spcBef>
            </a:pPr>
            <a:r>
              <a:rPr sz="1250" dirty="0">
                <a:solidFill>
                  <a:srgbClr val="FFFFFF"/>
                </a:solidFill>
                <a:latin typeface="Calibri"/>
                <a:cs typeface="Calibri"/>
              </a:rPr>
              <a:t>Check</a:t>
            </a:r>
            <a:r>
              <a:rPr sz="1250" spc="65" dirty="0">
                <a:solidFill>
                  <a:srgbClr val="FFFFFF"/>
                </a:solidFill>
                <a:latin typeface="Calibri"/>
                <a:cs typeface="Calibri"/>
              </a:rPr>
              <a:t> </a:t>
            </a:r>
            <a:r>
              <a:rPr sz="1250" dirty="0">
                <a:solidFill>
                  <a:srgbClr val="FFFFFF"/>
                </a:solidFill>
                <a:latin typeface="Calibri"/>
                <a:cs typeface="Calibri"/>
              </a:rPr>
              <a:t>for</a:t>
            </a:r>
            <a:r>
              <a:rPr sz="1250" spc="45" dirty="0">
                <a:solidFill>
                  <a:srgbClr val="FFFFFF"/>
                </a:solidFill>
                <a:latin typeface="Calibri"/>
                <a:cs typeface="Calibri"/>
              </a:rPr>
              <a:t> </a:t>
            </a:r>
            <a:r>
              <a:rPr sz="1250" spc="-10" dirty="0">
                <a:solidFill>
                  <a:srgbClr val="FFFFFF"/>
                </a:solidFill>
                <a:latin typeface="Calibri"/>
                <a:cs typeface="Calibri"/>
              </a:rPr>
              <a:t>Duplicates (pd.duplicated,</a:t>
            </a:r>
            <a:r>
              <a:rPr sz="1250" spc="500" dirty="0">
                <a:solidFill>
                  <a:srgbClr val="FFFFFF"/>
                </a:solidFill>
                <a:latin typeface="Calibri"/>
                <a:cs typeface="Calibri"/>
              </a:rPr>
              <a:t> </a:t>
            </a:r>
            <a:r>
              <a:rPr sz="1250" spc="-10" dirty="0">
                <a:solidFill>
                  <a:srgbClr val="FFFFFF"/>
                </a:solidFill>
                <a:latin typeface="Calibri"/>
                <a:cs typeface="Calibri"/>
              </a:rPr>
              <a:t>drop)</a:t>
            </a:r>
            <a:endParaRPr sz="1250">
              <a:latin typeface="Calibri"/>
              <a:cs typeface="Calibri"/>
            </a:endParaRPr>
          </a:p>
        </p:txBody>
      </p:sp>
      <p:grpSp>
        <p:nvGrpSpPr>
          <p:cNvPr id="48" name="object 48"/>
          <p:cNvGrpSpPr/>
          <p:nvPr/>
        </p:nvGrpSpPr>
        <p:grpSpPr>
          <a:xfrm>
            <a:off x="7056501" y="2617851"/>
            <a:ext cx="1527175" cy="927100"/>
            <a:chOff x="7056501" y="2617851"/>
            <a:chExt cx="1527175" cy="927100"/>
          </a:xfrm>
        </p:grpSpPr>
        <p:sp>
          <p:nvSpPr>
            <p:cNvPr id="49" name="object 49"/>
            <p:cNvSpPr/>
            <p:nvPr/>
          </p:nvSpPr>
          <p:spPr>
            <a:xfrm>
              <a:off x="7062851" y="2624201"/>
              <a:ext cx="1514475" cy="914400"/>
            </a:xfrm>
            <a:custGeom>
              <a:avLst/>
              <a:gdLst/>
              <a:ahLst/>
              <a:cxnLst/>
              <a:rect l="l" t="t" r="r" b="b"/>
              <a:pathLst>
                <a:path w="1514475" h="914400">
                  <a:moveTo>
                    <a:pt x="1422907" y="0"/>
                  </a:moveTo>
                  <a:lnTo>
                    <a:pt x="91440" y="0"/>
                  </a:lnTo>
                  <a:lnTo>
                    <a:pt x="55828" y="7179"/>
                  </a:lnTo>
                  <a:lnTo>
                    <a:pt x="26765" y="26765"/>
                  </a:lnTo>
                  <a:lnTo>
                    <a:pt x="7179" y="55828"/>
                  </a:lnTo>
                  <a:lnTo>
                    <a:pt x="0" y="91439"/>
                  </a:lnTo>
                  <a:lnTo>
                    <a:pt x="0" y="822960"/>
                  </a:lnTo>
                  <a:lnTo>
                    <a:pt x="7179" y="858518"/>
                  </a:lnTo>
                  <a:lnTo>
                    <a:pt x="26765" y="887587"/>
                  </a:lnTo>
                  <a:lnTo>
                    <a:pt x="55828" y="907202"/>
                  </a:lnTo>
                  <a:lnTo>
                    <a:pt x="91440" y="914400"/>
                  </a:lnTo>
                  <a:lnTo>
                    <a:pt x="1422907" y="914400"/>
                  </a:lnTo>
                  <a:lnTo>
                    <a:pt x="1458539" y="907202"/>
                  </a:lnTo>
                  <a:lnTo>
                    <a:pt x="1487646" y="887587"/>
                  </a:lnTo>
                  <a:lnTo>
                    <a:pt x="1507275" y="858518"/>
                  </a:lnTo>
                  <a:lnTo>
                    <a:pt x="1514475" y="822960"/>
                  </a:lnTo>
                  <a:lnTo>
                    <a:pt x="1514475" y="91439"/>
                  </a:lnTo>
                  <a:lnTo>
                    <a:pt x="1507275" y="55828"/>
                  </a:lnTo>
                  <a:lnTo>
                    <a:pt x="1487646" y="26765"/>
                  </a:lnTo>
                  <a:lnTo>
                    <a:pt x="1458539" y="7179"/>
                  </a:lnTo>
                  <a:lnTo>
                    <a:pt x="1422907" y="0"/>
                  </a:lnTo>
                  <a:close/>
                </a:path>
              </a:pathLst>
            </a:custGeom>
            <a:solidFill>
              <a:srgbClr val="4471C4"/>
            </a:solidFill>
          </p:spPr>
          <p:txBody>
            <a:bodyPr wrap="square" lIns="0" tIns="0" rIns="0" bIns="0" rtlCol="0"/>
            <a:lstStyle/>
            <a:p>
              <a:endParaRPr/>
            </a:p>
          </p:txBody>
        </p:sp>
        <p:sp>
          <p:nvSpPr>
            <p:cNvPr id="50" name="object 50"/>
            <p:cNvSpPr/>
            <p:nvPr/>
          </p:nvSpPr>
          <p:spPr>
            <a:xfrm>
              <a:off x="7062851" y="2624201"/>
              <a:ext cx="1514475" cy="914400"/>
            </a:xfrm>
            <a:custGeom>
              <a:avLst/>
              <a:gdLst/>
              <a:ahLst/>
              <a:cxnLst/>
              <a:rect l="l" t="t" r="r" b="b"/>
              <a:pathLst>
                <a:path w="1514475" h="914400">
                  <a:moveTo>
                    <a:pt x="0" y="91439"/>
                  </a:moveTo>
                  <a:lnTo>
                    <a:pt x="7179" y="55828"/>
                  </a:lnTo>
                  <a:lnTo>
                    <a:pt x="26765" y="26765"/>
                  </a:lnTo>
                  <a:lnTo>
                    <a:pt x="55828" y="7179"/>
                  </a:lnTo>
                  <a:lnTo>
                    <a:pt x="91440" y="0"/>
                  </a:lnTo>
                  <a:lnTo>
                    <a:pt x="1422907" y="0"/>
                  </a:lnTo>
                  <a:lnTo>
                    <a:pt x="1458539" y="7179"/>
                  </a:lnTo>
                  <a:lnTo>
                    <a:pt x="1487646" y="26765"/>
                  </a:lnTo>
                  <a:lnTo>
                    <a:pt x="1507275" y="55828"/>
                  </a:lnTo>
                  <a:lnTo>
                    <a:pt x="1514475" y="91439"/>
                  </a:lnTo>
                  <a:lnTo>
                    <a:pt x="1514475" y="822960"/>
                  </a:lnTo>
                  <a:lnTo>
                    <a:pt x="1507275" y="858518"/>
                  </a:lnTo>
                  <a:lnTo>
                    <a:pt x="1487646" y="887587"/>
                  </a:lnTo>
                  <a:lnTo>
                    <a:pt x="1458539" y="907202"/>
                  </a:lnTo>
                  <a:lnTo>
                    <a:pt x="1422907" y="914400"/>
                  </a:lnTo>
                  <a:lnTo>
                    <a:pt x="91440" y="914400"/>
                  </a:lnTo>
                  <a:lnTo>
                    <a:pt x="55828" y="907202"/>
                  </a:lnTo>
                  <a:lnTo>
                    <a:pt x="26765" y="887587"/>
                  </a:lnTo>
                  <a:lnTo>
                    <a:pt x="7179" y="858518"/>
                  </a:lnTo>
                  <a:lnTo>
                    <a:pt x="0" y="822960"/>
                  </a:lnTo>
                  <a:lnTo>
                    <a:pt x="0" y="91439"/>
                  </a:lnTo>
                  <a:close/>
                </a:path>
              </a:pathLst>
            </a:custGeom>
            <a:ln w="12700">
              <a:solidFill>
                <a:srgbClr val="FFFFFF"/>
              </a:solidFill>
            </a:ln>
          </p:spPr>
          <p:txBody>
            <a:bodyPr wrap="square" lIns="0" tIns="0" rIns="0" bIns="0" rtlCol="0"/>
            <a:lstStyle/>
            <a:p>
              <a:endParaRPr/>
            </a:p>
          </p:txBody>
        </p:sp>
      </p:grpSp>
      <p:sp>
        <p:nvSpPr>
          <p:cNvPr id="51" name="object 51"/>
          <p:cNvSpPr txBox="1"/>
          <p:nvPr/>
        </p:nvSpPr>
        <p:spPr>
          <a:xfrm>
            <a:off x="7128891" y="2769552"/>
            <a:ext cx="1377950" cy="582295"/>
          </a:xfrm>
          <a:prstGeom prst="rect">
            <a:avLst/>
          </a:prstGeom>
        </p:spPr>
        <p:txBody>
          <a:bodyPr vert="horz" wrap="square" lIns="0" tIns="15875" rIns="0" bIns="0" rtlCol="0">
            <a:spAutoFit/>
          </a:bodyPr>
          <a:lstStyle/>
          <a:p>
            <a:pPr marL="2540" algn="ctr">
              <a:lnSpc>
                <a:spcPts val="1465"/>
              </a:lnSpc>
              <a:spcBef>
                <a:spcPts val="125"/>
              </a:spcBef>
            </a:pPr>
            <a:r>
              <a:rPr sz="1250" dirty="0">
                <a:solidFill>
                  <a:srgbClr val="FFFFFF"/>
                </a:solidFill>
                <a:latin typeface="Calibri"/>
                <a:cs typeface="Calibri"/>
              </a:rPr>
              <a:t>Verify</a:t>
            </a:r>
            <a:r>
              <a:rPr sz="1250" spc="35" dirty="0">
                <a:solidFill>
                  <a:srgbClr val="FFFFFF"/>
                </a:solidFill>
                <a:latin typeface="Calibri"/>
                <a:cs typeface="Calibri"/>
              </a:rPr>
              <a:t> </a:t>
            </a:r>
            <a:r>
              <a:rPr sz="1250" spc="-20" dirty="0">
                <a:solidFill>
                  <a:srgbClr val="FFFFFF"/>
                </a:solidFill>
                <a:latin typeface="Calibri"/>
                <a:cs typeface="Calibri"/>
              </a:rPr>
              <a:t>Data</a:t>
            </a:r>
            <a:endParaRPr sz="1250">
              <a:latin typeface="Calibri"/>
              <a:cs typeface="Calibri"/>
            </a:endParaRPr>
          </a:p>
          <a:p>
            <a:pPr marL="5080" algn="ctr">
              <a:lnSpc>
                <a:spcPts val="1425"/>
              </a:lnSpc>
            </a:pPr>
            <a:r>
              <a:rPr sz="1250" spc="-10" dirty="0">
                <a:solidFill>
                  <a:srgbClr val="FFFFFF"/>
                </a:solidFill>
                <a:latin typeface="Calibri"/>
                <a:cs typeface="Calibri"/>
              </a:rPr>
              <a:t>Accuracy</a:t>
            </a:r>
            <a:endParaRPr sz="1250">
              <a:latin typeface="Calibri"/>
              <a:cs typeface="Calibri"/>
            </a:endParaRPr>
          </a:p>
          <a:p>
            <a:pPr algn="ctr">
              <a:lnSpc>
                <a:spcPts val="1465"/>
              </a:lnSpc>
            </a:pPr>
            <a:r>
              <a:rPr sz="1250" dirty="0">
                <a:solidFill>
                  <a:srgbClr val="FFFFFF"/>
                </a:solidFill>
                <a:latin typeface="Calibri"/>
                <a:cs typeface="Calibri"/>
              </a:rPr>
              <a:t>(consistency</a:t>
            </a:r>
            <a:r>
              <a:rPr sz="1250" spc="105" dirty="0">
                <a:solidFill>
                  <a:srgbClr val="FFFFFF"/>
                </a:solidFill>
                <a:latin typeface="Calibri"/>
                <a:cs typeface="Calibri"/>
              </a:rPr>
              <a:t> </a:t>
            </a:r>
            <a:r>
              <a:rPr sz="1250" spc="-10" dirty="0">
                <a:solidFill>
                  <a:srgbClr val="FFFFFF"/>
                </a:solidFill>
                <a:latin typeface="Calibri"/>
                <a:cs typeface="Calibri"/>
              </a:rPr>
              <a:t>checks)</a:t>
            </a:r>
            <a:endParaRPr sz="1250">
              <a:latin typeface="Calibri"/>
              <a:cs typeface="Calibri"/>
            </a:endParaRPr>
          </a:p>
        </p:txBody>
      </p:sp>
      <p:sp>
        <p:nvSpPr>
          <p:cNvPr id="52" name="object 52"/>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13</a:t>
            </a:fld>
            <a:endParaRPr spc="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312" y="1327260"/>
            <a:ext cx="9812655" cy="4641215"/>
          </a:xfrm>
          <a:prstGeom prst="rect">
            <a:avLst/>
          </a:prstGeom>
        </p:spPr>
        <p:txBody>
          <a:bodyPr vert="horz" wrap="square" lIns="0" tIns="117475" rIns="0" bIns="0" rtlCol="0">
            <a:spAutoFit/>
          </a:bodyPr>
          <a:lstStyle/>
          <a:p>
            <a:pPr marL="12700">
              <a:lnSpc>
                <a:spcPct val="100000"/>
              </a:lnSpc>
              <a:spcBef>
                <a:spcPts val="925"/>
              </a:spcBef>
            </a:pPr>
            <a:r>
              <a:rPr sz="1500" b="1" spc="-10" dirty="0">
                <a:solidFill>
                  <a:srgbClr val="292929"/>
                </a:solidFill>
                <a:latin typeface="Calibri"/>
                <a:cs typeface="Calibri"/>
              </a:rPr>
              <a:t>Overview:</a:t>
            </a:r>
            <a:endParaRPr sz="1500">
              <a:latin typeface="Calibri"/>
              <a:cs typeface="Calibri"/>
            </a:endParaRPr>
          </a:p>
          <a:p>
            <a:pPr marL="241300" marR="5080" indent="-229235">
              <a:lnSpc>
                <a:spcPts val="1650"/>
              </a:lnSpc>
              <a:spcBef>
                <a:spcPts val="1005"/>
              </a:spcBef>
            </a:pPr>
            <a:r>
              <a:rPr sz="1500" dirty="0">
                <a:solidFill>
                  <a:srgbClr val="292929"/>
                </a:solidFill>
                <a:latin typeface="Calibri"/>
                <a:cs typeface="Calibri"/>
              </a:rPr>
              <a:t>Exploratory</a:t>
            </a:r>
            <a:r>
              <a:rPr sz="1500" spc="-20" dirty="0">
                <a:solidFill>
                  <a:srgbClr val="292929"/>
                </a:solidFill>
                <a:latin typeface="Calibri"/>
                <a:cs typeface="Calibri"/>
              </a:rPr>
              <a:t> </a:t>
            </a:r>
            <a:r>
              <a:rPr sz="1500" dirty="0">
                <a:solidFill>
                  <a:srgbClr val="292929"/>
                </a:solidFill>
                <a:latin typeface="Calibri"/>
                <a:cs typeface="Calibri"/>
              </a:rPr>
              <a:t>Data</a:t>
            </a:r>
            <a:r>
              <a:rPr sz="1500" spc="-40" dirty="0">
                <a:solidFill>
                  <a:srgbClr val="292929"/>
                </a:solidFill>
                <a:latin typeface="Calibri"/>
                <a:cs typeface="Calibri"/>
              </a:rPr>
              <a:t> </a:t>
            </a:r>
            <a:r>
              <a:rPr sz="1500" dirty="0">
                <a:solidFill>
                  <a:srgbClr val="292929"/>
                </a:solidFill>
                <a:latin typeface="Calibri"/>
                <a:cs typeface="Calibri"/>
              </a:rPr>
              <a:t>Analysis</a:t>
            </a:r>
            <a:r>
              <a:rPr sz="1500" spc="15" dirty="0">
                <a:solidFill>
                  <a:srgbClr val="292929"/>
                </a:solidFill>
                <a:latin typeface="Calibri"/>
                <a:cs typeface="Calibri"/>
              </a:rPr>
              <a:t> </a:t>
            </a:r>
            <a:r>
              <a:rPr sz="1500" spc="-10" dirty="0">
                <a:solidFill>
                  <a:srgbClr val="292929"/>
                </a:solidFill>
                <a:latin typeface="Calibri"/>
                <a:cs typeface="Calibri"/>
              </a:rPr>
              <a:t>(EDA)</a:t>
            </a:r>
            <a:r>
              <a:rPr sz="1500" spc="-70" dirty="0">
                <a:solidFill>
                  <a:srgbClr val="292929"/>
                </a:solidFill>
                <a:latin typeface="Calibri"/>
                <a:cs typeface="Calibri"/>
              </a:rPr>
              <a:t> </a:t>
            </a:r>
            <a:r>
              <a:rPr sz="1500" dirty="0">
                <a:solidFill>
                  <a:srgbClr val="292929"/>
                </a:solidFill>
                <a:latin typeface="Calibri"/>
                <a:cs typeface="Calibri"/>
              </a:rPr>
              <a:t>involves</a:t>
            </a:r>
            <a:r>
              <a:rPr sz="1500" spc="-50" dirty="0">
                <a:solidFill>
                  <a:srgbClr val="292929"/>
                </a:solidFill>
                <a:latin typeface="Calibri"/>
                <a:cs typeface="Calibri"/>
              </a:rPr>
              <a:t> </a:t>
            </a:r>
            <a:r>
              <a:rPr sz="1500" dirty="0">
                <a:solidFill>
                  <a:srgbClr val="292929"/>
                </a:solidFill>
                <a:latin typeface="Calibri"/>
                <a:cs typeface="Calibri"/>
              </a:rPr>
              <a:t>visually exploring</a:t>
            </a:r>
            <a:r>
              <a:rPr sz="1500" spc="-20" dirty="0">
                <a:solidFill>
                  <a:srgbClr val="292929"/>
                </a:solidFill>
                <a:latin typeface="Calibri"/>
                <a:cs typeface="Calibri"/>
              </a:rPr>
              <a:t> </a:t>
            </a:r>
            <a:r>
              <a:rPr sz="1500" dirty="0">
                <a:solidFill>
                  <a:srgbClr val="292929"/>
                </a:solidFill>
                <a:latin typeface="Calibri"/>
                <a:cs typeface="Calibri"/>
              </a:rPr>
              <a:t>and</a:t>
            </a:r>
            <a:r>
              <a:rPr sz="1500" spc="-30" dirty="0">
                <a:solidFill>
                  <a:srgbClr val="292929"/>
                </a:solidFill>
                <a:latin typeface="Calibri"/>
                <a:cs typeface="Calibri"/>
              </a:rPr>
              <a:t> </a:t>
            </a:r>
            <a:r>
              <a:rPr sz="1500" dirty="0">
                <a:solidFill>
                  <a:srgbClr val="292929"/>
                </a:solidFill>
                <a:latin typeface="Calibri"/>
                <a:cs typeface="Calibri"/>
              </a:rPr>
              <a:t>summarizing</a:t>
            </a:r>
            <a:r>
              <a:rPr sz="1500" spc="-25" dirty="0">
                <a:solidFill>
                  <a:srgbClr val="292929"/>
                </a:solidFill>
                <a:latin typeface="Calibri"/>
                <a:cs typeface="Calibri"/>
              </a:rPr>
              <a:t> </a:t>
            </a:r>
            <a:r>
              <a:rPr sz="1500" dirty="0">
                <a:solidFill>
                  <a:srgbClr val="292929"/>
                </a:solidFill>
                <a:latin typeface="Calibri"/>
                <a:cs typeface="Calibri"/>
              </a:rPr>
              <a:t>the</a:t>
            </a:r>
            <a:r>
              <a:rPr sz="1500" spc="5" dirty="0">
                <a:solidFill>
                  <a:srgbClr val="292929"/>
                </a:solidFill>
                <a:latin typeface="Calibri"/>
                <a:cs typeface="Calibri"/>
              </a:rPr>
              <a:t> </a:t>
            </a:r>
            <a:r>
              <a:rPr sz="1500" dirty="0">
                <a:solidFill>
                  <a:srgbClr val="292929"/>
                </a:solidFill>
                <a:latin typeface="Calibri"/>
                <a:cs typeface="Calibri"/>
              </a:rPr>
              <a:t>main</a:t>
            </a:r>
            <a:r>
              <a:rPr sz="1500" spc="-30" dirty="0">
                <a:solidFill>
                  <a:srgbClr val="292929"/>
                </a:solidFill>
                <a:latin typeface="Calibri"/>
                <a:cs typeface="Calibri"/>
              </a:rPr>
              <a:t> </a:t>
            </a:r>
            <a:r>
              <a:rPr sz="1500" spc="-10" dirty="0">
                <a:solidFill>
                  <a:srgbClr val="292929"/>
                </a:solidFill>
                <a:latin typeface="Calibri"/>
                <a:cs typeface="Calibri"/>
              </a:rPr>
              <a:t>characteristics</a:t>
            </a:r>
            <a:r>
              <a:rPr sz="1500" spc="-55" dirty="0">
                <a:solidFill>
                  <a:srgbClr val="292929"/>
                </a:solidFill>
                <a:latin typeface="Calibri"/>
                <a:cs typeface="Calibri"/>
              </a:rPr>
              <a:t> </a:t>
            </a:r>
            <a:r>
              <a:rPr sz="1500" dirty="0">
                <a:solidFill>
                  <a:srgbClr val="292929"/>
                </a:solidFill>
                <a:latin typeface="Calibri"/>
                <a:cs typeface="Calibri"/>
              </a:rPr>
              <a:t>of</a:t>
            </a:r>
            <a:r>
              <a:rPr sz="1500" spc="-5" dirty="0">
                <a:solidFill>
                  <a:srgbClr val="292929"/>
                </a:solidFill>
                <a:latin typeface="Calibri"/>
                <a:cs typeface="Calibri"/>
              </a:rPr>
              <a:t> </a:t>
            </a:r>
            <a:r>
              <a:rPr sz="1500" dirty="0">
                <a:solidFill>
                  <a:srgbClr val="292929"/>
                </a:solidFill>
                <a:latin typeface="Calibri"/>
                <a:cs typeface="Calibri"/>
              </a:rPr>
              <a:t>a</a:t>
            </a:r>
            <a:r>
              <a:rPr sz="1500" spc="-35" dirty="0">
                <a:solidFill>
                  <a:srgbClr val="292929"/>
                </a:solidFill>
                <a:latin typeface="Calibri"/>
                <a:cs typeface="Calibri"/>
              </a:rPr>
              <a:t> </a:t>
            </a:r>
            <a:r>
              <a:rPr sz="1500" dirty="0">
                <a:solidFill>
                  <a:srgbClr val="292929"/>
                </a:solidFill>
                <a:latin typeface="Calibri"/>
                <a:cs typeface="Calibri"/>
              </a:rPr>
              <a:t>dataset.</a:t>
            </a:r>
            <a:r>
              <a:rPr sz="1500" spc="-5" dirty="0">
                <a:solidFill>
                  <a:srgbClr val="292929"/>
                </a:solidFill>
                <a:latin typeface="Calibri"/>
                <a:cs typeface="Calibri"/>
              </a:rPr>
              <a:t> </a:t>
            </a:r>
            <a:r>
              <a:rPr sz="1500" dirty="0">
                <a:solidFill>
                  <a:srgbClr val="292929"/>
                </a:solidFill>
                <a:latin typeface="Calibri"/>
                <a:cs typeface="Calibri"/>
              </a:rPr>
              <a:t>The</a:t>
            </a:r>
            <a:r>
              <a:rPr sz="1500" spc="-60" dirty="0">
                <a:solidFill>
                  <a:srgbClr val="292929"/>
                </a:solidFill>
                <a:latin typeface="Calibri"/>
                <a:cs typeface="Calibri"/>
              </a:rPr>
              <a:t> </a:t>
            </a:r>
            <a:r>
              <a:rPr sz="1500" dirty="0">
                <a:solidFill>
                  <a:srgbClr val="292929"/>
                </a:solidFill>
                <a:latin typeface="Calibri"/>
                <a:cs typeface="Calibri"/>
              </a:rPr>
              <a:t>goal</a:t>
            </a:r>
            <a:r>
              <a:rPr sz="1500" spc="-35" dirty="0">
                <a:solidFill>
                  <a:srgbClr val="292929"/>
                </a:solidFill>
                <a:latin typeface="Calibri"/>
                <a:cs typeface="Calibri"/>
              </a:rPr>
              <a:t> </a:t>
            </a:r>
            <a:r>
              <a:rPr sz="1500" spc="-65" dirty="0">
                <a:solidFill>
                  <a:srgbClr val="292929"/>
                </a:solidFill>
                <a:latin typeface="Calibri"/>
                <a:cs typeface="Calibri"/>
              </a:rPr>
              <a:t>is</a:t>
            </a:r>
            <a:r>
              <a:rPr sz="1500" spc="-30" dirty="0">
                <a:solidFill>
                  <a:srgbClr val="292929"/>
                </a:solidFill>
                <a:latin typeface="Calibri"/>
                <a:cs typeface="Calibri"/>
              </a:rPr>
              <a:t> </a:t>
            </a:r>
            <a:r>
              <a:rPr sz="1500" spc="-25" dirty="0">
                <a:solidFill>
                  <a:srgbClr val="292929"/>
                </a:solidFill>
                <a:latin typeface="Calibri"/>
                <a:cs typeface="Calibri"/>
              </a:rPr>
              <a:t>to </a:t>
            </a:r>
            <a:r>
              <a:rPr sz="1500" spc="-10" dirty="0">
                <a:solidFill>
                  <a:srgbClr val="292929"/>
                </a:solidFill>
                <a:latin typeface="Calibri"/>
                <a:cs typeface="Calibri"/>
              </a:rPr>
              <a:t>understand </a:t>
            </a:r>
            <a:r>
              <a:rPr sz="1500" dirty="0">
                <a:solidFill>
                  <a:srgbClr val="292929"/>
                </a:solidFill>
                <a:latin typeface="Calibri"/>
                <a:cs typeface="Calibri"/>
              </a:rPr>
              <a:t>the</a:t>
            </a:r>
            <a:r>
              <a:rPr sz="1500" spc="30" dirty="0">
                <a:solidFill>
                  <a:srgbClr val="292929"/>
                </a:solidFill>
                <a:latin typeface="Calibri"/>
                <a:cs typeface="Calibri"/>
              </a:rPr>
              <a:t> </a:t>
            </a:r>
            <a:r>
              <a:rPr sz="1500" spc="-10" dirty="0">
                <a:solidFill>
                  <a:srgbClr val="292929"/>
                </a:solidFill>
                <a:latin typeface="Calibri"/>
                <a:cs typeface="Calibri"/>
              </a:rPr>
              <a:t>data's</a:t>
            </a:r>
            <a:r>
              <a:rPr sz="1500" spc="-35" dirty="0">
                <a:solidFill>
                  <a:srgbClr val="292929"/>
                </a:solidFill>
                <a:latin typeface="Calibri"/>
                <a:cs typeface="Calibri"/>
              </a:rPr>
              <a:t> </a:t>
            </a:r>
            <a:r>
              <a:rPr sz="1500" spc="-10" dirty="0">
                <a:solidFill>
                  <a:srgbClr val="292929"/>
                </a:solidFill>
                <a:latin typeface="Calibri"/>
                <a:cs typeface="Calibri"/>
              </a:rPr>
              <a:t>distribution,</a:t>
            </a:r>
            <a:r>
              <a:rPr sz="1500" spc="-45" dirty="0">
                <a:solidFill>
                  <a:srgbClr val="292929"/>
                </a:solidFill>
                <a:latin typeface="Calibri"/>
                <a:cs typeface="Calibri"/>
              </a:rPr>
              <a:t> </a:t>
            </a:r>
            <a:r>
              <a:rPr sz="1500" dirty="0">
                <a:solidFill>
                  <a:srgbClr val="292929"/>
                </a:solidFill>
                <a:latin typeface="Calibri"/>
                <a:cs typeface="Calibri"/>
              </a:rPr>
              <a:t>identify</a:t>
            </a:r>
            <a:r>
              <a:rPr sz="1500" spc="20" dirty="0">
                <a:solidFill>
                  <a:srgbClr val="292929"/>
                </a:solidFill>
                <a:latin typeface="Calibri"/>
                <a:cs typeface="Calibri"/>
              </a:rPr>
              <a:t> </a:t>
            </a:r>
            <a:r>
              <a:rPr sz="1500" spc="-10" dirty="0">
                <a:solidFill>
                  <a:srgbClr val="292929"/>
                </a:solidFill>
                <a:latin typeface="Calibri"/>
                <a:cs typeface="Calibri"/>
              </a:rPr>
              <a:t>patterns,</a:t>
            </a:r>
            <a:r>
              <a:rPr sz="1500" spc="-45" dirty="0">
                <a:solidFill>
                  <a:srgbClr val="292929"/>
                </a:solidFill>
                <a:latin typeface="Calibri"/>
                <a:cs typeface="Calibri"/>
              </a:rPr>
              <a:t> </a:t>
            </a:r>
            <a:r>
              <a:rPr sz="1500" dirty="0">
                <a:solidFill>
                  <a:srgbClr val="292929"/>
                </a:solidFill>
                <a:latin typeface="Calibri"/>
                <a:cs typeface="Calibri"/>
              </a:rPr>
              <a:t>and</a:t>
            </a:r>
            <a:r>
              <a:rPr sz="1500" spc="-10" dirty="0">
                <a:solidFill>
                  <a:srgbClr val="292929"/>
                </a:solidFill>
                <a:latin typeface="Calibri"/>
                <a:cs typeface="Calibri"/>
              </a:rPr>
              <a:t> </a:t>
            </a:r>
            <a:r>
              <a:rPr sz="1500" dirty="0">
                <a:solidFill>
                  <a:srgbClr val="292929"/>
                </a:solidFill>
                <a:latin typeface="Calibri"/>
                <a:cs typeface="Calibri"/>
              </a:rPr>
              <a:t>uncover</a:t>
            </a:r>
            <a:r>
              <a:rPr sz="1500" spc="-40" dirty="0">
                <a:solidFill>
                  <a:srgbClr val="292929"/>
                </a:solidFill>
                <a:latin typeface="Calibri"/>
                <a:cs typeface="Calibri"/>
              </a:rPr>
              <a:t> </a:t>
            </a:r>
            <a:r>
              <a:rPr sz="1500" spc="-10" dirty="0">
                <a:solidFill>
                  <a:srgbClr val="292929"/>
                </a:solidFill>
                <a:latin typeface="Calibri"/>
                <a:cs typeface="Calibri"/>
              </a:rPr>
              <a:t>relationships</a:t>
            </a:r>
            <a:r>
              <a:rPr sz="1500" spc="-35" dirty="0">
                <a:solidFill>
                  <a:srgbClr val="292929"/>
                </a:solidFill>
                <a:latin typeface="Calibri"/>
                <a:cs typeface="Calibri"/>
              </a:rPr>
              <a:t> </a:t>
            </a:r>
            <a:r>
              <a:rPr sz="1500" spc="-10" dirty="0">
                <a:solidFill>
                  <a:srgbClr val="292929"/>
                </a:solidFill>
                <a:latin typeface="Calibri"/>
                <a:cs typeface="Calibri"/>
              </a:rPr>
              <a:t>between variables.</a:t>
            </a:r>
            <a:endParaRPr sz="1500">
              <a:latin typeface="Calibri"/>
              <a:cs typeface="Calibri"/>
            </a:endParaRPr>
          </a:p>
          <a:p>
            <a:pPr marL="12700">
              <a:lnSpc>
                <a:spcPct val="100000"/>
              </a:lnSpc>
              <a:spcBef>
                <a:spcPts val="800"/>
              </a:spcBef>
            </a:pPr>
            <a:r>
              <a:rPr sz="1500" b="1" dirty="0">
                <a:solidFill>
                  <a:srgbClr val="292929"/>
                </a:solidFill>
                <a:latin typeface="Calibri"/>
                <a:cs typeface="Calibri"/>
              </a:rPr>
              <a:t>Charts</a:t>
            </a:r>
            <a:r>
              <a:rPr sz="1500" b="1" spc="-15" dirty="0">
                <a:solidFill>
                  <a:srgbClr val="292929"/>
                </a:solidFill>
                <a:latin typeface="Calibri"/>
                <a:cs typeface="Calibri"/>
              </a:rPr>
              <a:t> </a:t>
            </a:r>
            <a:r>
              <a:rPr sz="1500" b="1" spc="-10" dirty="0">
                <a:solidFill>
                  <a:srgbClr val="292929"/>
                </a:solidFill>
                <a:latin typeface="Calibri"/>
                <a:cs typeface="Calibri"/>
              </a:rPr>
              <a:t>Plotted:</a:t>
            </a:r>
            <a:endParaRPr sz="1500">
              <a:latin typeface="Calibri"/>
              <a:cs typeface="Calibri"/>
            </a:endParaRPr>
          </a:p>
          <a:p>
            <a:pPr marL="202565" indent="-189865">
              <a:lnSpc>
                <a:spcPct val="100000"/>
              </a:lnSpc>
              <a:spcBef>
                <a:spcPts val="830"/>
              </a:spcBef>
              <a:buAutoNum type="arabicPeriod"/>
              <a:tabLst>
                <a:tab pos="202565" algn="l"/>
              </a:tabLst>
            </a:pPr>
            <a:r>
              <a:rPr sz="1500" b="1" spc="-10" dirty="0">
                <a:solidFill>
                  <a:srgbClr val="292929"/>
                </a:solidFill>
                <a:latin typeface="Calibri"/>
                <a:cs typeface="Calibri"/>
              </a:rPr>
              <a:t>Histograms:</a:t>
            </a:r>
            <a:endParaRPr sz="1500">
              <a:latin typeface="Calibri"/>
              <a:cs typeface="Calibri"/>
            </a:endParaRPr>
          </a:p>
          <a:p>
            <a:pPr marL="12700" marR="372110" lvl="1" indent="229870">
              <a:lnSpc>
                <a:spcPts val="1580"/>
              </a:lnSpc>
              <a:spcBef>
                <a:spcPts val="1065"/>
              </a:spcBef>
              <a:buFont typeface="Calibri"/>
              <a:buChar char="-"/>
              <a:tabLst>
                <a:tab pos="242570" algn="l"/>
              </a:tabLst>
            </a:pPr>
            <a:r>
              <a:rPr sz="1500" b="1" dirty="0">
                <a:solidFill>
                  <a:srgbClr val="292929"/>
                </a:solidFill>
                <a:latin typeface="Calibri"/>
                <a:cs typeface="Calibri"/>
              </a:rPr>
              <a:t>Purpose:</a:t>
            </a:r>
            <a:r>
              <a:rPr sz="1500" b="1" spc="-25" dirty="0">
                <a:solidFill>
                  <a:srgbClr val="292929"/>
                </a:solidFill>
                <a:latin typeface="Calibri"/>
                <a:cs typeface="Calibri"/>
              </a:rPr>
              <a:t> </a:t>
            </a:r>
            <a:r>
              <a:rPr sz="1500" dirty="0">
                <a:solidFill>
                  <a:srgbClr val="292929"/>
                </a:solidFill>
                <a:latin typeface="Calibri"/>
                <a:cs typeface="Calibri"/>
              </a:rPr>
              <a:t>Used</a:t>
            </a:r>
            <a:r>
              <a:rPr sz="1500" spc="-30" dirty="0">
                <a:solidFill>
                  <a:srgbClr val="292929"/>
                </a:solidFill>
                <a:latin typeface="Calibri"/>
                <a:cs typeface="Calibri"/>
              </a:rPr>
              <a:t> </a:t>
            </a:r>
            <a:r>
              <a:rPr sz="1500" dirty="0">
                <a:solidFill>
                  <a:srgbClr val="292929"/>
                </a:solidFill>
                <a:latin typeface="Calibri"/>
                <a:cs typeface="Calibri"/>
              </a:rPr>
              <a:t>to</a:t>
            </a:r>
            <a:r>
              <a:rPr sz="1500" spc="-35" dirty="0">
                <a:solidFill>
                  <a:srgbClr val="292929"/>
                </a:solidFill>
                <a:latin typeface="Calibri"/>
                <a:cs typeface="Calibri"/>
              </a:rPr>
              <a:t> </a:t>
            </a:r>
            <a:r>
              <a:rPr sz="1500" dirty="0">
                <a:solidFill>
                  <a:srgbClr val="292929"/>
                </a:solidFill>
                <a:latin typeface="Calibri"/>
                <a:cs typeface="Calibri"/>
              </a:rPr>
              <a:t>visualize</a:t>
            </a:r>
            <a:r>
              <a:rPr sz="1500" spc="5" dirty="0">
                <a:solidFill>
                  <a:srgbClr val="292929"/>
                </a:solidFill>
                <a:latin typeface="Calibri"/>
                <a:cs typeface="Calibri"/>
              </a:rPr>
              <a:t> </a:t>
            </a:r>
            <a:r>
              <a:rPr sz="1500" dirty="0">
                <a:solidFill>
                  <a:srgbClr val="292929"/>
                </a:solidFill>
                <a:latin typeface="Calibri"/>
                <a:cs typeface="Calibri"/>
              </a:rPr>
              <a:t>the</a:t>
            </a:r>
            <a:r>
              <a:rPr sz="1500" spc="5" dirty="0">
                <a:solidFill>
                  <a:srgbClr val="292929"/>
                </a:solidFill>
                <a:latin typeface="Calibri"/>
                <a:cs typeface="Calibri"/>
              </a:rPr>
              <a:t> </a:t>
            </a:r>
            <a:r>
              <a:rPr sz="1500" spc="-10" dirty="0">
                <a:solidFill>
                  <a:srgbClr val="292929"/>
                </a:solidFill>
                <a:latin typeface="Calibri"/>
                <a:cs typeface="Calibri"/>
              </a:rPr>
              <a:t>distribution</a:t>
            </a:r>
            <a:r>
              <a:rPr sz="1500" spc="-30" dirty="0">
                <a:solidFill>
                  <a:srgbClr val="292929"/>
                </a:solidFill>
                <a:latin typeface="Calibri"/>
                <a:cs typeface="Calibri"/>
              </a:rPr>
              <a:t> </a:t>
            </a:r>
            <a:r>
              <a:rPr sz="1500" dirty="0">
                <a:solidFill>
                  <a:srgbClr val="292929"/>
                </a:solidFill>
                <a:latin typeface="Calibri"/>
                <a:cs typeface="Calibri"/>
              </a:rPr>
              <a:t>of</a:t>
            </a:r>
            <a:r>
              <a:rPr sz="1500" spc="-5" dirty="0">
                <a:solidFill>
                  <a:srgbClr val="292929"/>
                </a:solidFill>
                <a:latin typeface="Calibri"/>
                <a:cs typeface="Calibri"/>
              </a:rPr>
              <a:t> </a:t>
            </a:r>
            <a:r>
              <a:rPr sz="1500" spc="-10" dirty="0">
                <a:solidFill>
                  <a:srgbClr val="292929"/>
                </a:solidFill>
                <a:latin typeface="Calibri"/>
                <a:cs typeface="Calibri"/>
              </a:rPr>
              <a:t>numerical</a:t>
            </a:r>
            <a:r>
              <a:rPr sz="1500" spc="-35" dirty="0">
                <a:solidFill>
                  <a:srgbClr val="292929"/>
                </a:solidFill>
                <a:latin typeface="Calibri"/>
                <a:cs typeface="Calibri"/>
              </a:rPr>
              <a:t> </a:t>
            </a:r>
            <a:r>
              <a:rPr sz="1500" dirty="0">
                <a:solidFill>
                  <a:srgbClr val="292929"/>
                </a:solidFill>
                <a:latin typeface="Calibri"/>
                <a:cs typeface="Calibri"/>
              </a:rPr>
              <a:t>variables</a:t>
            </a:r>
            <a:r>
              <a:rPr sz="1500" spc="-55" dirty="0">
                <a:solidFill>
                  <a:srgbClr val="292929"/>
                </a:solidFill>
                <a:latin typeface="Calibri"/>
                <a:cs typeface="Calibri"/>
              </a:rPr>
              <a:t> </a:t>
            </a:r>
            <a:r>
              <a:rPr sz="1500" dirty="0">
                <a:solidFill>
                  <a:srgbClr val="292929"/>
                </a:solidFill>
                <a:latin typeface="Calibri"/>
                <a:cs typeface="Calibri"/>
              </a:rPr>
              <a:t>such</a:t>
            </a:r>
            <a:r>
              <a:rPr sz="1500" spc="-30" dirty="0">
                <a:solidFill>
                  <a:srgbClr val="292929"/>
                </a:solidFill>
                <a:latin typeface="Calibri"/>
                <a:cs typeface="Calibri"/>
              </a:rPr>
              <a:t> </a:t>
            </a:r>
            <a:r>
              <a:rPr sz="1500" dirty="0">
                <a:solidFill>
                  <a:srgbClr val="292929"/>
                </a:solidFill>
                <a:latin typeface="Calibri"/>
                <a:cs typeface="Calibri"/>
              </a:rPr>
              <a:t>as</a:t>
            </a:r>
            <a:r>
              <a:rPr sz="1500" spc="-55" dirty="0">
                <a:solidFill>
                  <a:srgbClr val="292929"/>
                </a:solidFill>
                <a:latin typeface="Calibri"/>
                <a:cs typeface="Calibri"/>
              </a:rPr>
              <a:t> </a:t>
            </a:r>
            <a:r>
              <a:rPr sz="1500" dirty="0">
                <a:solidFill>
                  <a:srgbClr val="292929"/>
                </a:solidFill>
                <a:latin typeface="Calibri"/>
                <a:cs typeface="Calibri"/>
              </a:rPr>
              <a:t>launch</a:t>
            </a:r>
            <a:r>
              <a:rPr sz="1500" spc="-35" dirty="0">
                <a:solidFill>
                  <a:srgbClr val="292929"/>
                </a:solidFill>
                <a:latin typeface="Calibri"/>
                <a:cs typeface="Calibri"/>
              </a:rPr>
              <a:t> </a:t>
            </a:r>
            <a:r>
              <a:rPr sz="1500" spc="-10" dirty="0">
                <a:solidFill>
                  <a:srgbClr val="292929"/>
                </a:solidFill>
                <a:latin typeface="Calibri"/>
                <a:cs typeface="Calibri"/>
              </a:rPr>
              <a:t>success</a:t>
            </a:r>
            <a:r>
              <a:rPr sz="1500" spc="-50" dirty="0">
                <a:solidFill>
                  <a:srgbClr val="292929"/>
                </a:solidFill>
                <a:latin typeface="Calibri"/>
                <a:cs typeface="Calibri"/>
              </a:rPr>
              <a:t> </a:t>
            </a:r>
            <a:r>
              <a:rPr sz="1500" dirty="0">
                <a:solidFill>
                  <a:srgbClr val="292929"/>
                </a:solidFill>
                <a:latin typeface="Calibri"/>
                <a:cs typeface="Calibri"/>
              </a:rPr>
              <a:t>rates, </a:t>
            </a:r>
            <a:r>
              <a:rPr sz="1500" spc="-10" dirty="0">
                <a:solidFill>
                  <a:srgbClr val="292929"/>
                </a:solidFill>
                <a:latin typeface="Calibri"/>
                <a:cs typeface="Calibri"/>
              </a:rPr>
              <a:t>payload</a:t>
            </a:r>
            <a:r>
              <a:rPr sz="1500" spc="-30" dirty="0">
                <a:solidFill>
                  <a:srgbClr val="292929"/>
                </a:solidFill>
                <a:latin typeface="Calibri"/>
                <a:cs typeface="Calibri"/>
              </a:rPr>
              <a:t> </a:t>
            </a:r>
            <a:r>
              <a:rPr sz="1500" dirty="0">
                <a:solidFill>
                  <a:srgbClr val="292929"/>
                </a:solidFill>
                <a:latin typeface="Calibri"/>
                <a:cs typeface="Calibri"/>
              </a:rPr>
              <a:t>mass, and</a:t>
            </a:r>
            <a:r>
              <a:rPr sz="1500" spc="-35" dirty="0">
                <a:solidFill>
                  <a:srgbClr val="292929"/>
                </a:solidFill>
                <a:latin typeface="Calibri"/>
                <a:cs typeface="Calibri"/>
              </a:rPr>
              <a:t> </a:t>
            </a:r>
            <a:r>
              <a:rPr sz="1500" spc="-10" dirty="0">
                <a:solidFill>
                  <a:srgbClr val="292929"/>
                </a:solidFill>
                <a:latin typeface="Calibri"/>
                <a:cs typeface="Calibri"/>
              </a:rPr>
              <a:t>flight number.</a:t>
            </a:r>
            <a:endParaRPr sz="1500">
              <a:latin typeface="Calibri"/>
              <a:cs typeface="Calibri"/>
            </a:endParaRPr>
          </a:p>
          <a:p>
            <a:pPr marL="242570" lvl="1" indent="-100965">
              <a:lnSpc>
                <a:spcPct val="100000"/>
              </a:lnSpc>
              <a:spcBef>
                <a:spcPts val="810"/>
              </a:spcBef>
              <a:buFont typeface="Calibri"/>
              <a:buChar char="-"/>
              <a:tabLst>
                <a:tab pos="242570" algn="l"/>
              </a:tabLst>
            </a:pPr>
            <a:r>
              <a:rPr sz="1500" b="1" dirty="0">
                <a:solidFill>
                  <a:srgbClr val="292929"/>
                </a:solidFill>
                <a:latin typeface="Calibri"/>
                <a:cs typeface="Calibri"/>
              </a:rPr>
              <a:t>Why:</a:t>
            </a:r>
            <a:r>
              <a:rPr sz="1500" b="1" spc="-30" dirty="0">
                <a:solidFill>
                  <a:srgbClr val="292929"/>
                </a:solidFill>
                <a:latin typeface="Calibri"/>
                <a:cs typeface="Calibri"/>
              </a:rPr>
              <a:t> </a:t>
            </a:r>
            <a:r>
              <a:rPr sz="1500" dirty="0">
                <a:solidFill>
                  <a:srgbClr val="292929"/>
                </a:solidFill>
                <a:latin typeface="Calibri"/>
                <a:cs typeface="Calibri"/>
              </a:rPr>
              <a:t>Helps</a:t>
            </a:r>
            <a:r>
              <a:rPr sz="1500" spc="-50" dirty="0">
                <a:solidFill>
                  <a:srgbClr val="292929"/>
                </a:solidFill>
                <a:latin typeface="Calibri"/>
                <a:cs typeface="Calibri"/>
              </a:rPr>
              <a:t> </a:t>
            </a:r>
            <a:r>
              <a:rPr sz="1500" dirty="0">
                <a:solidFill>
                  <a:srgbClr val="292929"/>
                </a:solidFill>
                <a:latin typeface="Calibri"/>
                <a:cs typeface="Calibri"/>
              </a:rPr>
              <a:t>in</a:t>
            </a:r>
            <a:r>
              <a:rPr sz="1500" spc="-30" dirty="0">
                <a:solidFill>
                  <a:srgbClr val="292929"/>
                </a:solidFill>
                <a:latin typeface="Calibri"/>
                <a:cs typeface="Calibri"/>
              </a:rPr>
              <a:t> </a:t>
            </a:r>
            <a:r>
              <a:rPr sz="1500" spc="-10" dirty="0">
                <a:solidFill>
                  <a:srgbClr val="292929"/>
                </a:solidFill>
                <a:latin typeface="Calibri"/>
                <a:cs typeface="Calibri"/>
              </a:rPr>
              <a:t>understanding</a:t>
            </a:r>
            <a:r>
              <a:rPr sz="1500" spc="-25" dirty="0">
                <a:solidFill>
                  <a:srgbClr val="292929"/>
                </a:solidFill>
                <a:latin typeface="Calibri"/>
                <a:cs typeface="Calibri"/>
              </a:rPr>
              <a:t> </a:t>
            </a:r>
            <a:r>
              <a:rPr sz="1500" dirty="0">
                <a:solidFill>
                  <a:srgbClr val="292929"/>
                </a:solidFill>
                <a:latin typeface="Calibri"/>
                <a:cs typeface="Calibri"/>
              </a:rPr>
              <a:t>the</a:t>
            </a:r>
            <a:r>
              <a:rPr sz="1500" spc="10" dirty="0">
                <a:solidFill>
                  <a:srgbClr val="292929"/>
                </a:solidFill>
                <a:latin typeface="Calibri"/>
                <a:cs typeface="Calibri"/>
              </a:rPr>
              <a:t> </a:t>
            </a:r>
            <a:r>
              <a:rPr sz="1500" spc="-10" dirty="0">
                <a:solidFill>
                  <a:srgbClr val="292929"/>
                </a:solidFill>
                <a:latin typeface="Calibri"/>
                <a:cs typeface="Calibri"/>
              </a:rPr>
              <a:t>spread</a:t>
            </a:r>
            <a:r>
              <a:rPr sz="1500" spc="-25" dirty="0">
                <a:solidFill>
                  <a:srgbClr val="292929"/>
                </a:solidFill>
                <a:latin typeface="Calibri"/>
                <a:cs typeface="Calibri"/>
              </a:rPr>
              <a:t> </a:t>
            </a:r>
            <a:r>
              <a:rPr sz="1500" dirty="0">
                <a:solidFill>
                  <a:srgbClr val="292929"/>
                </a:solidFill>
                <a:latin typeface="Calibri"/>
                <a:cs typeface="Calibri"/>
              </a:rPr>
              <a:t>and</a:t>
            </a:r>
            <a:r>
              <a:rPr sz="1500" spc="-30" dirty="0">
                <a:solidFill>
                  <a:srgbClr val="292929"/>
                </a:solidFill>
                <a:latin typeface="Calibri"/>
                <a:cs typeface="Calibri"/>
              </a:rPr>
              <a:t> </a:t>
            </a:r>
            <a:r>
              <a:rPr sz="1500" dirty="0">
                <a:solidFill>
                  <a:srgbClr val="292929"/>
                </a:solidFill>
                <a:latin typeface="Calibri"/>
                <a:cs typeface="Calibri"/>
              </a:rPr>
              <a:t>central</a:t>
            </a:r>
            <a:r>
              <a:rPr sz="1500" spc="-30" dirty="0">
                <a:solidFill>
                  <a:srgbClr val="292929"/>
                </a:solidFill>
                <a:latin typeface="Calibri"/>
                <a:cs typeface="Calibri"/>
              </a:rPr>
              <a:t> </a:t>
            </a:r>
            <a:r>
              <a:rPr sz="1500" dirty="0">
                <a:solidFill>
                  <a:srgbClr val="292929"/>
                </a:solidFill>
                <a:latin typeface="Calibri"/>
                <a:cs typeface="Calibri"/>
              </a:rPr>
              <a:t>tendency</a:t>
            </a:r>
            <a:r>
              <a:rPr sz="1500" spc="-65" dirty="0">
                <a:solidFill>
                  <a:srgbClr val="292929"/>
                </a:solidFill>
                <a:latin typeface="Calibri"/>
                <a:cs typeface="Calibri"/>
              </a:rPr>
              <a:t> </a:t>
            </a:r>
            <a:r>
              <a:rPr sz="1500" dirty="0">
                <a:solidFill>
                  <a:srgbClr val="292929"/>
                </a:solidFill>
                <a:latin typeface="Calibri"/>
                <a:cs typeface="Calibri"/>
              </a:rPr>
              <a:t>of</a:t>
            </a:r>
            <a:r>
              <a:rPr sz="1500" spc="-70" dirty="0">
                <a:solidFill>
                  <a:srgbClr val="292929"/>
                </a:solidFill>
                <a:latin typeface="Calibri"/>
                <a:cs typeface="Calibri"/>
              </a:rPr>
              <a:t> </a:t>
            </a:r>
            <a:r>
              <a:rPr sz="1500" dirty="0">
                <a:solidFill>
                  <a:srgbClr val="292929"/>
                </a:solidFill>
                <a:latin typeface="Calibri"/>
                <a:cs typeface="Calibri"/>
              </a:rPr>
              <a:t>the</a:t>
            </a:r>
            <a:r>
              <a:rPr sz="1500" spc="-60" dirty="0">
                <a:solidFill>
                  <a:srgbClr val="292929"/>
                </a:solidFill>
                <a:latin typeface="Calibri"/>
                <a:cs typeface="Calibri"/>
              </a:rPr>
              <a:t> </a:t>
            </a:r>
            <a:r>
              <a:rPr sz="1500" dirty="0">
                <a:solidFill>
                  <a:srgbClr val="292929"/>
                </a:solidFill>
                <a:latin typeface="Calibri"/>
                <a:cs typeface="Calibri"/>
              </a:rPr>
              <a:t>data,</a:t>
            </a:r>
            <a:r>
              <a:rPr sz="1500" spc="-60" dirty="0">
                <a:solidFill>
                  <a:srgbClr val="292929"/>
                </a:solidFill>
                <a:latin typeface="Calibri"/>
                <a:cs typeface="Calibri"/>
              </a:rPr>
              <a:t> </a:t>
            </a:r>
            <a:r>
              <a:rPr sz="1500" spc="-10" dirty="0">
                <a:solidFill>
                  <a:srgbClr val="292929"/>
                </a:solidFill>
                <a:latin typeface="Calibri"/>
                <a:cs typeface="Calibri"/>
              </a:rPr>
              <a:t>identifying</a:t>
            </a:r>
            <a:r>
              <a:rPr sz="1500" spc="-25" dirty="0">
                <a:solidFill>
                  <a:srgbClr val="292929"/>
                </a:solidFill>
                <a:latin typeface="Calibri"/>
                <a:cs typeface="Calibri"/>
              </a:rPr>
              <a:t> </a:t>
            </a:r>
            <a:r>
              <a:rPr sz="1500" dirty="0">
                <a:solidFill>
                  <a:srgbClr val="292929"/>
                </a:solidFill>
                <a:latin typeface="Calibri"/>
                <a:cs typeface="Calibri"/>
              </a:rPr>
              <a:t>outliers,</a:t>
            </a:r>
            <a:r>
              <a:rPr sz="1500" spc="-60" dirty="0">
                <a:solidFill>
                  <a:srgbClr val="292929"/>
                </a:solidFill>
                <a:latin typeface="Calibri"/>
                <a:cs typeface="Calibri"/>
              </a:rPr>
              <a:t> </a:t>
            </a:r>
            <a:r>
              <a:rPr sz="1500" dirty="0">
                <a:solidFill>
                  <a:srgbClr val="292929"/>
                </a:solidFill>
                <a:latin typeface="Calibri"/>
                <a:cs typeface="Calibri"/>
              </a:rPr>
              <a:t>and</a:t>
            </a:r>
            <a:r>
              <a:rPr sz="1500" spc="-30" dirty="0">
                <a:solidFill>
                  <a:srgbClr val="292929"/>
                </a:solidFill>
                <a:latin typeface="Calibri"/>
                <a:cs typeface="Calibri"/>
              </a:rPr>
              <a:t> </a:t>
            </a:r>
            <a:r>
              <a:rPr sz="1500" dirty="0">
                <a:solidFill>
                  <a:srgbClr val="292929"/>
                </a:solidFill>
                <a:latin typeface="Calibri"/>
                <a:cs typeface="Calibri"/>
              </a:rPr>
              <a:t>assessing</a:t>
            </a:r>
            <a:r>
              <a:rPr sz="1500" spc="-20" dirty="0">
                <a:solidFill>
                  <a:srgbClr val="292929"/>
                </a:solidFill>
                <a:latin typeface="Calibri"/>
                <a:cs typeface="Calibri"/>
              </a:rPr>
              <a:t> </a:t>
            </a:r>
            <a:r>
              <a:rPr sz="1500" dirty="0">
                <a:solidFill>
                  <a:srgbClr val="292929"/>
                </a:solidFill>
                <a:latin typeface="Calibri"/>
                <a:cs typeface="Calibri"/>
              </a:rPr>
              <a:t>data</a:t>
            </a:r>
            <a:r>
              <a:rPr sz="1500" spc="-35" dirty="0">
                <a:solidFill>
                  <a:srgbClr val="292929"/>
                </a:solidFill>
                <a:latin typeface="Calibri"/>
                <a:cs typeface="Calibri"/>
              </a:rPr>
              <a:t> </a:t>
            </a:r>
            <a:r>
              <a:rPr sz="1500" spc="-10" dirty="0">
                <a:solidFill>
                  <a:srgbClr val="292929"/>
                </a:solidFill>
                <a:latin typeface="Calibri"/>
                <a:cs typeface="Calibri"/>
              </a:rPr>
              <a:t>skewness.</a:t>
            </a:r>
            <a:endParaRPr sz="1500">
              <a:latin typeface="Calibri"/>
              <a:cs typeface="Calibri"/>
            </a:endParaRPr>
          </a:p>
          <a:p>
            <a:pPr marL="202565" indent="-189865">
              <a:lnSpc>
                <a:spcPct val="100000"/>
              </a:lnSpc>
              <a:spcBef>
                <a:spcPts val="830"/>
              </a:spcBef>
              <a:buAutoNum type="arabicPeriod" startAt="2"/>
              <a:tabLst>
                <a:tab pos="202565" algn="l"/>
              </a:tabLst>
            </a:pPr>
            <a:r>
              <a:rPr sz="1500" b="1" dirty="0">
                <a:solidFill>
                  <a:srgbClr val="292929"/>
                </a:solidFill>
                <a:latin typeface="Calibri"/>
                <a:cs typeface="Calibri"/>
              </a:rPr>
              <a:t>Bar</a:t>
            </a:r>
            <a:r>
              <a:rPr sz="1500" b="1" spc="5" dirty="0">
                <a:solidFill>
                  <a:srgbClr val="292929"/>
                </a:solidFill>
                <a:latin typeface="Calibri"/>
                <a:cs typeface="Calibri"/>
              </a:rPr>
              <a:t> </a:t>
            </a:r>
            <a:r>
              <a:rPr sz="1500" b="1" spc="-10" dirty="0">
                <a:solidFill>
                  <a:srgbClr val="292929"/>
                </a:solidFill>
                <a:latin typeface="Calibri"/>
                <a:cs typeface="Calibri"/>
              </a:rPr>
              <a:t>Charts:</a:t>
            </a:r>
            <a:endParaRPr sz="1500">
              <a:latin typeface="Calibri"/>
              <a:cs typeface="Calibri"/>
            </a:endParaRPr>
          </a:p>
          <a:p>
            <a:pPr marL="12700" marR="201930" lvl="1" indent="229870">
              <a:lnSpc>
                <a:spcPts val="1650"/>
              </a:lnSpc>
              <a:spcBef>
                <a:spcPts val="1005"/>
              </a:spcBef>
              <a:buFont typeface="Calibri"/>
              <a:buChar char="-"/>
              <a:tabLst>
                <a:tab pos="242570" algn="l"/>
              </a:tabLst>
            </a:pPr>
            <a:r>
              <a:rPr sz="1500" b="1" dirty="0">
                <a:solidFill>
                  <a:srgbClr val="292929"/>
                </a:solidFill>
                <a:latin typeface="Calibri"/>
                <a:cs typeface="Calibri"/>
              </a:rPr>
              <a:t>Purpose</a:t>
            </a:r>
            <a:r>
              <a:rPr sz="1500" dirty="0">
                <a:solidFill>
                  <a:srgbClr val="292929"/>
                </a:solidFill>
                <a:latin typeface="Calibri"/>
                <a:cs typeface="Calibri"/>
              </a:rPr>
              <a:t>:</a:t>
            </a:r>
            <a:r>
              <a:rPr sz="1500" spc="-5" dirty="0">
                <a:solidFill>
                  <a:srgbClr val="292929"/>
                </a:solidFill>
                <a:latin typeface="Calibri"/>
                <a:cs typeface="Calibri"/>
              </a:rPr>
              <a:t> </a:t>
            </a:r>
            <a:r>
              <a:rPr sz="1500" dirty="0">
                <a:solidFill>
                  <a:srgbClr val="292929"/>
                </a:solidFill>
                <a:latin typeface="Calibri"/>
                <a:cs typeface="Calibri"/>
              </a:rPr>
              <a:t>Used</a:t>
            </a:r>
            <a:r>
              <a:rPr sz="1500" spc="-15" dirty="0">
                <a:solidFill>
                  <a:srgbClr val="292929"/>
                </a:solidFill>
                <a:latin typeface="Calibri"/>
                <a:cs typeface="Calibri"/>
              </a:rPr>
              <a:t> </a:t>
            </a:r>
            <a:r>
              <a:rPr sz="1500" dirty="0">
                <a:solidFill>
                  <a:srgbClr val="292929"/>
                </a:solidFill>
                <a:latin typeface="Calibri"/>
                <a:cs typeface="Calibri"/>
              </a:rPr>
              <a:t>to</a:t>
            </a:r>
            <a:r>
              <a:rPr sz="1500" spc="-20" dirty="0">
                <a:solidFill>
                  <a:srgbClr val="292929"/>
                </a:solidFill>
                <a:latin typeface="Calibri"/>
                <a:cs typeface="Calibri"/>
              </a:rPr>
              <a:t> </a:t>
            </a:r>
            <a:r>
              <a:rPr sz="1500" dirty="0">
                <a:solidFill>
                  <a:srgbClr val="292929"/>
                </a:solidFill>
                <a:latin typeface="Calibri"/>
                <a:cs typeface="Calibri"/>
              </a:rPr>
              <a:t>compare</a:t>
            </a:r>
            <a:r>
              <a:rPr sz="1500" spc="-50" dirty="0">
                <a:solidFill>
                  <a:srgbClr val="292929"/>
                </a:solidFill>
                <a:latin typeface="Calibri"/>
                <a:cs typeface="Calibri"/>
              </a:rPr>
              <a:t> </a:t>
            </a:r>
            <a:r>
              <a:rPr sz="1500" dirty="0">
                <a:solidFill>
                  <a:srgbClr val="292929"/>
                </a:solidFill>
                <a:latin typeface="Calibri"/>
                <a:cs typeface="Calibri"/>
              </a:rPr>
              <a:t>categorical</a:t>
            </a:r>
            <a:r>
              <a:rPr sz="1500" spc="50" dirty="0">
                <a:solidFill>
                  <a:srgbClr val="292929"/>
                </a:solidFill>
                <a:latin typeface="Calibri"/>
                <a:cs typeface="Calibri"/>
              </a:rPr>
              <a:t> </a:t>
            </a:r>
            <a:r>
              <a:rPr sz="1500" spc="-10" dirty="0">
                <a:solidFill>
                  <a:srgbClr val="292929"/>
                </a:solidFill>
                <a:latin typeface="Calibri"/>
                <a:cs typeface="Calibri"/>
              </a:rPr>
              <a:t>variables</a:t>
            </a:r>
            <a:r>
              <a:rPr sz="1500" spc="-35" dirty="0">
                <a:solidFill>
                  <a:srgbClr val="292929"/>
                </a:solidFill>
                <a:latin typeface="Calibri"/>
                <a:cs typeface="Calibri"/>
              </a:rPr>
              <a:t> </a:t>
            </a:r>
            <a:r>
              <a:rPr sz="1500" dirty="0">
                <a:solidFill>
                  <a:srgbClr val="292929"/>
                </a:solidFill>
                <a:latin typeface="Calibri"/>
                <a:cs typeface="Calibri"/>
              </a:rPr>
              <a:t>such</a:t>
            </a:r>
            <a:r>
              <a:rPr sz="1500" spc="-15" dirty="0">
                <a:solidFill>
                  <a:srgbClr val="292929"/>
                </a:solidFill>
                <a:latin typeface="Calibri"/>
                <a:cs typeface="Calibri"/>
              </a:rPr>
              <a:t> </a:t>
            </a:r>
            <a:r>
              <a:rPr sz="1500" dirty="0">
                <a:solidFill>
                  <a:srgbClr val="292929"/>
                </a:solidFill>
                <a:latin typeface="Calibri"/>
                <a:cs typeface="Calibri"/>
              </a:rPr>
              <a:t>as</a:t>
            </a:r>
            <a:r>
              <a:rPr sz="1500" spc="-40" dirty="0">
                <a:solidFill>
                  <a:srgbClr val="292929"/>
                </a:solidFill>
                <a:latin typeface="Calibri"/>
                <a:cs typeface="Calibri"/>
              </a:rPr>
              <a:t> </a:t>
            </a:r>
            <a:r>
              <a:rPr sz="1500" dirty="0">
                <a:solidFill>
                  <a:srgbClr val="292929"/>
                </a:solidFill>
                <a:latin typeface="Calibri"/>
                <a:cs typeface="Calibri"/>
              </a:rPr>
              <a:t>launch</a:t>
            </a:r>
            <a:r>
              <a:rPr sz="1500" spc="-20" dirty="0">
                <a:solidFill>
                  <a:srgbClr val="292929"/>
                </a:solidFill>
                <a:latin typeface="Calibri"/>
                <a:cs typeface="Calibri"/>
              </a:rPr>
              <a:t> </a:t>
            </a:r>
            <a:r>
              <a:rPr sz="1500" spc="-10" dirty="0">
                <a:solidFill>
                  <a:srgbClr val="292929"/>
                </a:solidFill>
                <a:latin typeface="Calibri"/>
                <a:cs typeface="Calibri"/>
              </a:rPr>
              <a:t>outcomes</a:t>
            </a:r>
            <a:r>
              <a:rPr sz="1500" spc="-35" dirty="0">
                <a:solidFill>
                  <a:srgbClr val="292929"/>
                </a:solidFill>
                <a:latin typeface="Calibri"/>
                <a:cs typeface="Calibri"/>
              </a:rPr>
              <a:t> </a:t>
            </a:r>
            <a:r>
              <a:rPr sz="1500" spc="-10" dirty="0">
                <a:solidFill>
                  <a:srgbClr val="292929"/>
                </a:solidFill>
                <a:latin typeface="Calibri"/>
                <a:cs typeface="Calibri"/>
              </a:rPr>
              <a:t>(success/failure)</a:t>
            </a:r>
            <a:r>
              <a:rPr sz="1500" spc="-60" dirty="0">
                <a:solidFill>
                  <a:srgbClr val="292929"/>
                </a:solidFill>
                <a:latin typeface="Calibri"/>
                <a:cs typeface="Calibri"/>
              </a:rPr>
              <a:t> </a:t>
            </a:r>
            <a:r>
              <a:rPr sz="1500" dirty="0">
                <a:solidFill>
                  <a:srgbClr val="292929"/>
                </a:solidFill>
                <a:latin typeface="Calibri"/>
                <a:cs typeface="Calibri"/>
              </a:rPr>
              <a:t>across</a:t>
            </a:r>
            <a:r>
              <a:rPr sz="1500" spc="30" dirty="0">
                <a:solidFill>
                  <a:srgbClr val="292929"/>
                </a:solidFill>
                <a:latin typeface="Calibri"/>
                <a:cs typeface="Calibri"/>
              </a:rPr>
              <a:t> </a:t>
            </a:r>
            <a:r>
              <a:rPr sz="1500" spc="-10" dirty="0">
                <a:solidFill>
                  <a:srgbClr val="292929"/>
                </a:solidFill>
                <a:latin typeface="Calibri"/>
                <a:cs typeface="Calibri"/>
              </a:rPr>
              <a:t>different</a:t>
            </a:r>
            <a:r>
              <a:rPr sz="1500" spc="-30" dirty="0">
                <a:solidFill>
                  <a:srgbClr val="292929"/>
                </a:solidFill>
                <a:latin typeface="Calibri"/>
                <a:cs typeface="Calibri"/>
              </a:rPr>
              <a:t> </a:t>
            </a:r>
            <a:r>
              <a:rPr sz="1500" spc="-10" dirty="0">
                <a:solidFill>
                  <a:srgbClr val="292929"/>
                </a:solidFill>
                <a:latin typeface="Calibri"/>
                <a:cs typeface="Calibri"/>
              </a:rPr>
              <a:t>categories</a:t>
            </a:r>
            <a:r>
              <a:rPr sz="1500" spc="-35" dirty="0">
                <a:solidFill>
                  <a:srgbClr val="292929"/>
                </a:solidFill>
                <a:latin typeface="Calibri"/>
                <a:cs typeface="Calibri"/>
              </a:rPr>
              <a:t> </a:t>
            </a:r>
            <a:r>
              <a:rPr sz="1500" spc="-20" dirty="0">
                <a:solidFill>
                  <a:srgbClr val="292929"/>
                </a:solidFill>
                <a:latin typeface="Calibri"/>
                <a:cs typeface="Calibri"/>
              </a:rPr>
              <a:t>like </a:t>
            </a:r>
            <a:r>
              <a:rPr sz="1500" dirty="0">
                <a:solidFill>
                  <a:srgbClr val="292929"/>
                </a:solidFill>
                <a:latin typeface="Calibri"/>
                <a:cs typeface="Calibri"/>
              </a:rPr>
              <a:t>launch</a:t>
            </a:r>
            <a:r>
              <a:rPr sz="1500" spc="-35" dirty="0">
                <a:solidFill>
                  <a:srgbClr val="292929"/>
                </a:solidFill>
                <a:latin typeface="Calibri"/>
                <a:cs typeface="Calibri"/>
              </a:rPr>
              <a:t> </a:t>
            </a:r>
            <a:r>
              <a:rPr sz="1500" dirty="0">
                <a:solidFill>
                  <a:srgbClr val="292929"/>
                </a:solidFill>
                <a:latin typeface="Calibri"/>
                <a:cs typeface="Calibri"/>
              </a:rPr>
              <a:t>sites</a:t>
            </a:r>
            <a:r>
              <a:rPr sz="1500" spc="-55" dirty="0">
                <a:solidFill>
                  <a:srgbClr val="292929"/>
                </a:solidFill>
                <a:latin typeface="Calibri"/>
                <a:cs typeface="Calibri"/>
              </a:rPr>
              <a:t> </a:t>
            </a:r>
            <a:r>
              <a:rPr sz="1500" dirty="0">
                <a:solidFill>
                  <a:srgbClr val="292929"/>
                </a:solidFill>
                <a:latin typeface="Calibri"/>
                <a:cs typeface="Calibri"/>
              </a:rPr>
              <a:t>or </a:t>
            </a:r>
            <a:r>
              <a:rPr sz="1500" spc="-10" dirty="0">
                <a:solidFill>
                  <a:srgbClr val="292929"/>
                </a:solidFill>
                <a:latin typeface="Calibri"/>
                <a:cs typeface="Calibri"/>
              </a:rPr>
              <a:t>rocket</a:t>
            </a:r>
            <a:r>
              <a:rPr sz="1500" spc="-45" dirty="0">
                <a:solidFill>
                  <a:srgbClr val="292929"/>
                </a:solidFill>
                <a:latin typeface="Calibri"/>
                <a:cs typeface="Calibri"/>
              </a:rPr>
              <a:t> </a:t>
            </a:r>
            <a:r>
              <a:rPr sz="1500" spc="-10" dirty="0">
                <a:solidFill>
                  <a:srgbClr val="292929"/>
                </a:solidFill>
                <a:latin typeface="Calibri"/>
                <a:cs typeface="Calibri"/>
              </a:rPr>
              <a:t>types.</a:t>
            </a:r>
            <a:endParaRPr sz="1500">
              <a:latin typeface="Calibri"/>
              <a:cs typeface="Calibri"/>
            </a:endParaRPr>
          </a:p>
          <a:p>
            <a:pPr marL="242570" lvl="1" indent="-100965">
              <a:lnSpc>
                <a:spcPct val="100000"/>
              </a:lnSpc>
              <a:spcBef>
                <a:spcPts val="805"/>
              </a:spcBef>
              <a:buChar char="-"/>
              <a:tabLst>
                <a:tab pos="242570" algn="l"/>
              </a:tabLst>
            </a:pPr>
            <a:r>
              <a:rPr sz="1500" dirty="0">
                <a:solidFill>
                  <a:srgbClr val="292929"/>
                </a:solidFill>
                <a:latin typeface="Calibri"/>
                <a:cs typeface="Calibri"/>
              </a:rPr>
              <a:t>Why:</a:t>
            </a:r>
            <a:r>
              <a:rPr sz="1500" spc="-55" dirty="0">
                <a:solidFill>
                  <a:srgbClr val="292929"/>
                </a:solidFill>
                <a:latin typeface="Calibri"/>
                <a:cs typeface="Calibri"/>
              </a:rPr>
              <a:t> </a:t>
            </a:r>
            <a:r>
              <a:rPr sz="1500" dirty="0">
                <a:solidFill>
                  <a:srgbClr val="292929"/>
                </a:solidFill>
                <a:latin typeface="Calibri"/>
                <a:cs typeface="Calibri"/>
              </a:rPr>
              <a:t>Provides</a:t>
            </a:r>
            <a:r>
              <a:rPr sz="1500" spc="-5" dirty="0">
                <a:solidFill>
                  <a:srgbClr val="292929"/>
                </a:solidFill>
                <a:latin typeface="Calibri"/>
                <a:cs typeface="Calibri"/>
              </a:rPr>
              <a:t> </a:t>
            </a:r>
            <a:r>
              <a:rPr sz="1500" dirty="0">
                <a:solidFill>
                  <a:srgbClr val="292929"/>
                </a:solidFill>
                <a:latin typeface="Calibri"/>
                <a:cs typeface="Calibri"/>
              </a:rPr>
              <a:t>a</a:t>
            </a:r>
            <a:r>
              <a:rPr sz="1500" spc="-55" dirty="0">
                <a:solidFill>
                  <a:srgbClr val="292929"/>
                </a:solidFill>
                <a:latin typeface="Calibri"/>
                <a:cs typeface="Calibri"/>
              </a:rPr>
              <a:t> </a:t>
            </a:r>
            <a:r>
              <a:rPr sz="1500" dirty="0">
                <a:solidFill>
                  <a:srgbClr val="292929"/>
                </a:solidFill>
                <a:latin typeface="Calibri"/>
                <a:cs typeface="Calibri"/>
              </a:rPr>
              <a:t>clear</a:t>
            </a:r>
            <a:r>
              <a:rPr sz="1500" spc="-15" dirty="0">
                <a:solidFill>
                  <a:srgbClr val="292929"/>
                </a:solidFill>
                <a:latin typeface="Calibri"/>
                <a:cs typeface="Calibri"/>
              </a:rPr>
              <a:t> </a:t>
            </a:r>
            <a:r>
              <a:rPr sz="1500" dirty="0">
                <a:solidFill>
                  <a:srgbClr val="292929"/>
                </a:solidFill>
                <a:latin typeface="Calibri"/>
                <a:cs typeface="Calibri"/>
              </a:rPr>
              <a:t>comparison</a:t>
            </a:r>
            <a:r>
              <a:rPr sz="1500" spc="-50" dirty="0">
                <a:solidFill>
                  <a:srgbClr val="292929"/>
                </a:solidFill>
                <a:latin typeface="Calibri"/>
                <a:cs typeface="Calibri"/>
              </a:rPr>
              <a:t> </a:t>
            </a:r>
            <a:r>
              <a:rPr sz="1500" dirty="0">
                <a:solidFill>
                  <a:srgbClr val="292929"/>
                </a:solidFill>
                <a:latin typeface="Calibri"/>
                <a:cs typeface="Calibri"/>
              </a:rPr>
              <a:t>of</a:t>
            </a:r>
            <a:r>
              <a:rPr sz="1500" spc="-20" dirty="0">
                <a:solidFill>
                  <a:srgbClr val="292929"/>
                </a:solidFill>
                <a:latin typeface="Calibri"/>
                <a:cs typeface="Calibri"/>
              </a:rPr>
              <a:t> </a:t>
            </a:r>
            <a:r>
              <a:rPr sz="1500" spc="-10" dirty="0">
                <a:solidFill>
                  <a:srgbClr val="292929"/>
                </a:solidFill>
                <a:latin typeface="Calibri"/>
                <a:cs typeface="Calibri"/>
              </a:rPr>
              <a:t>frequencies</a:t>
            </a:r>
            <a:r>
              <a:rPr sz="1500" spc="-5" dirty="0">
                <a:solidFill>
                  <a:srgbClr val="292929"/>
                </a:solidFill>
                <a:latin typeface="Calibri"/>
                <a:cs typeface="Calibri"/>
              </a:rPr>
              <a:t> </a:t>
            </a:r>
            <a:r>
              <a:rPr sz="1500" dirty="0">
                <a:solidFill>
                  <a:srgbClr val="292929"/>
                </a:solidFill>
                <a:latin typeface="Calibri"/>
                <a:cs typeface="Calibri"/>
              </a:rPr>
              <a:t>or</a:t>
            </a:r>
            <a:r>
              <a:rPr sz="1500" spc="-15" dirty="0">
                <a:solidFill>
                  <a:srgbClr val="292929"/>
                </a:solidFill>
                <a:latin typeface="Calibri"/>
                <a:cs typeface="Calibri"/>
              </a:rPr>
              <a:t> </a:t>
            </a:r>
            <a:r>
              <a:rPr sz="1500" spc="-10" dirty="0">
                <a:solidFill>
                  <a:srgbClr val="292929"/>
                </a:solidFill>
                <a:latin typeface="Calibri"/>
                <a:cs typeface="Calibri"/>
              </a:rPr>
              <a:t>proportions</a:t>
            </a:r>
            <a:r>
              <a:rPr sz="1500" spc="-70" dirty="0">
                <a:solidFill>
                  <a:srgbClr val="292929"/>
                </a:solidFill>
                <a:latin typeface="Calibri"/>
                <a:cs typeface="Calibri"/>
              </a:rPr>
              <a:t> </a:t>
            </a:r>
            <a:r>
              <a:rPr sz="1500" dirty="0">
                <a:solidFill>
                  <a:srgbClr val="292929"/>
                </a:solidFill>
                <a:latin typeface="Calibri"/>
                <a:cs typeface="Calibri"/>
              </a:rPr>
              <a:t>within</a:t>
            </a:r>
            <a:r>
              <a:rPr sz="1500" spc="-50" dirty="0">
                <a:solidFill>
                  <a:srgbClr val="292929"/>
                </a:solidFill>
                <a:latin typeface="Calibri"/>
                <a:cs typeface="Calibri"/>
              </a:rPr>
              <a:t> </a:t>
            </a:r>
            <a:r>
              <a:rPr sz="1500" spc="-10" dirty="0">
                <a:solidFill>
                  <a:srgbClr val="292929"/>
                </a:solidFill>
                <a:latin typeface="Calibri"/>
                <a:cs typeface="Calibri"/>
              </a:rPr>
              <a:t>categorical</a:t>
            </a:r>
            <a:r>
              <a:rPr sz="1500" spc="-55" dirty="0">
                <a:solidFill>
                  <a:srgbClr val="292929"/>
                </a:solidFill>
                <a:latin typeface="Calibri"/>
                <a:cs typeface="Calibri"/>
              </a:rPr>
              <a:t> </a:t>
            </a:r>
            <a:r>
              <a:rPr sz="1500" dirty="0">
                <a:solidFill>
                  <a:srgbClr val="292929"/>
                </a:solidFill>
                <a:latin typeface="Calibri"/>
                <a:cs typeface="Calibri"/>
              </a:rPr>
              <a:t>data,</a:t>
            </a:r>
            <a:r>
              <a:rPr sz="1500" spc="-20" dirty="0">
                <a:solidFill>
                  <a:srgbClr val="292929"/>
                </a:solidFill>
                <a:latin typeface="Calibri"/>
                <a:cs typeface="Calibri"/>
              </a:rPr>
              <a:t> </a:t>
            </a:r>
            <a:r>
              <a:rPr sz="1500" spc="-10" dirty="0">
                <a:solidFill>
                  <a:srgbClr val="292929"/>
                </a:solidFill>
                <a:latin typeface="Calibri"/>
                <a:cs typeface="Calibri"/>
              </a:rPr>
              <a:t>highlighting</a:t>
            </a:r>
            <a:r>
              <a:rPr sz="1500" spc="-45" dirty="0">
                <a:solidFill>
                  <a:srgbClr val="292929"/>
                </a:solidFill>
                <a:latin typeface="Calibri"/>
                <a:cs typeface="Calibri"/>
              </a:rPr>
              <a:t> </a:t>
            </a:r>
            <a:r>
              <a:rPr sz="1500" dirty="0">
                <a:solidFill>
                  <a:srgbClr val="292929"/>
                </a:solidFill>
                <a:latin typeface="Calibri"/>
                <a:cs typeface="Calibri"/>
              </a:rPr>
              <a:t>patterns</a:t>
            </a:r>
            <a:r>
              <a:rPr sz="1500" spc="-5" dirty="0">
                <a:solidFill>
                  <a:srgbClr val="292929"/>
                </a:solidFill>
                <a:latin typeface="Calibri"/>
                <a:cs typeface="Calibri"/>
              </a:rPr>
              <a:t> </a:t>
            </a:r>
            <a:r>
              <a:rPr sz="1500" dirty="0">
                <a:solidFill>
                  <a:srgbClr val="292929"/>
                </a:solidFill>
                <a:latin typeface="Calibri"/>
                <a:cs typeface="Calibri"/>
              </a:rPr>
              <a:t>or</a:t>
            </a:r>
            <a:r>
              <a:rPr sz="1500" spc="-10" dirty="0">
                <a:solidFill>
                  <a:srgbClr val="292929"/>
                </a:solidFill>
                <a:latin typeface="Calibri"/>
                <a:cs typeface="Calibri"/>
              </a:rPr>
              <a:t> trends.</a:t>
            </a:r>
            <a:endParaRPr sz="1500">
              <a:latin typeface="Calibri"/>
              <a:cs typeface="Calibri"/>
            </a:endParaRPr>
          </a:p>
          <a:p>
            <a:pPr marL="202565" indent="-189865">
              <a:lnSpc>
                <a:spcPct val="100000"/>
              </a:lnSpc>
              <a:spcBef>
                <a:spcPts val="825"/>
              </a:spcBef>
              <a:buAutoNum type="arabicPeriod" startAt="3"/>
              <a:tabLst>
                <a:tab pos="202565" algn="l"/>
              </a:tabLst>
            </a:pPr>
            <a:r>
              <a:rPr sz="1500" b="1" dirty="0">
                <a:solidFill>
                  <a:srgbClr val="292929"/>
                </a:solidFill>
                <a:latin typeface="Calibri"/>
                <a:cs typeface="Calibri"/>
              </a:rPr>
              <a:t>Line</a:t>
            </a:r>
            <a:r>
              <a:rPr sz="1500" b="1" spc="10" dirty="0">
                <a:solidFill>
                  <a:srgbClr val="292929"/>
                </a:solidFill>
                <a:latin typeface="Calibri"/>
                <a:cs typeface="Calibri"/>
              </a:rPr>
              <a:t> </a:t>
            </a:r>
            <a:r>
              <a:rPr sz="1500" b="1" spc="-10" dirty="0">
                <a:solidFill>
                  <a:srgbClr val="292929"/>
                </a:solidFill>
                <a:latin typeface="Calibri"/>
                <a:cs typeface="Calibri"/>
              </a:rPr>
              <a:t>Charts:</a:t>
            </a:r>
            <a:endParaRPr sz="1500">
              <a:latin typeface="Calibri"/>
              <a:cs typeface="Calibri"/>
            </a:endParaRPr>
          </a:p>
          <a:p>
            <a:pPr marL="242570" lvl="1" indent="-100965">
              <a:lnSpc>
                <a:spcPct val="100000"/>
              </a:lnSpc>
              <a:spcBef>
                <a:spcPts val="755"/>
              </a:spcBef>
              <a:buFont typeface="Calibri"/>
              <a:buChar char="-"/>
              <a:tabLst>
                <a:tab pos="242570" algn="l"/>
              </a:tabLst>
            </a:pPr>
            <a:r>
              <a:rPr sz="1500" b="1" dirty="0">
                <a:solidFill>
                  <a:srgbClr val="292929"/>
                </a:solidFill>
                <a:latin typeface="Calibri"/>
                <a:cs typeface="Calibri"/>
              </a:rPr>
              <a:t>Purpose:</a:t>
            </a:r>
            <a:r>
              <a:rPr sz="1500" b="1" spc="-30" dirty="0">
                <a:solidFill>
                  <a:srgbClr val="292929"/>
                </a:solidFill>
                <a:latin typeface="Calibri"/>
                <a:cs typeface="Calibri"/>
              </a:rPr>
              <a:t> </a:t>
            </a:r>
            <a:r>
              <a:rPr sz="1500" dirty="0">
                <a:solidFill>
                  <a:srgbClr val="292929"/>
                </a:solidFill>
                <a:latin typeface="Calibri"/>
                <a:cs typeface="Calibri"/>
              </a:rPr>
              <a:t>Used</a:t>
            </a:r>
            <a:r>
              <a:rPr sz="1500" spc="-35" dirty="0">
                <a:solidFill>
                  <a:srgbClr val="292929"/>
                </a:solidFill>
                <a:latin typeface="Calibri"/>
                <a:cs typeface="Calibri"/>
              </a:rPr>
              <a:t> </a:t>
            </a:r>
            <a:r>
              <a:rPr sz="1500" dirty="0">
                <a:solidFill>
                  <a:srgbClr val="292929"/>
                </a:solidFill>
                <a:latin typeface="Calibri"/>
                <a:cs typeface="Calibri"/>
              </a:rPr>
              <a:t>to</a:t>
            </a:r>
            <a:r>
              <a:rPr sz="1500" spc="-35" dirty="0">
                <a:solidFill>
                  <a:srgbClr val="292929"/>
                </a:solidFill>
                <a:latin typeface="Calibri"/>
                <a:cs typeface="Calibri"/>
              </a:rPr>
              <a:t> </a:t>
            </a:r>
            <a:r>
              <a:rPr sz="1500" dirty="0">
                <a:solidFill>
                  <a:srgbClr val="292929"/>
                </a:solidFill>
                <a:latin typeface="Calibri"/>
                <a:cs typeface="Calibri"/>
              </a:rPr>
              <a:t>track</a:t>
            </a:r>
            <a:r>
              <a:rPr sz="1500" spc="-10" dirty="0">
                <a:solidFill>
                  <a:srgbClr val="292929"/>
                </a:solidFill>
                <a:latin typeface="Calibri"/>
                <a:cs typeface="Calibri"/>
              </a:rPr>
              <a:t> </a:t>
            </a:r>
            <a:r>
              <a:rPr sz="1500" dirty="0">
                <a:solidFill>
                  <a:srgbClr val="292929"/>
                </a:solidFill>
                <a:latin typeface="Calibri"/>
                <a:cs typeface="Calibri"/>
              </a:rPr>
              <a:t>trends</a:t>
            </a:r>
            <a:r>
              <a:rPr sz="1500" spc="10" dirty="0">
                <a:solidFill>
                  <a:srgbClr val="292929"/>
                </a:solidFill>
                <a:latin typeface="Calibri"/>
                <a:cs typeface="Calibri"/>
              </a:rPr>
              <a:t> </a:t>
            </a:r>
            <a:r>
              <a:rPr sz="1500" dirty="0">
                <a:solidFill>
                  <a:srgbClr val="292929"/>
                </a:solidFill>
                <a:latin typeface="Calibri"/>
                <a:cs typeface="Calibri"/>
              </a:rPr>
              <a:t>over </a:t>
            </a:r>
            <a:r>
              <a:rPr sz="1500" spc="-10" dirty="0">
                <a:solidFill>
                  <a:srgbClr val="292929"/>
                </a:solidFill>
                <a:latin typeface="Calibri"/>
                <a:cs typeface="Calibri"/>
              </a:rPr>
              <a:t>time,</a:t>
            </a:r>
            <a:r>
              <a:rPr sz="1500" spc="-70" dirty="0">
                <a:solidFill>
                  <a:srgbClr val="292929"/>
                </a:solidFill>
                <a:latin typeface="Calibri"/>
                <a:cs typeface="Calibri"/>
              </a:rPr>
              <a:t> </a:t>
            </a:r>
            <a:r>
              <a:rPr sz="1500" dirty="0">
                <a:solidFill>
                  <a:srgbClr val="292929"/>
                </a:solidFill>
                <a:latin typeface="Calibri"/>
                <a:cs typeface="Calibri"/>
              </a:rPr>
              <a:t>such</a:t>
            </a:r>
            <a:r>
              <a:rPr sz="1500" spc="-35" dirty="0">
                <a:solidFill>
                  <a:srgbClr val="292929"/>
                </a:solidFill>
                <a:latin typeface="Calibri"/>
                <a:cs typeface="Calibri"/>
              </a:rPr>
              <a:t> </a:t>
            </a:r>
            <a:r>
              <a:rPr sz="1500" dirty="0">
                <a:solidFill>
                  <a:srgbClr val="292929"/>
                </a:solidFill>
                <a:latin typeface="Calibri"/>
                <a:cs typeface="Calibri"/>
              </a:rPr>
              <a:t>as</a:t>
            </a:r>
            <a:r>
              <a:rPr sz="1500" spc="-55" dirty="0">
                <a:solidFill>
                  <a:srgbClr val="292929"/>
                </a:solidFill>
                <a:latin typeface="Calibri"/>
                <a:cs typeface="Calibri"/>
              </a:rPr>
              <a:t> </a:t>
            </a:r>
            <a:r>
              <a:rPr sz="1500" dirty="0">
                <a:solidFill>
                  <a:srgbClr val="292929"/>
                </a:solidFill>
                <a:latin typeface="Calibri"/>
                <a:cs typeface="Calibri"/>
              </a:rPr>
              <a:t>the </a:t>
            </a:r>
            <a:r>
              <a:rPr sz="1500" spc="-10" dirty="0">
                <a:solidFill>
                  <a:srgbClr val="292929"/>
                </a:solidFill>
                <a:latin typeface="Calibri"/>
                <a:cs typeface="Calibri"/>
              </a:rPr>
              <a:t>success</a:t>
            </a:r>
            <a:r>
              <a:rPr sz="1500" spc="-55" dirty="0">
                <a:solidFill>
                  <a:srgbClr val="292929"/>
                </a:solidFill>
                <a:latin typeface="Calibri"/>
                <a:cs typeface="Calibri"/>
              </a:rPr>
              <a:t> </a:t>
            </a:r>
            <a:r>
              <a:rPr sz="1500" dirty="0">
                <a:solidFill>
                  <a:srgbClr val="292929"/>
                </a:solidFill>
                <a:latin typeface="Calibri"/>
                <a:cs typeface="Calibri"/>
              </a:rPr>
              <a:t>rate</a:t>
            </a:r>
            <a:r>
              <a:rPr sz="1500" spc="-70" dirty="0">
                <a:solidFill>
                  <a:srgbClr val="292929"/>
                </a:solidFill>
                <a:latin typeface="Calibri"/>
                <a:cs typeface="Calibri"/>
              </a:rPr>
              <a:t> </a:t>
            </a:r>
            <a:r>
              <a:rPr sz="1500" dirty="0">
                <a:solidFill>
                  <a:srgbClr val="292929"/>
                </a:solidFill>
                <a:latin typeface="Calibri"/>
                <a:cs typeface="Calibri"/>
              </a:rPr>
              <a:t>of</a:t>
            </a:r>
            <a:r>
              <a:rPr sz="1500" spc="-75" dirty="0">
                <a:solidFill>
                  <a:srgbClr val="292929"/>
                </a:solidFill>
                <a:latin typeface="Calibri"/>
                <a:cs typeface="Calibri"/>
              </a:rPr>
              <a:t> </a:t>
            </a:r>
            <a:r>
              <a:rPr sz="1500" dirty="0">
                <a:solidFill>
                  <a:srgbClr val="292929"/>
                </a:solidFill>
                <a:latin typeface="Calibri"/>
                <a:cs typeface="Calibri"/>
              </a:rPr>
              <a:t>Falcon</a:t>
            </a:r>
            <a:r>
              <a:rPr sz="1500" spc="-35" dirty="0">
                <a:solidFill>
                  <a:srgbClr val="292929"/>
                </a:solidFill>
                <a:latin typeface="Calibri"/>
                <a:cs typeface="Calibri"/>
              </a:rPr>
              <a:t> </a:t>
            </a:r>
            <a:r>
              <a:rPr sz="1500" dirty="0">
                <a:solidFill>
                  <a:srgbClr val="292929"/>
                </a:solidFill>
                <a:latin typeface="Calibri"/>
                <a:cs typeface="Calibri"/>
              </a:rPr>
              <a:t>9</a:t>
            </a:r>
            <a:r>
              <a:rPr sz="1500" spc="-80" dirty="0">
                <a:solidFill>
                  <a:srgbClr val="292929"/>
                </a:solidFill>
                <a:latin typeface="Calibri"/>
                <a:cs typeface="Calibri"/>
              </a:rPr>
              <a:t> </a:t>
            </a:r>
            <a:r>
              <a:rPr sz="1500" dirty="0">
                <a:solidFill>
                  <a:srgbClr val="292929"/>
                </a:solidFill>
                <a:latin typeface="Calibri"/>
                <a:cs typeface="Calibri"/>
              </a:rPr>
              <a:t>launches</a:t>
            </a:r>
            <a:r>
              <a:rPr sz="1500" spc="-60" dirty="0">
                <a:solidFill>
                  <a:srgbClr val="292929"/>
                </a:solidFill>
                <a:latin typeface="Calibri"/>
                <a:cs typeface="Calibri"/>
              </a:rPr>
              <a:t> </a:t>
            </a:r>
            <a:r>
              <a:rPr sz="1500" dirty="0">
                <a:solidFill>
                  <a:srgbClr val="292929"/>
                </a:solidFill>
                <a:latin typeface="Calibri"/>
                <a:cs typeface="Calibri"/>
              </a:rPr>
              <a:t>across</a:t>
            </a:r>
            <a:r>
              <a:rPr sz="1500" spc="-55" dirty="0">
                <a:solidFill>
                  <a:srgbClr val="292929"/>
                </a:solidFill>
                <a:latin typeface="Calibri"/>
                <a:cs typeface="Calibri"/>
              </a:rPr>
              <a:t> </a:t>
            </a:r>
            <a:r>
              <a:rPr sz="1500" spc="-10" dirty="0">
                <a:solidFill>
                  <a:srgbClr val="292929"/>
                </a:solidFill>
                <a:latin typeface="Calibri"/>
                <a:cs typeface="Calibri"/>
              </a:rPr>
              <a:t>different</a:t>
            </a:r>
            <a:r>
              <a:rPr sz="1500" spc="-50" dirty="0">
                <a:solidFill>
                  <a:srgbClr val="292929"/>
                </a:solidFill>
                <a:latin typeface="Calibri"/>
                <a:cs typeface="Calibri"/>
              </a:rPr>
              <a:t> </a:t>
            </a:r>
            <a:r>
              <a:rPr sz="1500" spc="-10" dirty="0">
                <a:solidFill>
                  <a:srgbClr val="292929"/>
                </a:solidFill>
                <a:latin typeface="Calibri"/>
                <a:cs typeface="Calibri"/>
              </a:rPr>
              <a:t>years.</a:t>
            </a:r>
            <a:endParaRPr sz="1500">
              <a:latin typeface="Calibri"/>
              <a:cs typeface="Calibri"/>
            </a:endParaRPr>
          </a:p>
          <a:p>
            <a:pPr marL="242570" lvl="1" indent="-100965">
              <a:lnSpc>
                <a:spcPct val="100000"/>
              </a:lnSpc>
              <a:spcBef>
                <a:spcPts val="830"/>
              </a:spcBef>
              <a:buFont typeface="Calibri"/>
              <a:buChar char="-"/>
              <a:tabLst>
                <a:tab pos="242570" algn="l"/>
              </a:tabLst>
            </a:pPr>
            <a:r>
              <a:rPr sz="1500" b="1" dirty="0">
                <a:solidFill>
                  <a:srgbClr val="292929"/>
                </a:solidFill>
                <a:latin typeface="Calibri"/>
                <a:cs typeface="Calibri"/>
              </a:rPr>
              <a:t>Why</a:t>
            </a:r>
            <a:r>
              <a:rPr sz="1500" dirty="0">
                <a:solidFill>
                  <a:srgbClr val="292929"/>
                </a:solidFill>
                <a:latin typeface="Calibri"/>
                <a:cs typeface="Calibri"/>
              </a:rPr>
              <a:t>:</a:t>
            </a:r>
            <a:r>
              <a:rPr sz="1500" spc="-35" dirty="0">
                <a:solidFill>
                  <a:srgbClr val="292929"/>
                </a:solidFill>
                <a:latin typeface="Calibri"/>
                <a:cs typeface="Calibri"/>
              </a:rPr>
              <a:t> </a:t>
            </a:r>
            <a:r>
              <a:rPr sz="1500" dirty="0">
                <a:solidFill>
                  <a:srgbClr val="292929"/>
                </a:solidFill>
                <a:latin typeface="Calibri"/>
                <a:cs typeface="Calibri"/>
              </a:rPr>
              <a:t>Reveals</a:t>
            </a:r>
            <a:r>
              <a:rPr sz="1500" spc="10" dirty="0">
                <a:solidFill>
                  <a:srgbClr val="292929"/>
                </a:solidFill>
                <a:latin typeface="Calibri"/>
                <a:cs typeface="Calibri"/>
              </a:rPr>
              <a:t> </a:t>
            </a:r>
            <a:r>
              <a:rPr sz="1500" spc="-20" dirty="0">
                <a:solidFill>
                  <a:srgbClr val="292929"/>
                </a:solidFill>
                <a:latin typeface="Calibri"/>
                <a:cs typeface="Calibri"/>
              </a:rPr>
              <a:t>temporal</a:t>
            </a:r>
            <a:r>
              <a:rPr sz="1500" spc="-45" dirty="0">
                <a:solidFill>
                  <a:srgbClr val="292929"/>
                </a:solidFill>
                <a:latin typeface="Calibri"/>
                <a:cs typeface="Calibri"/>
              </a:rPr>
              <a:t> </a:t>
            </a:r>
            <a:r>
              <a:rPr sz="1500" dirty="0">
                <a:solidFill>
                  <a:srgbClr val="292929"/>
                </a:solidFill>
                <a:latin typeface="Calibri"/>
                <a:cs typeface="Calibri"/>
              </a:rPr>
              <a:t>patterns</a:t>
            </a:r>
            <a:r>
              <a:rPr sz="1500" spc="5" dirty="0">
                <a:solidFill>
                  <a:srgbClr val="292929"/>
                </a:solidFill>
                <a:latin typeface="Calibri"/>
                <a:cs typeface="Calibri"/>
              </a:rPr>
              <a:t> </a:t>
            </a:r>
            <a:r>
              <a:rPr sz="1500" dirty="0">
                <a:solidFill>
                  <a:srgbClr val="292929"/>
                </a:solidFill>
                <a:latin typeface="Calibri"/>
                <a:cs typeface="Calibri"/>
              </a:rPr>
              <a:t>and</a:t>
            </a:r>
            <a:r>
              <a:rPr sz="1500" spc="-40" dirty="0">
                <a:solidFill>
                  <a:srgbClr val="292929"/>
                </a:solidFill>
                <a:latin typeface="Calibri"/>
                <a:cs typeface="Calibri"/>
              </a:rPr>
              <a:t> </a:t>
            </a:r>
            <a:r>
              <a:rPr sz="1500" dirty="0">
                <a:solidFill>
                  <a:srgbClr val="292929"/>
                </a:solidFill>
                <a:latin typeface="Calibri"/>
                <a:cs typeface="Calibri"/>
              </a:rPr>
              <a:t>helps</a:t>
            </a:r>
            <a:r>
              <a:rPr sz="1500" spc="5" dirty="0">
                <a:solidFill>
                  <a:srgbClr val="292929"/>
                </a:solidFill>
                <a:latin typeface="Calibri"/>
                <a:cs typeface="Calibri"/>
              </a:rPr>
              <a:t> </a:t>
            </a:r>
            <a:r>
              <a:rPr sz="1500" dirty="0">
                <a:solidFill>
                  <a:srgbClr val="292929"/>
                </a:solidFill>
                <a:latin typeface="Calibri"/>
                <a:cs typeface="Calibri"/>
              </a:rPr>
              <a:t>in</a:t>
            </a:r>
            <a:r>
              <a:rPr sz="1500" spc="-40" dirty="0">
                <a:solidFill>
                  <a:srgbClr val="292929"/>
                </a:solidFill>
                <a:latin typeface="Calibri"/>
                <a:cs typeface="Calibri"/>
              </a:rPr>
              <a:t> </a:t>
            </a:r>
            <a:r>
              <a:rPr sz="1500" spc="-10" dirty="0">
                <a:solidFill>
                  <a:srgbClr val="292929"/>
                </a:solidFill>
                <a:latin typeface="Calibri"/>
                <a:cs typeface="Calibri"/>
              </a:rPr>
              <a:t>understanding</a:t>
            </a:r>
            <a:r>
              <a:rPr sz="1500" spc="-30" dirty="0">
                <a:solidFill>
                  <a:srgbClr val="292929"/>
                </a:solidFill>
                <a:latin typeface="Calibri"/>
                <a:cs typeface="Calibri"/>
              </a:rPr>
              <a:t> </a:t>
            </a:r>
            <a:r>
              <a:rPr sz="1500" spc="-10" dirty="0">
                <a:solidFill>
                  <a:srgbClr val="292929"/>
                </a:solidFill>
                <a:latin typeface="Calibri"/>
                <a:cs typeface="Calibri"/>
              </a:rPr>
              <a:t>performance</a:t>
            </a:r>
            <a:r>
              <a:rPr sz="1500" spc="-5" dirty="0">
                <a:solidFill>
                  <a:srgbClr val="292929"/>
                </a:solidFill>
                <a:latin typeface="Calibri"/>
                <a:cs typeface="Calibri"/>
              </a:rPr>
              <a:t> </a:t>
            </a:r>
            <a:r>
              <a:rPr sz="1500" spc="-10" dirty="0">
                <a:solidFill>
                  <a:srgbClr val="292929"/>
                </a:solidFill>
                <a:latin typeface="Calibri"/>
                <a:cs typeface="Calibri"/>
              </a:rPr>
              <a:t>trends</a:t>
            </a:r>
            <a:r>
              <a:rPr sz="1500" spc="-60" dirty="0">
                <a:solidFill>
                  <a:srgbClr val="292929"/>
                </a:solidFill>
                <a:latin typeface="Calibri"/>
                <a:cs typeface="Calibri"/>
              </a:rPr>
              <a:t> </a:t>
            </a:r>
            <a:r>
              <a:rPr sz="1500" dirty="0">
                <a:solidFill>
                  <a:srgbClr val="292929"/>
                </a:solidFill>
                <a:latin typeface="Calibri"/>
                <a:cs typeface="Calibri"/>
              </a:rPr>
              <a:t>or</a:t>
            </a:r>
            <a:r>
              <a:rPr sz="1500" spc="-75" dirty="0">
                <a:solidFill>
                  <a:srgbClr val="292929"/>
                </a:solidFill>
                <a:latin typeface="Calibri"/>
                <a:cs typeface="Calibri"/>
              </a:rPr>
              <a:t> </a:t>
            </a:r>
            <a:r>
              <a:rPr sz="1500" dirty="0">
                <a:solidFill>
                  <a:srgbClr val="292929"/>
                </a:solidFill>
                <a:latin typeface="Calibri"/>
                <a:cs typeface="Calibri"/>
              </a:rPr>
              <a:t>changes</a:t>
            </a:r>
            <a:r>
              <a:rPr sz="1500" spc="-60" dirty="0">
                <a:solidFill>
                  <a:srgbClr val="292929"/>
                </a:solidFill>
                <a:latin typeface="Calibri"/>
                <a:cs typeface="Calibri"/>
              </a:rPr>
              <a:t> </a:t>
            </a:r>
            <a:r>
              <a:rPr sz="1500" dirty="0">
                <a:solidFill>
                  <a:srgbClr val="292929"/>
                </a:solidFill>
                <a:latin typeface="Calibri"/>
                <a:cs typeface="Calibri"/>
              </a:rPr>
              <a:t>over</a:t>
            </a:r>
            <a:r>
              <a:rPr sz="1500" spc="-5" dirty="0">
                <a:solidFill>
                  <a:srgbClr val="292929"/>
                </a:solidFill>
                <a:latin typeface="Calibri"/>
                <a:cs typeface="Calibri"/>
              </a:rPr>
              <a:t> </a:t>
            </a:r>
            <a:r>
              <a:rPr sz="1500" dirty="0">
                <a:solidFill>
                  <a:srgbClr val="292929"/>
                </a:solidFill>
                <a:latin typeface="Calibri"/>
                <a:cs typeface="Calibri"/>
              </a:rPr>
              <a:t>specific</a:t>
            </a:r>
            <a:r>
              <a:rPr sz="1500" spc="-40" dirty="0">
                <a:solidFill>
                  <a:srgbClr val="292929"/>
                </a:solidFill>
                <a:latin typeface="Calibri"/>
                <a:cs typeface="Calibri"/>
              </a:rPr>
              <a:t> </a:t>
            </a:r>
            <a:r>
              <a:rPr sz="1500" spc="-10" dirty="0">
                <a:solidFill>
                  <a:srgbClr val="292929"/>
                </a:solidFill>
                <a:latin typeface="Calibri"/>
                <a:cs typeface="Calibri"/>
              </a:rPr>
              <a:t>periods.</a:t>
            </a:r>
            <a:endParaRPr sz="150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14</a:t>
            </a:fld>
            <a:endParaRPr spc="60"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75" dirty="0"/>
              <a:t>EDA</a:t>
            </a:r>
            <a:r>
              <a:rPr spc="-10" dirty="0"/>
              <a:t> </a:t>
            </a:r>
            <a:r>
              <a:rPr dirty="0"/>
              <a:t>with</a:t>
            </a:r>
            <a:r>
              <a:rPr spc="-20" dirty="0"/>
              <a:t> </a:t>
            </a:r>
            <a:r>
              <a:rPr spc="-10" dirty="0"/>
              <a:t>Data</a:t>
            </a:r>
            <a:r>
              <a:rPr spc="-25" dirty="0"/>
              <a:t> </a:t>
            </a:r>
            <a:r>
              <a:rPr spc="-35" dirty="0"/>
              <a:t>Visualization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312" y="1327260"/>
            <a:ext cx="10097770" cy="3247684"/>
          </a:xfrm>
          <a:prstGeom prst="rect">
            <a:avLst/>
          </a:prstGeom>
        </p:spPr>
        <p:txBody>
          <a:bodyPr vert="horz" wrap="square" lIns="0" tIns="117475" rIns="0" bIns="0" rtlCol="0">
            <a:spAutoFit/>
          </a:bodyPr>
          <a:lstStyle/>
          <a:p>
            <a:pPr marL="203200" indent="-190500">
              <a:lnSpc>
                <a:spcPct val="100000"/>
              </a:lnSpc>
              <a:spcBef>
                <a:spcPts val="925"/>
              </a:spcBef>
              <a:buClr>
                <a:srgbClr val="292929"/>
              </a:buClr>
              <a:buFont typeface="Calibri"/>
              <a:buAutoNum type="arabicPeriod" startAt="4"/>
              <a:tabLst>
                <a:tab pos="203200" algn="l"/>
              </a:tabLst>
            </a:pPr>
            <a:r>
              <a:rPr sz="1500" b="1" spc="-10" dirty="0">
                <a:solidFill>
                  <a:srgbClr val="292929"/>
                </a:solidFill>
                <a:latin typeface="Calibri"/>
                <a:cs typeface="Calibri"/>
              </a:rPr>
              <a:t>Scatter</a:t>
            </a:r>
            <a:r>
              <a:rPr sz="1500" b="1" spc="-70" dirty="0">
                <a:solidFill>
                  <a:srgbClr val="292929"/>
                </a:solidFill>
                <a:latin typeface="Calibri"/>
                <a:cs typeface="Calibri"/>
              </a:rPr>
              <a:t> </a:t>
            </a:r>
            <a:r>
              <a:rPr sz="1500" b="1" spc="-10" dirty="0">
                <a:solidFill>
                  <a:srgbClr val="292929"/>
                </a:solidFill>
                <a:latin typeface="Calibri"/>
                <a:cs typeface="Calibri"/>
              </a:rPr>
              <a:t>Plots:</a:t>
            </a:r>
            <a:endParaRPr sz="1500" dirty="0">
              <a:latin typeface="Calibri"/>
              <a:cs typeface="Calibri"/>
            </a:endParaRPr>
          </a:p>
          <a:p>
            <a:pPr marL="242570" lvl="1" indent="-100965">
              <a:lnSpc>
                <a:spcPct val="100000"/>
              </a:lnSpc>
              <a:spcBef>
                <a:spcPts val="825"/>
              </a:spcBef>
              <a:buFont typeface="Calibri"/>
              <a:buChar char="-"/>
              <a:tabLst>
                <a:tab pos="242570" algn="l"/>
              </a:tabLst>
            </a:pPr>
            <a:r>
              <a:rPr sz="1500" b="1" dirty="0">
                <a:solidFill>
                  <a:srgbClr val="292929"/>
                </a:solidFill>
                <a:latin typeface="Calibri"/>
                <a:cs typeface="Calibri"/>
              </a:rPr>
              <a:t>Purpose:</a:t>
            </a:r>
            <a:r>
              <a:rPr sz="1500" b="1" spc="-25" dirty="0">
                <a:solidFill>
                  <a:srgbClr val="292929"/>
                </a:solidFill>
                <a:latin typeface="Calibri"/>
                <a:cs typeface="Calibri"/>
              </a:rPr>
              <a:t> </a:t>
            </a:r>
            <a:r>
              <a:rPr sz="1500" dirty="0">
                <a:solidFill>
                  <a:srgbClr val="292929"/>
                </a:solidFill>
                <a:latin typeface="Calibri"/>
                <a:cs typeface="Calibri"/>
              </a:rPr>
              <a:t>Used</a:t>
            </a:r>
            <a:r>
              <a:rPr sz="1500" spc="-35" dirty="0">
                <a:solidFill>
                  <a:srgbClr val="292929"/>
                </a:solidFill>
                <a:latin typeface="Calibri"/>
                <a:cs typeface="Calibri"/>
              </a:rPr>
              <a:t> </a:t>
            </a:r>
            <a:r>
              <a:rPr sz="1500" dirty="0">
                <a:solidFill>
                  <a:srgbClr val="292929"/>
                </a:solidFill>
                <a:latin typeface="Calibri"/>
                <a:cs typeface="Calibri"/>
              </a:rPr>
              <a:t>to</a:t>
            </a:r>
            <a:r>
              <a:rPr sz="1500" spc="-35" dirty="0">
                <a:solidFill>
                  <a:srgbClr val="292929"/>
                </a:solidFill>
                <a:latin typeface="Calibri"/>
                <a:cs typeface="Calibri"/>
              </a:rPr>
              <a:t> </a:t>
            </a:r>
            <a:r>
              <a:rPr sz="1500" spc="-10" dirty="0">
                <a:solidFill>
                  <a:srgbClr val="292929"/>
                </a:solidFill>
                <a:latin typeface="Calibri"/>
                <a:cs typeface="Calibri"/>
              </a:rPr>
              <a:t>explore</a:t>
            </a:r>
            <a:r>
              <a:rPr sz="1500" spc="-65" dirty="0">
                <a:solidFill>
                  <a:srgbClr val="292929"/>
                </a:solidFill>
                <a:latin typeface="Calibri"/>
                <a:cs typeface="Calibri"/>
              </a:rPr>
              <a:t> </a:t>
            </a:r>
            <a:r>
              <a:rPr sz="1500" spc="-10" dirty="0">
                <a:solidFill>
                  <a:srgbClr val="292929"/>
                </a:solidFill>
                <a:latin typeface="Calibri"/>
                <a:cs typeface="Calibri"/>
              </a:rPr>
              <a:t>relationships</a:t>
            </a:r>
            <a:r>
              <a:rPr sz="1500" spc="-60" dirty="0">
                <a:solidFill>
                  <a:srgbClr val="292929"/>
                </a:solidFill>
                <a:latin typeface="Calibri"/>
                <a:cs typeface="Calibri"/>
              </a:rPr>
              <a:t> </a:t>
            </a:r>
            <a:r>
              <a:rPr sz="1500" spc="-10" dirty="0">
                <a:solidFill>
                  <a:srgbClr val="292929"/>
                </a:solidFill>
                <a:latin typeface="Calibri"/>
                <a:cs typeface="Calibri"/>
              </a:rPr>
              <a:t>between</a:t>
            </a:r>
            <a:r>
              <a:rPr sz="1500" spc="-30" dirty="0">
                <a:solidFill>
                  <a:srgbClr val="292929"/>
                </a:solidFill>
                <a:latin typeface="Calibri"/>
                <a:cs typeface="Calibri"/>
              </a:rPr>
              <a:t> </a:t>
            </a:r>
            <a:r>
              <a:rPr sz="1500" dirty="0">
                <a:solidFill>
                  <a:srgbClr val="292929"/>
                </a:solidFill>
                <a:latin typeface="Calibri"/>
                <a:cs typeface="Calibri"/>
              </a:rPr>
              <a:t>two</a:t>
            </a:r>
            <a:r>
              <a:rPr sz="1500" spc="-40" dirty="0">
                <a:solidFill>
                  <a:srgbClr val="292929"/>
                </a:solidFill>
                <a:latin typeface="Calibri"/>
                <a:cs typeface="Calibri"/>
              </a:rPr>
              <a:t> </a:t>
            </a:r>
            <a:r>
              <a:rPr sz="1500" dirty="0">
                <a:solidFill>
                  <a:srgbClr val="292929"/>
                </a:solidFill>
                <a:latin typeface="Calibri"/>
                <a:cs typeface="Calibri"/>
              </a:rPr>
              <a:t>numerical</a:t>
            </a:r>
            <a:r>
              <a:rPr sz="1500" spc="-35" dirty="0">
                <a:solidFill>
                  <a:srgbClr val="292929"/>
                </a:solidFill>
                <a:latin typeface="Calibri"/>
                <a:cs typeface="Calibri"/>
              </a:rPr>
              <a:t> </a:t>
            </a:r>
            <a:r>
              <a:rPr sz="1500" dirty="0">
                <a:solidFill>
                  <a:srgbClr val="292929"/>
                </a:solidFill>
                <a:latin typeface="Calibri"/>
                <a:cs typeface="Calibri"/>
              </a:rPr>
              <a:t>variables,</a:t>
            </a:r>
            <a:r>
              <a:rPr sz="1500" spc="-5" dirty="0">
                <a:solidFill>
                  <a:srgbClr val="292929"/>
                </a:solidFill>
                <a:latin typeface="Calibri"/>
                <a:cs typeface="Calibri"/>
              </a:rPr>
              <a:t> </a:t>
            </a:r>
            <a:r>
              <a:rPr sz="1500" dirty="0">
                <a:solidFill>
                  <a:srgbClr val="292929"/>
                </a:solidFill>
                <a:latin typeface="Calibri"/>
                <a:cs typeface="Calibri"/>
              </a:rPr>
              <a:t>such</a:t>
            </a:r>
            <a:r>
              <a:rPr sz="1500" spc="-30" dirty="0">
                <a:solidFill>
                  <a:srgbClr val="292929"/>
                </a:solidFill>
                <a:latin typeface="Calibri"/>
                <a:cs typeface="Calibri"/>
              </a:rPr>
              <a:t> </a:t>
            </a:r>
            <a:r>
              <a:rPr sz="1500" dirty="0">
                <a:solidFill>
                  <a:srgbClr val="292929"/>
                </a:solidFill>
                <a:latin typeface="Calibri"/>
                <a:cs typeface="Calibri"/>
              </a:rPr>
              <a:t>as</a:t>
            </a:r>
            <a:r>
              <a:rPr sz="1500" spc="-55" dirty="0">
                <a:solidFill>
                  <a:srgbClr val="292929"/>
                </a:solidFill>
                <a:latin typeface="Calibri"/>
                <a:cs typeface="Calibri"/>
              </a:rPr>
              <a:t> </a:t>
            </a:r>
            <a:r>
              <a:rPr sz="1500" dirty="0">
                <a:solidFill>
                  <a:srgbClr val="292929"/>
                </a:solidFill>
                <a:latin typeface="Calibri"/>
                <a:cs typeface="Calibri"/>
              </a:rPr>
              <a:t>payload</a:t>
            </a:r>
            <a:r>
              <a:rPr sz="1500" spc="-35" dirty="0">
                <a:solidFill>
                  <a:srgbClr val="292929"/>
                </a:solidFill>
                <a:latin typeface="Calibri"/>
                <a:cs typeface="Calibri"/>
              </a:rPr>
              <a:t> </a:t>
            </a:r>
            <a:r>
              <a:rPr sz="1500" dirty="0">
                <a:solidFill>
                  <a:srgbClr val="292929"/>
                </a:solidFill>
                <a:latin typeface="Calibri"/>
                <a:cs typeface="Calibri"/>
              </a:rPr>
              <a:t>mass</a:t>
            </a:r>
            <a:r>
              <a:rPr sz="1500" spc="-55" dirty="0">
                <a:solidFill>
                  <a:srgbClr val="292929"/>
                </a:solidFill>
                <a:latin typeface="Calibri"/>
                <a:cs typeface="Calibri"/>
              </a:rPr>
              <a:t> </a:t>
            </a:r>
            <a:r>
              <a:rPr sz="1500" dirty="0">
                <a:solidFill>
                  <a:srgbClr val="292929"/>
                </a:solidFill>
                <a:latin typeface="Calibri"/>
                <a:cs typeface="Calibri"/>
              </a:rPr>
              <a:t>vs.</a:t>
            </a:r>
            <a:r>
              <a:rPr sz="1500" spc="-5" dirty="0">
                <a:solidFill>
                  <a:srgbClr val="292929"/>
                </a:solidFill>
                <a:latin typeface="Calibri"/>
                <a:cs typeface="Calibri"/>
              </a:rPr>
              <a:t> </a:t>
            </a:r>
            <a:r>
              <a:rPr sz="1500" dirty="0">
                <a:solidFill>
                  <a:srgbClr val="292929"/>
                </a:solidFill>
                <a:latin typeface="Calibri"/>
                <a:cs typeface="Calibri"/>
              </a:rPr>
              <a:t>launch</a:t>
            </a:r>
            <a:r>
              <a:rPr sz="1500" spc="-35" dirty="0">
                <a:solidFill>
                  <a:srgbClr val="292929"/>
                </a:solidFill>
                <a:latin typeface="Calibri"/>
                <a:cs typeface="Calibri"/>
              </a:rPr>
              <a:t> </a:t>
            </a:r>
            <a:r>
              <a:rPr sz="1500" spc="-10" dirty="0">
                <a:solidFill>
                  <a:srgbClr val="292929"/>
                </a:solidFill>
                <a:latin typeface="Calibri"/>
                <a:cs typeface="Calibri"/>
              </a:rPr>
              <a:t>success.</a:t>
            </a:r>
            <a:endParaRPr sz="1500" dirty="0">
              <a:latin typeface="Calibri"/>
              <a:cs typeface="Calibri"/>
            </a:endParaRPr>
          </a:p>
          <a:p>
            <a:pPr marL="242570" lvl="1" indent="-100965">
              <a:lnSpc>
                <a:spcPct val="100000"/>
              </a:lnSpc>
              <a:spcBef>
                <a:spcPts val="830"/>
              </a:spcBef>
              <a:buChar char="-"/>
              <a:tabLst>
                <a:tab pos="242570" algn="l"/>
              </a:tabLst>
            </a:pPr>
            <a:r>
              <a:rPr sz="1500" dirty="0">
                <a:solidFill>
                  <a:srgbClr val="292929"/>
                </a:solidFill>
                <a:latin typeface="Calibri"/>
                <a:cs typeface="Calibri"/>
              </a:rPr>
              <a:t>Why:</a:t>
            </a:r>
            <a:r>
              <a:rPr sz="1500" spc="-5" dirty="0">
                <a:solidFill>
                  <a:srgbClr val="292929"/>
                </a:solidFill>
                <a:latin typeface="Calibri"/>
                <a:cs typeface="Calibri"/>
              </a:rPr>
              <a:t> </a:t>
            </a:r>
            <a:r>
              <a:rPr sz="1500" spc="-10" dirty="0">
                <a:solidFill>
                  <a:srgbClr val="292929"/>
                </a:solidFill>
                <a:latin typeface="Calibri"/>
                <a:cs typeface="Calibri"/>
              </a:rPr>
              <a:t>Identifies</a:t>
            </a:r>
            <a:r>
              <a:rPr sz="1500" spc="-40" dirty="0">
                <a:solidFill>
                  <a:srgbClr val="292929"/>
                </a:solidFill>
                <a:latin typeface="Calibri"/>
                <a:cs typeface="Calibri"/>
              </a:rPr>
              <a:t> </a:t>
            </a:r>
            <a:r>
              <a:rPr sz="1500" spc="-10" dirty="0">
                <a:solidFill>
                  <a:srgbClr val="292929"/>
                </a:solidFill>
                <a:latin typeface="Calibri"/>
                <a:cs typeface="Calibri"/>
              </a:rPr>
              <a:t>correlations</a:t>
            </a:r>
            <a:r>
              <a:rPr sz="1500" spc="-40" dirty="0">
                <a:solidFill>
                  <a:srgbClr val="292929"/>
                </a:solidFill>
                <a:latin typeface="Calibri"/>
                <a:cs typeface="Calibri"/>
              </a:rPr>
              <a:t> </a:t>
            </a:r>
            <a:r>
              <a:rPr sz="1500" dirty="0">
                <a:solidFill>
                  <a:srgbClr val="292929"/>
                </a:solidFill>
                <a:latin typeface="Calibri"/>
                <a:cs typeface="Calibri"/>
              </a:rPr>
              <a:t>or</a:t>
            </a:r>
            <a:r>
              <a:rPr sz="1500" spc="-45" dirty="0">
                <a:solidFill>
                  <a:srgbClr val="292929"/>
                </a:solidFill>
                <a:latin typeface="Calibri"/>
                <a:cs typeface="Calibri"/>
              </a:rPr>
              <a:t> </a:t>
            </a:r>
            <a:r>
              <a:rPr sz="1500" spc="-10" dirty="0">
                <a:solidFill>
                  <a:srgbClr val="292929"/>
                </a:solidFill>
                <a:latin typeface="Calibri"/>
                <a:cs typeface="Calibri"/>
              </a:rPr>
              <a:t>dependencies</a:t>
            </a:r>
            <a:r>
              <a:rPr sz="1500" spc="-40" dirty="0">
                <a:solidFill>
                  <a:srgbClr val="292929"/>
                </a:solidFill>
                <a:latin typeface="Calibri"/>
                <a:cs typeface="Calibri"/>
              </a:rPr>
              <a:t> </a:t>
            </a:r>
            <a:r>
              <a:rPr sz="1500" dirty="0">
                <a:solidFill>
                  <a:srgbClr val="292929"/>
                </a:solidFill>
                <a:latin typeface="Calibri"/>
                <a:cs typeface="Calibri"/>
              </a:rPr>
              <a:t>between</a:t>
            </a:r>
            <a:r>
              <a:rPr sz="1500" spc="-10" dirty="0">
                <a:solidFill>
                  <a:srgbClr val="292929"/>
                </a:solidFill>
                <a:latin typeface="Calibri"/>
                <a:cs typeface="Calibri"/>
              </a:rPr>
              <a:t> variables,</a:t>
            </a:r>
            <a:r>
              <a:rPr sz="1500" spc="-50" dirty="0">
                <a:solidFill>
                  <a:srgbClr val="292929"/>
                </a:solidFill>
                <a:latin typeface="Calibri"/>
                <a:cs typeface="Calibri"/>
              </a:rPr>
              <a:t> </a:t>
            </a:r>
            <a:r>
              <a:rPr sz="1500" dirty="0">
                <a:solidFill>
                  <a:srgbClr val="292929"/>
                </a:solidFill>
                <a:latin typeface="Calibri"/>
                <a:cs typeface="Calibri"/>
              </a:rPr>
              <a:t>visualizing</a:t>
            </a:r>
            <a:r>
              <a:rPr sz="1500" spc="-10" dirty="0">
                <a:solidFill>
                  <a:srgbClr val="292929"/>
                </a:solidFill>
                <a:latin typeface="Calibri"/>
                <a:cs typeface="Calibri"/>
              </a:rPr>
              <a:t> </a:t>
            </a:r>
            <a:r>
              <a:rPr sz="1500" dirty="0">
                <a:solidFill>
                  <a:srgbClr val="292929"/>
                </a:solidFill>
                <a:latin typeface="Calibri"/>
                <a:cs typeface="Calibri"/>
              </a:rPr>
              <a:t>how one</a:t>
            </a:r>
            <a:r>
              <a:rPr sz="1500" spc="-45" dirty="0">
                <a:solidFill>
                  <a:srgbClr val="292929"/>
                </a:solidFill>
                <a:latin typeface="Calibri"/>
                <a:cs typeface="Calibri"/>
              </a:rPr>
              <a:t> </a:t>
            </a:r>
            <a:r>
              <a:rPr sz="1500" dirty="0">
                <a:solidFill>
                  <a:srgbClr val="292929"/>
                </a:solidFill>
                <a:latin typeface="Calibri"/>
                <a:cs typeface="Calibri"/>
              </a:rPr>
              <a:t>variable</a:t>
            </a:r>
            <a:r>
              <a:rPr sz="1500" spc="-50" dirty="0">
                <a:solidFill>
                  <a:srgbClr val="292929"/>
                </a:solidFill>
                <a:latin typeface="Calibri"/>
                <a:cs typeface="Calibri"/>
              </a:rPr>
              <a:t> </a:t>
            </a:r>
            <a:r>
              <a:rPr sz="1500" dirty="0">
                <a:solidFill>
                  <a:srgbClr val="292929"/>
                </a:solidFill>
                <a:latin typeface="Calibri"/>
                <a:cs typeface="Calibri"/>
              </a:rPr>
              <a:t>changes</a:t>
            </a:r>
            <a:r>
              <a:rPr sz="1500" spc="-35" dirty="0">
                <a:solidFill>
                  <a:srgbClr val="292929"/>
                </a:solidFill>
                <a:latin typeface="Calibri"/>
                <a:cs typeface="Calibri"/>
              </a:rPr>
              <a:t> </a:t>
            </a:r>
            <a:r>
              <a:rPr sz="1500" spc="-10" dirty="0">
                <a:solidFill>
                  <a:srgbClr val="292929"/>
                </a:solidFill>
                <a:latin typeface="Calibri"/>
                <a:cs typeface="Calibri"/>
              </a:rPr>
              <a:t>concerning another.</a:t>
            </a:r>
            <a:endParaRPr sz="1500" dirty="0">
              <a:latin typeface="Calibri"/>
              <a:cs typeface="Calibri"/>
            </a:endParaRPr>
          </a:p>
          <a:p>
            <a:pPr marL="203835" indent="-191135">
              <a:lnSpc>
                <a:spcPct val="100000"/>
              </a:lnSpc>
              <a:spcBef>
                <a:spcPts val="830"/>
              </a:spcBef>
              <a:buFont typeface="Calibri"/>
              <a:buAutoNum type="arabicPeriod" startAt="5"/>
              <a:tabLst>
                <a:tab pos="203835" algn="l"/>
              </a:tabLst>
            </a:pPr>
            <a:r>
              <a:rPr sz="1500" b="1" spc="-10" dirty="0">
                <a:solidFill>
                  <a:srgbClr val="292929"/>
                </a:solidFill>
                <a:latin typeface="Calibri"/>
                <a:cs typeface="Calibri"/>
              </a:rPr>
              <a:t>Heatmaps:</a:t>
            </a:r>
            <a:endParaRPr sz="1500" dirty="0">
              <a:latin typeface="Calibri"/>
              <a:cs typeface="Calibri"/>
            </a:endParaRPr>
          </a:p>
          <a:p>
            <a:pPr marL="242570" lvl="1" indent="-100965">
              <a:lnSpc>
                <a:spcPct val="100000"/>
              </a:lnSpc>
              <a:spcBef>
                <a:spcPts val="825"/>
              </a:spcBef>
              <a:buChar char="-"/>
              <a:tabLst>
                <a:tab pos="242570" algn="l"/>
              </a:tabLst>
            </a:pPr>
            <a:r>
              <a:rPr sz="1500" dirty="0">
                <a:solidFill>
                  <a:srgbClr val="292929"/>
                </a:solidFill>
                <a:latin typeface="Calibri"/>
                <a:cs typeface="Calibri"/>
              </a:rPr>
              <a:t>Purpose:</a:t>
            </a:r>
            <a:r>
              <a:rPr sz="1500" spc="-15" dirty="0">
                <a:solidFill>
                  <a:srgbClr val="292929"/>
                </a:solidFill>
                <a:latin typeface="Calibri"/>
                <a:cs typeface="Calibri"/>
              </a:rPr>
              <a:t> </a:t>
            </a:r>
            <a:r>
              <a:rPr sz="1500" dirty="0">
                <a:solidFill>
                  <a:srgbClr val="292929"/>
                </a:solidFill>
                <a:latin typeface="Calibri"/>
                <a:cs typeface="Calibri"/>
              </a:rPr>
              <a:t>Used</a:t>
            </a:r>
            <a:r>
              <a:rPr sz="1500" spc="-30" dirty="0">
                <a:solidFill>
                  <a:srgbClr val="292929"/>
                </a:solidFill>
                <a:latin typeface="Calibri"/>
                <a:cs typeface="Calibri"/>
              </a:rPr>
              <a:t> </a:t>
            </a:r>
            <a:r>
              <a:rPr sz="1500" dirty="0">
                <a:solidFill>
                  <a:srgbClr val="292929"/>
                </a:solidFill>
                <a:latin typeface="Calibri"/>
                <a:cs typeface="Calibri"/>
              </a:rPr>
              <a:t>to</a:t>
            </a:r>
            <a:r>
              <a:rPr sz="1500" spc="-30" dirty="0">
                <a:solidFill>
                  <a:srgbClr val="292929"/>
                </a:solidFill>
                <a:latin typeface="Calibri"/>
                <a:cs typeface="Calibri"/>
              </a:rPr>
              <a:t> </a:t>
            </a:r>
            <a:r>
              <a:rPr sz="1500" spc="-10" dirty="0">
                <a:solidFill>
                  <a:srgbClr val="292929"/>
                </a:solidFill>
                <a:latin typeface="Calibri"/>
                <a:cs typeface="Calibri"/>
              </a:rPr>
              <a:t>visualize</a:t>
            </a:r>
            <a:r>
              <a:rPr sz="1500" spc="-60" dirty="0">
                <a:solidFill>
                  <a:srgbClr val="292929"/>
                </a:solidFill>
                <a:latin typeface="Calibri"/>
                <a:cs typeface="Calibri"/>
              </a:rPr>
              <a:t> </a:t>
            </a:r>
            <a:r>
              <a:rPr sz="1500" dirty="0">
                <a:solidFill>
                  <a:srgbClr val="292929"/>
                </a:solidFill>
                <a:latin typeface="Calibri"/>
                <a:cs typeface="Calibri"/>
              </a:rPr>
              <a:t>correlation</a:t>
            </a:r>
            <a:r>
              <a:rPr sz="1500" spc="-30" dirty="0">
                <a:solidFill>
                  <a:srgbClr val="292929"/>
                </a:solidFill>
                <a:latin typeface="Calibri"/>
                <a:cs typeface="Calibri"/>
              </a:rPr>
              <a:t> </a:t>
            </a:r>
            <a:r>
              <a:rPr sz="1500" spc="-10" dirty="0">
                <a:solidFill>
                  <a:srgbClr val="292929"/>
                </a:solidFill>
                <a:latin typeface="Calibri"/>
                <a:cs typeface="Calibri"/>
              </a:rPr>
              <a:t>matrices</a:t>
            </a:r>
            <a:r>
              <a:rPr sz="1500" spc="-50" dirty="0">
                <a:solidFill>
                  <a:srgbClr val="292929"/>
                </a:solidFill>
                <a:latin typeface="Calibri"/>
                <a:cs typeface="Calibri"/>
              </a:rPr>
              <a:t> </a:t>
            </a:r>
            <a:r>
              <a:rPr sz="1500" spc="-10" dirty="0">
                <a:solidFill>
                  <a:srgbClr val="292929"/>
                </a:solidFill>
                <a:latin typeface="Calibri"/>
                <a:cs typeface="Calibri"/>
              </a:rPr>
              <a:t>between</a:t>
            </a:r>
            <a:r>
              <a:rPr sz="1500" spc="-30" dirty="0">
                <a:solidFill>
                  <a:srgbClr val="292929"/>
                </a:solidFill>
                <a:latin typeface="Calibri"/>
                <a:cs typeface="Calibri"/>
              </a:rPr>
              <a:t> </a:t>
            </a:r>
            <a:r>
              <a:rPr sz="1500" dirty="0">
                <a:solidFill>
                  <a:srgbClr val="292929"/>
                </a:solidFill>
                <a:latin typeface="Calibri"/>
                <a:cs typeface="Calibri"/>
              </a:rPr>
              <a:t>multiple</a:t>
            </a:r>
            <a:r>
              <a:rPr sz="1500" spc="10" dirty="0">
                <a:solidFill>
                  <a:srgbClr val="292929"/>
                </a:solidFill>
                <a:latin typeface="Calibri"/>
                <a:cs typeface="Calibri"/>
              </a:rPr>
              <a:t> </a:t>
            </a:r>
            <a:r>
              <a:rPr sz="1500" spc="-10" dirty="0">
                <a:solidFill>
                  <a:srgbClr val="292929"/>
                </a:solidFill>
                <a:latin typeface="Calibri"/>
                <a:cs typeface="Calibri"/>
              </a:rPr>
              <a:t>numerical</a:t>
            </a:r>
            <a:r>
              <a:rPr sz="1500" spc="-30" dirty="0">
                <a:solidFill>
                  <a:srgbClr val="292929"/>
                </a:solidFill>
                <a:latin typeface="Calibri"/>
                <a:cs typeface="Calibri"/>
              </a:rPr>
              <a:t> </a:t>
            </a:r>
            <a:r>
              <a:rPr sz="1500" spc="-10" dirty="0">
                <a:solidFill>
                  <a:srgbClr val="292929"/>
                </a:solidFill>
                <a:latin typeface="Calibri"/>
                <a:cs typeface="Calibri"/>
              </a:rPr>
              <a:t>variables.</a:t>
            </a:r>
            <a:endParaRPr sz="1500" dirty="0">
              <a:latin typeface="Calibri"/>
              <a:cs typeface="Calibri"/>
            </a:endParaRPr>
          </a:p>
          <a:p>
            <a:pPr marL="241300" marR="5080" lvl="1" indent="-100330">
              <a:lnSpc>
                <a:spcPts val="1650"/>
              </a:lnSpc>
              <a:spcBef>
                <a:spcPts val="1010"/>
              </a:spcBef>
              <a:buChar char="-"/>
              <a:tabLst>
                <a:tab pos="241300" algn="l"/>
              </a:tabLst>
            </a:pPr>
            <a:r>
              <a:rPr sz="1500" dirty="0">
                <a:solidFill>
                  <a:srgbClr val="292929"/>
                </a:solidFill>
                <a:latin typeface="Calibri"/>
                <a:cs typeface="Calibri"/>
              </a:rPr>
              <a:t>Why:</a:t>
            </a:r>
            <a:r>
              <a:rPr sz="1500" spc="-50" dirty="0">
                <a:solidFill>
                  <a:srgbClr val="292929"/>
                </a:solidFill>
                <a:latin typeface="Calibri"/>
                <a:cs typeface="Calibri"/>
              </a:rPr>
              <a:t> </a:t>
            </a:r>
            <a:r>
              <a:rPr sz="1500" dirty="0">
                <a:solidFill>
                  <a:srgbClr val="292929"/>
                </a:solidFill>
                <a:latin typeface="Calibri"/>
                <a:cs typeface="Calibri"/>
              </a:rPr>
              <a:t>Helps</a:t>
            </a:r>
            <a:r>
              <a:rPr sz="1500" spc="10" dirty="0">
                <a:solidFill>
                  <a:srgbClr val="292929"/>
                </a:solidFill>
                <a:latin typeface="Calibri"/>
                <a:cs typeface="Calibri"/>
              </a:rPr>
              <a:t> </a:t>
            </a:r>
            <a:r>
              <a:rPr sz="1500" dirty="0">
                <a:solidFill>
                  <a:srgbClr val="292929"/>
                </a:solidFill>
                <a:latin typeface="Calibri"/>
                <a:cs typeface="Calibri"/>
              </a:rPr>
              <a:t>in</a:t>
            </a:r>
            <a:r>
              <a:rPr sz="1500" spc="-30" dirty="0">
                <a:solidFill>
                  <a:srgbClr val="292929"/>
                </a:solidFill>
                <a:latin typeface="Calibri"/>
                <a:cs typeface="Calibri"/>
              </a:rPr>
              <a:t> </a:t>
            </a:r>
            <a:r>
              <a:rPr sz="1500" spc="-10" dirty="0">
                <a:solidFill>
                  <a:srgbClr val="292929"/>
                </a:solidFill>
                <a:latin typeface="Calibri"/>
                <a:cs typeface="Calibri"/>
              </a:rPr>
              <a:t>identifying</a:t>
            </a:r>
            <a:r>
              <a:rPr sz="1500" spc="-75" dirty="0">
                <a:solidFill>
                  <a:srgbClr val="292929"/>
                </a:solidFill>
                <a:latin typeface="Calibri"/>
                <a:cs typeface="Calibri"/>
              </a:rPr>
              <a:t> </a:t>
            </a:r>
            <a:r>
              <a:rPr sz="1500" dirty="0">
                <a:solidFill>
                  <a:srgbClr val="292929"/>
                </a:solidFill>
                <a:latin typeface="Calibri"/>
                <a:cs typeface="Calibri"/>
              </a:rPr>
              <a:t>strong</a:t>
            </a:r>
            <a:r>
              <a:rPr sz="1500" spc="-30" dirty="0">
                <a:solidFill>
                  <a:srgbClr val="292929"/>
                </a:solidFill>
                <a:latin typeface="Calibri"/>
                <a:cs typeface="Calibri"/>
              </a:rPr>
              <a:t> </a:t>
            </a:r>
            <a:r>
              <a:rPr sz="1500" spc="-10" dirty="0">
                <a:solidFill>
                  <a:srgbClr val="292929"/>
                </a:solidFill>
                <a:latin typeface="Calibri"/>
                <a:cs typeface="Calibri"/>
              </a:rPr>
              <a:t>correlations</a:t>
            </a:r>
            <a:r>
              <a:rPr sz="1500" spc="-60" dirty="0">
                <a:solidFill>
                  <a:srgbClr val="292929"/>
                </a:solidFill>
                <a:latin typeface="Calibri"/>
                <a:cs typeface="Calibri"/>
              </a:rPr>
              <a:t> </a:t>
            </a:r>
            <a:r>
              <a:rPr sz="1500" dirty="0">
                <a:solidFill>
                  <a:srgbClr val="292929"/>
                </a:solidFill>
                <a:latin typeface="Calibri"/>
                <a:cs typeface="Calibri"/>
              </a:rPr>
              <a:t>(positive or </a:t>
            </a:r>
            <a:r>
              <a:rPr sz="1500" spc="-10" dirty="0">
                <a:solidFill>
                  <a:srgbClr val="292929"/>
                </a:solidFill>
                <a:latin typeface="Calibri"/>
                <a:cs typeface="Calibri"/>
              </a:rPr>
              <a:t>negative)</a:t>
            </a:r>
            <a:r>
              <a:rPr sz="1500" dirty="0">
                <a:solidFill>
                  <a:srgbClr val="292929"/>
                </a:solidFill>
                <a:latin typeface="Calibri"/>
                <a:cs typeface="Calibri"/>
              </a:rPr>
              <a:t> </a:t>
            </a:r>
            <a:r>
              <a:rPr sz="1500" spc="-10" dirty="0">
                <a:solidFill>
                  <a:srgbClr val="292929"/>
                </a:solidFill>
                <a:latin typeface="Calibri"/>
                <a:cs typeface="Calibri"/>
              </a:rPr>
              <a:t>between</a:t>
            </a:r>
            <a:r>
              <a:rPr sz="1500" spc="-35" dirty="0">
                <a:solidFill>
                  <a:srgbClr val="292929"/>
                </a:solidFill>
                <a:latin typeface="Calibri"/>
                <a:cs typeface="Calibri"/>
              </a:rPr>
              <a:t> </a:t>
            </a:r>
            <a:r>
              <a:rPr sz="1500" dirty="0">
                <a:solidFill>
                  <a:srgbClr val="292929"/>
                </a:solidFill>
                <a:latin typeface="Calibri"/>
                <a:cs typeface="Calibri"/>
              </a:rPr>
              <a:t>variables,</a:t>
            </a:r>
            <a:r>
              <a:rPr sz="1500" spc="-65" dirty="0">
                <a:solidFill>
                  <a:srgbClr val="292929"/>
                </a:solidFill>
                <a:latin typeface="Calibri"/>
                <a:cs typeface="Calibri"/>
              </a:rPr>
              <a:t> </a:t>
            </a:r>
            <a:r>
              <a:rPr sz="1500" dirty="0">
                <a:solidFill>
                  <a:srgbClr val="292929"/>
                </a:solidFill>
                <a:latin typeface="Calibri"/>
                <a:cs typeface="Calibri"/>
              </a:rPr>
              <a:t>aiding</a:t>
            </a:r>
            <a:r>
              <a:rPr sz="1500" spc="-30" dirty="0">
                <a:solidFill>
                  <a:srgbClr val="292929"/>
                </a:solidFill>
                <a:latin typeface="Calibri"/>
                <a:cs typeface="Calibri"/>
              </a:rPr>
              <a:t> </a:t>
            </a:r>
            <a:r>
              <a:rPr sz="1500" spc="-10" dirty="0">
                <a:solidFill>
                  <a:srgbClr val="292929"/>
                </a:solidFill>
                <a:latin typeface="Calibri"/>
                <a:cs typeface="Calibri"/>
              </a:rPr>
              <a:t>feature</a:t>
            </a:r>
            <a:r>
              <a:rPr sz="1500" spc="-65" dirty="0">
                <a:solidFill>
                  <a:srgbClr val="292929"/>
                </a:solidFill>
                <a:latin typeface="Calibri"/>
                <a:cs typeface="Calibri"/>
              </a:rPr>
              <a:t> </a:t>
            </a:r>
            <a:r>
              <a:rPr sz="1500" dirty="0">
                <a:solidFill>
                  <a:srgbClr val="292929"/>
                </a:solidFill>
                <a:latin typeface="Calibri"/>
                <a:cs typeface="Calibri"/>
              </a:rPr>
              <a:t>selection</a:t>
            </a:r>
            <a:r>
              <a:rPr sz="1500" spc="-35" dirty="0">
                <a:solidFill>
                  <a:srgbClr val="292929"/>
                </a:solidFill>
                <a:latin typeface="Calibri"/>
                <a:cs typeface="Calibri"/>
              </a:rPr>
              <a:t> </a:t>
            </a:r>
            <a:r>
              <a:rPr sz="1500" dirty="0">
                <a:solidFill>
                  <a:srgbClr val="292929"/>
                </a:solidFill>
                <a:latin typeface="Calibri"/>
                <a:cs typeface="Calibri"/>
              </a:rPr>
              <a:t>or</a:t>
            </a:r>
            <a:r>
              <a:rPr sz="1500" spc="5" dirty="0">
                <a:solidFill>
                  <a:srgbClr val="292929"/>
                </a:solidFill>
                <a:latin typeface="Calibri"/>
                <a:cs typeface="Calibri"/>
              </a:rPr>
              <a:t> </a:t>
            </a:r>
            <a:r>
              <a:rPr sz="1500" spc="-10" dirty="0">
                <a:solidFill>
                  <a:srgbClr val="292929"/>
                </a:solidFill>
                <a:latin typeface="Calibri"/>
                <a:cs typeface="Calibri"/>
              </a:rPr>
              <a:t>understanding multicollinearity.</a:t>
            </a:r>
            <a:endParaRPr sz="1500" dirty="0">
              <a:latin typeface="Calibri"/>
              <a:cs typeface="Calibri"/>
            </a:endParaRPr>
          </a:p>
          <a:p>
            <a:pPr marL="202565" indent="-189865">
              <a:lnSpc>
                <a:spcPct val="100000"/>
              </a:lnSpc>
              <a:spcBef>
                <a:spcPts val="800"/>
              </a:spcBef>
              <a:buFont typeface="Calibri"/>
              <a:buAutoNum type="arabicPeriod" startAt="6"/>
              <a:tabLst>
                <a:tab pos="202565" algn="l"/>
              </a:tabLst>
            </a:pPr>
            <a:r>
              <a:rPr sz="1500" b="1" dirty="0">
                <a:solidFill>
                  <a:srgbClr val="292929"/>
                </a:solidFill>
                <a:latin typeface="Calibri"/>
                <a:cs typeface="Calibri"/>
              </a:rPr>
              <a:t>Box</a:t>
            </a:r>
            <a:r>
              <a:rPr sz="1500" b="1" spc="-70" dirty="0">
                <a:solidFill>
                  <a:srgbClr val="292929"/>
                </a:solidFill>
                <a:latin typeface="Calibri"/>
                <a:cs typeface="Calibri"/>
              </a:rPr>
              <a:t> </a:t>
            </a:r>
            <a:r>
              <a:rPr sz="1500" b="1" spc="-10" dirty="0">
                <a:solidFill>
                  <a:srgbClr val="292929"/>
                </a:solidFill>
                <a:latin typeface="Calibri"/>
                <a:cs typeface="Calibri"/>
              </a:rPr>
              <a:t>Plots:</a:t>
            </a:r>
            <a:endParaRPr sz="1500" dirty="0">
              <a:latin typeface="Calibri"/>
              <a:cs typeface="Calibri"/>
            </a:endParaRPr>
          </a:p>
          <a:p>
            <a:pPr marL="242570" lvl="1" indent="-100965">
              <a:lnSpc>
                <a:spcPct val="100000"/>
              </a:lnSpc>
              <a:spcBef>
                <a:spcPts val="755"/>
              </a:spcBef>
              <a:buChar char="-"/>
              <a:tabLst>
                <a:tab pos="242570" algn="l"/>
              </a:tabLst>
            </a:pPr>
            <a:r>
              <a:rPr sz="1500" dirty="0">
                <a:solidFill>
                  <a:srgbClr val="292929"/>
                </a:solidFill>
                <a:latin typeface="Calibri"/>
                <a:cs typeface="Calibri"/>
              </a:rPr>
              <a:t>Purpose:</a:t>
            </a:r>
            <a:r>
              <a:rPr sz="1500" spc="-15" dirty="0">
                <a:solidFill>
                  <a:srgbClr val="292929"/>
                </a:solidFill>
                <a:latin typeface="Calibri"/>
                <a:cs typeface="Calibri"/>
              </a:rPr>
              <a:t> </a:t>
            </a:r>
            <a:r>
              <a:rPr sz="1500" spc="-10" dirty="0">
                <a:solidFill>
                  <a:srgbClr val="292929"/>
                </a:solidFill>
                <a:latin typeface="Calibri"/>
                <a:cs typeface="Calibri"/>
              </a:rPr>
              <a:t>Used</a:t>
            </a:r>
            <a:r>
              <a:rPr sz="1500" spc="-25" dirty="0">
                <a:solidFill>
                  <a:srgbClr val="292929"/>
                </a:solidFill>
                <a:latin typeface="Calibri"/>
                <a:cs typeface="Calibri"/>
              </a:rPr>
              <a:t> </a:t>
            </a:r>
            <a:r>
              <a:rPr sz="1500" dirty="0">
                <a:solidFill>
                  <a:srgbClr val="292929"/>
                </a:solidFill>
                <a:latin typeface="Calibri"/>
                <a:cs typeface="Calibri"/>
              </a:rPr>
              <a:t>to</a:t>
            </a:r>
            <a:r>
              <a:rPr sz="1500" spc="-30" dirty="0">
                <a:solidFill>
                  <a:srgbClr val="292929"/>
                </a:solidFill>
                <a:latin typeface="Calibri"/>
                <a:cs typeface="Calibri"/>
              </a:rPr>
              <a:t> </a:t>
            </a:r>
            <a:r>
              <a:rPr sz="1500" spc="-10" dirty="0">
                <a:solidFill>
                  <a:srgbClr val="292929"/>
                </a:solidFill>
                <a:latin typeface="Calibri"/>
                <a:cs typeface="Calibri"/>
              </a:rPr>
              <a:t>display</a:t>
            </a:r>
            <a:r>
              <a:rPr sz="1500" spc="-65" dirty="0">
                <a:solidFill>
                  <a:srgbClr val="292929"/>
                </a:solidFill>
                <a:latin typeface="Calibri"/>
                <a:cs typeface="Calibri"/>
              </a:rPr>
              <a:t> </a:t>
            </a:r>
            <a:r>
              <a:rPr sz="1500" dirty="0">
                <a:solidFill>
                  <a:srgbClr val="292929"/>
                </a:solidFill>
                <a:latin typeface="Calibri"/>
                <a:cs typeface="Calibri"/>
              </a:rPr>
              <a:t>the</a:t>
            </a:r>
            <a:r>
              <a:rPr sz="1500" spc="-60" dirty="0">
                <a:solidFill>
                  <a:srgbClr val="292929"/>
                </a:solidFill>
                <a:latin typeface="Calibri"/>
                <a:cs typeface="Calibri"/>
              </a:rPr>
              <a:t> </a:t>
            </a:r>
            <a:r>
              <a:rPr sz="1500" dirty="0">
                <a:solidFill>
                  <a:srgbClr val="292929"/>
                </a:solidFill>
                <a:latin typeface="Calibri"/>
                <a:cs typeface="Calibri"/>
              </a:rPr>
              <a:t>distribution</a:t>
            </a:r>
            <a:r>
              <a:rPr sz="1500" spc="-25" dirty="0">
                <a:solidFill>
                  <a:srgbClr val="292929"/>
                </a:solidFill>
                <a:latin typeface="Calibri"/>
                <a:cs typeface="Calibri"/>
              </a:rPr>
              <a:t> </a:t>
            </a:r>
            <a:r>
              <a:rPr sz="1500" dirty="0">
                <a:solidFill>
                  <a:srgbClr val="292929"/>
                </a:solidFill>
                <a:latin typeface="Calibri"/>
                <a:cs typeface="Calibri"/>
              </a:rPr>
              <a:t>of</a:t>
            </a:r>
            <a:r>
              <a:rPr sz="1500" spc="-70" dirty="0">
                <a:solidFill>
                  <a:srgbClr val="292929"/>
                </a:solidFill>
                <a:latin typeface="Calibri"/>
                <a:cs typeface="Calibri"/>
              </a:rPr>
              <a:t> </a:t>
            </a:r>
            <a:r>
              <a:rPr sz="1500" dirty="0">
                <a:solidFill>
                  <a:srgbClr val="292929"/>
                </a:solidFill>
                <a:latin typeface="Calibri"/>
                <a:cs typeface="Calibri"/>
              </a:rPr>
              <a:t>numerical</a:t>
            </a:r>
            <a:r>
              <a:rPr sz="1500" spc="-30" dirty="0">
                <a:solidFill>
                  <a:srgbClr val="292929"/>
                </a:solidFill>
                <a:latin typeface="Calibri"/>
                <a:cs typeface="Calibri"/>
              </a:rPr>
              <a:t> </a:t>
            </a:r>
            <a:r>
              <a:rPr sz="1500" dirty="0">
                <a:solidFill>
                  <a:srgbClr val="292929"/>
                </a:solidFill>
                <a:latin typeface="Calibri"/>
                <a:cs typeface="Calibri"/>
              </a:rPr>
              <a:t>data</a:t>
            </a:r>
            <a:r>
              <a:rPr sz="1500" spc="-35" dirty="0">
                <a:solidFill>
                  <a:srgbClr val="292929"/>
                </a:solidFill>
                <a:latin typeface="Calibri"/>
                <a:cs typeface="Calibri"/>
              </a:rPr>
              <a:t> </a:t>
            </a:r>
            <a:r>
              <a:rPr sz="1500" dirty="0">
                <a:solidFill>
                  <a:srgbClr val="292929"/>
                </a:solidFill>
                <a:latin typeface="Calibri"/>
                <a:cs typeface="Calibri"/>
              </a:rPr>
              <a:t>through</a:t>
            </a:r>
            <a:r>
              <a:rPr sz="1500" spc="-25" dirty="0">
                <a:solidFill>
                  <a:srgbClr val="292929"/>
                </a:solidFill>
                <a:latin typeface="Calibri"/>
                <a:cs typeface="Calibri"/>
              </a:rPr>
              <a:t> </a:t>
            </a:r>
            <a:r>
              <a:rPr sz="1500" dirty="0">
                <a:solidFill>
                  <a:srgbClr val="292929"/>
                </a:solidFill>
                <a:latin typeface="Calibri"/>
                <a:cs typeface="Calibri"/>
              </a:rPr>
              <a:t>their</a:t>
            </a:r>
            <a:r>
              <a:rPr sz="1500" spc="10" dirty="0">
                <a:solidFill>
                  <a:srgbClr val="292929"/>
                </a:solidFill>
                <a:latin typeface="Calibri"/>
                <a:cs typeface="Calibri"/>
              </a:rPr>
              <a:t> </a:t>
            </a:r>
            <a:r>
              <a:rPr sz="1500" spc="-10" dirty="0">
                <a:solidFill>
                  <a:srgbClr val="292929"/>
                </a:solidFill>
                <a:latin typeface="Calibri"/>
                <a:cs typeface="Calibri"/>
              </a:rPr>
              <a:t>quartiles.</a:t>
            </a:r>
            <a:endParaRPr sz="1500" dirty="0">
              <a:latin typeface="Calibri"/>
              <a:cs typeface="Calibri"/>
            </a:endParaRPr>
          </a:p>
          <a:p>
            <a:pPr marL="242570" lvl="1" indent="-100965">
              <a:lnSpc>
                <a:spcPct val="100000"/>
              </a:lnSpc>
              <a:spcBef>
                <a:spcPts val="830"/>
              </a:spcBef>
              <a:buChar char="-"/>
              <a:tabLst>
                <a:tab pos="242570" algn="l"/>
              </a:tabLst>
            </a:pPr>
            <a:r>
              <a:rPr sz="1500" dirty="0">
                <a:solidFill>
                  <a:srgbClr val="292929"/>
                </a:solidFill>
                <a:latin typeface="Calibri"/>
                <a:cs typeface="Calibri"/>
              </a:rPr>
              <a:t>Why:</a:t>
            </a:r>
            <a:r>
              <a:rPr sz="1500" spc="-30" dirty="0">
                <a:solidFill>
                  <a:srgbClr val="292929"/>
                </a:solidFill>
                <a:latin typeface="Calibri"/>
                <a:cs typeface="Calibri"/>
              </a:rPr>
              <a:t> </a:t>
            </a:r>
            <a:r>
              <a:rPr sz="1500" dirty="0">
                <a:solidFill>
                  <a:srgbClr val="292929"/>
                </a:solidFill>
                <a:latin typeface="Calibri"/>
                <a:cs typeface="Calibri"/>
              </a:rPr>
              <a:t>Visualizes</a:t>
            </a:r>
            <a:r>
              <a:rPr sz="1500" spc="10" dirty="0">
                <a:solidFill>
                  <a:srgbClr val="292929"/>
                </a:solidFill>
                <a:latin typeface="Calibri"/>
                <a:cs typeface="Calibri"/>
              </a:rPr>
              <a:t> </a:t>
            </a:r>
            <a:r>
              <a:rPr sz="1500" dirty="0">
                <a:solidFill>
                  <a:srgbClr val="292929"/>
                </a:solidFill>
                <a:latin typeface="Calibri"/>
                <a:cs typeface="Calibri"/>
              </a:rPr>
              <a:t>the</a:t>
            </a:r>
            <a:r>
              <a:rPr sz="1500" spc="-65" dirty="0">
                <a:solidFill>
                  <a:srgbClr val="292929"/>
                </a:solidFill>
                <a:latin typeface="Calibri"/>
                <a:cs typeface="Calibri"/>
              </a:rPr>
              <a:t> </a:t>
            </a:r>
            <a:r>
              <a:rPr sz="1500" dirty="0">
                <a:solidFill>
                  <a:srgbClr val="292929"/>
                </a:solidFill>
                <a:latin typeface="Calibri"/>
                <a:cs typeface="Calibri"/>
              </a:rPr>
              <a:t>spread</a:t>
            </a:r>
            <a:r>
              <a:rPr sz="1500" spc="-35" dirty="0">
                <a:solidFill>
                  <a:srgbClr val="292929"/>
                </a:solidFill>
                <a:latin typeface="Calibri"/>
                <a:cs typeface="Calibri"/>
              </a:rPr>
              <a:t> </a:t>
            </a:r>
            <a:r>
              <a:rPr sz="1500" dirty="0">
                <a:solidFill>
                  <a:srgbClr val="292929"/>
                </a:solidFill>
                <a:latin typeface="Calibri"/>
                <a:cs typeface="Calibri"/>
              </a:rPr>
              <a:t>and</a:t>
            </a:r>
            <a:r>
              <a:rPr sz="1500" spc="-40" dirty="0">
                <a:solidFill>
                  <a:srgbClr val="292929"/>
                </a:solidFill>
                <a:latin typeface="Calibri"/>
                <a:cs typeface="Calibri"/>
              </a:rPr>
              <a:t> </a:t>
            </a:r>
            <a:r>
              <a:rPr sz="1500" spc="-10" dirty="0">
                <a:solidFill>
                  <a:srgbClr val="292929"/>
                </a:solidFill>
                <a:latin typeface="Calibri"/>
                <a:cs typeface="Calibri"/>
              </a:rPr>
              <a:t>skewness</a:t>
            </a:r>
            <a:r>
              <a:rPr sz="1500" spc="-55" dirty="0">
                <a:solidFill>
                  <a:srgbClr val="292929"/>
                </a:solidFill>
                <a:latin typeface="Calibri"/>
                <a:cs typeface="Calibri"/>
              </a:rPr>
              <a:t> </a:t>
            </a:r>
            <a:r>
              <a:rPr sz="1500" dirty="0">
                <a:solidFill>
                  <a:srgbClr val="292929"/>
                </a:solidFill>
                <a:latin typeface="Calibri"/>
                <a:cs typeface="Calibri"/>
              </a:rPr>
              <a:t>of</a:t>
            </a:r>
            <a:r>
              <a:rPr sz="1500" spc="-80" dirty="0">
                <a:solidFill>
                  <a:srgbClr val="292929"/>
                </a:solidFill>
                <a:latin typeface="Calibri"/>
                <a:cs typeface="Calibri"/>
              </a:rPr>
              <a:t> </a:t>
            </a:r>
            <a:r>
              <a:rPr sz="1500" dirty="0">
                <a:solidFill>
                  <a:srgbClr val="292929"/>
                </a:solidFill>
                <a:latin typeface="Calibri"/>
                <a:cs typeface="Calibri"/>
              </a:rPr>
              <a:t>data, </a:t>
            </a:r>
            <a:r>
              <a:rPr sz="1500" spc="-10" dirty="0">
                <a:solidFill>
                  <a:srgbClr val="292929"/>
                </a:solidFill>
                <a:latin typeface="Calibri"/>
                <a:cs typeface="Calibri"/>
              </a:rPr>
              <a:t>highlighting</a:t>
            </a:r>
            <a:r>
              <a:rPr sz="1500" spc="-35" dirty="0">
                <a:solidFill>
                  <a:srgbClr val="292929"/>
                </a:solidFill>
                <a:latin typeface="Calibri"/>
                <a:cs typeface="Calibri"/>
              </a:rPr>
              <a:t> </a:t>
            </a:r>
            <a:r>
              <a:rPr sz="1500" spc="-10" dirty="0">
                <a:solidFill>
                  <a:srgbClr val="292929"/>
                </a:solidFill>
                <a:latin typeface="Calibri"/>
                <a:cs typeface="Calibri"/>
              </a:rPr>
              <a:t>outliers</a:t>
            </a:r>
            <a:r>
              <a:rPr sz="1500" spc="-55" dirty="0">
                <a:solidFill>
                  <a:srgbClr val="292929"/>
                </a:solidFill>
                <a:latin typeface="Calibri"/>
                <a:cs typeface="Calibri"/>
              </a:rPr>
              <a:t> </a:t>
            </a:r>
            <a:r>
              <a:rPr sz="1500" dirty="0">
                <a:solidFill>
                  <a:srgbClr val="292929"/>
                </a:solidFill>
                <a:latin typeface="Calibri"/>
                <a:cs typeface="Calibri"/>
              </a:rPr>
              <a:t>and</a:t>
            </a:r>
            <a:r>
              <a:rPr sz="1500" spc="-35" dirty="0">
                <a:solidFill>
                  <a:srgbClr val="292929"/>
                </a:solidFill>
                <a:latin typeface="Calibri"/>
                <a:cs typeface="Calibri"/>
              </a:rPr>
              <a:t> </a:t>
            </a:r>
            <a:r>
              <a:rPr sz="1500" dirty="0">
                <a:solidFill>
                  <a:srgbClr val="292929"/>
                </a:solidFill>
                <a:latin typeface="Calibri"/>
                <a:cs typeface="Calibri"/>
              </a:rPr>
              <a:t>comparing</a:t>
            </a:r>
            <a:r>
              <a:rPr sz="1500" spc="-35" dirty="0">
                <a:solidFill>
                  <a:srgbClr val="292929"/>
                </a:solidFill>
                <a:latin typeface="Calibri"/>
                <a:cs typeface="Calibri"/>
              </a:rPr>
              <a:t> </a:t>
            </a:r>
            <a:r>
              <a:rPr sz="1500" dirty="0">
                <a:solidFill>
                  <a:srgbClr val="292929"/>
                </a:solidFill>
                <a:latin typeface="Calibri"/>
                <a:cs typeface="Calibri"/>
              </a:rPr>
              <a:t>distributions</a:t>
            </a:r>
            <a:r>
              <a:rPr sz="1500" spc="10" dirty="0">
                <a:solidFill>
                  <a:srgbClr val="292929"/>
                </a:solidFill>
                <a:latin typeface="Calibri"/>
                <a:cs typeface="Calibri"/>
              </a:rPr>
              <a:t> </a:t>
            </a:r>
            <a:r>
              <a:rPr sz="1500" spc="-10" dirty="0">
                <a:solidFill>
                  <a:srgbClr val="292929"/>
                </a:solidFill>
                <a:latin typeface="Calibri"/>
                <a:cs typeface="Calibri"/>
              </a:rPr>
              <a:t>across</a:t>
            </a:r>
            <a:r>
              <a:rPr sz="1500" spc="-55" dirty="0">
                <a:solidFill>
                  <a:srgbClr val="292929"/>
                </a:solidFill>
                <a:latin typeface="Calibri"/>
                <a:cs typeface="Calibri"/>
              </a:rPr>
              <a:t> </a:t>
            </a:r>
            <a:r>
              <a:rPr sz="1500" spc="-10" dirty="0">
                <a:solidFill>
                  <a:srgbClr val="292929"/>
                </a:solidFill>
                <a:latin typeface="Calibri"/>
                <a:cs typeface="Calibri"/>
              </a:rPr>
              <a:t>different</a:t>
            </a:r>
            <a:r>
              <a:rPr sz="1500" spc="-50" dirty="0">
                <a:solidFill>
                  <a:srgbClr val="292929"/>
                </a:solidFill>
                <a:latin typeface="Calibri"/>
                <a:cs typeface="Calibri"/>
              </a:rPr>
              <a:t> </a:t>
            </a:r>
            <a:r>
              <a:rPr sz="1500" spc="-10" dirty="0">
                <a:solidFill>
                  <a:srgbClr val="292929"/>
                </a:solidFill>
                <a:latin typeface="Calibri"/>
                <a:cs typeface="Calibri"/>
              </a:rPr>
              <a:t>categories.</a:t>
            </a:r>
            <a:endParaRPr sz="15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15</a:t>
            </a:fld>
            <a:endParaRPr spc="60"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75" dirty="0"/>
              <a:t>EDA</a:t>
            </a:r>
            <a:r>
              <a:rPr spc="-10" dirty="0"/>
              <a:t> </a:t>
            </a:r>
            <a:r>
              <a:rPr dirty="0"/>
              <a:t>with</a:t>
            </a:r>
            <a:r>
              <a:rPr spc="-20" dirty="0"/>
              <a:t> </a:t>
            </a:r>
            <a:r>
              <a:rPr spc="-10" dirty="0"/>
              <a:t>Data</a:t>
            </a:r>
            <a:r>
              <a:rPr spc="-25" dirty="0"/>
              <a:t> </a:t>
            </a:r>
            <a:r>
              <a:rPr spc="-35" dirty="0"/>
              <a:t>Visualization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312" y="1415605"/>
            <a:ext cx="5083810" cy="4442460"/>
          </a:xfrm>
          <a:prstGeom prst="rect">
            <a:avLst/>
          </a:prstGeom>
        </p:spPr>
        <p:txBody>
          <a:bodyPr vert="horz" wrap="square" lIns="0" tIns="123189" rIns="0" bIns="0" rtlCol="0">
            <a:spAutoFit/>
          </a:bodyPr>
          <a:lstStyle/>
          <a:p>
            <a:pPr marL="12700">
              <a:lnSpc>
                <a:spcPct val="100000"/>
              </a:lnSpc>
              <a:spcBef>
                <a:spcPts val="969"/>
              </a:spcBef>
            </a:pPr>
            <a:r>
              <a:rPr sz="1400" b="1" spc="-10" dirty="0">
                <a:solidFill>
                  <a:srgbClr val="292929"/>
                </a:solidFill>
                <a:latin typeface="Calibri"/>
                <a:cs typeface="Calibri"/>
              </a:rPr>
              <a:t>Aggregate</a:t>
            </a:r>
            <a:r>
              <a:rPr sz="1400" b="1" spc="-35" dirty="0">
                <a:solidFill>
                  <a:srgbClr val="292929"/>
                </a:solidFill>
                <a:latin typeface="Calibri"/>
                <a:cs typeface="Calibri"/>
              </a:rPr>
              <a:t> </a:t>
            </a:r>
            <a:r>
              <a:rPr sz="1400" b="1" spc="-10" dirty="0">
                <a:solidFill>
                  <a:srgbClr val="292929"/>
                </a:solidFill>
                <a:latin typeface="Calibri"/>
                <a:cs typeface="Calibri"/>
              </a:rPr>
              <a:t>Queries:</a:t>
            </a:r>
            <a:endParaRPr sz="1400">
              <a:latin typeface="Calibri"/>
              <a:cs typeface="Calibri"/>
            </a:endParaRPr>
          </a:p>
          <a:p>
            <a:pPr marL="241300" indent="-228600">
              <a:lnSpc>
                <a:spcPct val="100000"/>
              </a:lnSpc>
              <a:spcBef>
                <a:spcPts val="875"/>
              </a:spcBef>
              <a:buFont typeface="Arial MT"/>
              <a:buChar char="•"/>
              <a:tabLst>
                <a:tab pos="241300" algn="l"/>
              </a:tabLst>
            </a:pPr>
            <a:r>
              <a:rPr sz="1400" dirty="0">
                <a:solidFill>
                  <a:srgbClr val="292929"/>
                </a:solidFill>
                <a:latin typeface="Calibri"/>
                <a:cs typeface="Calibri"/>
              </a:rPr>
              <a:t>Calculated</a:t>
            </a:r>
            <a:r>
              <a:rPr sz="1400" spc="-40" dirty="0">
                <a:solidFill>
                  <a:srgbClr val="292929"/>
                </a:solidFill>
                <a:latin typeface="Calibri"/>
                <a:cs typeface="Calibri"/>
              </a:rPr>
              <a:t> </a:t>
            </a:r>
            <a:r>
              <a:rPr sz="1400" spc="-10" dirty="0">
                <a:solidFill>
                  <a:srgbClr val="292929"/>
                </a:solidFill>
                <a:latin typeface="Calibri"/>
                <a:cs typeface="Calibri"/>
              </a:rPr>
              <a:t>total</a:t>
            </a:r>
            <a:r>
              <a:rPr sz="1400" spc="-65" dirty="0">
                <a:solidFill>
                  <a:srgbClr val="292929"/>
                </a:solidFill>
                <a:latin typeface="Calibri"/>
                <a:cs typeface="Calibri"/>
              </a:rPr>
              <a:t> </a:t>
            </a:r>
            <a:r>
              <a:rPr sz="1400" dirty="0">
                <a:solidFill>
                  <a:srgbClr val="292929"/>
                </a:solidFill>
                <a:latin typeface="Calibri"/>
                <a:cs typeface="Calibri"/>
              </a:rPr>
              <a:t>number</a:t>
            </a:r>
            <a:r>
              <a:rPr sz="1400" spc="-15" dirty="0">
                <a:solidFill>
                  <a:srgbClr val="292929"/>
                </a:solidFill>
                <a:latin typeface="Calibri"/>
                <a:cs typeface="Calibri"/>
              </a:rPr>
              <a:t> </a:t>
            </a:r>
            <a:r>
              <a:rPr sz="1400" dirty="0">
                <a:solidFill>
                  <a:srgbClr val="292929"/>
                </a:solidFill>
                <a:latin typeface="Calibri"/>
                <a:cs typeface="Calibri"/>
              </a:rPr>
              <a:t>of</a:t>
            </a:r>
            <a:r>
              <a:rPr sz="1400" spc="-30" dirty="0">
                <a:solidFill>
                  <a:srgbClr val="292929"/>
                </a:solidFill>
                <a:latin typeface="Calibri"/>
                <a:cs typeface="Calibri"/>
              </a:rPr>
              <a:t> </a:t>
            </a:r>
            <a:r>
              <a:rPr sz="1400" spc="-10" dirty="0">
                <a:solidFill>
                  <a:srgbClr val="292929"/>
                </a:solidFill>
                <a:latin typeface="Calibri"/>
                <a:cs typeface="Calibri"/>
              </a:rPr>
              <a:t>launches.</a:t>
            </a:r>
            <a:endParaRPr sz="1400">
              <a:latin typeface="Calibri"/>
              <a:cs typeface="Calibri"/>
            </a:endParaRPr>
          </a:p>
          <a:p>
            <a:pPr marL="241300" indent="-228600">
              <a:lnSpc>
                <a:spcPct val="100000"/>
              </a:lnSpc>
              <a:spcBef>
                <a:spcPts val="795"/>
              </a:spcBef>
              <a:buFont typeface="Arial MT"/>
              <a:buChar char="•"/>
              <a:tabLst>
                <a:tab pos="241300" algn="l"/>
              </a:tabLst>
            </a:pPr>
            <a:r>
              <a:rPr sz="1400" dirty="0">
                <a:solidFill>
                  <a:srgbClr val="292929"/>
                </a:solidFill>
                <a:latin typeface="Calibri"/>
                <a:cs typeface="Calibri"/>
              </a:rPr>
              <a:t>Counted</a:t>
            </a:r>
            <a:r>
              <a:rPr sz="1400" spc="-25" dirty="0">
                <a:solidFill>
                  <a:srgbClr val="292929"/>
                </a:solidFill>
                <a:latin typeface="Calibri"/>
                <a:cs typeface="Calibri"/>
              </a:rPr>
              <a:t> </a:t>
            </a:r>
            <a:r>
              <a:rPr sz="1400" spc="-10" dirty="0">
                <a:solidFill>
                  <a:srgbClr val="292929"/>
                </a:solidFill>
                <a:latin typeface="Calibri"/>
                <a:cs typeface="Calibri"/>
              </a:rPr>
              <a:t>successful</a:t>
            </a:r>
            <a:r>
              <a:rPr sz="1400" spc="-45" dirty="0">
                <a:solidFill>
                  <a:srgbClr val="292929"/>
                </a:solidFill>
                <a:latin typeface="Calibri"/>
                <a:cs typeface="Calibri"/>
              </a:rPr>
              <a:t> </a:t>
            </a:r>
            <a:r>
              <a:rPr sz="1400" dirty="0">
                <a:solidFill>
                  <a:srgbClr val="292929"/>
                </a:solidFill>
                <a:latin typeface="Calibri"/>
                <a:cs typeface="Calibri"/>
              </a:rPr>
              <a:t>and</a:t>
            </a:r>
            <a:r>
              <a:rPr sz="1400" spc="-25" dirty="0">
                <a:solidFill>
                  <a:srgbClr val="292929"/>
                </a:solidFill>
                <a:latin typeface="Calibri"/>
                <a:cs typeface="Calibri"/>
              </a:rPr>
              <a:t> </a:t>
            </a:r>
            <a:r>
              <a:rPr sz="1400" dirty="0">
                <a:solidFill>
                  <a:srgbClr val="292929"/>
                </a:solidFill>
                <a:latin typeface="Calibri"/>
                <a:cs typeface="Calibri"/>
              </a:rPr>
              <a:t>failed</a:t>
            </a:r>
            <a:r>
              <a:rPr sz="1400" spc="-20" dirty="0">
                <a:solidFill>
                  <a:srgbClr val="292929"/>
                </a:solidFill>
                <a:latin typeface="Calibri"/>
                <a:cs typeface="Calibri"/>
              </a:rPr>
              <a:t> </a:t>
            </a:r>
            <a:r>
              <a:rPr sz="1400" spc="-10" dirty="0">
                <a:solidFill>
                  <a:srgbClr val="292929"/>
                </a:solidFill>
                <a:latin typeface="Calibri"/>
                <a:cs typeface="Calibri"/>
              </a:rPr>
              <a:t>launches.</a:t>
            </a:r>
            <a:endParaRPr sz="1400">
              <a:latin typeface="Calibri"/>
              <a:cs typeface="Calibri"/>
            </a:endParaRPr>
          </a:p>
          <a:p>
            <a:pPr marL="241300" indent="-228600">
              <a:lnSpc>
                <a:spcPct val="100000"/>
              </a:lnSpc>
              <a:spcBef>
                <a:spcPts val="875"/>
              </a:spcBef>
              <a:buFont typeface="Arial MT"/>
              <a:buChar char="•"/>
              <a:tabLst>
                <a:tab pos="241300" algn="l"/>
              </a:tabLst>
            </a:pPr>
            <a:r>
              <a:rPr sz="1400" dirty="0">
                <a:solidFill>
                  <a:srgbClr val="292929"/>
                </a:solidFill>
                <a:latin typeface="Calibri"/>
                <a:cs typeface="Calibri"/>
              </a:rPr>
              <a:t>Calculated</a:t>
            </a:r>
            <a:r>
              <a:rPr sz="1400" spc="-65" dirty="0">
                <a:solidFill>
                  <a:srgbClr val="292929"/>
                </a:solidFill>
                <a:latin typeface="Calibri"/>
                <a:cs typeface="Calibri"/>
              </a:rPr>
              <a:t> </a:t>
            </a:r>
            <a:r>
              <a:rPr sz="1400" dirty="0">
                <a:solidFill>
                  <a:srgbClr val="292929"/>
                </a:solidFill>
                <a:latin typeface="Calibri"/>
                <a:cs typeface="Calibri"/>
              </a:rPr>
              <a:t>success</a:t>
            </a:r>
            <a:r>
              <a:rPr sz="1400" spc="-10" dirty="0">
                <a:solidFill>
                  <a:srgbClr val="292929"/>
                </a:solidFill>
                <a:latin typeface="Calibri"/>
                <a:cs typeface="Calibri"/>
              </a:rPr>
              <a:t> rates </a:t>
            </a:r>
            <a:r>
              <a:rPr sz="1400" dirty="0">
                <a:solidFill>
                  <a:srgbClr val="292929"/>
                </a:solidFill>
                <a:latin typeface="Calibri"/>
                <a:cs typeface="Calibri"/>
              </a:rPr>
              <a:t>by</a:t>
            </a:r>
            <a:r>
              <a:rPr sz="1400" spc="-20" dirty="0">
                <a:solidFill>
                  <a:srgbClr val="292929"/>
                </a:solidFill>
                <a:latin typeface="Calibri"/>
                <a:cs typeface="Calibri"/>
              </a:rPr>
              <a:t> </a:t>
            </a:r>
            <a:r>
              <a:rPr sz="1400" dirty="0">
                <a:solidFill>
                  <a:srgbClr val="292929"/>
                </a:solidFill>
                <a:latin typeface="Calibri"/>
                <a:cs typeface="Calibri"/>
              </a:rPr>
              <a:t>launch</a:t>
            </a:r>
            <a:r>
              <a:rPr sz="1400" spc="-45" dirty="0">
                <a:solidFill>
                  <a:srgbClr val="292929"/>
                </a:solidFill>
                <a:latin typeface="Calibri"/>
                <a:cs typeface="Calibri"/>
              </a:rPr>
              <a:t> </a:t>
            </a:r>
            <a:r>
              <a:rPr sz="1400" dirty="0">
                <a:solidFill>
                  <a:srgbClr val="292929"/>
                </a:solidFill>
                <a:latin typeface="Calibri"/>
                <a:cs typeface="Calibri"/>
              </a:rPr>
              <a:t>site</a:t>
            </a:r>
            <a:r>
              <a:rPr sz="1400" spc="-80" dirty="0">
                <a:solidFill>
                  <a:srgbClr val="292929"/>
                </a:solidFill>
                <a:latin typeface="Calibri"/>
                <a:cs typeface="Calibri"/>
              </a:rPr>
              <a:t> </a:t>
            </a:r>
            <a:r>
              <a:rPr sz="1400" dirty="0">
                <a:solidFill>
                  <a:srgbClr val="292929"/>
                </a:solidFill>
                <a:latin typeface="Calibri"/>
                <a:cs typeface="Calibri"/>
              </a:rPr>
              <a:t>and</a:t>
            </a:r>
            <a:r>
              <a:rPr sz="1400" spc="-45" dirty="0">
                <a:solidFill>
                  <a:srgbClr val="292929"/>
                </a:solidFill>
                <a:latin typeface="Calibri"/>
                <a:cs typeface="Calibri"/>
              </a:rPr>
              <a:t> </a:t>
            </a:r>
            <a:r>
              <a:rPr sz="1400" spc="-20" dirty="0">
                <a:solidFill>
                  <a:srgbClr val="292929"/>
                </a:solidFill>
                <a:latin typeface="Calibri"/>
                <a:cs typeface="Calibri"/>
              </a:rPr>
              <a:t>rocket</a:t>
            </a:r>
            <a:r>
              <a:rPr sz="1400" spc="-60" dirty="0">
                <a:solidFill>
                  <a:srgbClr val="292929"/>
                </a:solidFill>
                <a:latin typeface="Calibri"/>
                <a:cs typeface="Calibri"/>
              </a:rPr>
              <a:t> </a:t>
            </a:r>
            <a:r>
              <a:rPr sz="1400" spc="-10" dirty="0">
                <a:solidFill>
                  <a:srgbClr val="292929"/>
                </a:solidFill>
                <a:latin typeface="Calibri"/>
                <a:cs typeface="Calibri"/>
              </a:rPr>
              <a:t>type.</a:t>
            </a:r>
            <a:endParaRPr sz="1400">
              <a:latin typeface="Calibri"/>
              <a:cs typeface="Calibri"/>
            </a:endParaRPr>
          </a:p>
          <a:p>
            <a:pPr>
              <a:lnSpc>
                <a:spcPct val="100000"/>
              </a:lnSpc>
              <a:spcBef>
                <a:spcPts val="1639"/>
              </a:spcBef>
              <a:buClr>
                <a:srgbClr val="292929"/>
              </a:buClr>
              <a:buFont typeface="Arial MT"/>
              <a:buChar char="•"/>
            </a:pPr>
            <a:endParaRPr sz="1400">
              <a:latin typeface="Calibri"/>
              <a:cs typeface="Calibri"/>
            </a:endParaRPr>
          </a:p>
          <a:p>
            <a:pPr marL="12700">
              <a:lnSpc>
                <a:spcPct val="100000"/>
              </a:lnSpc>
              <a:spcBef>
                <a:spcPts val="5"/>
              </a:spcBef>
            </a:pPr>
            <a:r>
              <a:rPr sz="1400" b="1" dirty="0">
                <a:solidFill>
                  <a:srgbClr val="292929"/>
                </a:solidFill>
                <a:latin typeface="Calibri"/>
                <a:cs typeface="Calibri"/>
              </a:rPr>
              <a:t>Join</a:t>
            </a:r>
            <a:r>
              <a:rPr sz="1400" b="1" spc="-25" dirty="0">
                <a:solidFill>
                  <a:srgbClr val="292929"/>
                </a:solidFill>
                <a:latin typeface="Calibri"/>
                <a:cs typeface="Calibri"/>
              </a:rPr>
              <a:t> </a:t>
            </a:r>
            <a:r>
              <a:rPr sz="1400" b="1" spc="-10" dirty="0">
                <a:solidFill>
                  <a:srgbClr val="292929"/>
                </a:solidFill>
                <a:latin typeface="Calibri"/>
                <a:cs typeface="Calibri"/>
              </a:rPr>
              <a:t>Queries:</a:t>
            </a:r>
            <a:endParaRPr sz="1400">
              <a:latin typeface="Calibri"/>
              <a:cs typeface="Calibri"/>
            </a:endParaRPr>
          </a:p>
          <a:p>
            <a:pPr marL="241300" indent="-228600">
              <a:lnSpc>
                <a:spcPts val="1590"/>
              </a:lnSpc>
              <a:spcBef>
                <a:spcPts val="800"/>
              </a:spcBef>
              <a:buFont typeface="Arial MT"/>
              <a:buChar char="•"/>
              <a:tabLst>
                <a:tab pos="241300" algn="l"/>
              </a:tabLst>
            </a:pPr>
            <a:r>
              <a:rPr sz="1400" dirty="0">
                <a:solidFill>
                  <a:srgbClr val="292929"/>
                </a:solidFill>
                <a:latin typeface="Calibri"/>
                <a:cs typeface="Calibri"/>
              </a:rPr>
              <a:t>Joined</a:t>
            </a:r>
            <a:r>
              <a:rPr sz="1400" spc="-25" dirty="0">
                <a:solidFill>
                  <a:srgbClr val="292929"/>
                </a:solidFill>
                <a:latin typeface="Calibri"/>
                <a:cs typeface="Calibri"/>
              </a:rPr>
              <a:t> </a:t>
            </a:r>
            <a:r>
              <a:rPr sz="1400" dirty="0">
                <a:solidFill>
                  <a:srgbClr val="292929"/>
                </a:solidFill>
                <a:latin typeface="Calibri"/>
                <a:cs typeface="Calibri"/>
              </a:rPr>
              <a:t>tables</a:t>
            </a:r>
            <a:r>
              <a:rPr sz="1400" spc="-60" dirty="0">
                <a:solidFill>
                  <a:srgbClr val="292929"/>
                </a:solidFill>
                <a:latin typeface="Calibri"/>
                <a:cs typeface="Calibri"/>
              </a:rPr>
              <a:t> </a:t>
            </a:r>
            <a:r>
              <a:rPr sz="1400" dirty="0">
                <a:solidFill>
                  <a:srgbClr val="292929"/>
                </a:solidFill>
                <a:latin typeface="Calibri"/>
                <a:cs typeface="Calibri"/>
              </a:rPr>
              <a:t>to</a:t>
            </a:r>
            <a:r>
              <a:rPr sz="1400" spc="-30" dirty="0">
                <a:solidFill>
                  <a:srgbClr val="292929"/>
                </a:solidFill>
                <a:latin typeface="Calibri"/>
                <a:cs typeface="Calibri"/>
              </a:rPr>
              <a:t> </a:t>
            </a:r>
            <a:r>
              <a:rPr sz="1400" dirty="0">
                <a:solidFill>
                  <a:srgbClr val="292929"/>
                </a:solidFill>
                <a:latin typeface="Calibri"/>
                <a:cs typeface="Calibri"/>
              </a:rPr>
              <a:t>link launch</a:t>
            </a:r>
            <a:r>
              <a:rPr sz="1400" spc="-30" dirty="0">
                <a:solidFill>
                  <a:srgbClr val="292929"/>
                </a:solidFill>
                <a:latin typeface="Calibri"/>
                <a:cs typeface="Calibri"/>
              </a:rPr>
              <a:t> </a:t>
            </a:r>
            <a:r>
              <a:rPr sz="1400" spc="-10" dirty="0">
                <a:solidFill>
                  <a:srgbClr val="292929"/>
                </a:solidFill>
                <a:latin typeface="Calibri"/>
                <a:cs typeface="Calibri"/>
              </a:rPr>
              <a:t>records</a:t>
            </a:r>
            <a:r>
              <a:rPr sz="1400" spc="-55" dirty="0">
                <a:solidFill>
                  <a:srgbClr val="292929"/>
                </a:solidFill>
                <a:latin typeface="Calibri"/>
                <a:cs typeface="Calibri"/>
              </a:rPr>
              <a:t> </a:t>
            </a:r>
            <a:r>
              <a:rPr sz="1400" dirty="0">
                <a:solidFill>
                  <a:srgbClr val="292929"/>
                </a:solidFill>
                <a:latin typeface="Calibri"/>
                <a:cs typeface="Calibri"/>
              </a:rPr>
              <a:t>with</a:t>
            </a:r>
            <a:r>
              <a:rPr sz="1400" spc="-25" dirty="0">
                <a:solidFill>
                  <a:srgbClr val="292929"/>
                </a:solidFill>
                <a:latin typeface="Calibri"/>
                <a:cs typeface="Calibri"/>
              </a:rPr>
              <a:t> </a:t>
            </a:r>
            <a:r>
              <a:rPr sz="1400" dirty="0">
                <a:solidFill>
                  <a:srgbClr val="292929"/>
                </a:solidFill>
                <a:latin typeface="Calibri"/>
                <a:cs typeface="Calibri"/>
              </a:rPr>
              <a:t>additional</a:t>
            </a:r>
            <a:r>
              <a:rPr sz="1400" spc="-55" dirty="0">
                <a:solidFill>
                  <a:srgbClr val="292929"/>
                </a:solidFill>
                <a:latin typeface="Calibri"/>
                <a:cs typeface="Calibri"/>
              </a:rPr>
              <a:t> </a:t>
            </a:r>
            <a:r>
              <a:rPr sz="1400" dirty="0">
                <a:solidFill>
                  <a:srgbClr val="292929"/>
                </a:solidFill>
                <a:latin typeface="Calibri"/>
                <a:cs typeface="Calibri"/>
              </a:rPr>
              <a:t>data</a:t>
            </a:r>
            <a:r>
              <a:rPr sz="1400" spc="-35" dirty="0">
                <a:solidFill>
                  <a:srgbClr val="292929"/>
                </a:solidFill>
                <a:latin typeface="Calibri"/>
                <a:cs typeface="Calibri"/>
              </a:rPr>
              <a:t> </a:t>
            </a:r>
            <a:r>
              <a:rPr sz="1400" spc="-10" dirty="0">
                <a:solidFill>
                  <a:srgbClr val="292929"/>
                </a:solidFill>
                <a:latin typeface="Calibri"/>
                <a:cs typeface="Calibri"/>
              </a:rPr>
              <a:t>(e.g.,</a:t>
            </a:r>
            <a:endParaRPr sz="1400">
              <a:latin typeface="Calibri"/>
              <a:cs typeface="Calibri"/>
            </a:endParaRPr>
          </a:p>
          <a:p>
            <a:pPr marL="241300">
              <a:lnSpc>
                <a:spcPts val="1590"/>
              </a:lnSpc>
            </a:pPr>
            <a:r>
              <a:rPr sz="1400" dirty="0">
                <a:solidFill>
                  <a:srgbClr val="292929"/>
                </a:solidFill>
                <a:latin typeface="Calibri"/>
                <a:cs typeface="Calibri"/>
              </a:rPr>
              <a:t>rocket</a:t>
            </a:r>
            <a:r>
              <a:rPr sz="1400" spc="-80" dirty="0">
                <a:solidFill>
                  <a:srgbClr val="292929"/>
                </a:solidFill>
                <a:latin typeface="Calibri"/>
                <a:cs typeface="Calibri"/>
              </a:rPr>
              <a:t> </a:t>
            </a:r>
            <a:r>
              <a:rPr sz="1400" spc="-10" dirty="0">
                <a:solidFill>
                  <a:srgbClr val="292929"/>
                </a:solidFill>
                <a:latin typeface="Calibri"/>
                <a:cs typeface="Calibri"/>
              </a:rPr>
              <a:t>details).</a:t>
            </a:r>
            <a:endParaRPr sz="1400">
              <a:latin typeface="Calibri"/>
              <a:cs typeface="Calibri"/>
            </a:endParaRPr>
          </a:p>
          <a:p>
            <a:pPr marL="241300" indent="-228600">
              <a:lnSpc>
                <a:spcPct val="100000"/>
              </a:lnSpc>
              <a:spcBef>
                <a:spcPts val="875"/>
              </a:spcBef>
              <a:buFont typeface="Arial MT"/>
              <a:buChar char="•"/>
              <a:tabLst>
                <a:tab pos="241300" algn="l"/>
              </a:tabLst>
            </a:pPr>
            <a:r>
              <a:rPr sz="1400" dirty="0">
                <a:solidFill>
                  <a:srgbClr val="292929"/>
                </a:solidFill>
                <a:latin typeface="Calibri"/>
                <a:cs typeface="Calibri"/>
              </a:rPr>
              <a:t>Combined</a:t>
            </a:r>
            <a:r>
              <a:rPr sz="1400" spc="-20" dirty="0">
                <a:solidFill>
                  <a:srgbClr val="292929"/>
                </a:solidFill>
                <a:latin typeface="Calibri"/>
                <a:cs typeface="Calibri"/>
              </a:rPr>
              <a:t> </a:t>
            </a:r>
            <a:r>
              <a:rPr sz="1400" spc="-10" dirty="0">
                <a:solidFill>
                  <a:srgbClr val="292929"/>
                </a:solidFill>
                <a:latin typeface="Calibri"/>
                <a:cs typeface="Calibri"/>
              </a:rPr>
              <a:t>datasets</a:t>
            </a:r>
            <a:r>
              <a:rPr sz="1400" spc="-50" dirty="0">
                <a:solidFill>
                  <a:srgbClr val="292929"/>
                </a:solidFill>
                <a:latin typeface="Calibri"/>
                <a:cs typeface="Calibri"/>
              </a:rPr>
              <a:t> </a:t>
            </a:r>
            <a:r>
              <a:rPr sz="1400" dirty="0">
                <a:solidFill>
                  <a:srgbClr val="292929"/>
                </a:solidFill>
                <a:latin typeface="Calibri"/>
                <a:cs typeface="Calibri"/>
              </a:rPr>
              <a:t>for</a:t>
            </a:r>
            <a:r>
              <a:rPr sz="1400" spc="10" dirty="0">
                <a:solidFill>
                  <a:srgbClr val="292929"/>
                </a:solidFill>
                <a:latin typeface="Calibri"/>
                <a:cs typeface="Calibri"/>
              </a:rPr>
              <a:t> </a:t>
            </a:r>
            <a:r>
              <a:rPr sz="1400" spc="-10" dirty="0">
                <a:solidFill>
                  <a:srgbClr val="292929"/>
                </a:solidFill>
                <a:latin typeface="Calibri"/>
                <a:cs typeface="Calibri"/>
              </a:rPr>
              <a:t>comprehensive</a:t>
            </a:r>
            <a:r>
              <a:rPr sz="1400" spc="-55" dirty="0">
                <a:solidFill>
                  <a:srgbClr val="292929"/>
                </a:solidFill>
                <a:latin typeface="Calibri"/>
                <a:cs typeface="Calibri"/>
              </a:rPr>
              <a:t> </a:t>
            </a:r>
            <a:r>
              <a:rPr sz="1400" spc="-10" dirty="0">
                <a:solidFill>
                  <a:srgbClr val="292929"/>
                </a:solidFill>
                <a:latin typeface="Calibri"/>
                <a:cs typeface="Calibri"/>
              </a:rPr>
              <a:t>analysis.</a:t>
            </a:r>
            <a:endParaRPr sz="1400">
              <a:latin typeface="Calibri"/>
              <a:cs typeface="Calibri"/>
            </a:endParaRPr>
          </a:p>
          <a:p>
            <a:pPr>
              <a:lnSpc>
                <a:spcPct val="100000"/>
              </a:lnSpc>
              <a:spcBef>
                <a:spcPts val="1639"/>
              </a:spcBef>
              <a:buClr>
                <a:srgbClr val="292929"/>
              </a:buClr>
              <a:buFont typeface="Arial MT"/>
              <a:buChar char="•"/>
            </a:pPr>
            <a:endParaRPr sz="1400">
              <a:latin typeface="Calibri"/>
              <a:cs typeface="Calibri"/>
            </a:endParaRPr>
          </a:p>
          <a:p>
            <a:pPr marL="12700">
              <a:lnSpc>
                <a:spcPct val="100000"/>
              </a:lnSpc>
            </a:pPr>
            <a:r>
              <a:rPr sz="1400" b="1" dirty="0">
                <a:solidFill>
                  <a:srgbClr val="292929"/>
                </a:solidFill>
                <a:latin typeface="Calibri"/>
                <a:cs typeface="Calibri"/>
              </a:rPr>
              <a:t>Filtering</a:t>
            </a:r>
            <a:r>
              <a:rPr sz="1400" b="1" spc="-55" dirty="0">
                <a:solidFill>
                  <a:srgbClr val="292929"/>
                </a:solidFill>
                <a:latin typeface="Calibri"/>
                <a:cs typeface="Calibri"/>
              </a:rPr>
              <a:t> </a:t>
            </a:r>
            <a:r>
              <a:rPr sz="1400" b="1" spc="-10" dirty="0">
                <a:solidFill>
                  <a:srgbClr val="292929"/>
                </a:solidFill>
                <a:latin typeface="Calibri"/>
                <a:cs typeface="Calibri"/>
              </a:rPr>
              <a:t>Queries:</a:t>
            </a:r>
            <a:endParaRPr sz="1400">
              <a:latin typeface="Calibri"/>
              <a:cs typeface="Calibri"/>
            </a:endParaRPr>
          </a:p>
          <a:p>
            <a:pPr marL="241300" marR="1229995" indent="-229235">
              <a:lnSpc>
                <a:spcPts val="1500"/>
              </a:lnSpc>
              <a:spcBef>
                <a:spcPts val="1000"/>
              </a:spcBef>
              <a:buFont typeface="Arial MT"/>
              <a:buChar char="•"/>
              <a:tabLst>
                <a:tab pos="241300" algn="l"/>
              </a:tabLst>
            </a:pPr>
            <a:r>
              <a:rPr sz="1400" spc="-10" dirty="0">
                <a:solidFill>
                  <a:srgbClr val="292929"/>
                </a:solidFill>
                <a:latin typeface="Calibri"/>
                <a:cs typeface="Calibri"/>
              </a:rPr>
              <a:t>Filtered</a:t>
            </a:r>
            <a:r>
              <a:rPr sz="1400" spc="-45" dirty="0">
                <a:solidFill>
                  <a:srgbClr val="292929"/>
                </a:solidFill>
                <a:latin typeface="Calibri"/>
                <a:cs typeface="Calibri"/>
              </a:rPr>
              <a:t> </a:t>
            </a:r>
            <a:r>
              <a:rPr sz="1400" dirty="0">
                <a:solidFill>
                  <a:srgbClr val="292929"/>
                </a:solidFill>
                <a:latin typeface="Calibri"/>
                <a:cs typeface="Calibri"/>
              </a:rPr>
              <a:t>data</a:t>
            </a:r>
            <a:r>
              <a:rPr sz="1400" spc="-50" dirty="0">
                <a:solidFill>
                  <a:srgbClr val="292929"/>
                </a:solidFill>
                <a:latin typeface="Calibri"/>
                <a:cs typeface="Calibri"/>
              </a:rPr>
              <a:t> </a:t>
            </a:r>
            <a:r>
              <a:rPr sz="1400" dirty="0">
                <a:solidFill>
                  <a:srgbClr val="292929"/>
                </a:solidFill>
                <a:latin typeface="Calibri"/>
                <a:cs typeface="Calibri"/>
              </a:rPr>
              <a:t>to</a:t>
            </a:r>
            <a:r>
              <a:rPr sz="1400" spc="-45" dirty="0">
                <a:solidFill>
                  <a:srgbClr val="292929"/>
                </a:solidFill>
                <a:latin typeface="Calibri"/>
                <a:cs typeface="Calibri"/>
              </a:rPr>
              <a:t> </a:t>
            </a:r>
            <a:r>
              <a:rPr sz="1400" dirty="0">
                <a:solidFill>
                  <a:srgbClr val="292929"/>
                </a:solidFill>
                <a:latin typeface="Calibri"/>
                <a:cs typeface="Calibri"/>
              </a:rPr>
              <a:t>focus</a:t>
            </a:r>
            <a:r>
              <a:rPr sz="1400" spc="-5" dirty="0">
                <a:solidFill>
                  <a:srgbClr val="292929"/>
                </a:solidFill>
                <a:latin typeface="Calibri"/>
                <a:cs typeface="Calibri"/>
              </a:rPr>
              <a:t> </a:t>
            </a:r>
            <a:r>
              <a:rPr sz="1400" dirty="0">
                <a:solidFill>
                  <a:srgbClr val="292929"/>
                </a:solidFill>
                <a:latin typeface="Calibri"/>
                <a:cs typeface="Calibri"/>
              </a:rPr>
              <a:t>on</a:t>
            </a:r>
            <a:r>
              <a:rPr sz="1400" spc="-40" dirty="0">
                <a:solidFill>
                  <a:srgbClr val="292929"/>
                </a:solidFill>
                <a:latin typeface="Calibri"/>
                <a:cs typeface="Calibri"/>
              </a:rPr>
              <a:t> </a:t>
            </a:r>
            <a:r>
              <a:rPr sz="1400" dirty="0">
                <a:solidFill>
                  <a:srgbClr val="292929"/>
                </a:solidFill>
                <a:latin typeface="Calibri"/>
                <a:cs typeface="Calibri"/>
              </a:rPr>
              <a:t>specific</a:t>
            </a:r>
            <a:r>
              <a:rPr sz="1400" spc="-50" dirty="0">
                <a:solidFill>
                  <a:srgbClr val="292929"/>
                </a:solidFill>
                <a:latin typeface="Calibri"/>
                <a:cs typeface="Calibri"/>
              </a:rPr>
              <a:t> </a:t>
            </a:r>
            <a:r>
              <a:rPr sz="1400" dirty="0">
                <a:solidFill>
                  <a:srgbClr val="292929"/>
                </a:solidFill>
                <a:latin typeface="Calibri"/>
                <a:cs typeface="Calibri"/>
              </a:rPr>
              <a:t>launch</a:t>
            </a:r>
            <a:r>
              <a:rPr sz="1400" spc="-40" dirty="0">
                <a:solidFill>
                  <a:srgbClr val="292929"/>
                </a:solidFill>
                <a:latin typeface="Calibri"/>
                <a:cs typeface="Calibri"/>
              </a:rPr>
              <a:t> </a:t>
            </a:r>
            <a:r>
              <a:rPr sz="1400" spc="-10" dirty="0">
                <a:solidFill>
                  <a:srgbClr val="292929"/>
                </a:solidFill>
                <a:latin typeface="Calibri"/>
                <a:cs typeface="Calibri"/>
              </a:rPr>
              <a:t>outcomes (success/failure).</a:t>
            </a:r>
            <a:endParaRPr sz="1400">
              <a:latin typeface="Calibri"/>
              <a:cs typeface="Calibri"/>
            </a:endParaRPr>
          </a:p>
          <a:p>
            <a:pPr marL="241300" marR="5080" indent="-229235">
              <a:lnSpc>
                <a:spcPts val="1500"/>
              </a:lnSpc>
              <a:spcBef>
                <a:spcPts val="1055"/>
              </a:spcBef>
              <a:buFont typeface="Arial MT"/>
              <a:buChar char="•"/>
              <a:tabLst>
                <a:tab pos="241300" algn="l"/>
              </a:tabLst>
            </a:pPr>
            <a:r>
              <a:rPr sz="1400" dirty="0">
                <a:solidFill>
                  <a:srgbClr val="292929"/>
                </a:solidFill>
                <a:latin typeface="Calibri"/>
                <a:cs typeface="Calibri"/>
              </a:rPr>
              <a:t>Applied</a:t>
            </a:r>
            <a:r>
              <a:rPr sz="1400" spc="-35" dirty="0">
                <a:solidFill>
                  <a:srgbClr val="292929"/>
                </a:solidFill>
                <a:latin typeface="Calibri"/>
                <a:cs typeface="Calibri"/>
              </a:rPr>
              <a:t> </a:t>
            </a:r>
            <a:r>
              <a:rPr sz="1400" spc="-10" dirty="0">
                <a:solidFill>
                  <a:srgbClr val="292929"/>
                </a:solidFill>
                <a:latin typeface="Calibri"/>
                <a:cs typeface="Calibri"/>
              </a:rPr>
              <a:t>conditions</a:t>
            </a:r>
            <a:r>
              <a:rPr sz="1400" dirty="0">
                <a:solidFill>
                  <a:srgbClr val="292929"/>
                </a:solidFill>
                <a:latin typeface="Calibri"/>
                <a:cs typeface="Calibri"/>
              </a:rPr>
              <a:t> to</a:t>
            </a:r>
            <a:r>
              <a:rPr sz="1400" spc="-35" dirty="0">
                <a:solidFill>
                  <a:srgbClr val="292929"/>
                </a:solidFill>
                <a:latin typeface="Calibri"/>
                <a:cs typeface="Calibri"/>
              </a:rPr>
              <a:t> </a:t>
            </a:r>
            <a:r>
              <a:rPr sz="1400" spc="-10" dirty="0">
                <a:solidFill>
                  <a:srgbClr val="292929"/>
                </a:solidFill>
                <a:latin typeface="Calibri"/>
                <a:cs typeface="Calibri"/>
              </a:rPr>
              <a:t>extract</a:t>
            </a:r>
            <a:r>
              <a:rPr sz="1400" spc="-60" dirty="0">
                <a:solidFill>
                  <a:srgbClr val="292929"/>
                </a:solidFill>
                <a:latin typeface="Calibri"/>
                <a:cs typeface="Calibri"/>
              </a:rPr>
              <a:t> </a:t>
            </a:r>
            <a:r>
              <a:rPr sz="1400" dirty="0">
                <a:solidFill>
                  <a:srgbClr val="292929"/>
                </a:solidFill>
                <a:latin typeface="Calibri"/>
                <a:cs typeface="Calibri"/>
              </a:rPr>
              <a:t>launches based</a:t>
            </a:r>
            <a:r>
              <a:rPr sz="1400" spc="-35" dirty="0">
                <a:solidFill>
                  <a:srgbClr val="292929"/>
                </a:solidFill>
                <a:latin typeface="Calibri"/>
                <a:cs typeface="Calibri"/>
              </a:rPr>
              <a:t> </a:t>
            </a:r>
            <a:r>
              <a:rPr sz="1400" dirty="0">
                <a:solidFill>
                  <a:srgbClr val="292929"/>
                </a:solidFill>
                <a:latin typeface="Calibri"/>
                <a:cs typeface="Calibri"/>
              </a:rPr>
              <a:t>on</a:t>
            </a:r>
            <a:r>
              <a:rPr sz="1400" spc="-35" dirty="0">
                <a:solidFill>
                  <a:srgbClr val="292929"/>
                </a:solidFill>
                <a:latin typeface="Calibri"/>
                <a:cs typeface="Calibri"/>
              </a:rPr>
              <a:t> </a:t>
            </a:r>
            <a:r>
              <a:rPr sz="1400" dirty="0">
                <a:solidFill>
                  <a:srgbClr val="292929"/>
                </a:solidFill>
                <a:latin typeface="Calibri"/>
                <a:cs typeface="Calibri"/>
              </a:rPr>
              <a:t>criteria</a:t>
            </a:r>
            <a:r>
              <a:rPr sz="1400" spc="-45" dirty="0">
                <a:solidFill>
                  <a:srgbClr val="292929"/>
                </a:solidFill>
                <a:latin typeface="Calibri"/>
                <a:cs typeface="Calibri"/>
              </a:rPr>
              <a:t> </a:t>
            </a:r>
            <a:r>
              <a:rPr sz="1400" dirty="0">
                <a:solidFill>
                  <a:srgbClr val="292929"/>
                </a:solidFill>
                <a:latin typeface="Calibri"/>
                <a:cs typeface="Calibri"/>
              </a:rPr>
              <a:t>like</a:t>
            </a:r>
            <a:r>
              <a:rPr sz="1400" spc="-65" dirty="0">
                <a:solidFill>
                  <a:srgbClr val="292929"/>
                </a:solidFill>
                <a:latin typeface="Calibri"/>
                <a:cs typeface="Calibri"/>
              </a:rPr>
              <a:t> </a:t>
            </a:r>
            <a:r>
              <a:rPr sz="1400" spc="-10" dirty="0">
                <a:solidFill>
                  <a:srgbClr val="292929"/>
                </a:solidFill>
                <a:latin typeface="Calibri"/>
                <a:cs typeface="Calibri"/>
              </a:rPr>
              <a:t>launch </a:t>
            </a:r>
            <a:r>
              <a:rPr sz="1400" dirty="0">
                <a:solidFill>
                  <a:srgbClr val="292929"/>
                </a:solidFill>
                <a:latin typeface="Calibri"/>
                <a:cs typeface="Calibri"/>
              </a:rPr>
              <a:t>date</a:t>
            </a:r>
            <a:r>
              <a:rPr sz="1400" spc="-50" dirty="0">
                <a:solidFill>
                  <a:srgbClr val="292929"/>
                </a:solidFill>
                <a:latin typeface="Calibri"/>
                <a:cs typeface="Calibri"/>
              </a:rPr>
              <a:t> </a:t>
            </a:r>
            <a:r>
              <a:rPr sz="1400" dirty="0">
                <a:solidFill>
                  <a:srgbClr val="292929"/>
                </a:solidFill>
                <a:latin typeface="Calibri"/>
                <a:cs typeface="Calibri"/>
              </a:rPr>
              <a:t>or</a:t>
            </a:r>
            <a:r>
              <a:rPr sz="1400" spc="15" dirty="0">
                <a:solidFill>
                  <a:srgbClr val="292929"/>
                </a:solidFill>
                <a:latin typeface="Calibri"/>
                <a:cs typeface="Calibri"/>
              </a:rPr>
              <a:t> </a:t>
            </a:r>
            <a:r>
              <a:rPr sz="1400" spc="-20" dirty="0">
                <a:solidFill>
                  <a:srgbClr val="292929"/>
                </a:solidFill>
                <a:latin typeface="Calibri"/>
                <a:cs typeface="Calibri"/>
              </a:rPr>
              <a:t>rocket</a:t>
            </a:r>
            <a:r>
              <a:rPr sz="1400" spc="-40" dirty="0">
                <a:solidFill>
                  <a:srgbClr val="292929"/>
                </a:solidFill>
                <a:latin typeface="Calibri"/>
                <a:cs typeface="Calibri"/>
              </a:rPr>
              <a:t> </a:t>
            </a:r>
            <a:r>
              <a:rPr sz="1400" spc="-10" dirty="0">
                <a:solidFill>
                  <a:srgbClr val="292929"/>
                </a:solidFill>
                <a:latin typeface="Calibri"/>
                <a:cs typeface="Calibri"/>
              </a:rPr>
              <a:t>configuration.</a:t>
            </a:r>
            <a:endParaRPr sz="14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16</a:t>
            </a:fld>
            <a:endParaRPr spc="60"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75" dirty="0"/>
              <a:t>EDA</a:t>
            </a:r>
            <a:r>
              <a:rPr spc="75" dirty="0"/>
              <a:t> </a:t>
            </a:r>
            <a:r>
              <a:rPr dirty="0"/>
              <a:t>with</a:t>
            </a:r>
            <a:r>
              <a:rPr spc="100" dirty="0"/>
              <a:t> </a:t>
            </a:r>
            <a:r>
              <a:rPr spc="-330" dirty="0"/>
              <a:t>SQL</a:t>
            </a:r>
          </a:p>
        </p:txBody>
      </p:sp>
      <p:sp>
        <p:nvSpPr>
          <p:cNvPr id="4" name="object 4"/>
          <p:cNvSpPr txBox="1"/>
          <p:nvPr/>
        </p:nvSpPr>
        <p:spPr>
          <a:xfrm>
            <a:off x="6398005" y="1524317"/>
            <a:ext cx="1219835" cy="243204"/>
          </a:xfrm>
          <a:prstGeom prst="rect">
            <a:avLst/>
          </a:prstGeom>
        </p:spPr>
        <p:txBody>
          <a:bodyPr vert="horz" wrap="square" lIns="0" tIns="15875" rIns="0" bIns="0" rtlCol="0">
            <a:spAutoFit/>
          </a:bodyPr>
          <a:lstStyle/>
          <a:p>
            <a:pPr marL="12700">
              <a:lnSpc>
                <a:spcPct val="100000"/>
              </a:lnSpc>
              <a:spcBef>
                <a:spcPts val="125"/>
              </a:spcBef>
            </a:pPr>
            <a:r>
              <a:rPr sz="1400" b="1" dirty="0">
                <a:solidFill>
                  <a:srgbClr val="292929"/>
                </a:solidFill>
                <a:latin typeface="Calibri"/>
                <a:cs typeface="Calibri"/>
              </a:rPr>
              <a:t>Sorting</a:t>
            </a:r>
            <a:r>
              <a:rPr sz="1400" b="1" spc="-5" dirty="0">
                <a:solidFill>
                  <a:srgbClr val="292929"/>
                </a:solidFill>
                <a:latin typeface="Calibri"/>
                <a:cs typeface="Calibri"/>
              </a:rPr>
              <a:t> </a:t>
            </a:r>
            <a:r>
              <a:rPr sz="1400" b="1" spc="-10" dirty="0">
                <a:solidFill>
                  <a:srgbClr val="292929"/>
                </a:solidFill>
                <a:latin typeface="Calibri"/>
                <a:cs typeface="Calibri"/>
              </a:rPr>
              <a:t>Queries:</a:t>
            </a:r>
            <a:endParaRPr sz="1400">
              <a:latin typeface="Calibri"/>
              <a:cs typeface="Calibri"/>
            </a:endParaRPr>
          </a:p>
        </p:txBody>
      </p:sp>
      <p:sp>
        <p:nvSpPr>
          <p:cNvPr id="5" name="object 5"/>
          <p:cNvSpPr txBox="1"/>
          <p:nvPr/>
        </p:nvSpPr>
        <p:spPr>
          <a:xfrm>
            <a:off x="6398005" y="1752198"/>
            <a:ext cx="4176395" cy="654685"/>
          </a:xfrm>
          <a:prstGeom prst="rect">
            <a:avLst/>
          </a:prstGeom>
        </p:spPr>
        <p:txBody>
          <a:bodyPr vert="horz" wrap="square" lIns="0" tIns="112395" rIns="0" bIns="0" rtlCol="0">
            <a:spAutoFit/>
          </a:bodyPr>
          <a:lstStyle/>
          <a:p>
            <a:pPr marL="298450" indent="-285750">
              <a:lnSpc>
                <a:spcPct val="100000"/>
              </a:lnSpc>
              <a:spcBef>
                <a:spcPts val="885"/>
              </a:spcBef>
              <a:buFont typeface="Arial MT"/>
              <a:buChar char="•"/>
              <a:tabLst>
                <a:tab pos="298450" algn="l"/>
              </a:tabLst>
            </a:pPr>
            <a:r>
              <a:rPr sz="1400" spc="-10" dirty="0">
                <a:solidFill>
                  <a:srgbClr val="292929"/>
                </a:solidFill>
                <a:latin typeface="Calibri"/>
                <a:cs typeface="Calibri"/>
              </a:rPr>
              <a:t>Sorted</a:t>
            </a:r>
            <a:r>
              <a:rPr sz="1400" spc="-45" dirty="0">
                <a:solidFill>
                  <a:srgbClr val="292929"/>
                </a:solidFill>
                <a:latin typeface="Calibri"/>
                <a:cs typeface="Calibri"/>
              </a:rPr>
              <a:t> </a:t>
            </a:r>
            <a:r>
              <a:rPr sz="1400" dirty="0">
                <a:solidFill>
                  <a:srgbClr val="292929"/>
                </a:solidFill>
                <a:latin typeface="Calibri"/>
                <a:cs typeface="Calibri"/>
              </a:rPr>
              <a:t>data</a:t>
            </a:r>
            <a:r>
              <a:rPr sz="1400" spc="-45" dirty="0">
                <a:solidFill>
                  <a:srgbClr val="292929"/>
                </a:solidFill>
                <a:latin typeface="Calibri"/>
                <a:cs typeface="Calibri"/>
              </a:rPr>
              <a:t> </a:t>
            </a:r>
            <a:r>
              <a:rPr sz="1400" dirty="0">
                <a:solidFill>
                  <a:srgbClr val="292929"/>
                </a:solidFill>
                <a:latin typeface="Calibri"/>
                <a:cs typeface="Calibri"/>
              </a:rPr>
              <a:t>to</a:t>
            </a:r>
            <a:r>
              <a:rPr sz="1400" spc="-40" dirty="0">
                <a:solidFill>
                  <a:srgbClr val="292929"/>
                </a:solidFill>
                <a:latin typeface="Calibri"/>
                <a:cs typeface="Calibri"/>
              </a:rPr>
              <a:t> </a:t>
            </a:r>
            <a:r>
              <a:rPr sz="1400" dirty="0">
                <a:solidFill>
                  <a:srgbClr val="292929"/>
                </a:solidFill>
                <a:latin typeface="Calibri"/>
                <a:cs typeface="Calibri"/>
              </a:rPr>
              <a:t>identify</a:t>
            </a:r>
            <a:r>
              <a:rPr sz="1400" spc="-10" dirty="0">
                <a:solidFill>
                  <a:srgbClr val="292929"/>
                </a:solidFill>
                <a:latin typeface="Calibri"/>
                <a:cs typeface="Calibri"/>
              </a:rPr>
              <a:t> </a:t>
            </a:r>
            <a:r>
              <a:rPr sz="1400" dirty="0">
                <a:solidFill>
                  <a:srgbClr val="292929"/>
                </a:solidFill>
                <a:latin typeface="Calibri"/>
                <a:cs typeface="Calibri"/>
              </a:rPr>
              <a:t>trends or</a:t>
            </a:r>
            <a:r>
              <a:rPr sz="1400" spc="-80" dirty="0">
                <a:solidFill>
                  <a:srgbClr val="292929"/>
                </a:solidFill>
                <a:latin typeface="Calibri"/>
                <a:cs typeface="Calibri"/>
              </a:rPr>
              <a:t> </a:t>
            </a:r>
            <a:r>
              <a:rPr sz="1400" spc="-10" dirty="0">
                <a:solidFill>
                  <a:srgbClr val="292929"/>
                </a:solidFill>
                <a:latin typeface="Calibri"/>
                <a:cs typeface="Calibri"/>
              </a:rPr>
              <a:t>outliers.</a:t>
            </a:r>
            <a:endParaRPr sz="1400">
              <a:latin typeface="Calibri"/>
              <a:cs typeface="Calibri"/>
            </a:endParaRPr>
          </a:p>
          <a:p>
            <a:pPr marL="298450" indent="-285750">
              <a:lnSpc>
                <a:spcPct val="100000"/>
              </a:lnSpc>
              <a:spcBef>
                <a:spcPts val="800"/>
              </a:spcBef>
              <a:buFont typeface="Arial MT"/>
              <a:buChar char="•"/>
              <a:tabLst>
                <a:tab pos="298450" algn="l"/>
              </a:tabLst>
            </a:pPr>
            <a:r>
              <a:rPr sz="1400" spc="-10" dirty="0">
                <a:solidFill>
                  <a:srgbClr val="292929"/>
                </a:solidFill>
                <a:latin typeface="Calibri"/>
                <a:cs typeface="Calibri"/>
              </a:rPr>
              <a:t>Ordered</a:t>
            </a:r>
            <a:r>
              <a:rPr sz="1400" spc="-55" dirty="0">
                <a:solidFill>
                  <a:srgbClr val="292929"/>
                </a:solidFill>
                <a:latin typeface="Calibri"/>
                <a:cs typeface="Calibri"/>
              </a:rPr>
              <a:t> </a:t>
            </a:r>
            <a:r>
              <a:rPr sz="1400" dirty="0">
                <a:solidFill>
                  <a:srgbClr val="292929"/>
                </a:solidFill>
                <a:latin typeface="Calibri"/>
                <a:cs typeface="Calibri"/>
              </a:rPr>
              <a:t>launches by</a:t>
            </a:r>
            <a:r>
              <a:rPr sz="1400" spc="-80" dirty="0">
                <a:solidFill>
                  <a:srgbClr val="292929"/>
                </a:solidFill>
                <a:latin typeface="Calibri"/>
                <a:cs typeface="Calibri"/>
              </a:rPr>
              <a:t> </a:t>
            </a:r>
            <a:r>
              <a:rPr sz="1400" dirty="0">
                <a:solidFill>
                  <a:srgbClr val="292929"/>
                </a:solidFill>
                <a:latin typeface="Calibri"/>
                <a:cs typeface="Calibri"/>
              </a:rPr>
              <a:t>date or</a:t>
            </a:r>
            <a:r>
              <a:rPr sz="1400" spc="-15" dirty="0">
                <a:solidFill>
                  <a:srgbClr val="292929"/>
                </a:solidFill>
                <a:latin typeface="Calibri"/>
                <a:cs typeface="Calibri"/>
              </a:rPr>
              <a:t> </a:t>
            </a:r>
            <a:r>
              <a:rPr sz="1400" dirty="0">
                <a:solidFill>
                  <a:srgbClr val="292929"/>
                </a:solidFill>
                <a:latin typeface="Calibri"/>
                <a:cs typeface="Calibri"/>
              </a:rPr>
              <a:t>success</a:t>
            </a:r>
            <a:r>
              <a:rPr sz="1400" spc="-65" dirty="0">
                <a:solidFill>
                  <a:srgbClr val="292929"/>
                </a:solidFill>
                <a:latin typeface="Calibri"/>
                <a:cs typeface="Calibri"/>
              </a:rPr>
              <a:t> </a:t>
            </a:r>
            <a:r>
              <a:rPr sz="1400" dirty="0">
                <a:solidFill>
                  <a:srgbClr val="292929"/>
                </a:solidFill>
                <a:latin typeface="Calibri"/>
                <a:cs typeface="Calibri"/>
              </a:rPr>
              <a:t>rate </a:t>
            </a:r>
            <a:r>
              <a:rPr sz="1400" spc="-20" dirty="0">
                <a:solidFill>
                  <a:srgbClr val="292929"/>
                </a:solidFill>
                <a:latin typeface="Calibri"/>
                <a:cs typeface="Calibri"/>
              </a:rPr>
              <a:t>for</a:t>
            </a:r>
            <a:r>
              <a:rPr sz="1400" spc="-70" dirty="0">
                <a:solidFill>
                  <a:srgbClr val="292929"/>
                </a:solidFill>
                <a:latin typeface="Calibri"/>
                <a:cs typeface="Calibri"/>
              </a:rPr>
              <a:t> </a:t>
            </a:r>
            <a:r>
              <a:rPr sz="1400" spc="-10" dirty="0">
                <a:solidFill>
                  <a:srgbClr val="292929"/>
                </a:solidFill>
                <a:latin typeface="Calibri"/>
                <a:cs typeface="Calibri"/>
              </a:rPr>
              <a:t>analysis.</a:t>
            </a:r>
            <a:endParaRPr sz="1400">
              <a:latin typeface="Calibri"/>
              <a:cs typeface="Calibri"/>
            </a:endParaRPr>
          </a:p>
        </p:txBody>
      </p:sp>
      <p:sp>
        <p:nvSpPr>
          <p:cNvPr id="6" name="object 6"/>
          <p:cNvSpPr txBox="1"/>
          <p:nvPr/>
        </p:nvSpPr>
        <p:spPr>
          <a:xfrm>
            <a:off x="6398005" y="2802572"/>
            <a:ext cx="895985" cy="243204"/>
          </a:xfrm>
          <a:prstGeom prst="rect">
            <a:avLst/>
          </a:prstGeom>
        </p:spPr>
        <p:txBody>
          <a:bodyPr vert="horz" wrap="square" lIns="0" tIns="15875" rIns="0" bIns="0" rtlCol="0">
            <a:spAutoFit/>
          </a:bodyPr>
          <a:lstStyle/>
          <a:p>
            <a:pPr marL="12700">
              <a:lnSpc>
                <a:spcPct val="100000"/>
              </a:lnSpc>
              <a:spcBef>
                <a:spcPts val="125"/>
              </a:spcBef>
            </a:pPr>
            <a:r>
              <a:rPr sz="1400" b="1" spc="-10" dirty="0">
                <a:solidFill>
                  <a:srgbClr val="292929"/>
                </a:solidFill>
                <a:latin typeface="Calibri"/>
                <a:cs typeface="Calibri"/>
              </a:rPr>
              <a:t>Subqueries:</a:t>
            </a:r>
            <a:endParaRPr sz="1400">
              <a:latin typeface="Calibri"/>
              <a:cs typeface="Calibri"/>
            </a:endParaRPr>
          </a:p>
        </p:txBody>
      </p:sp>
      <p:sp>
        <p:nvSpPr>
          <p:cNvPr id="7" name="object 7"/>
          <p:cNvSpPr txBox="1"/>
          <p:nvPr/>
        </p:nvSpPr>
        <p:spPr>
          <a:xfrm>
            <a:off x="6398005" y="3126803"/>
            <a:ext cx="4518025" cy="948690"/>
          </a:xfrm>
          <a:prstGeom prst="rect">
            <a:avLst/>
          </a:prstGeom>
        </p:spPr>
        <p:txBody>
          <a:bodyPr vert="horz" wrap="square" lIns="0" tIns="41275" rIns="0" bIns="0" rtlCol="0">
            <a:spAutoFit/>
          </a:bodyPr>
          <a:lstStyle/>
          <a:p>
            <a:pPr marL="298450" marR="74295" indent="-286385">
              <a:lnSpc>
                <a:spcPts val="1500"/>
              </a:lnSpc>
              <a:spcBef>
                <a:spcPts val="325"/>
              </a:spcBef>
              <a:buFont typeface="Arial MT"/>
              <a:buChar char="•"/>
              <a:tabLst>
                <a:tab pos="298450" algn="l"/>
              </a:tabLst>
            </a:pPr>
            <a:r>
              <a:rPr sz="1400" dirty="0">
                <a:solidFill>
                  <a:srgbClr val="292929"/>
                </a:solidFill>
                <a:latin typeface="Calibri"/>
                <a:cs typeface="Calibri"/>
              </a:rPr>
              <a:t>Nested</a:t>
            </a:r>
            <a:r>
              <a:rPr sz="1400" spc="-25" dirty="0">
                <a:solidFill>
                  <a:srgbClr val="292929"/>
                </a:solidFill>
                <a:latin typeface="Calibri"/>
                <a:cs typeface="Calibri"/>
              </a:rPr>
              <a:t> </a:t>
            </a:r>
            <a:r>
              <a:rPr sz="1400" dirty="0">
                <a:solidFill>
                  <a:srgbClr val="292929"/>
                </a:solidFill>
                <a:latin typeface="Calibri"/>
                <a:cs typeface="Calibri"/>
              </a:rPr>
              <a:t>queries</a:t>
            </a:r>
            <a:r>
              <a:rPr sz="1400" spc="10" dirty="0">
                <a:solidFill>
                  <a:srgbClr val="292929"/>
                </a:solidFill>
                <a:latin typeface="Calibri"/>
                <a:cs typeface="Calibri"/>
              </a:rPr>
              <a:t> </a:t>
            </a:r>
            <a:r>
              <a:rPr sz="1400" dirty="0">
                <a:solidFill>
                  <a:srgbClr val="292929"/>
                </a:solidFill>
                <a:latin typeface="Calibri"/>
                <a:cs typeface="Calibri"/>
              </a:rPr>
              <a:t>to</a:t>
            </a:r>
            <a:r>
              <a:rPr sz="1400" spc="-25" dirty="0">
                <a:solidFill>
                  <a:srgbClr val="292929"/>
                </a:solidFill>
                <a:latin typeface="Calibri"/>
                <a:cs typeface="Calibri"/>
              </a:rPr>
              <a:t> </a:t>
            </a:r>
            <a:r>
              <a:rPr sz="1400" spc="-10" dirty="0">
                <a:solidFill>
                  <a:srgbClr val="292929"/>
                </a:solidFill>
                <a:latin typeface="Calibri"/>
                <a:cs typeface="Calibri"/>
              </a:rPr>
              <a:t>calculate</a:t>
            </a:r>
            <a:r>
              <a:rPr sz="1400" spc="-55" dirty="0">
                <a:solidFill>
                  <a:srgbClr val="292929"/>
                </a:solidFill>
                <a:latin typeface="Calibri"/>
                <a:cs typeface="Calibri"/>
              </a:rPr>
              <a:t> </a:t>
            </a:r>
            <a:r>
              <a:rPr sz="1400" dirty="0">
                <a:solidFill>
                  <a:srgbClr val="292929"/>
                </a:solidFill>
                <a:latin typeface="Calibri"/>
                <a:cs typeface="Calibri"/>
              </a:rPr>
              <a:t>derived</a:t>
            </a:r>
            <a:r>
              <a:rPr sz="1400" spc="-25" dirty="0">
                <a:solidFill>
                  <a:srgbClr val="292929"/>
                </a:solidFill>
                <a:latin typeface="Calibri"/>
                <a:cs typeface="Calibri"/>
              </a:rPr>
              <a:t> </a:t>
            </a:r>
            <a:r>
              <a:rPr sz="1400" spc="-10" dirty="0">
                <a:solidFill>
                  <a:srgbClr val="292929"/>
                </a:solidFill>
                <a:latin typeface="Calibri"/>
                <a:cs typeface="Calibri"/>
              </a:rPr>
              <a:t>metrics</a:t>
            </a:r>
            <a:r>
              <a:rPr sz="1400" spc="-60" dirty="0">
                <a:solidFill>
                  <a:srgbClr val="292929"/>
                </a:solidFill>
                <a:latin typeface="Calibri"/>
                <a:cs typeface="Calibri"/>
              </a:rPr>
              <a:t> </a:t>
            </a:r>
            <a:r>
              <a:rPr sz="1400" dirty="0">
                <a:solidFill>
                  <a:srgbClr val="292929"/>
                </a:solidFill>
                <a:latin typeface="Calibri"/>
                <a:cs typeface="Calibri"/>
              </a:rPr>
              <a:t>(e.g.,</a:t>
            </a:r>
            <a:r>
              <a:rPr sz="1400" spc="-5" dirty="0">
                <a:solidFill>
                  <a:srgbClr val="292929"/>
                </a:solidFill>
                <a:latin typeface="Calibri"/>
                <a:cs typeface="Calibri"/>
              </a:rPr>
              <a:t> </a:t>
            </a:r>
            <a:r>
              <a:rPr sz="1400" spc="-10" dirty="0">
                <a:solidFill>
                  <a:srgbClr val="292929"/>
                </a:solidFill>
                <a:latin typeface="Calibri"/>
                <a:cs typeface="Calibri"/>
              </a:rPr>
              <a:t>average payload</a:t>
            </a:r>
            <a:r>
              <a:rPr sz="1400" spc="-35" dirty="0">
                <a:solidFill>
                  <a:srgbClr val="292929"/>
                </a:solidFill>
                <a:latin typeface="Calibri"/>
                <a:cs typeface="Calibri"/>
              </a:rPr>
              <a:t> </a:t>
            </a:r>
            <a:r>
              <a:rPr sz="1400" dirty="0">
                <a:solidFill>
                  <a:srgbClr val="292929"/>
                </a:solidFill>
                <a:latin typeface="Calibri"/>
                <a:cs typeface="Calibri"/>
              </a:rPr>
              <a:t>mass</a:t>
            </a:r>
            <a:r>
              <a:rPr sz="1400" spc="5" dirty="0">
                <a:solidFill>
                  <a:srgbClr val="292929"/>
                </a:solidFill>
                <a:latin typeface="Calibri"/>
                <a:cs typeface="Calibri"/>
              </a:rPr>
              <a:t> </a:t>
            </a:r>
            <a:r>
              <a:rPr sz="1400" dirty="0">
                <a:solidFill>
                  <a:srgbClr val="292929"/>
                </a:solidFill>
                <a:latin typeface="Calibri"/>
                <a:cs typeface="Calibri"/>
              </a:rPr>
              <a:t>per</a:t>
            </a:r>
            <a:r>
              <a:rPr sz="1400" spc="-15" dirty="0">
                <a:solidFill>
                  <a:srgbClr val="292929"/>
                </a:solidFill>
                <a:latin typeface="Calibri"/>
                <a:cs typeface="Calibri"/>
              </a:rPr>
              <a:t> </a:t>
            </a:r>
            <a:r>
              <a:rPr sz="1400" spc="-10" dirty="0">
                <a:solidFill>
                  <a:srgbClr val="292929"/>
                </a:solidFill>
                <a:latin typeface="Calibri"/>
                <a:cs typeface="Calibri"/>
              </a:rPr>
              <a:t>launch</a:t>
            </a:r>
            <a:r>
              <a:rPr sz="1400" spc="-30" dirty="0">
                <a:solidFill>
                  <a:srgbClr val="292929"/>
                </a:solidFill>
                <a:latin typeface="Calibri"/>
                <a:cs typeface="Calibri"/>
              </a:rPr>
              <a:t> </a:t>
            </a:r>
            <a:r>
              <a:rPr sz="1400" spc="-10" dirty="0">
                <a:solidFill>
                  <a:srgbClr val="292929"/>
                </a:solidFill>
                <a:latin typeface="Calibri"/>
                <a:cs typeface="Calibri"/>
              </a:rPr>
              <a:t>site).</a:t>
            </a:r>
            <a:endParaRPr sz="1400">
              <a:latin typeface="Calibri"/>
              <a:cs typeface="Calibri"/>
            </a:endParaRPr>
          </a:p>
          <a:p>
            <a:pPr marL="298450" marR="5080" indent="-286385">
              <a:lnSpc>
                <a:spcPts val="1580"/>
              </a:lnSpc>
              <a:spcBef>
                <a:spcPts val="915"/>
              </a:spcBef>
              <a:buFont typeface="Arial MT"/>
              <a:buChar char="•"/>
              <a:tabLst>
                <a:tab pos="298450" algn="l"/>
              </a:tabLst>
            </a:pPr>
            <a:r>
              <a:rPr sz="1400" dirty="0">
                <a:solidFill>
                  <a:srgbClr val="292929"/>
                </a:solidFill>
                <a:latin typeface="Calibri"/>
                <a:cs typeface="Calibri"/>
              </a:rPr>
              <a:t>Subqueries</a:t>
            </a:r>
            <a:r>
              <a:rPr sz="1400" spc="-15" dirty="0">
                <a:solidFill>
                  <a:srgbClr val="292929"/>
                </a:solidFill>
                <a:latin typeface="Calibri"/>
                <a:cs typeface="Calibri"/>
              </a:rPr>
              <a:t> </a:t>
            </a:r>
            <a:r>
              <a:rPr sz="1400" dirty="0">
                <a:solidFill>
                  <a:srgbClr val="292929"/>
                </a:solidFill>
                <a:latin typeface="Calibri"/>
                <a:cs typeface="Calibri"/>
              </a:rPr>
              <a:t>used</a:t>
            </a:r>
            <a:r>
              <a:rPr sz="1400" spc="-45" dirty="0">
                <a:solidFill>
                  <a:srgbClr val="292929"/>
                </a:solidFill>
                <a:latin typeface="Calibri"/>
                <a:cs typeface="Calibri"/>
              </a:rPr>
              <a:t> </a:t>
            </a:r>
            <a:r>
              <a:rPr sz="1400" dirty="0">
                <a:solidFill>
                  <a:srgbClr val="292929"/>
                </a:solidFill>
                <a:latin typeface="Calibri"/>
                <a:cs typeface="Calibri"/>
              </a:rPr>
              <a:t>to</a:t>
            </a:r>
            <a:r>
              <a:rPr sz="1400" spc="-45" dirty="0">
                <a:solidFill>
                  <a:srgbClr val="292929"/>
                </a:solidFill>
                <a:latin typeface="Calibri"/>
                <a:cs typeface="Calibri"/>
              </a:rPr>
              <a:t> </a:t>
            </a:r>
            <a:r>
              <a:rPr sz="1400" dirty="0">
                <a:solidFill>
                  <a:srgbClr val="292929"/>
                </a:solidFill>
                <a:latin typeface="Calibri"/>
                <a:cs typeface="Calibri"/>
              </a:rPr>
              <a:t>perform</a:t>
            </a:r>
            <a:r>
              <a:rPr sz="1400" spc="-60" dirty="0">
                <a:solidFill>
                  <a:srgbClr val="292929"/>
                </a:solidFill>
                <a:latin typeface="Calibri"/>
                <a:cs typeface="Calibri"/>
              </a:rPr>
              <a:t> </a:t>
            </a:r>
            <a:r>
              <a:rPr sz="1400" spc="-10" dirty="0">
                <a:solidFill>
                  <a:srgbClr val="292929"/>
                </a:solidFill>
                <a:latin typeface="Calibri"/>
                <a:cs typeface="Calibri"/>
              </a:rPr>
              <a:t>detailed</a:t>
            </a:r>
            <a:r>
              <a:rPr sz="1400" spc="-50" dirty="0">
                <a:solidFill>
                  <a:srgbClr val="292929"/>
                </a:solidFill>
                <a:latin typeface="Calibri"/>
                <a:cs typeface="Calibri"/>
              </a:rPr>
              <a:t> </a:t>
            </a:r>
            <a:r>
              <a:rPr sz="1400" dirty="0">
                <a:solidFill>
                  <a:srgbClr val="292929"/>
                </a:solidFill>
                <a:latin typeface="Calibri"/>
                <a:cs typeface="Calibri"/>
              </a:rPr>
              <a:t>analysis</a:t>
            </a:r>
            <a:r>
              <a:rPr sz="1400" spc="-10" dirty="0">
                <a:solidFill>
                  <a:srgbClr val="292929"/>
                </a:solidFill>
                <a:latin typeface="Calibri"/>
                <a:cs typeface="Calibri"/>
              </a:rPr>
              <a:t> </a:t>
            </a:r>
            <a:r>
              <a:rPr sz="1400" dirty="0">
                <a:solidFill>
                  <a:srgbClr val="292929"/>
                </a:solidFill>
                <a:latin typeface="Calibri"/>
                <a:cs typeface="Calibri"/>
              </a:rPr>
              <a:t>within</a:t>
            </a:r>
            <a:r>
              <a:rPr sz="1400" spc="-45" dirty="0">
                <a:solidFill>
                  <a:srgbClr val="292929"/>
                </a:solidFill>
                <a:latin typeface="Calibri"/>
                <a:cs typeface="Calibri"/>
              </a:rPr>
              <a:t> </a:t>
            </a:r>
            <a:r>
              <a:rPr sz="1400" spc="-10" dirty="0">
                <a:solidFill>
                  <a:srgbClr val="292929"/>
                </a:solidFill>
                <a:latin typeface="Calibri"/>
                <a:cs typeface="Calibri"/>
              </a:rPr>
              <a:t>larger datasets.</a:t>
            </a:r>
            <a:endParaRPr sz="1400">
              <a:latin typeface="Calibri"/>
              <a:cs typeface="Calibri"/>
            </a:endParaRPr>
          </a:p>
        </p:txBody>
      </p:sp>
      <p:sp>
        <p:nvSpPr>
          <p:cNvPr id="8" name="object 8"/>
          <p:cNvSpPr txBox="1"/>
          <p:nvPr/>
        </p:nvSpPr>
        <p:spPr>
          <a:xfrm>
            <a:off x="6398005" y="4615179"/>
            <a:ext cx="4347210" cy="242570"/>
          </a:xfrm>
          <a:prstGeom prst="rect">
            <a:avLst/>
          </a:prstGeom>
        </p:spPr>
        <p:txBody>
          <a:bodyPr vert="horz" wrap="square" lIns="0" tIns="15875" rIns="0" bIns="0" rtlCol="0">
            <a:spAutoFit/>
          </a:bodyPr>
          <a:lstStyle/>
          <a:p>
            <a:pPr marL="12700">
              <a:lnSpc>
                <a:spcPct val="100000"/>
              </a:lnSpc>
              <a:spcBef>
                <a:spcPts val="125"/>
              </a:spcBef>
            </a:pPr>
            <a:r>
              <a:rPr sz="1400" dirty="0">
                <a:solidFill>
                  <a:srgbClr val="292929"/>
                </a:solidFill>
                <a:latin typeface="Arial MT"/>
                <a:cs typeface="Arial MT"/>
              </a:rPr>
              <a:t>GitHub</a:t>
            </a:r>
            <a:r>
              <a:rPr sz="1400" spc="5" dirty="0">
                <a:solidFill>
                  <a:srgbClr val="292929"/>
                </a:solidFill>
                <a:latin typeface="Arial MT"/>
                <a:cs typeface="Arial MT"/>
              </a:rPr>
              <a:t> </a:t>
            </a:r>
            <a:r>
              <a:rPr sz="1400" dirty="0">
                <a:solidFill>
                  <a:srgbClr val="292929"/>
                </a:solidFill>
                <a:latin typeface="Arial MT"/>
                <a:cs typeface="Arial MT"/>
              </a:rPr>
              <a:t>URL:</a:t>
            </a:r>
            <a:r>
              <a:rPr sz="1400" spc="10" dirty="0">
                <a:solidFill>
                  <a:srgbClr val="292929"/>
                </a:solidFill>
                <a:latin typeface="Arial MT"/>
                <a:cs typeface="Arial MT"/>
              </a:rPr>
              <a:t> </a:t>
            </a:r>
            <a:r>
              <a:rPr sz="1400" dirty="0">
                <a:solidFill>
                  <a:srgbClr val="292929"/>
                </a:solidFill>
                <a:latin typeface="Calibri"/>
                <a:cs typeface="Calibri"/>
              </a:rPr>
              <a:t>4.</a:t>
            </a:r>
            <a:r>
              <a:rPr sz="1400" spc="-5" dirty="0">
                <a:solidFill>
                  <a:srgbClr val="292929"/>
                </a:solidFill>
                <a:latin typeface="Calibri"/>
                <a:cs typeface="Calibri"/>
              </a:rPr>
              <a:t> </a:t>
            </a:r>
            <a:r>
              <a:rPr sz="1400" spc="-10" dirty="0">
                <a:solidFill>
                  <a:srgbClr val="292929"/>
                </a:solidFill>
                <a:latin typeface="Calibri"/>
                <a:cs typeface="Calibri"/>
              </a:rPr>
              <a:t>jupyter-labs-eda-sql-coursera_sqllite.ipynb</a:t>
            </a:r>
            <a:endParaRPr sz="14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7407" y="1289182"/>
            <a:ext cx="4928870" cy="4700270"/>
          </a:xfrm>
          <a:prstGeom prst="rect">
            <a:avLst/>
          </a:prstGeom>
        </p:spPr>
        <p:txBody>
          <a:bodyPr vert="horz" wrap="square" lIns="0" tIns="158115" rIns="0" bIns="0" rtlCol="0">
            <a:spAutoFit/>
          </a:bodyPr>
          <a:lstStyle/>
          <a:p>
            <a:pPr marL="12700">
              <a:lnSpc>
                <a:spcPct val="100000"/>
              </a:lnSpc>
              <a:spcBef>
                <a:spcPts val="1245"/>
              </a:spcBef>
            </a:pPr>
            <a:r>
              <a:rPr sz="2000" b="1" dirty="0">
                <a:solidFill>
                  <a:srgbClr val="525252"/>
                </a:solidFill>
                <a:latin typeface="Calibri"/>
                <a:cs typeface="Calibri"/>
              </a:rPr>
              <a:t>Map</a:t>
            </a:r>
            <a:r>
              <a:rPr sz="2000" b="1" spc="-40" dirty="0">
                <a:solidFill>
                  <a:srgbClr val="525252"/>
                </a:solidFill>
                <a:latin typeface="Calibri"/>
                <a:cs typeface="Calibri"/>
              </a:rPr>
              <a:t> </a:t>
            </a:r>
            <a:r>
              <a:rPr sz="2000" b="1" dirty="0">
                <a:solidFill>
                  <a:srgbClr val="525252"/>
                </a:solidFill>
                <a:latin typeface="Calibri"/>
                <a:cs typeface="Calibri"/>
              </a:rPr>
              <a:t>Objects</a:t>
            </a:r>
            <a:r>
              <a:rPr sz="2000" b="1" spc="15" dirty="0">
                <a:solidFill>
                  <a:srgbClr val="525252"/>
                </a:solidFill>
                <a:latin typeface="Calibri"/>
                <a:cs typeface="Calibri"/>
              </a:rPr>
              <a:t> </a:t>
            </a:r>
            <a:r>
              <a:rPr sz="2000" b="1" spc="-10" dirty="0">
                <a:solidFill>
                  <a:srgbClr val="525252"/>
                </a:solidFill>
                <a:latin typeface="Calibri"/>
                <a:cs typeface="Calibri"/>
              </a:rPr>
              <a:t>Created</a:t>
            </a:r>
            <a:endParaRPr sz="2000">
              <a:latin typeface="Calibri"/>
              <a:cs typeface="Calibri"/>
            </a:endParaRPr>
          </a:p>
          <a:p>
            <a:pPr marL="12700">
              <a:lnSpc>
                <a:spcPct val="100000"/>
              </a:lnSpc>
              <a:spcBef>
                <a:spcPts val="905"/>
              </a:spcBef>
            </a:pPr>
            <a:r>
              <a:rPr sz="1550" b="1" spc="-10" dirty="0">
                <a:solidFill>
                  <a:srgbClr val="525252"/>
                </a:solidFill>
                <a:latin typeface="Calibri"/>
                <a:cs typeface="Calibri"/>
              </a:rPr>
              <a:t>Markers:</a:t>
            </a:r>
            <a:endParaRPr sz="1550">
              <a:latin typeface="Calibri"/>
              <a:cs typeface="Calibri"/>
            </a:endParaRPr>
          </a:p>
          <a:p>
            <a:pPr marL="298450" indent="-285750">
              <a:lnSpc>
                <a:spcPct val="100000"/>
              </a:lnSpc>
              <a:spcBef>
                <a:spcPts val="840"/>
              </a:spcBef>
              <a:buFont typeface="Arial MT"/>
              <a:buChar char="•"/>
              <a:tabLst>
                <a:tab pos="298450" algn="l"/>
              </a:tabLst>
            </a:pPr>
            <a:r>
              <a:rPr sz="1550" dirty="0">
                <a:solidFill>
                  <a:srgbClr val="525252"/>
                </a:solidFill>
                <a:latin typeface="Calibri"/>
                <a:cs typeface="Calibri"/>
              </a:rPr>
              <a:t>Placed</a:t>
            </a:r>
            <a:r>
              <a:rPr sz="1550" spc="75" dirty="0">
                <a:solidFill>
                  <a:srgbClr val="525252"/>
                </a:solidFill>
                <a:latin typeface="Calibri"/>
                <a:cs typeface="Calibri"/>
              </a:rPr>
              <a:t> </a:t>
            </a:r>
            <a:r>
              <a:rPr sz="1550" dirty="0">
                <a:solidFill>
                  <a:srgbClr val="525252"/>
                </a:solidFill>
                <a:latin typeface="Calibri"/>
                <a:cs typeface="Calibri"/>
              </a:rPr>
              <a:t>markers</a:t>
            </a:r>
            <a:r>
              <a:rPr sz="1550" spc="65" dirty="0">
                <a:solidFill>
                  <a:srgbClr val="525252"/>
                </a:solidFill>
                <a:latin typeface="Calibri"/>
                <a:cs typeface="Calibri"/>
              </a:rPr>
              <a:t> </a:t>
            </a:r>
            <a:r>
              <a:rPr sz="1550" dirty="0">
                <a:solidFill>
                  <a:srgbClr val="525252"/>
                </a:solidFill>
                <a:latin typeface="Calibri"/>
                <a:cs typeface="Calibri"/>
              </a:rPr>
              <a:t>to</a:t>
            </a:r>
            <a:r>
              <a:rPr sz="1550" spc="70" dirty="0">
                <a:solidFill>
                  <a:srgbClr val="525252"/>
                </a:solidFill>
                <a:latin typeface="Calibri"/>
                <a:cs typeface="Calibri"/>
              </a:rPr>
              <a:t> </a:t>
            </a:r>
            <a:r>
              <a:rPr sz="1550" dirty="0">
                <a:solidFill>
                  <a:srgbClr val="525252"/>
                </a:solidFill>
                <a:latin typeface="Calibri"/>
                <a:cs typeface="Calibri"/>
              </a:rPr>
              <a:t>indicate</a:t>
            </a:r>
            <a:r>
              <a:rPr sz="1550" spc="125" dirty="0">
                <a:solidFill>
                  <a:srgbClr val="525252"/>
                </a:solidFill>
                <a:latin typeface="Calibri"/>
                <a:cs typeface="Calibri"/>
              </a:rPr>
              <a:t> </a:t>
            </a:r>
            <a:r>
              <a:rPr sz="1550" dirty="0">
                <a:solidFill>
                  <a:srgbClr val="525252"/>
                </a:solidFill>
                <a:latin typeface="Calibri"/>
                <a:cs typeface="Calibri"/>
              </a:rPr>
              <a:t>launch</a:t>
            </a:r>
            <a:r>
              <a:rPr sz="1550" spc="75" dirty="0">
                <a:solidFill>
                  <a:srgbClr val="525252"/>
                </a:solidFill>
                <a:latin typeface="Calibri"/>
                <a:cs typeface="Calibri"/>
              </a:rPr>
              <a:t> </a:t>
            </a:r>
            <a:r>
              <a:rPr sz="1550" dirty="0">
                <a:solidFill>
                  <a:srgbClr val="525252"/>
                </a:solidFill>
                <a:latin typeface="Calibri"/>
                <a:cs typeface="Calibri"/>
              </a:rPr>
              <a:t>sites</a:t>
            </a:r>
            <a:r>
              <a:rPr sz="1550" spc="65" dirty="0">
                <a:solidFill>
                  <a:srgbClr val="525252"/>
                </a:solidFill>
                <a:latin typeface="Calibri"/>
                <a:cs typeface="Calibri"/>
              </a:rPr>
              <a:t> </a:t>
            </a:r>
            <a:r>
              <a:rPr sz="1550" dirty="0">
                <a:solidFill>
                  <a:srgbClr val="525252"/>
                </a:solidFill>
                <a:latin typeface="Calibri"/>
                <a:cs typeface="Calibri"/>
              </a:rPr>
              <a:t>on</a:t>
            </a:r>
            <a:r>
              <a:rPr sz="1550" spc="80" dirty="0">
                <a:solidFill>
                  <a:srgbClr val="525252"/>
                </a:solidFill>
                <a:latin typeface="Calibri"/>
                <a:cs typeface="Calibri"/>
              </a:rPr>
              <a:t> </a:t>
            </a:r>
            <a:r>
              <a:rPr sz="1550" dirty="0">
                <a:solidFill>
                  <a:srgbClr val="525252"/>
                </a:solidFill>
                <a:latin typeface="Calibri"/>
                <a:cs typeface="Calibri"/>
              </a:rPr>
              <a:t>the</a:t>
            </a:r>
            <a:r>
              <a:rPr sz="1550" spc="40" dirty="0">
                <a:solidFill>
                  <a:srgbClr val="525252"/>
                </a:solidFill>
                <a:latin typeface="Calibri"/>
                <a:cs typeface="Calibri"/>
              </a:rPr>
              <a:t> </a:t>
            </a:r>
            <a:r>
              <a:rPr sz="1550" spc="-20" dirty="0">
                <a:solidFill>
                  <a:srgbClr val="525252"/>
                </a:solidFill>
                <a:latin typeface="Calibri"/>
                <a:cs typeface="Calibri"/>
              </a:rPr>
              <a:t>map.</a:t>
            </a:r>
            <a:endParaRPr sz="1550">
              <a:latin typeface="Calibri"/>
              <a:cs typeface="Calibri"/>
            </a:endParaRPr>
          </a:p>
          <a:p>
            <a:pPr marL="298450" marR="73660" indent="-286385">
              <a:lnSpc>
                <a:spcPts val="1730"/>
              </a:lnSpc>
              <a:spcBef>
                <a:spcPts val="1015"/>
              </a:spcBef>
              <a:buFont typeface="Arial MT"/>
              <a:buChar char="•"/>
              <a:tabLst>
                <a:tab pos="298450" algn="l"/>
              </a:tabLst>
            </a:pPr>
            <a:r>
              <a:rPr sz="1550" dirty="0">
                <a:solidFill>
                  <a:srgbClr val="525252"/>
                </a:solidFill>
                <a:latin typeface="Calibri"/>
                <a:cs typeface="Calibri"/>
              </a:rPr>
              <a:t>Each</a:t>
            </a:r>
            <a:r>
              <a:rPr sz="1550" spc="130" dirty="0">
                <a:solidFill>
                  <a:srgbClr val="525252"/>
                </a:solidFill>
                <a:latin typeface="Calibri"/>
                <a:cs typeface="Calibri"/>
              </a:rPr>
              <a:t> </a:t>
            </a:r>
            <a:r>
              <a:rPr sz="1550" dirty="0">
                <a:solidFill>
                  <a:srgbClr val="525252"/>
                </a:solidFill>
                <a:latin typeface="Calibri"/>
                <a:cs typeface="Calibri"/>
              </a:rPr>
              <a:t>marker</a:t>
            </a:r>
            <a:r>
              <a:rPr sz="1550" spc="100" dirty="0">
                <a:solidFill>
                  <a:srgbClr val="525252"/>
                </a:solidFill>
                <a:latin typeface="Calibri"/>
                <a:cs typeface="Calibri"/>
              </a:rPr>
              <a:t> </a:t>
            </a:r>
            <a:r>
              <a:rPr sz="1550" dirty="0">
                <a:solidFill>
                  <a:srgbClr val="525252"/>
                </a:solidFill>
                <a:latin typeface="Calibri"/>
                <a:cs typeface="Calibri"/>
              </a:rPr>
              <a:t>represents</a:t>
            </a:r>
            <a:r>
              <a:rPr sz="1550" spc="120" dirty="0">
                <a:solidFill>
                  <a:srgbClr val="525252"/>
                </a:solidFill>
                <a:latin typeface="Calibri"/>
                <a:cs typeface="Calibri"/>
              </a:rPr>
              <a:t> </a:t>
            </a:r>
            <a:r>
              <a:rPr sz="1550" dirty="0">
                <a:solidFill>
                  <a:srgbClr val="525252"/>
                </a:solidFill>
                <a:latin typeface="Calibri"/>
                <a:cs typeface="Calibri"/>
              </a:rPr>
              <a:t>a</a:t>
            </a:r>
            <a:r>
              <a:rPr sz="1550" spc="130" dirty="0">
                <a:solidFill>
                  <a:srgbClr val="525252"/>
                </a:solidFill>
                <a:latin typeface="Calibri"/>
                <a:cs typeface="Calibri"/>
              </a:rPr>
              <a:t> </a:t>
            </a:r>
            <a:r>
              <a:rPr sz="1550" dirty="0">
                <a:solidFill>
                  <a:srgbClr val="525252"/>
                </a:solidFill>
                <a:latin typeface="Calibri"/>
                <a:cs typeface="Calibri"/>
              </a:rPr>
              <a:t>specific</a:t>
            </a:r>
            <a:r>
              <a:rPr sz="1550" spc="50" dirty="0">
                <a:solidFill>
                  <a:srgbClr val="525252"/>
                </a:solidFill>
                <a:latin typeface="Calibri"/>
                <a:cs typeface="Calibri"/>
              </a:rPr>
              <a:t> </a:t>
            </a:r>
            <a:r>
              <a:rPr sz="1550" dirty="0">
                <a:solidFill>
                  <a:srgbClr val="525252"/>
                </a:solidFill>
                <a:latin typeface="Calibri"/>
                <a:cs typeface="Calibri"/>
              </a:rPr>
              <a:t>geographical</a:t>
            </a:r>
            <a:r>
              <a:rPr sz="1550" spc="60" dirty="0">
                <a:solidFill>
                  <a:srgbClr val="525252"/>
                </a:solidFill>
                <a:latin typeface="Calibri"/>
                <a:cs typeface="Calibri"/>
              </a:rPr>
              <a:t> </a:t>
            </a:r>
            <a:r>
              <a:rPr sz="1550" spc="-10" dirty="0">
                <a:solidFill>
                  <a:srgbClr val="525252"/>
                </a:solidFill>
                <a:latin typeface="Calibri"/>
                <a:cs typeface="Calibri"/>
              </a:rPr>
              <a:t>location </a:t>
            </a:r>
            <a:r>
              <a:rPr sz="1550" dirty="0">
                <a:solidFill>
                  <a:srgbClr val="525252"/>
                </a:solidFill>
                <a:latin typeface="Calibri"/>
                <a:cs typeface="Calibri"/>
              </a:rPr>
              <a:t>where</a:t>
            </a:r>
            <a:r>
              <a:rPr sz="1550" spc="135" dirty="0">
                <a:solidFill>
                  <a:srgbClr val="525252"/>
                </a:solidFill>
                <a:latin typeface="Calibri"/>
                <a:cs typeface="Calibri"/>
              </a:rPr>
              <a:t> </a:t>
            </a:r>
            <a:r>
              <a:rPr sz="1550" dirty="0">
                <a:solidFill>
                  <a:srgbClr val="525252"/>
                </a:solidFill>
                <a:latin typeface="Calibri"/>
                <a:cs typeface="Calibri"/>
              </a:rPr>
              <a:t>SpaceX</a:t>
            </a:r>
            <a:r>
              <a:rPr sz="1550" spc="90" dirty="0">
                <a:solidFill>
                  <a:srgbClr val="525252"/>
                </a:solidFill>
                <a:latin typeface="Calibri"/>
                <a:cs typeface="Calibri"/>
              </a:rPr>
              <a:t> </a:t>
            </a:r>
            <a:r>
              <a:rPr sz="1550" dirty="0">
                <a:solidFill>
                  <a:srgbClr val="525252"/>
                </a:solidFill>
                <a:latin typeface="Calibri"/>
                <a:cs typeface="Calibri"/>
              </a:rPr>
              <a:t>launches</a:t>
            </a:r>
            <a:r>
              <a:rPr sz="1550" spc="70" dirty="0">
                <a:solidFill>
                  <a:srgbClr val="525252"/>
                </a:solidFill>
                <a:latin typeface="Calibri"/>
                <a:cs typeface="Calibri"/>
              </a:rPr>
              <a:t> </a:t>
            </a:r>
            <a:r>
              <a:rPr sz="1550" dirty="0">
                <a:solidFill>
                  <a:srgbClr val="525252"/>
                </a:solidFill>
                <a:latin typeface="Calibri"/>
                <a:cs typeface="Calibri"/>
              </a:rPr>
              <a:t>have</a:t>
            </a:r>
            <a:r>
              <a:rPr sz="1550" spc="135" dirty="0">
                <a:solidFill>
                  <a:srgbClr val="525252"/>
                </a:solidFill>
                <a:latin typeface="Calibri"/>
                <a:cs typeface="Calibri"/>
              </a:rPr>
              <a:t> </a:t>
            </a:r>
            <a:r>
              <a:rPr sz="1550" spc="-10" dirty="0">
                <a:solidFill>
                  <a:srgbClr val="525252"/>
                </a:solidFill>
                <a:latin typeface="Calibri"/>
                <a:cs typeface="Calibri"/>
              </a:rPr>
              <a:t>occurred.</a:t>
            </a:r>
            <a:endParaRPr sz="1550">
              <a:latin typeface="Calibri"/>
              <a:cs typeface="Calibri"/>
            </a:endParaRPr>
          </a:p>
          <a:p>
            <a:pPr marL="12700">
              <a:lnSpc>
                <a:spcPct val="100000"/>
              </a:lnSpc>
              <a:spcBef>
                <a:spcPts val="875"/>
              </a:spcBef>
            </a:pPr>
            <a:r>
              <a:rPr sz="1550" b="1" spc="-10" dirty="0">
                <a:solidFill>
                  <a:srgbClr val="525252"/>
                </a:solidFill>
                <a:latin typeface="Calibri"/>
                <a:cs typeface="Calibri"/>
              </a:rPr>
              <a:t>Circles:</a:t>
            </a:r>
            <a:endParaRPr sz="1550">
              <a:latin typeface="Calibri"/>
              <a:cs typeface="Calibri"/>
            </a:endParaRPr>
          </a:p>
          <a:p>
            <a:pPr marL="298450" marR="158750" indent="-286385">
              <a:lnSpc>
                <a:spcPts val="1730"/>
              </a:lnSpc>
              <a:spcBef>
                <a:spcPts val="1015"/>
              </a:spcBef>
              <a:buFont typeface="Arial MT"/>
              <a:buChar char="•"/>
              <a:tabLst>
                <a:tab pos="298450" algn="l"/>
              </a:tabLst>
            </a:pPr>
            <a:r>
              <a:rPr sz="1550" dirty="0">
                <a:solidFill>
                  <a:srgbClr val="525252"/>
                </a:solidFill>
                <a:latin typeface="Calibri"/>
                <a:cs typeface="Calibri"/>
              </a:rPr>
              <a:t>Added</a:t>
            </a:r>
            <a:r>
              <a:rPr sz="1550" spc="95" dirty="0">
                <a:solidFill>
                  <a:srgbClr val="525252"/>
                </a:solidFill>
                <a:latin typeface="Calibri"/>
                <a:cs typeface="Calibri"/>
              </a:rPr>
              <a:t> </a:t>
            </a:r>
            <a:r>
              <a:rPr sz="1550" dirty="0">
                <a:solidFill>
                  <a:srgbClr val="525252"/>
                </a:solidFill>
                <a:latin typeface="Calibri"/>
                <a:cs typeface="Calibri"/>
              </a:rPr>
              <a:t>circles</a:t>
            </a:r>
            <a:r>
              <a:rPr sz="1550" spc="80" dirty="0">
                <a:solidFill>
                  <a:srgbClr val="525252"/>
                </a:solidFill>
                <a:latin typeface="Calibri"/>
                <a:cs typeface="Calibri"/>
              </a:rPr>
              <a:t> </a:t>
            </a:r>
            <a:r>
              <a:rPr sz="1550" dirty="0">
                <a:solidFill>
                  <a:srgbClr val="525252"/>
                </a:solidFill>
                <a:latin typeface="Calibri"/>
                <a:cs typeface="Calibri"/>
              </a:rPr>
              <a:t>around</a:t>
            </a:r>
            <a:r>
              <a:rPr sz="1550" spc="100" dirty="0">
                <a:solidFill>
                  <a:srgbClr val="525252"/>
                </a:solidFill>
                <a:latin typeface="Calibri"/>
                <a:cs typeface="Calibri"/>
              </a:rPr>
              <a:t> </a:t>
            </a:r>
            <a:r>
              <a:rPr sz="1550" dirty="0">
                <a:solidFill>
                  <a:srgbClr val="525252"/>
                </a:solidFill>
                <a:latin typeface="Calibri"/>
                <a:cs typeface="Calibri"/>
              </a:rPr>
              <a:t>launch</a:t>
            </a:r>
            <a:r>
              <a:rPr sz="1550" spc="95" dirty="0">
                <a:solidFill>
                  <a:srgbClr val="525252"/>
                </a:solidFill>
                <a:latin typeface="Calibri"/>
                <a:cs typeface="Calibri"/>
              </a:rPr>
              <a:t> </a:t>
            </a:r>
            <a:r>
              <a:rPr sz="1550" dirty="0">
                <a:solidFill>
                  <a:srgbClr val="525252"/>
                </a:solidFill>
                <a:latin typeface="Calibri"/>
                <a:cs typeface="Calibri"/>
              </a:rPr>
              <a:t>sites</a:t>
            </a:r>
            <a:r>
              <a:rPr sz="1550" spc="80" dirty="0">
                <a:solidFill>
                  <a:srgbClr val="525252"/>
                </a:solidFill>
                <a:latin typeface="Calibri"/>
                <a:cs typeface="Calibri"/>
              </a:rPr>
              <a:t> </a:t>
            </a:r>
            <a:r>
              <a:rPr sz="1550" dirty="0">
                <a:solidFill>
                  <a:srgbClr val="525252"/>
                </a:solidFill>
                <a:latin typeface="Calibri"/>
                <a:cs typeface="Calibri"/>
              </a:rPr>
              <a:t>to</a:t>
            </a:r>
            <a:r>
              <a:rPr sz="1550" spc="90" dirty="0">
                <a:solidFill>
                  <a:srgbClr val="525252"/>
                </a:solidFill>
                <a:latin typeface="Calibri"/>
                <a:cs typeface="Calibri"/>
              </a:rPr>
              <a:t> </a:t>
            </a:r>
            <a:r>
              <a:rPr sz="1550" dirty="0">
                <a:solidFill>
                  <a:srgbClr val="525252"/>
                </a:solidFill>
                <a:latin typeface="Calibri"/>
                <a:cs typeface="Calibri"/>
              </a:rPr>
              <a:t>visually</a:t>
            </a:r>
            <a:r>
              <a:rPr sz="1550" spc="145" dirty="0">
                <a:solidFill>
                  <a:srgbClr val="525252"/>
                </a:solidFill>
                <a:latin typeface="Calibri"/>
                <a:cs typeface="Calibri"/>
              </a:rPr>
              <a:t> </a:t>
            </a:r>
            <a:r>
              <a:rPr sz="1550" spc="-10" dirty="0">
                <a:solidFill>
                  <a:srgbClr val="525252"/>
                </a:solidFill>
                <a:latin typeface="Calibri"/>
                <a:cs typeface="Calibri"/>
              </a:rPr>
              <a:t>represent </a:t>
            </a:r>
            <a:r>
              <a:rPr sz="1550" dirty="0">
                <a:solidFill>
                  <a:srgbClr val="525252"/>
                </a:solidFill>
                <a:latin typeface="Calibri"/>
                <a:cs typeface="Calibri"/>
              </a:rPr>
              <a:t>proximity</a:t>
            </a:r>
            <a:r>
              <a:rPr sz="1550" spc="125" dirty="0">
                <a:solidFill>
                  <a:srgbClr val="525252"/>
                </a:solidFill>
                <a:latin typeface="Calibri"/>
                <a:cs typeface="Calibri"/>
              </a:rPr>
              <a:t> </a:t>
            </a:r>
            <a:r>
              <a:rPr sz="1550" spc="-10" dirty="0">
                <a:solidFill>
                  <a:srgbClr val="525252"/>
                </a:solidFill>
                <a:latin typeface="Calibri"/>
                <a:cs typeface="Calibri"/>
              </a:rPr>
              <a:t>zones.</a:t>
            </a:r>
            <a:endParaRPr sz="1550">
              <a:latin typeface="Calibri"/>
              <a:cs typeface="Calibri"/>
            </a:endParaRPr>
          </a:p>
          <a:p>
            <a:pPr marL="298450" marR="102235" indent="-286385">
              <a:lnSpc>
                <a:spcPts val="1800"/>
              </a:lnSpc>
              <a:spcBef>
                <a:spcPts val="910"/>
              </a:spcBef>
              <a:buFont typeface="Arial MT"/>
              <a:buChar char="•"/>
              <a:tabLst>
                <a:tab pos="298450" algn="l"/>
              </a:tabLst>
            </a:pPr>
            <a:r>
              <a:rPr sz="1550" dirty="0">
                <a:solidFill>
                  <a:srgbClr val="525252"/>
                </a:solidFill>
                <a:latin typeface="Calibri"/>
                <a:cs typeface="Calibri"/>
              </a:rPr>
              <a:t>Circles</a:t>
            </a:r>
            <a:r>
              <a:rPr sz="1550" spc="70" dirty="0">
                <a:solidFill>
                  <a:srgbClr val="525252"/>
                </a:solidFill>
                <a:latin typeface="Calibri"/>
                <a:cs typeface="Calibri"/>
              </a:rPr>
              <a:t> </a:t>
            </a:r>
            <a:r>
              <a:rPr sz="1550" dirty="0">
                <a:solidFill>
                  <a:srgbClr val="525252"/>
                </a:solidFill>
                <a:latin typeface="Calibri"/>
                <a:cs typeface="Calibri"/>
              </a:rPr>
              <a:t>help</a:t>
            </a:r>
            <a:r>
              <a:rPr sz="1550" spc="90" dirty="0">
                <a:solidFill>
                  <a:srgbClr val="525252"/>
                </a:solidFill>
                <a:latin typeface="Calibri"/>
                <a:cs typeface="Calibri"/>
              </a:rPr>
              <a:t> </a:t>
            </a:r>
            <a:r>
              <a:rPr sz="1550" dirty="0">
                <a:solidFill>
                  <a:srgbClr val="525252"/>
                </a:solidFill>
                <a:latin typeface="Calibri"/>
                <a:cs typeface="Calibri"/>
              </a:rPr>
              <a:t>visualize</a:t>
            </a:r>
            <a:r>
              <a:rPr sz="1550" spc="50" dirty="0">
                <a:solidFill>
                  <a:srgbClr val="525252"/>
                </a:solidFill>
                <a:latin typeface="Calibri"/>
                <a:cs typeface="Calibri"/>
              </a:rPr>
              <a:t> </a:t>
            </a:r>
            <a:r>
              <a:rPr sz="1550" dirty="0">
                <a:solidFill>
                  <a:srgbClr val="525252"/>
                </a:solidFill>
                <a:latin typeface="Calibri"/>
                <a:cs typeface="Calibri"/>
              </a:rPr>
              <a:t>the</a:t>
            </a:r>
            <a:r>
              <a:rPr sz="1550" spc="140" dirty="0">
                <a:solidFill>
                  <a:srgbClr val="525252"/>
                </a:solidFill>
                <a:latin typeface="Calibri"/>
                <a:cs typeface="Calibri"/>
              </a:rPr>
              <a:t> </a:t>
            </a:r>
            <a:r>
              <a:rPr sz="1550" dirty="0">
                <a:solidFill>
                  <a:srgbClr val="525252"/>
                </a:solidFill>
                <a:latin typeface="Calibri"/>
                <a:cs typeface="Calibri"/>
              </a:rPr>
              <a:t>areas</a:t>
            </a:r>
            <a:r>
              <a:rPr sz="1550" spc="75" dirty="0">
                <a:solidFill>
                  <a:srgbClr val="525252"/>
                </a:solidFill>
                <a:latin typeface="Calibri"/>
                <a:cs typeface="Calibri"/>
              </a:rPr>
              <a:t> </a:t>
            </a:r>
            <a:r>
              <a:rPr sz="1550" dirty="0">
                <a:solidFill>
                  <a:srgbClr val="525252"/>
                </a:solidFill>
                <a:latin typeface="Calibri"/>
                <a:cs typeface="Calibri"/>
              </a:rPr>
              <a:t>around</a:t>
            </a:r>
            <a:r>
              <a:rPr sz="1550" spc="90" dirty="0">
                <a:solidFill>
                  <a:srgbClr val="525252"/>
                </a:solidFill>
                <a:latin typeface="Calibri"/>
                <a:cs typeface="Calibri"/>
              </a:rPr>
              <a:t> </a:t>
            </a:r>
            <a:r>
              <a:rPr sz="1550" dirty="0">
                <a:solidFill>
                  <a:srgbClr val="525252"/>
                </a:solidFill>
                <a:latin typeface="Calibri"/>
                <a:cs typeface="Calibri"/>
              </a:rPr>
              <a:t>launch</a:t>
            </a:r>
            <a:r>
              <a:rPr sz="1550" spc="85" dirty="0">
                <a:solidFill>
                  <a:srgbClr val="525252"/>
                </a:solidFill>
                <a:latin typeface="Calibri"/>
                <a:cs typeface="Calibri"/>
              </a:rPr>
              <a:t> </a:t>
            </a:r>
            <a:r>
              <a:rPr sz="1550" dirty="0">
                <a:solidFill>
                  <a:srgbClr val="525252"/>
                </a:solidFill>
                <a:latin typeface="Calibri"/>
                <a:cs typeface="Calibri"/>
              </a:rPr>
              <a:t>sites</a:t>
            </a:r>
            <a:r>
              <a:rPr sz="1550" spc="165" dirty="0">
                <a:solidFill>
                  <a:srgbClr val="525252"/>
                </a:solidFill>
                <a:latin typeface="Calibri"/>
                <a:cs typeface="Calibri"/>
              </a:rPr>
              <a:t> </a:t>
            </a:r>
            <a:r>
              <a:rPr sz="1550" spc="-20" dirty="0">
                <a:solidFill>
                  <a:srgbClr val="525252"/>
                </a:solidFill>
                <a:latin typeface="Calibri"/>
                <a:cs typeface="Calibri"/>
              </a:rPr>
              <a:t>that </a:t>
            </a:r>
            <a:r>
              <a:rPr sz="1550" dirty="0">
                <a:solidFill>
                  <a:srgbClr val="525252"/>
                </a:solidFill>
                <a:latin typeface="Calibri"/>
                <a:cs typeface="Calibri"/>
              </a:rPr>
              <a:t>might</a:t>
            </a:r>
            <a:r>
              <a:rPr sz="1550" spc="95" dirty="0">
                <a:solidFill>
                  <a:srgbClr val="525252"/>
                </a:solidFill>
                <a:latin typeface="Calibri"/>
                <a:cs typeface="Calibri"/>
              </a:rPr>
              <a:t> </a:t>
            </a:r>
            <a:r>
              <a:rPr sz="1550" dirty="0">
                <a:solidFill>
                  <a:srgbClr val="525252"/>
                </a:solidFill>
                <a:latin typeface="Calibri"/>
                <a:cs typeface="Calibri"/>
              </a:rPr>
              <a:t>influence</a:t>
            </a:r>
            <a:r>
              <a:rPr sz="1550" spc="160" dirty="0">
                <a:solidFill>
                  <a:srgbClr val="525252"/>
                </a:solidFill>
                <a:latin typeface="Calibri"/>
                <a:cs typeface="Calibri"/>
              </a:rPr>
              <a:t> </a:t>
            </a:r>
            <a:r>
              <a:rPr sz="1550" dirty="0">
                <a:solidFill>
                  <a:srgbClr val="525252"/>
                </a:solidFill>
                <a:latin typeface="Calibri"/>
                <a:cs typeface="Calibri"/>
              </a:rPr>
              <a:t>operational</a:t>
            </a:r>
            <a:r>
              <a:rPr sz="1550" spc="120" dirty="0">
                <a:solidFill>
                  <a:srgbClr val="525252"/>
                </a:solidFill>
                <a:latin typeface="Calibri"/>
                <a:cs typeface="Calibri"/>
              </a:rPr>
              <a:t> </a:t>
            </a:r>
            <a:r>
              <a:rPr sz="1550" spc="-10" dirty="0">
                <a:solidFill>
                  <a:srgbClr val="525252"/>
                </a:solidFill>
                <a:latin typeface="Calibri"/>
                <a:cs typeface="Calibri"/>
              </a:rPr>
              <a:t>decisions.</a:t>
            </a:r>
            <a:endParaRPr sz="1550">
              <a:latin typeface="Calibri"/>
              <a:cs typeface="Calibri"/>
            </a:endParaRPr>
          </a:p>
          <a:p>
            <a:pPr marL="12700">
              <a:lnSpc>
                <a:spcPct val="100000"/>
              </a:lnSpc>
              <a:spcBef>
                <a:spcPts val="800"/>
              </a:spcBef>
            </a:pPr>
            <a:r>
              <a:rPr sz="1550" b="1" spc="-10" dirty="0">
                <a:solidFill>
                  <a:srgbClr val="525252"/>
                </a:solidFill>
                <a:latin typeface="Calibri"/>
                <a:cs typeface="Calibri"/>
              </a:rPr>
              <a:t>Lines:</a:t>
            </a:r>
            <a:endParaRPr sz="1550">
              <a:latin typeface="Calibri"/>
              <a:cs typeface="Calibri"/>
            </a:endParaRPr>
          </a:p>
          <a:p>
            <a:pPr marL="298450" marR="5080" indent="-286385">
              <a:lnSpc>
                <a:spcPts val="1730"/>
              </a:lnSpc>
              <a:spcBef>
                <a:spcPts val="1010"/>
              </a:spcBef>
              <a:buFont typeface="Arial MT"/>
              <a:buChar char="•"/>
              <a:tabLst>
                <a:tab pos="298450" algn="l"/>
              </a:tabLst>
            </a:pPr>
            <a:r>
              <a:rPr sz="1550" dirty="0">
                <a:solidFill>
                  <a:srgbClr val="525252"/>
                </a:solidFill>
                <a:latin typeface="Calibri"/>
                <a:cs typeface="Calibri"/>
              </a:rPr>
              <a:t>Drew</a:t>
            </a:r>
            <a:r>
              <a:rPr sz="1550" spc="95" dirty="0">
                <a:solidFill>
                  <a:srgbClr val="525252"/>
                </a:solidFill>
                <a:latin typeface="Calibri"/>
                <a:cs typeface="Calibri"/>
              </a:rPr>
              <a:t> </a:t>
            </a:r>
            <a:r>
              <a:rPr sz="1550" dirty="0">
                <a:solidFill>
                  <a:srgbClr val="525252"/>
                </a:solidFill>
                <a:latin typeface="Calibri"/>
                <a:cs typeface="Calibri"/>
              </a:rPr>
              <a:t>lines</a:t>
            </a:r>
            <a:r>
              <a:rPr sz="1550" spc="80" dirty="0">
                <a:solidFill>
                  <a:srgbClr val="525252"/>
                </a:solidFill>
                <a:latin typeface="Calibri"/>
                <a:cs typeface="Calibri"/>
              </a:rPr>
              <a:t> </a:t>
            </a:r>
            <a:r>
              <a:rPr sz="1550" dirty="0">
                <a:solidFill>
                  <a:srgbClr val="525252"/>
                </a:solidFill>
                <a:latin typeface="Calibri"/>
                <a:cs typeface="Calibri"/>
              </a:rPr>
              <a:t>to</a:t>
            </a:r>
            <a:r>
              <a:rPr sz="1550" spc="85" dirty="0">
                <a:solidFill>
                  <a:srgbClr val="525252"/>
                </a:solidFill>
                <a:latin typeface="Calibri"/>
                <a:cs typeface="Calibri"/>
              </a:rPr>
              <a:t> </a:t>
            </a:r>
            <a:r>
              <a:rPr sz="1550" dirty="0">
                <a:solidFill>
                  <a:srgbClr val="525252"/>
                </a:solidFill>
                <a:latin typeface="Calibri"/>
                <a:cs typeface="Calibri"/>
              </a:rPr>
              <a:t>connect</a:t>
            </a:r>
            <a:r>
              <a:rPr sz="1550" spc="100" dirty="0">
                <a:solidFill>
                  <a:srgbClr val="525252"/>
                </a:solidFill>
                <a:latin typeface="Calibri"/>
                <a:cs typeface="Calibri"/>
              </a:rPr>
              <a:t> </a:t>
            </a:r>
            <a:r>
              <a:rPr sz="1550" dirty="0">
                <a:solidFill>
                  <a:srgbClr val="525252"/>
                </a:solidFill>
                <a:latin typeface="Calibri"/>
                <a:cs typeface="Calibri"/>
              </a:rPr>
              <a:t>launch</a:t>
            </a:r>
            <a:r>
              <a:rPr sz="1550" spc="90" dirty="0">
                <a:solidFill>
                  <a:srgbClr val="525252"/>
                </a:solidFill>
                <a:latin typeface="Calibri"/>
                <a:cs typeface="Calibri"/>
              </a:rPr>
              <a:t> </a:t>
            </a:r>
            <a:r>
              <a:rPr sz="1550" dirty="0">
                <a:solidFill>
                  <a:srgbClr val="525252"/>
                </a:solidFill>
                <a:latin typeface="Calibri"/>
                <a:cs typeface="Calibri"/>
              </a:rPr>
              <a:t>sites</a:t>
            </a:r>
            <a:r>
              <a:rPr sz="1550" spc="80" dirty="0">
                <a:solidFill>
                  <a:srgbClr val="525252"/>
                </a:solidFill>
                <a:latin typeface="Calibri"/>
                <a:cs typeface="Calibri"/>
              </a:rPr>
              <a:t> </a:t>
            </a:r>
            <a:r>
              <a:rPr sz="1550" dirty="0">
                <a:solidFill>
                  <a:srgbClr val="525252"/>
                </a:solidFill>
                <a:latin typeface="Calibri"/>
                <a:cs typeface="Calibri"/>
              </a:rPr>
              <a:t>with</a:t>
            </a:r>
            <a:r>
              <a:rPr sz="1550" spc="90" dirty="0">
                <a:solidFill>
                  <a:srgbClr val="525252"/>
                </a:solidFill>
                <a:latin typeface="Calibri"/>
                <a:cs typeface="Calibri"/>
              </a:rPr>
              <a:t> </a:t>
            </a:r>
            <a:r>
              <a:rPr sz="1550" dirty="0">
                <a:solidFill>
                  <a:srgbClr val="525252"/>
                </a:solidFill>
                <a:latin typeface="Calibri"/>
                <a:cs typeface="Calibri"/>
              </a:rPr>
              <a:t>their</a:t>
            </a:r>
            <a:r>
              <a:rPr sz="1550" spc="70" dirty="0">
                <a:solidFill>
                  <a:srgbClr val="525252"/>
                </a:solidFill>
                <a:latin typeface="Calibri"/>
                <a:cs typeface="Calibri"/>
              </a:rPr>
              <a:t> </a:t>
            </a:r>
            <a:r>
              <a:rPr sz="1550" spc="-10" dirty="0">
                <a:solidFill>
                  <a:srgbClr val="525252"/>
                </a:solidFill>
                <a:latin typeface="Calibri"/>
                <a:cs typeface="Calibri"/>
              </a:rPr>
              <a:t>proximities </a:t>
            </a:r>
            <a:r>
              <a:rPr sz="1550" dirty="0">
                <a:solidFill>
                  <a:srgbClr val="525252"/>
                </a:solidFill>
                <a:latin typeface="Calibri"/>
                <a:cs typeface="Calibri"/>
              </a:rPr>
              <a:t>or</a:t>
            </a:r>
            <a:r>
              <a:rPr sz="1550" spc="120" dirty="0">
                <a:solidFill>
                  <a:srgbClr val="525252"/>
                </a:solidFill>
                <a:latin typeface="Calibri"/>
                <a:cs typeface="Calibri"/>
              </a:rPr>
              <a:t> </a:t>
            </a:r>
            <a:r>
              <a:rPr sz="1550" dirty="0">
                <a:solidFill>
                  <a:srgbClr val="525252"/>
                </a:solidFill>
                <a:latin typeface="Calibri"/>
                <a:cs typeface="Calibri"/>
              </a:rPr>
              <a:t>other</a:t>
            </a:r>
            <a:r>
              <a:rPr sz="1550" spc="40" dirty="0">
                <a:solidFill>
                  <a:srgbClr val="525252"/>
                </a:solidFill>
                <a:latin typeface="Calibri"/>
                <a:cs typeface="Calibri"/>
              </a:rPr>
              <a:t> </a:t>
            </a:r>
            <a:r>
              <a:rPr sz="1550" dirty="0">
                <a:solidFill>
                  <a:srgbClr val="525252"/>
                </a:solidFill>
                <a:latin typeface="Calibri"/>
                <a:cs typeface="Calibri"/>
              </a:rPr>
              <a:t>relevant</a:t>
            </a:r>
            <a:r>
              <a:rPr sz="1550" spc="65" dirty="0">
                <a:solidFill>
                  <a:srgbClr val="525252"/>
                </a:solidFill>
                <a:latin typeface="Calibri"/>
                <a:cs typeface="Calibri"/>
              </a:rPr>
              <a:t> </a:t>
            </a:r>
            <a:r>
              <a:rPr sz="1550" spc="-10" dirty="0">
                <a:solidFill>
                  <a:srgbClr val="525252"/>
                </a:solidFill>
                <a:latin typeface="Calibri"/>
                <a:cs typeface="Calibri"/>
              </a:rPr>
              <a:t>locations.</a:t>
            </a:r>
            <a:endParaRPr sz="1550">
              <a:latin typeface="Calibri"/>
              <a:cs typeface="Calibri"/>
            </a:endParaRPr>
          </a:p>
          <a:p>
            <a:pPr marL="298450" indent="-285750">
              <a:lnSpc>
                <a:spcPts val="1795"/>
              </a:lnSpc>
              <a:spcBef>
                <a:spcPts val="880"/>
              </a:spcBef>
              <a:buFont typeface="Arial MT"/>
              <a:buChar char="•"/>
              <a:tabLst>
                <a:tab pos="298450" algn="l"/>
              </a:tabLst>
            </a:pPr>
            <a:r>
              <a:rPr sz="1550" dirty="0">
                <a:solidFill>
                  <a:srgbClr val="525252"/>
                </a:solidFill>
                <a:latin typeface="Calibri"/>
                <a:cs typeface="Calibri"/>
              </a:rPr>
              <a:t>Lines</a:t>
            </a:r>
            <a:r>
              <a:rPr sz="1550" spc="75" dirty="0">
                <a:solidFill>
                  <a:srgbClr val="525252"/>
                </a:solidFill>
                <a:latin typeface="Calibri"/>
                <a:cs typeface="Calibri"/>
              </a:rPr>
              <a:t> </a:t>
            </a:r>
            <a:r>
              <a:rPr sz="1550" dirty="0">
                <a:solidFill>
                  <a:srgbClr val="525252"/>
                </a:solidFill>
                <a:latin typeface="Calibri"/>
                <a:cs typeface="Calibri"/>
              </a:rPr>
              <a:t>provide</a:t>
            </a:r>
            <a:r>
              <a:rPr sz="1550" spc="140" dirty="0">
                <a:solidFill>
                  <a:srgbClr val="525252"/>
                </a:solidFill>
                <a:latin typeface="Calibri"/>
                <a:cs typeface="Calibri"/>
              </a:rPr>
              <a:t> </a:t>
            </a:r>
            <a:r>
              <a:rPr sz="1550" dirty="0">
                <a:solidFill>
                  <a:srgbClr val="525252"/>
                </a:solidFill>
                <a:latin typeface="Calibri"/>
                <a:cs typeface="Calibri"/>
              </a:rPr>
              <a:t>spatial</a:t>
            </a:r>
            <a:r>
              <a:rPr sz="1550" spc="114" dirty="0">
                <a:solidFill>
                  <a:srgbClr val="525252"/>
                </a:solidFill>
                <a:latin typeface="Calibri"/>
                <a:cs typeface="Calibri"/>
              </a:rPr>
              <a:t> </a:t>
            </a:r>
            <a:r>
              <a:rPr sz="1550" dirty="0">
                <a:solidFill>
                  <a:srgbClr val="525252"/>
                </a:solidFill>
                <a:latin typeface="Calibri"/>
                <a:cs typeface="Calibri"/>
              </a:rPr>
              <a:t>context</a:t>
            </a:r>
            <a:r>
              <a:rPr sz="1550" spc="90" dirty="0">
                <a:solidFill>
                  <a:srgbClr val="525252"/>
                </a:solidFill>
                <a:latin typeface="Calibri"/>
                <a:cs typeface="Calibri"/>
              </a:rPr>
              <a:t> </a:t>
            </a:r>
            <a:r>
              <a:rPr sz="1550" dirty="0">
                <a:solidFill>
                  <a:srgbClr val="525252"/>
                </a:solidFill>
                <a:latin typeface="Calibri"/>
                <a:cs typeface="Calibri"/>
              </a:rPr>
              <a:t>and</a:t>
            </a:r>
            <a:r>
              <a:rPr sz="1550" spc="90" dirty="0">
                <a:solidFill>
                  <a:srgbClr val="525252"/>
                </a:solidFill>
                <a:latin typeface="Calibri"/>
                <a:cs typeface="Calibri"/>
              </a:rPr>
              <a:t> </a:t>
            </a:r>
            <a:r>
              <a:rPr sz="1550" dirty="0">
                <a:solidFill>
                  <a:srgbClr val="525252"/>
                </a:solidFill>
                <a:latin typeface="Calibri"/>
                <a:cs typeface="Calibri"/>
              </a:rPr>
              <a:t>connections</a:t>
            </a:r>
            <a:r>
              <a:rPr sz="1550" spc="165" dirty="0">
                <a:solidFill>
                  <a:srgbClr val="525252"/>
                </a:solidFill>
                <a:latin typeface="Calibri"/>
                <a:cs typeface="Calibri"/>
              </a:rPr>
              <a:t> </a:t>
            </a:r>
            <a:r>
              <a:rPr sz="1550" spc="-10" dirty="0">
                <a:solidFill>
                  <a:srgbClr val="525252"/>
                </a:solidFill>
                <a:latin typeface="Calibri"/>
                <a:cs typeface="Calibri"/>
              </a:rPr>
              <a:t>between</a:t>
            </a:r>
            <a:endParaRPr sz="1550">
              <a:latin typeface="Calibri"/>
              <a:cs typeface="Calibri"/>
            </a:endParaRPr>
          </a:p>
          <a:p>
            <a:pPr marL="298450">
              <a:lnSpc>
                <a:spcPts val="1795"/>
              </a:lnSpc>
            </a:pPr>
            <a:r>
              <a:rPr sz="1550" dirty="0">
                <a:solidFill>
                  <a:srgbClr val="525252"/>
                </a:solidFill>
                <a:latin typeface="Calibri"/>
                <a:cs typeface="Calibri"/>
              </a:rPr>
              <a:t>different</a:t>
            </a:r>
            <a:r>
              <a:rPr sz="1550" spc="70" dirty="0">
                <a:solidFill>
                  <a:srgbClr val="525252"/>
                </a:solidFill>
                <a:latin typeface="Calibri"/>
                <a:cs typeface="Calibri"/>
              </a:rPr>
              <a:t> </a:t>
            </a:r>
            <a:r>
              <a:rPr sz="1550" dirty="0">
                <a:solidFill>
                  <a:srgbClr val="525252"/>
                </a:solidFill>
                <a:latin typeface="Calibri"/>
                <a:cs typeface="Calibri"/>
              </a:rPr>
              <a:t>points</a:t>
            </a:r>
            <a:r>
              <a:rPr sz="1550" spc="55" dirty="0">
                <a:solidFill>
                  <a:srgbClr val="525252"/>
                </a:solidFill>
                <a:latin typeface="Calibri"/>
                <a:cs typeface="Calibri"/>
              </a:rPr>
              <a:t> </a:t>
            </a:r>
            <a:r>
              <a:rPr sz="1550" dirty="0">
                <a:solidFill>
                  <a:srgbClr val="525252"/>
                </a:solidFill>
                <a:latin typeface="Calibri"/>
                <a:cs typeface="Calibri"/>
              </a:rPr>
              <a:t>of</a:t>
            </a:r>
            <a:r>
              <a:rPr sz="1550" spc="45" dirty="0">
                <a:solidFill>
                  <a:srgbClr val="525252"/>
                </a:solidFill>
                <a:latin typeface="Calibri"/>
                <a:cs typeface="Calibri"/>
              </a:rPr>
              <a:t> </a:t>
            </a:r>
            <a:r>
              <a:rPr sz="1550" dirty="0">
                <a:solidFill>
                  <a:srgbClr val="525252"/>
                </a:solidFill>
                <a:latin typeface="Calibri"/>
                <a:cs typeface="Calibri"/>
              </a:rPr>
              <a:t>interest</a:t>
            </a:r>
            <a:r>
              <a:rPr sz="1550" spc="70" dirty="0">
                <a:solidFill>
                  <a:srgbClr val="525252"/>
                </a:solidFill>
                <a:latin typeface="Calibri"/>
                <a:cs typeface="Calibri"/>
              </a:rPr>
              <a:t> </a:t>
            </a:r>
            <a:r>
              <a:rPr sz="1550" dirty="0">
                <a:solidFill>
                  <a:srgbClr val="525252"/>
                </a:solidFill>
                <a:latin typeface="Calibri"/>
                <a:cs typeface="Calibri"/>
              </a:rPr>
              <a:t>related</a:t>
            </a:r>
            <a:r>
              <a:rPr sz="1550" spc="80" dirty="0">
                <a:solidFill>
                  <a:srgbClr val="525252"/>
                </a:solidFill>
                <a:latin typeface="Calibri"/>
                <a:cs typeface="Calibri"/>
              </a:rPr>
              <a:t> </a:t>
            </a:r>
            <a:r>
              <a:rPr sz="1550" dirty="0">
                <a:solidFill>
                  <a:srgbClr val="525252"/>
                </a:solidFill>
                <a:latin typeface="Calibri"/>
                <a:cs typeface="Calibri"/>
              </a:rPr>
              <a:t>to</a:t>
            </a:r>
            <a:r>
              <a:rPr sz="1550" spc="65" dirty="0">
                <a:solidFill>
                  <a:srgbClr val="525252"/>
                </a:solidFill>
                <a:latin typeface="Calibri"/>
                <a:cs typeface="Calibri"/>
              </a:rPr>
              <a:t> </a:t>
            </a:r>
            <a:r>
              <a:rPr sz="1550" spc="-10" dirty="0">
                <a:solidFill>
                  <a:srgbClr val="525252"/>
                </a:solidFill>
                <a:latin typeface="Calibri"/>
                <a:cs typeface="Calibri"/>
              </a:rPr>
              <a:t>launches.</a:t>
            </a:r>
            <a:endParaRPr sz="1550">
              <a:latin typeface="Calibri"/>
              <a:cs typeface="Calibri"/>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17</a:t>
            </a:fld>
            <a:endParaRPr spc="60" dirty="0"/>
          </a:p>
        </p:txBody>
      </p:sp>
      <p:sp>
        <p:nvSpPr>
          <p:cNvPr id="3" name="object 3"/>
          <p:cNvSpPr txBox="1">
            <a:spLocks noGrp="1"/>
          </p:cNvSpPr>
          <p:nvPr>
            <p:ph type="title"/>
          </p:nvPr>
        </p:nvSpPr>
        <p:spPr>
          <a:xfrm>
            <a:off x="849312" y="420624"/>
            <a:ext cx="7353934" cy="586740"/>
          </a:xfrm>
          <a:prstGeom prst="rect">
            <a:avLst/>
          </a:prstGeom>
        </p:spPr>
        <p:txBody>
          <a:bodyPr vert="horz" wrap="square" lIns="0" tIns="16510" rIns="0" bIns="0" rtlCol="0">
            <a:spAutoFit/>
          </a:bodyPr>
          <a:lstStyle/>
          <a:p>
            <a:pPr marL="12700">
              <a:lnSpc>
                <a:spcPct val="100000"/>
              </a:lnSpc>
              <a:spcBef>
                <a:spcPts val="130"/>
              </a:spcBef>
            </a:pPr>
            <a:r>
              <a:rPr dirty="0"/>
              <a:t>Build</a:t>
            </a:r>
            <a:r>
              <a:rPr spc="-65" dirty="0"/>
              <a:t> </a:t>
            </a:r>
            <a:r>
              <a:rPr dirty="0"/>
              <a:t>an</a:t>
            </a:r>
            <a:r>
              <a:rPr spc="-25" dirty="0"/>
              <a:t> </a:t>
            </a:r>
            <a:r>
              <a:rPr spc="-40" dirty="0"/>
              <a:t>Interactive</a:t>
            </a:r>
            <a:r>
              <a:rPr spc="-55" dirty="0"/>
              <a:t> </a:t>
            </a:r>
            <a:r>
              <a:rPr dirty="0"/>
              <a:t>Map</a:t>
            </a:r>
            <a:r>
              <a:rPr spc="-65" dirty="0"/>
              <a:t> </a:t>
            </a:r>
            <a:r>
              <a:rPr dirty="0"/>
              <a:t>with</a:t>
            </a:r>
            <a:r>
              <a:rPr spc="-25" dirty="0"/>
              <a:t> </a:t>
            </a:r>
            <a:r>
              <a:rPr spc="-20" dirty="0"/>
              <a:t>Folium</a:t>
            </a:r>
          </a:p>
        </p:txBody>
      </p:sp>
      <p:sp>
        <p:nvSpPr>
          <p:cNvPr id="4" name="object 4"/>
          <p:cNvSpPr txBox="1"/>
          <p:nvPr/>
        </p:nvSpPr>
        <p:spPr>
          <a:xfrm>
            <a:off x="6340475" y="2018982"/>
            <a:ext cx="776605" cy="266065"/>
          </a:xfrm>
          <a:prstGeom prst="rect">
            <a:avLst/>
          </a:prstGeom>
        </p:spPr>
        <p:txBody>
          <a:bodyPr vert="horz" wrap="square" lIns="0" tIns="15875" rIns="0" bIns="0" rtlCol="0">
            <a:spAutoFit/>
          </a:bodyPr>
          <a:lstStyle/>
          <a:p>
            <a:pPr marL="12700">
              <a:lnSpc>
                <a:spcPct val="100000"/>
              </a:lnSpc>
              <a:spcBef>
                <a:spcPts val="125"/>
              </a:spcBef>
            </a:pPr>
            <a:r>
              <a:rPr sz="1550" b="1" spc="-10" dirty="0">
                <a:solidFill>
                  <a:srgbClr val="7B7B7B"/>
                </a:solidFill>
                <a:latin typeface="Calibri"/>
                <a:cs typeface="Calibri"/>
              </a:rPr>
              <a:t>Markers:</a:t>
            </a:r>
            <a:endParaRPr sz="1550">
              <a:latin typeface="Calibri"/>
              <a:cs typeface="Calibri"/>
            </a:endParaRPr>
          </a:p>
        </p:txBody>
      </p:sp>
      <p:sp>
        <p:nvSpPr>
          <p:cNvPr id="5" name="object 5"/>
          <p:cNvSpPr txBox="1"/>
          <p:nvPr/>
        </p:nvSpPr>
        <p:spPr>
          <a:xfrm>
            <a:off x="6340475" y="3240087"/>
            <a:ext cx="624205" cy="266065"/>
          </a:xfrm>
          <a:prstGeom prst="rect">
            <a:avLst/>
          </a:prstGeom>
        </p:spPr>
        <p:txBody>
          <a:bodyPr vert="horz" wrap="square" lIns="0" tIns="15875" rIns="0" bIns="0" rtlCol="0">
            <a:spAutoFit/>
          </a:bodyPr>
          <a:lstStyle/>
          <a:p>
            <a:pPr marL="12700">
              <a:lnSpc>
                <a:spcPct val="100000"/>
              </a:lnSpc>
              <a:spcBef>
                <a:spcPts val="125"/>
              </a:spcBef>
            </a:pPr>
            <a:r>
              <a:rPr sz="1550" b="1" spc="-10" dirty="0">
                <a:solidFill>
                  <a:srgbClr val="7B7B7B"/>
                </a:solidFill>
                <a:latin typeface="Calibri"/>
                <a:cs typeface="Calibri"/>
              </a:rPr>
              <a:t>Circles:</a:t>
            </a:r>
            <a:endParaRPr sz="1550">
              <a:latin typeface="Calibri"/>
              <a:cs typeface="Calibri"/>
            </a:endParaRPr>
          </a:p>
        </p:txBody>
      </p:sp>
      <p:sp>
        <p:nvSpPr>
          <p:cNvPr id="6" name="object 6"/>
          <p:cNvSpPr txBox="1"/>
          <p:nvPr/>
        </p:nvSpPr>
        <p:spPr>
          <a:xfrm>
            <a:off x="6340475" y="4699317"/>
            <a:ext cx="509905" cy="266065"/>
          </a:xfrm>
          <a:prstGeom prst="rect">
            <a:avLst/>
          </a:prstGeom>
        </p:spPr>
        <p:txBody>
          <a:bodyPr vert="horz" wrap="square" lIns="0" tIns="15875" rIns="0" bIns="0" rtlCol="0">
            <a:spAutoFit/>
          </a:bodyPr>
          <a:lstStyle/>
          <a:p>
            <a:pPr marL="12700">
              <a:lnSpc>
                <a:spcPct val="100000"/>
              </a:lnSpc>
              <a:spcBef>
                <a:spcPts val="125"/>
              </a:spcBef>
            </a:pPr>
            <a:r>
              <a:rPr sz="1550" b="1" spc="-10" dirty="0">
                <a:solidFill>
                  <a:srgbClr val="7B7B7B"/>
                </a:solidFill>
                <a:latin typeface="Calibri"/>
                <a:cs typeface="Calibri"/>
              </a:rPr>
              <a:t>Lines:</a:t>
            </a:r>
            <a:endParaRPr sz="1550">
              <a:latin typeface="Calibri"/>
              <a:cs typeface="Calibri"/>
            </a:endParaRPr>
          </a:p>
        </p:txBody>
      </p:sp>
      <p:sp>
        <p:nvSpPr>
          <p:cNvPr id="7" name="object 7"/>
          <p:cNvSpPr txBox="1"/>
          <p:nvPr/>
        </p:nvSpPr>
        <p:spPr>
          <a:xfrm>
            <a:off x="6340475" y="1456372"/>
            <a:ext cx="4863465" cy="4491355"/>
          </a:xfrm>
          <a:prstGeom prst="rect">
            <a:avLst/>
          </a:prstGeom>
        </p:spPr>
        <p:txBody>
          <a:bodyPr vert="horz" wrap="square" lIns="0" tIns="15875" rIns="0" bIns="0" rtlCol="0">
            <a:spAutoFit/>
          </a:bodyPr>
          <a:lstStyle/>
          <a:p>
            <a:pPr marL="12700">
              <a:lnSpc>
                <a:spcPct val="100000"/>
              </a:lnSpc>
              <a:spcBef>
                <a:spcPts val="125"/>
              </a:spcBef>
            </a:pPr>
            <a:r>
              <a:rPr sz="2000" b="1" dirty="0">
                <a:solidFill>
                  <a:srgbClr val="7B7B7B"/>
                </a:solidFill>
                <a:latin typeface="Calibri"/>
                <a:cs typeface="Calibri"/>
              </a:rPr>
              <a:t>Reasons</a:t>
            </a:r>
            <a:r>
              <a:rPr sz="2000" b="1" spc="-60" dirty="0">
                <a:solidFill>
                  <a:srgbClr val="7B7B7B"/>
                </a:solidFill>
                <a:latin typeface="Calibri"/>
                <a:cs typeface="Calibri"/>
              </a:rPr>
              <a:t> </a:t>
            </a:r>
            <a:r>
              <a:rPr sz="2000" b="1" dirty="0">
                <a:solidFill>
                  <a:srgbClr val="7B7B7B"/>
                </a:solidFill>
                <a:latin typeface="Calibri"/>
                <a:cs typeface="Calibri"/>
              </a:rPr>
              <a:t>for</a:t>
            </a:r>
            <a:r>
              <a:rPr sz="2000" b="1" spc="-50" dirty="0">
                <a:solidFill>
                  <a:srgbClr val="7B7B7B"/>
                </a:solidFill>
                <a:latin typeface="Calibri"/>
                <a:cs typeface="Calibri"/>
              </a:rPr>
              <a:t> </a:t>
            </a:r>
            <a:r>
              <a:rPr sz="2000" b="1" dirty="0">
                <a:solidFill>
                  <a:srgbClr val="7B7B7B"/>
                </a:solidFill>
                <a:latin typeface="Calibri"/>
                <a:cs typeface="Calibri"/>
              </a:rPr>
              <a:t>Adding</a:t>
            </a:r>
            <a:r>
              <a:rPr sz="2000" b="1" spc="15" dirty="0">
                <a:solidFill>
                  <a:srgbClr val="7B7B7B"/>
                </a:solidFill>
                <a:latin typeface="Calibri"/>
                <a:cs typeface="Calibri"/>
              </a:rPr>
              <a:t> </a:t>
            </a:r>
            <a:r>
              <a:rPr sz="2000" b="1" spc="-10" dirty="0">
                <a:solidFill>
                  <a:srgbClr val="7B7B7B"/>
                </a:solidFill>
                <a:latin typeface="Calibri"/>
                <a:cs typeface="Calibri"/>
              </a:rPr>
              <a:t>Objects</a:t>
            </a:r>
            <a:endParaRPr sz="2000">
              <a:latin typeface="Calibri"/>
              <a:cs typeface="Calibri"/>
            </a:endParaRPr>
          </a:p>
          <a:p>
            <a:pPr>
              <a:lnSpc>
                <a:spcPct val="100000"/>
              </a:lnSpc>
              <a:spcBef>
                <a:spcPts val="1465"/>
              </a:spcBef>
            </a:pPr>
            <a:endParaRPr sz="2000">
              <a:latin typeface="Calibri"/>
              <a:cs typeface="Calibri"/>
            </a:endParaRPr>
          </a:p>
          <a:p>
            <a:pPr marL="298450" indent="-285750">
              <a:lnSpc>
                <a:spcPct val="100000"/>
              </a:lnSpc>
              <a:spcBef>
                <a:spcPts val="5"/>
              </a:spcBef>
              <a:buFont typeface="Arial MT"/>
              <a:buChar char="•"/>
              <a:tabLst>
                <a:tab pos="298450" algn="l"/>
              </a:tabLst>
            </a:pPr>
            <a:r>
              <a:rPr sz="1550" dirty="0">
                <a:solidFill>
                  <a:srgbClr val="7B7B7B"/>
                </a:solidFill>
                <a:latin typeface="Calibri"/>
                <a:cs typeface="Calibri"/>
              </a:rPr>
              <a:t>To</a:t>
            </a:r>
            <a:r>
              <a:rPr sz="1550" spc="150" dirty="0">
                <a:solidFill>
                  <a:srgbClr val="7B7B7B"/>
                </a:solidFill>
                <a:latin typeface="Calibri"/>
                <a:cs typeface="Calibri"/>
              </a:rPr>
              <a:t> </a:t>
            </a:r>
            <a:r>
              <a:rPr sz="1550" dirty="0">
                <a:solidFill>
                  <a:srgbClr val="7B7B7B"/>
                </a:solidFill>
                <a:latin typeface="Calibri"/>
                <a:cs typeface="Calibri"/>
              </a:rPr>
              <a:t>pinpoint</a:t>
            </a:r>
            <a:r>
              <a:rPr sz="1550" spc="65" dirty="0">
                <a:solidFill>
                  <a:srgbClr val="7B7B7B"/>
                </a:solidFill>
                <a:latin typeface="Calibri"/>
                <a:cs typeface="Calibri"/>
              </a:rPr>
              <a:t> </a:t>
            </a:r>
            <a:r>
              <a:rPr sz="1550" dirty="0">
                <a:solidFill>
                  <a:srgbClr val="7B7B7B"/>
                </a:solidFill>
                <a:latin typeface="Calibri"/>
                <a:cs typeface="Calibri"/>
              </a:rPr>
              <a:t>exact</a:t>
            </a:r>
            <a:r>
              <a:rPr sz="1550" spc="60" dirty="0">
                <a:solidFill>
                  <a:srgbClr val="7B7B7B"/>
                </a:solidFill>
                <a:latin typeface="Calibri"/>
                <a:cs typeface="Calibri"/>
              </a:rPr>
              <a:t> </a:t>
            </a:r>
            <a:r>
              <a:rPr sz="1550" dirty="0">
                <a:solidFill>
                  <a:srgbClr val="7B7B7B"/>
                </a:solidFill>
                <a:latin typeface="Calibri"/>
                <a:cs typeface="Calibri"/>
              </a:rPr>
              <a:t>launch</a:t>
            </a:r>
            <a:r>
              <a:rPr sz="1550" spc="75" dirty="0">
                <a:solidFill>
                  <a:srgbClr val="7B7B7B"/>
                </a:solidFill>
                <a:latin typeface="Calibri"/>
                <a:cs typeface="Calibri"/>
              </a:rPr>
              <a:t> </a:t>
            </a:r>
            <a:r>
              <a:rPr sz="1550" dirty="0">
                <a:solidFill>
                  <a:srgbClr val="7B7B7B"/>
                </a:solidFill>
                <a:latin typeface="Calibri"/>
                <a:cs typeface="Calibri"/>
              </a:rPr>
              <a:t>locations</a:t>
            </a:r>
            <a:r>
              <a:rPr sz="1550" spc="45" dirty="0">
                <a:solidFill>
                  <a:srgbClr val="7B7B7B"/>
                </a:solidFill>
                <a:latin typeface="Calibri"/>
                <a:cs typeface="Calibri"/>
              </a:rPr>
              <a:t> </a:t>
            </a:r>
            <a:r>
              <a:rPr sz="1550" dirty="0">
                <a:solidFill>
                  <a:srgbClr val="7B7B7B"/>
                </a:solidFill>
                <a:latin typeface="Calibri"/>
                <a:cs typeface="Calibri"/>
              </a:rPr>
              <a:t>for</a:t>
            </a:r>
            <a:r>
              <a:rPr sz="1550" spc="45" dirty="0">
                <a:solidFill>
                  <a:srgbClr val="7B7B7B"/>
                </a:solidFill>
                <a:latin typeface="Calibri"/>
                <a:cs typeface="Calibri"/>
              </a:rPr>
              <a:t> </a:t>
            </a:r>
            <a:r>
              <a:rPr sz="1550" dirty="0">
                <a:solidFill>
                  <a:srgbClr val="7B7B7B"/>
                </a:solidFill>
                <a:latin typeface="Calibri"/>
                <a:cs typeface="Calibri"/>
              </a:rPr>
              <a:t>spatial </a:t>
            </a:r>
            <a:r>
              <a:rPr sz="1550" spc="-10" dirty="0">
                <a:solidFill>
                  <a:srgbClr val="7B7B7B"/>
                </a:solidFill>
                <a:latin typeface="Calibri"/>
                <a:cs typeface="Calibri"/>
              </a:rPr>
              <a:t>reference.</a:t>
            </a:r>
            <a:endParaRPr sz="1550">
              <a:latin typeface="Calibri"/>
              <a:cs typeface="Calibri"/>
            </a:endParaRPr>
          </a:p>
          <a:p>
            <a:pPr marL="298450" marR="492759" indent="-286385">
              <a:lnSpc>
                <a:spcPct val="100899"/>
              </a:lnSpc>
              <a:spcBef>
                <a:spcPts val="75"/>
              </a:spcBef>
              <a:buFont typeface="Arial MT"/>
              <a:buChar char="•"/>
              <a:tabLst>
                <a:tab pos="298450" algn="l"/>
              </a:tabLst>
            </a:pPr>
            <a:r>
              <a:rPr sz="1550" dirty="0">
                <a:solidFill>
                  <a:srgbClr val="7B7B7B"/>
                </a:solidFill>
                <a:latin typeface="Calibri"/>
                <a:cs typeface="Calibri"/>
              </a:rPr>
              <a:t>Helps</a:t>
            </a:r>
            <a:r>
              <a:rPr sz="1550" spc="80" dirty="0">
                <a:solidFill>
                  <a:srgbClr val="7B7B7B"/>
                </a:solidFill>
                <a:latin typeface="Calibri"/>
                <a:cs typeface="Calibri"/>
              </a:rPr>
              <a:t> </a:t>
            </a:r>
            <a:r>
              <a:rPr sz="1550" dirty="0">
                <a:solidFill>
                  <a:srgbClr val="7B7B7B"/>
                </a:solidFill>
                <a:latin typeface="Calibri"/>
                <a:cs typeface="Calibri"/>
              </a:rPr>
              <a:t>users</a:t>
            </a:r>
            <a:r>
              <a:rPr sz="1550" spc="180" dirty="0">
                <a:solidFill>
                  <a:srgbClr val="7B7B7B"/>
                </a:solidFill>
                <a:latin typeface="Calibri"/>
                <a:cs typeface="Calibri"/>
              </a:rPr>
              <a:t> </a:t>
            </a:r>
            <a:r>
              <a:rPr sz="1550" dirty="0">
                <a:solidFill>
                  <a:srgbClr val="7B7B7B"/>
                </a:solidFill>
                <a:latin typeface="Calibri"/>
                <a:cs typeface="Calibri"/>
              </a:rPr>
              <a:t>identify</a:t>
            </a:r>
            <a:r>
              <a:rPr sz="1550" spc="60" dirty="0">
                <a:solidFill>
                  <a:srgbClr val="7B7B7B"/>
                </a:solidFill>
                <a:latin typeface="Calibri"/>
                <a:cs typeface="Calibri"/>
              </a:rPr>
              <a:t> </a:t>
            </a:r>
            <a:r>
              <a:rPr sz="1550" dirty="0">
                <a:solidFill>
                  <a:srgbClr val="7B7B7B"/>
                </a:solidFill>
                <a:latin typeface="Calibri"/>
                <a:cs typeface="Calibri"/>
              </a:rPr>
              <a:t>where</a:t>
            </a:r>
            <a:r>
              <a:rPr sz="1550" spc="60" dirty="0">
                <a:solidFill>
                  <a:srgbClr val="7B7B7B"/>
                </a:solidFill>
                <a:latin typeface="Calibri"/>
                <a:cs typeface="Calibri"/>
              </a:rPr>
              <a:t> </a:t>
            </a:r>
            <a:r>
              <a:rPr sz="1550" dirty="0">
                <a:solidFill>
                  <a:srgbClr val="7B7B7B"/>
                </a:solidFill>
                <a:latin typeface="Calibri"/>
                <a:cs typeface="Calibri"/>
              </a:rPr>
              <a:t>SpaceX</a:t>
            </a:r>
            <a:r>
              <a:rPr sz="1550" spc="105" dirty="0">
                <a:solidFill>
                  <a:srgbClr val="7B7B7B"/>
                </a:solidFill>
                <a:latin typeface="Calibri"/>
                <a:cs typeface="Calibri"/>
              </a:rPr>
              <a:t> </a:t>
            </a:r>
            <a:r>
              <a:rPr sz="1550" dirty="0">
                <a:solidFill>
                  <a:srgbClr val="7B7B7B"/>
                </a:solidFill>
                <a:latin typeface="Calibri"/>
                <a:cs typeface="Calibri"/>
              </a:rPr>
              <a:t>has</a:t>
            </a:r>
            <a:r>
              <a:rPr sz="1550" spc="85" dirty="0">
                <a:solidFill>
                  <a:srgbClr val="7B7B7B"/>
                </a:solidFill>
                <a:latin typeface="Calibri"/>
                <a:cs typeface="Calibri"/>
              </a:rPr>
              <a:t> </a:t>
            </a:r>
            <a:r>
              <a:rPr sz="1550" spc="-10" dirty="0">
                <a:solidFill>
                  <a:srgbClr val="7B7B7B"/>
                </a:solidFill>
                <a:latin typeface="Calibri"/>
                <a:cs typeface="Calibri"/>
              </a:rPr>
              <a:t>conducted </a:t>
            </a:r>
            <a:r>
              <a:rPr sz="1550" dirty="0">
                <a:solidFill>
                  <a:srgbClr val="7B7B7B"/>
                </a:solidFill>
                <a:latin typeface="Calibri"/>
                <a:cs typeface="Calibri"/>
              </a:rPr>
              <a:t>launches</a:t>
            </a:r>
            <a:r>
              <a:rPr sz="1550" spc="135" dirty="0">
                <a:solidFill>
                  <a:srgbClr val="7B7B7B"/>
                </a:solidFill>
                <a:latin typeface="Calibri"/>
                <a:cs typeface="Calibri"/>
              </a:rPr>
              <a:t> </a:t>
            </a:r>
            <a:r>
              <a:rPr sz="1550" spc="-10" dirty="0">
                <a:solidFill>
                  <a:srgbClr val="7B7B7B"/>
                </a:solidFill>
                <a:latin typeface="Calibri"/>
                <a:cs typeface="Calibri"/>
              </a:rPr>
              <a:t>geographically.</a:t>
            </a:r>
            <a:endParaRPr sz="1550">
              <a:latin typeface="Calibri"/>
              <a:cs typeface="Calibri"/>
            </a:endParaRPr>
          </a:p>
          <a:p>
            <a:pPr>
              <a:lnSpc>
                <a:spcPct val="100000"/>
              </a:lnSpc>
              <a:buClr>
                <a:srgbClr val="7B7B7B"/>
              </a:buClr>
              <a:buFont typeface="Arial MT"/>
              <a:buChar char="•"/>
            </a:pPr>
            <a:endParaRPr sz="1550">
              <a:latin typeface="Calibri"/>
              <a:cs typeface="Calibri"/>
            </a:endParaRPr>
          </a:p>
          <a:p>
            <a:pPr>
              <a:lnSpc>
                <a:spcPct val="100000"/>
              </a:lnSpc>
              <a:spcBef>
                <a:spcPts val="45"/>
              </a:spcBef>
              <a:buClr>
                <a:srgbClr val="7B7B7B"/>
              </a:buClr>
              <a:buFont typeface="Arial MT"/>
              <a:buChar char="•"/>
            </a:pPr>
            <a:endParaRPr sz="1550">
              <a:latin typeface="Calibri"/>
              <a:cs typeface="Calibri"/>
            </a:endParaRPr>
          </a:p>
          <a:p>
            <a:pPr marL="298450" marR="283210" indent="-286385">
              <a:lnSpc>
                <a:spcPct val="105000"/>
              </a:lnSpc>
              <a:buFont typeface="Arial MT"/>
              <a:buChar char="•"/>
              <a:tabLst>
                <a:tab pos="298450" algn="l"/>
              </a:tabLst>
            </a:pPr>
            <a:r>
              <a:rPr sz="1550" dirty="0">
                <a:solidFill>
                  <a:srgbClr val="7B7B7B"/>
                </a:solidFill>
                <a:latin typeface="Calibri"/>
                <a:cs typeface="Calibri"/>
              </a:rPr>
              <a:t>Illustrates</a:t>
            </a:r>
            <a:r>
              <a:rPr sz="1550" spc="70" dirty="0">
                <a:solidFill>
                  <a:srgbClr val="7B7B7B"/>
                </a:solidFill>
                <a:latin typeface="Calibri"/>
                <a:cs typeface="Calibri"/>
              </a:rPr>
              <a:t> </a:t>
            </a:r>
            <a:r>
              <a:rPr sz="1550" dirty="0">
                <a:solidFill>
                  <a:srgbClr val="7B7B7B"/>
                </a:solidFill>
                <a:latin typeface="Calibri"/>
                <a:cs typeface="Calibri"/>
              </a:rPr>
              <a:t>the</a:t>
            </a:r>
            <a:r>
              <a:rPr sz="1550" spc="45" dirty="0">
                <a:solidFill>
                  <a:srgbClr val="7B7B7B"/>
                </a:solidFill>
                <a:latin typeface="Calibri"/>
                <a:cs typeface="Calibri"/>
              </a:rPr>
              <a:t> </a:t>
            </a:r>
            <a:r>
              <a:rPr sz="1550" dirty="0">
                <a:solidFill>
                  <a:srgbClr val="7B7B7B"/>
                </a:solidFill>
                <a:latin typeface="Calibri"/>
                <a:cs typeface="Calibri"/>
              </a:rPr>
              <a:t>potential</a:t>
            </a:r>
            <a:r>
              <a:rPr sz="1550" spc="105" dirty="0">
                <a:solidFill>
                  <a:srgbClr val="7B7B7B"/>
                </a:solidFill>
                <a:latin typeface="Calibri"/>
                <a:cs typeface="Calibri"/>
              </a:rPr>
              <a:t> </a:t>
            </a:r>
            <a:r>
              <a:rPr sz="1550" dirty="0">
                <a:solidFill>
                  <a:srgbClr val="7B7B7B"/>
                </a:solidFill>
                <a:latin typeface="Calibri"/>
                <a:cs typeface="Calibri"/>
              </a:rPr>
              <a:t>impact</a:t>
            </a:r>
            <a:r>
              <a:rPr sz="1550" spc="90" dirty="0">
                <a:solidFill>
                  <a:srgbClr val="7B7B7B"/>
                </a:solidFill>
                <a:latin typeface="Calibri"/>
                <a:cs typeface="Calibri"/>
              </a:rPr>
              <a:t> </a:t>
            </a:r>
            <a:r>
              <a:rPr sz="1550" dirty="0">
                <a:solidFill>
                  <a:srgbClr val="7B7B7B"/>
                </a:solidFill>
                <a:latin typeface="Calibri"/>
                <a:cs typeface="Calibri"/>
              </a:rPr>
              <a:t>zones</a:t>
            </a:r>
            <a:r>
              <a:rPr sz="1550" spc="155" dirty="0">
                <a:solidFill>
                  <a:srgbClr val="7B7B7B"/>
                </a:solidFill>
                <a:latin typeface="Calibri"/>
                <a:cs typeface="Calibri"/>
              </a:rPr>
              <a:t> </a:t>
            </a:r>
            <a:r>
              <a:rPr sz="1550" dirty="0">
                <a:solidFill>
                  <a:srgbClr val="7B7B7B"/>
                </a:solidFill>
                <a:latin typeface="Calibri"/>
                <a:cs typeface="Calibri"/>
              </a:rPr>
              <a:t>around</a:t>
            </a:r>
            <a:r>
              <a:rPr sz="1550" spc="85" dirty="0">
                <a:solidFill>
                  <a:srgbClr val="7B7B7B"/>
                </a:solidFill>
                <a:latin typeface="Calibri"/>
                <a:cs typeface="Calibri"/>
              </a:rPr>
              <a:t> </a:t>
            </a:r>
            <a:r>
              <a:rPr sz="1550" spc="-10" dirty="0">
                <a:solidFill>
                  <a:srgbClr val="7B7B7B"/>
                </a:solidFill>
                <a:latin typeface="Calibri"/>
                <a:cs typeface="Calibri"/>
              </a:rPr>
              <a:t>launch sites.</a:t>
            </a:r>
            <a:endParaRPr sz="1550">
              <a:latin typeface="Calibri"/>
              <a:cs typeface="Calibri"/>
            </a:endParaRPr>
          </a:p>
          <a:p>
            <a:pPr marL="298450" marR="5080" indent="-286385">
              <a:lnSpc>
                <a:spcPts val="1950"/>
              </a:lnSpc>
              <a:spcBef>
                <a:spcPts val="10"/>
              </a:spcBef>
              <a:buFont typeface="Arial MT"/>
              <a:buChar char="•"/>
              <a:tabLst>
                <a:tab pos="298450" algn="l"/>
              </a:tabLst>
            </a:pPr>
            <a:r>
              <a:rPr sz="1550" dirty="0">
                <a:solidFill>
                  <a:srgbClr val="7B7B7B"/>
                </a:solidFill>
                <a:latin typeface="Calibri"/>
                <a:cs typeface="Calibri"/>
              </a:rPr>
              <a:t>Provides</a:t>
            </a:r>
            <a:r>
              <a:rPr sz="1550" spc="80" dirty="0">
                <a:solidFill>
                  <a:srgbClr val="7B7B7B"/>
                </a:solidFill>
                <a:latin typeface="Calibri"/>
                <a:cs typeface="Calibri"/>
              </a:rPr>
              <a:t> </a:t>
            </a:r>
            <a:r>
              <a:rPr sz="1550" dirty="0">
                <a:solidFill>
                  <a:srgbClr val="7B7B7B"/>
                </a:solidFill>
                <a:latin typeface="Calibri"/>
                <a:cs typeface="Calibri"/>
              </a:rPr>
              <a:t>a</a:t>
            </a:r>
            <a:r>
              <a:rPr sz="1550" spc="95" dirty="0">
                <a:solidFill>
                  <a:srgbClr val="7B7B7B"/>
                </a:solidFill>
                <a:latin typeface="Calibri"/>
                <a:cs typeface="Calibri"/>
              </a:rPr>
              <a:t> </a:t>
            </a:r>
            <a:r>
              <a:rPr sz="1550" dirty="0">
                <a:solidFill>
                  <a:srgbClr val="7B7B7B"/>
                </a:solidFill>
                <a:latin typeface="Calibri"/>
                <a:cs typeface="Calibri"/>
              </a:rPr>
              <a:t>visual</a:t>
            </a:r>
            <a:r>
              <a:rPr sz="1550" spc="120" dirty="0">
                <a:solidFill>
                  <a:srgbClr val="7B7B7B"/>
                </a:solidFill>
                <a:latin typeface="Calibri"/>
                <a:cs typeface="Calibri"/>
              </a:rPr>
              <a:t> </a:t>
            </a:r>
            <a:r>
              <a:rPr sz="1550" dirty="0">
                <a:solidFill>
                  <a:srgbClr val="7B7B7B"/>
                </a:solidFill>
                <a:latin typeface="Calibri"/>
                <a:cs typeface="Calibri"/>
              </a:rPr>
              <a:t>representation</a:t>
            </a:r>
            <a:r>
              <a:rPr sz="1550" spc="95" dirty="0">
                <a:solidFill>
                  <a:srgbClr val="7B7B7B"/>
                </a:solidFill>
                <a:latin typeface="Calibri"/>
                <a:cs typeface="Calibri"/>
              </a:rPr>
              <a:t> </a:t>
            </a:r>
            <a:r>
              <a:rPr sz="1550" dirty="0">
                <a:solidFill>
                  <a:srgbClr val="7B7B7B"/>
                </a:solidFill>
                <a:latin typeface="Calibri"/>
                <a:cs typeface="Calibri"/>
              </a:rPr>
              <a:t>of</a:t>
            </a:r>
            <a:r>
              <a:rPr sz="1550" spc="160" dirty="0">
                <a:solidFill>
                  <a:srgbClr val="7B7B7B"/>
                </a:solidFill>
                <a:latin typeface="Calibri"/>
                <a:cs typeface="Calibri"/>
              </a:rPr>
              <a:t> </a:t>
            </a:r>
            <a:r>
              <a:rPr sz="1550" dirty="0">
                <a:solidFill>
                  <a:srgbClr val="7B7B7B"/>
                </a:solidFill>
                <a:latin typeface="Calibri"/>
                <a:cs typeface="Calibri"/>
              </a:rPr>
              <a:t>safety</a:t>
            </a:r>
            <a:r>
              <a:rPr sz="1550" spc="50" dirty="0">
                <a:solidFill>
                  <a:srgbClr val="7B7B7B"/>
                </a:solidFill>
                <a:latin typeface="Calibri"/>
                <a:cs typeface="Calibri"/>
              </a:rPr>
              <a:t> </a:t>
            </a:r>
            <a:r>
              <a:rPr sz="1550" dirty="0">
                <a:solidFill>
                  <a:srgbClr val="7B7B7B"/>
                </a:solidFill>
                <a:latin typeface="Calibri"/>
                <a:cs typeface="Calibri"/>
              </a:rPr>
              <a:t>perimeters</a:t>
            </a:r>
            <a:r>
              <a:rPr sz="1550" spc="85" dirty="0">
                <a:solidFill>
                  <a:srgbClr val="7B7B7B"/>
                </a:solidFill>
                <a:latin typeface="Calibri"/>
                <a:cs typeface="Calibri"/>
              </a:rPr>
              <a:t> </a:t>
            </a:r>
            <a:r>
              <a:rPr sz="1550" spc="-25" dirty="0">
                <a:solidFill>
                  <a:srgbClr val="7B7B7B"/>
                </a:solidFill>
                <a:latin typeface="Calibri"/>
                <a:cs typeface="Calibri"/>
              </a:rPr>
              <a:t>or </a:t>
            </a:r>
            <a:r>
              <a:rPr sz="1550" dirty="0">
                <a:solidFill>
                  <a:srgbClr val="7B7B7B"/>
                </a:solidFill>
                <a:latin typeface="Calibri"/>
                <a:cs typeface="Calibri"/>
              </a:rPr>
              <a:t>operational</a:t>
            </a:r>
            <a:r>
              <a:rPr sz="1550" spc="210" dirty="0">
                <a:solidFill>
                  <a:srgbClr val="7B7B7B"/>
                </a:solidFill>
                <a:latin typeface="Calibri"/>
                <a:cs typeface="Calibri"/>
              </a:rPr>
              <a:t> </a:t>
            </a:r>
            <a:r>
              <a:rPr sz="1550" spc="-10" dirty="0">
                <a:solidFill>
                  <a:srgbClr val="7B7B7B"/>
                </a:solidFill>
                <a:latin typeface="Calibri"/>
                <a:cs typeface="Calibri"/>
              </a:rPr>
              <a:t>boundaries.</a:t>
            </a:r>
            <a:endParaRPr sz="1550">
              <a:latin typeface="Calibri"/>
              <a:cs typeface="Calibri"/>
            </a:endParaRPr>
          </a:p>
          <a:p>
            <a:pPr>
              <a:lnSpc>
                <a:spcPct val="100000"/>
              </a:lnSpc>
              <a:buClr>
                <a:srgbClr val="7B7B7B"/>
              </a:buClr>
              <a:buFont typeface="Arial MT"/>
              <a:buChar char="•"/>
            </a:pPr>
            <a:endParaRPr sz="1550">
              <a:latin typeface="Calibri"/>
              <a:cs typeface="Calibri"/>
            </a:endParaRPr>
          </a:p>
          <a:p>
            <a:pPr>
              <a:lnSpc>
                <a:spcPct val="100000"/>
              </a:lnSpc>
              <a:spcBef>
                <a:spcPts val="40"/>
              </a:spcBef>
              <a:buClr>
                <a:srgbClr val="7B7B7B"/>
              </a:buClr>
              <a:buFont typeface="Arial MT"/>
              <a:buChar char="•"/>
            </a:pPr>
            <a:endParaRPr sz="1550">
              <a:latin typeface="Calibri"/>
              <a:cs typeface="Calibri"/>
            </a:endParaRPr>
          </a:p>
          <a:p>
            <a:pPr marL="298450" marR="292100" indent="-286385">
              <a:lnSpc>
                <a:spcPct val="101000"/>
              </a:lnSpc>
              <a:buFont typeface="Arial MT"/>
              <a:buChar char="•"/>
              <a:tabLst>
                <a:tab pos="298450" algn="l"/>
              </a:tabLst>
            </a:pPr>
            <a:r>
              <a:rPr sz="1550" dirty="0">
                <a:solidFill>
                  <a:srgbClr val="7B7B7B"/>
                </a:solidFill>
                <a:latin typeface="Calibri"/>
                <a:cs typeface="Calibri"/>
              </a:rPr>
              <a:t>Shows</a:t>
            </a:r>
            <a:r>
              <a:rPr sz="1550" spc="204" dirty="0">
                <a:solidFill>
                  <a:srgbClr val="7B7B7B"/>
                </a:solidFill>
                <a:latin typeface="Calibri"/>
                <a:cs typeface="Calibri"/>
              </a:rPr>
              <a:t> </a:t>
            </a:r>
            <a:r>
              <a:rPr sz="1550" dirty="0">
                <a:solidFill>
                  <a:srgbClr val="7B7B7B"/>
                </a:solidFill>
                <a:latin typeface="Calibri"/>
                <a:cs typeface="Calibri"/>
              </a:rPr>
              <a:t>connections</a:t>
            </a:r>
            <a:r>
              <a:rPr sz="1550" spc="110" dirty="0">
                <a:solidFill>
                  <a:srgbClr val="7B7B7B"/>
                </a:solidFill>
                <a:latin typeface="Calibri"/>
                <a:cs typeface="Calibri"/>
              </a:rPr>
              <a:t> </a:t>
            </a:r>
            <a:r>
              <a:rPr sz="1550" dirty="0">
                <a:solidFill>
                  <a:srgbClr val="7B7B7B"/>
                </a:solidFill>
                <a:latin typeface="Calibri"/>
                <a:cs typeface="Calibri"/>
              </a:rPr>
              <a:t>or</a:t>
            </a:r>
            <a:r>
              <a:rPr sz="1550" spc="105" dirty="0">
                <a:solidFill>
                  <a:srgbClr val="7B7B7B"/>
                </a:solidFill>
                <a:latin typeface="Calibri"/>
                <a:cs typeface="Calibri"/>
              </a:rPr>
              <a:t> </a:t>
            </a:r>
            <a:r>
              <a:rPr sz="1550" dirty="0">
                <a:solidFill>
                  <a:srgbClr val="7B7B7B"/>
                </a:solidFill>
                <a:latin typeface="Calibri"/>
                <a:cs typeface="Calibri"/>
              </a:rPr>
              <a:t>relationships</a:t>
            </a:r>
            <a:r>
              <a:rPr sz="1550" spc="110" dirty="0">
                <a:solidFill>
                  <a:srgbClr val="7B7B7B"/>
                </a:solidFill>
                <a:latin typeface="Calibri"/>
                <a:cs typeface="Calibri"/>
              </a:rPr>
              <a:t> </a:t>
            </a:r>
            <a:r>
              <a:rPr sz="1550" dirty="0">
                <a:solidFill>
                  <a:srgbClr val="7B7B7B"/>
                </a:solidFill>
                <a:latin typeface="Calibri"/>
                <a:cs typeface="Calibri"/>
              </a:rPr>
              <a:t>between</a:t>
            </a:r>
            <a:r>
              <a:rPr sz="1550" spc="130" dirty="0">
                <a:solidFill>
                  <a:srgbClr val="7B7B7B"/>
                </a:solidFill>
                <a:latin typeface="Calibri"/>
                <a:cs typeface="Calibri"/>
              </a:rPr>
              <a:t> </a:t>
            </a:r>
            <a:r>
              <a:rPr sz="1550" spc="-10" dirty="0">
                <a:solidFill>
                  <a:srgbClr val="7B7B7B"/>
                </a:solidFill>
                <a:latin typeface="Calibri"/>
                <a:cs typeface="Calibri"/>
              </a:rPr>
              <a:t>launch </a:t>
            </a:r>
            <a:r>
              <a:rPr sz="1550" dirty="0">
                <a:solidFill>
                  <a:srgbClr val="7B7B7B"/>
                </a:solidFill>
                <a:latin typeface="Calibri"/>
                <a:cs typeface="Calibri"/>
              </a:rPr>
              <a:t>sites</a:t>
            </a:r>
            <a:r>
              <a:rPr sz="1550" spc="60" dirty="0">
                <a:solidFill>
                  <a:srgbClr val="7B7B7B"/>
                </a:solidFill>
                <a:latin typeface="Calibri"/>
                <a:cs typeface="Calibri"/>
              </a:rPr>
              <a:t> </a:t>
            </a:r>
            <a:r>
              <a:rPr sz="1550" dirty="0">
                <a:solidFill>
                  <a:srgbClr val="7B7B7B"/>
                </a:solidFill>
                <a:latin typeface="Calibri"/>
                <a:cs typeface="Calibri"/>
              </a:rPr>
              <a:t>and</a:t>
            </a:r>
            <a:r>
              <a:rPr sz="1550" spc="80" dirty="0">
                <a:solidFill>
                  <a:srgbClr val="7B7B7B"/>
                </a:solidFill>
                <a:latin typeface="Calibri"/>
                <a:cs typeface="Calibri"/>
              </a:rPr>
              <a:t> </a:t>
            </a:r>
            <a:r>
              <a:rPr sz="1550" dirty="0">
                <a:solidFill>
                  <a:srgbClr val="7B7B7B"/>
                </a:solidFill>
                <a:latin typeface="Calibri"/>
                <a:cs typeface="Calibri"/>
              </a:rPr>
              <a:t>relevant</a:t>
            </a:r>
            <a:r>
              <a:rPr sz="1550" spc="75" dirty="0">
                <a:solidFill>
                  <a:srgbClr val="7B7B7B"/>
                </a:solidFill>
                <a:latin typeface="Calibri"/>
                <a:cs typeface="Calibri"/>
              </a:rPr>
              <a:t> </a:t>
            </a:r>
            <a:r>
              <a:rPr sz="1550" spc="-10" dirty="0">
                <a:solidFill>
                  <a:srgbClr val="7B7B7B"/>
                </a:solidFill>
                <a:latin typeface="Calibri"/>
                <a:cs typeface="Calibri"/>
              </a:rPr>
              <a:t>features.</a:t>
            </a:r>
            <a:endParaRPr sz="1550">
              <a:latin typeface="Calibri"/>
              <a:cs typeface="Calibri"/>
            </a:endParaRPr>
          </a:p>
          <a:p>
            <a:pPr marL="298450" marR="281305" indent="-286385">
              <a:lnSpc>
                <a:spcPct val="105000"/>
              </a:lnSpc>
              <a:buFont typeface="Arial MT"/>
              <a:buChar char="•"/>
              <a:tabLst>
                <a:tab pos="298450" algn="l"/>
              </a:tabLst>
            </a:pPr>
            <a:r>
              <a:rPr sz="1550" dirty="0">
                <a:solidFill>
                  <a:srgbClr val="7B7B7B"/>
                </a:solidFill>
                <a:latin typeface="Calibri"/>
                <a:cs typeface="Calibri"/>
              </a:rPr>
              <a:t>Enhances</a:t>
            </a:r>
            <a:r>
              <a:rPr sz="1550" spc="120" dirty="0">
                <a:solidFill>
                  <a:srgbClr val="7B7B7B"/>
                </a:solidFill>
                <a:latin typeface="Calibri"/>
                <a:cs typeface="Calibri"/>
              </a:rPr>
              <a:t> </a:t>
            </a:r>
            <a:r>
              <a:rPr sz="1550" dirty="0">
                <a:solidFill>
                  <a:srgbClr val="7B7B7B"/>
                </a:solidFill>
                <a:latin typeface="Calibri"/>
                <a:cs typeface="Calibri"/>
              </a:rPr>
              <a:t>understanding</a:t>
            </a:r>
            <a:r>
              <a:rPr sz="1550" spc="150" dirty="0">
                <a:solidFill>
                  <a:srgbClr val="7B7B7B"/>
                </a:solidFill>
                <a:latin typeface="Calibri"/>
                <a:cs typeface="Calibri"/>
              </a:rPr>
              <a:t> </a:t>
            </a:r>
            <a:r>
              <a:rPr sz="1550" dirty="0">
                <a:solidFill>
                  <a:srgbClr val="7B7B7B"/>
                </a:solidFill>
                <a:latin typeface="Calibri"/>
                <a:cs typeface="Calibri"/>
              </a:rPr>
              <a:t>of</a:t>
            </a:r>
            <a:r>
              <a:rPr sz="1550" spc="105" dirty="0">
                <a:solidFill>
                  <a:srgbClr val="7B7B7B"/>
                </a:solidFill>
                <a:latin typeface="Calibri"/>
                <a:cs typeface="Calibri"/>
              </a:rPr>
              <a:t> </a:t>
            </a:r>
            <a:r>
              <a:rPr sz="1550" dirty="0">
                <a:solidFill>
                  <a:srgbClr val="7B7B7B"/>
                </a:solidFill>
                <a:latin typeface="Calibri"/>
                <a:cs typeface="Calibri"/>
              </a:rPr>
              <a:t>spatial</a:t>
            </a:r>
            <a:r>
              <a:rPr sz="1550" spc="165" dirty="0">
                <a:solidFill>
                  <a:srgbClr val="7B7B7B"/>
                </a:solidFill>
                <a:latin typeface="Calibri"/>
                <a:cs typeface="Calibri"/>
              </a:rPr>
              <a:t> </a:t>
            </a:r>
            <a:r>
              <a:rPr sz="1550" dirty="0">
                <a:solidFill>
                  <a:srgbClr val="7B7B7B"/>
                </a:solidFill>
                <a:latin typeface="Calibri"/>
                <a:cs typeface="Calibri"/>
              </a:rPr>
              <a:t>relationships</a:t>
            </a:r>
            <a:r>
              <a:rPr sz="1550" spc="114" dirty="0">
                <a:solidFill>
                  <a:srgbClr val="7B7B7B"/>
                </a:solidFill>
                <a:latin typeface="Calibri"/>
                <a:cs typeface="Calibri"/>
              </a:rPr>
              <a:t> </a:t>
            </a:r>
            <a:r>
              <a:rPr sz="1550" spc="-25" dirty="0">
                <a:solidFill>
                  <a:srgbClr val="7B7B7B"/>
                </a:solidFill>
                <a:latin typeface="Calibri"/>
                <a:cs typeface="Calibri"/>
              </a:rPr>
              <a:t>and </a:t>
            </a:r>
            <a:r>
              <a:rPr sz="1550" spc="-10" dirty="0">
                <a:solidFill>
                  <a:srgbClr val="7B7B7B"/>
                </a:solidFill>
                <a:latin typeface="Calibri"/>
                <a:cs typeface="Calibri"/>
              </a:rPr>
              <a:t>dependencies.</a:t>
            </a:r>
            <a:endParaRPr sz="155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312" y="1348541"/>
            <a:ext cx="4562475" cy="4160241"/>
          </a:xfrm>
          <a:prstGeom prst="rect">
            <a:avLst/>
          </a:prstGeom>
        </p:spPr>
        <p:txBody>
          <a:bodyPr vert="horz" wrap="square" lIns="0" tIns="102235" rIns="0" bIns="0" rtlCol="0">
            <a:spAutoFit/>
          </a:bodyPr>
          <a:lstStyle/>
          <a:p>
            <a:pPr marL="12700">
              <a:lnSpc>
                <a:spcPct val="100000"/>
              </a:lnSpc>
              <a:spcBef>
                <a:spcPts val="805"/>
              </a:spcBef>
            </a:pPr>
            <a:r>
              <a:rPr sz="2600" b="1" spc="-10" dirty="0">
                <a:solidFill>
                  <a:srgbClr val="292929"/>
                </a:solidFill>
                <a:latin typeface="Calibri"/>
                <a:cs typeface="Calibri"/>
              </a:rPr>
              <a:t>Plots/Graphs</a:t>
            </a:r>
            <a:r>
              <a:rPr sz="2600" b="1" spc="-60" dirty="0">
                <a:solidFill>
                  <a:srgbClr val="292929"/>
                </a:solidFill>
                <a:latin typeface="Calibri"/>
                <a:cs typeface="Calibri"/>
              </a:rPr>
              <a:t> </a:t>
            </a:r>
            <a:r>
              <a:rPr sz="2600" b="1" spc="-20" dirty="0">
                <a:solidFill>
                  <a:srgbClr val="292929"/>
                </a:solidFill>
                <a:latin typeface="Calibri"/>
                <a:cs typeface="Calibri"/>
              </a:rPr>
              <a:t>Added</a:t>
            </a:r>
            <a:endParaRPr sz="2600" dirty="0">
              <a:latin typeface="Calibri"/>
              <a:cs typeface="Calibri"/>
            </a:endParaRPr>
          </a:p>
          <a:p>
            <a:pPr marL="12700">
              <a:lnSpc>
                <a:spcPct val="100000"/>
              </a:lnSpc>
              <a:spcBef>
                <a:spcPts val="555"/>
              </a:spcBef>
            </a:pPr>
            <a:r>
              <a:rPr sz="2000" dirty="0">
                <a:solidFill>
                  <a:srgbClr val="292929"/>
                </a:solidFill>
                <a:latin typeface="Calibri"/>
                <a:cs typeface="Calibri"/>
              </a:rPr>
              <a:t>Success</a:t>
            </a:r>
            <a:r>
              <a:rPr sz="2000" spc="-70" dirty="0">
                <a:solidFill>
                  <a:srgbClr val="292929"/>
                </a:solidFill>
                <a:latin typeface="Calibri"/>
                <a:cs typeface="Calibri"/>
              </a:rPr>
              <a:t> </a:t>
            </a:r>
            <a:r>
              <a:rPr sz="2000" dirty="0">
                <a:solidFill>
                  <a:srgbClr val="292929"/>
                </a:solidFill>
                <a:latin typeface="Calibri"/>
                <a:cs typeface="Calibri"/>
              </a:rPr>
              <a:t>Pie</a:t>
            </a:r>
            <a:r>
              <a:rPr sz="2000" spc="10" dirty="0">
                <a:solidFill>
                  <a:srgbClr val="292929"/>
                </a:solidFill>
                <a:latin typeface="Calibri"/>
                <a:cs typeface="Calibri"/>
              </a:rPr>
              <a:t> </a:t>
            </a:r>
            <a:r>
              <a:rPr sz="2000" spc="-10" dirty="0">
                <a:solidFill>
                  <a:srgbClr val="292929"/>
                </a:solidFill>
                <a:latin typeface="Calibri"/>
                <a:cs typeface="Calibri"/>
              </a:rPr>
              <a:t>Chart:</a:t>
            </a:r>
            <a:endParaRPr sz="2000" dirty="0">
              <a:latin typeface="Calibri"/>
              <a:cs typeface="Calibri"/>
            </a:endParaRPr>
          </a:p>
          <a:p>
            <a:pPr marL="355600" marR="329565" indent="-343535">
              <a:lnSpc>
                <a:spcPct val="78200"/>
              </a:lnSpc>
              <a:spcBef>
                <a:spcPts val="1055"/>
              </a:spcBef>
              <a:buFont typeface="Arial MT"/>
              <a:buChar char="•"/>
              <a:tabLst>
                <a:tab pos="355600" algn="l"/>
              </a:tabLst>
            </a:pPr>
            <a:r>
              <a:rPr sz="2000" dirty="0">
                <a:solidFill>
                  <a:srgbClr val="292929"/>
                </a:solidFill>
                <a:latin typeface="Calibri"/>
                <a:cs typeface="Calibri"/>
              </a:rPr>
              <a:t>Displays</a:t>
            </a:r>
            <a:r>
              <a:rPr sz="2000" spc="-35" dirty="0">
                <a:solidFill>
                  <a:srgbClr val="292929"/>
                </a:solidFill>
                <a:latin typeface="Calibri"/>
                <a:cs typeface="Calibri"/>
              </a:rPr>
              <a:t> </a:t>
            </a:r>
            <a:r>
              <a:rPr sz="2000" dirty="0">
                <a:solidFill>
                  <a:srgbClr val="292929"/>
                </a:solidFill>
                <a:latin typeface="Calibri"/>
                <a:cs typeface="Calibri"/>
              </a:rPr>
              <a:t>the</a:t>
            </a:r>
            <a:r>
              <a:rPr sz="2000" spc="-95" dirty="0">
                <a:solidFill>
                  <a:srgbClr val="292929"/>
                </a:solidFill>
                <a:latin typeface="Calibri"/>
                <a:cs typeface="Calibri"/>
              </a:rPr>
              <a:t> </a:t>
            </a:r>
            <a:r>
              <a:rPr sz="2000" dirty="0">
                <a:solidFill>
                  <a:srgbClr val="292929"/>
                </a:solidFill>
                <a:latin typeface="Calibri"/>
                <a:cs typeface="Calibri"/>
              </a:rPr>
              <a:t>distribution</a:t>
            </a:r>
            <a:r>
              <a:rPr sz="2000" spc="-70" dirty="0">
                <a:solidFill>
                  <a:srgbClr val="292929"/>
                </a:solidFill>
                <a:latin typeface="Calibri"/>
                <a:cs typeface="Calibri"/>
              </a:rPr>
              <a:t> </a:t>
            </a:r>
            <a:r>
              <a:rPr sz="2000" dirty="0">
                <a:solidFill>
                  <a:srgbClr val="292929"/>
                </a:solidFill>
                <a:latin typeface="Calibri"/>
                <a:cs typeface="Calibri"/>
              </a:rPr>
              <a:t>of</a:t>
            </a:r>
            <a:r>
              <a:rPr sz="2000" spc="-80" dirty="0">
                <a:solidFill>
                  <a:srgbClr val="292929"/>
                </a:solidFill>
                <a:latin typeface="Calibri"/>
                <a:cs typeface="Calibri"/>
              </a:rPr>
              <a:t> </a:t>
            </a:r>
            <a:r>
              <a:rPr sz="2000" spc="-10" dirty="0">
                <a:solidFill>
                  <a:srgbClr val="292929"/>
                </a:solidFill>
                <a:latin typeface="Calibri"/>
                <a:cs typeface="Calibri"/>
              </a:rPr>
              <a:t>successful </a:t>
            </a:r>
            <a:r>
              <a:rPr sz="2000" dirty="0">
                <a:solidFill>
                  <a:srgbClr val="292929"/>
                </a:solidFill>
                <a:latin typeface="Calibri"/>
                <a:cs typeface="Calibri"/>
              </a:rPr>
              <a:t>and</a:t>
            </a:r>
            <a:r>
              <a:rPr sz="2000" spc="-55" dirty="0">
                <a:solidFill>
                  <a:srgbClr val="292929"/>
                </a:solidFill>
                <a:latin typeface="Calibri"/>
                <a:cs typeface="Calibri"/>
              </a:rPr>
              <a:t> </a:t>
            </a:r>
            <a:r>
              <a:rPr sz="2000" dirty="0">
                <a:solidFill>
                  <a:srgbClr val="292929"/>
                </a:solidFill>
                <a:latin typeface="Calibri"/>
                <a:cs typeface="Calibri"/>
              </a:rPr>
              <a:t>failed</a:t>
            </a:r>
            <a:r>
              <a:rPr sz="2000" spc="-50" dirty="0">
                <a:solidFill>
                  <a:srgbClr val="292929"/>
                </a:solidFill>
                <a:latin typeface="Calibri"/>
                <a:cs typeface="Calibri"/>
              </a:rPr>
              <a:t> </a:t>
            </a:r>
            <a:r>
              <a:rPr sz="2000" spc="-10" dirty="0">
                <a:solidFill>
                  <a:srgbClr val="292929"/>
                </a:solidFill>
                <a:latin typeface="Calibri"/>
                <a:cs typeface="Calibri"/>
              </a:rPr>
              <a:t>launches.</a:t>
            </a:r>
            <a:endParaRPr sz="2000" dirty="0">
              <a:latin typeface="Calibri"/>
              <a:cs typeface="Calibri"/>
            </a:endParaRPr>
          </a:p>
          <a:p>
            <a:pPr marL="355600" marR="241300" indent="-343535">
              <a:lnSpc>
                <a:spcPts val="1950"/>
              </a:lnSpc>
              <a:spcBef>
                <a:spcPts val="969"/>
              </a:spcBef>
              <a:buFont typeface="Arial MT"/>
              <a:buChar char="•"/>
              <a:tabLst>
                <a:tab pos="355600" algn="l"/>
              </a:tabLst>
            </a:pPr>
            <a:r>
              <a:rPr sz="2000" dirty="0">
                <a:solidFill>
                  <a:srgbClr val="292929"/>
                </a:solidFill>
                <a:latin typeface="Calibri"/>
                <a:cs typeface="Calibri"/>
              </a:rPr>
              <a:t>Helps</a:t>
            </a:r>
            <a:r>
              <a:rPr sz="2000" spc="-20" dirty="0">
                <a:solidFill>
                  <a:srgbClr val="292929"/>
                </a:solidFill>
                <a:latin typeface="Calibri"/>
                <a:cs typeface="Calibri"/>
              </a:rPr>
              <a:t> </a:t>
            </a:r>
            <a:r>
              <a:rPr sz="2000" spc="-10" dirty="0">
                <a:solidFill>
                  <a:srgbClr val="292929"/>
                </a:solidFill>
                <a:latin typeface="Calibri"/>
                <a:cs typeface="Calibri"/>
              </a:rPr>
              <a:t>visualize </a:t>
            </a:r>
            <a:r>
              <a:rPr sz="2000" dirty="0">
                <a:solidFill>
                  <a:srgbClr val="292929"/>
                </a:solidFill>
                <a:latin typeface="Calibri"/>
                <a:cs typeface="Calibri"/>
              </a:rPr>
              <a:t>the</a:t>
            </a:r>
            <a:r>
              <a:rPr sz="2000" spc="-80" dirty="0">
                <a:solidFill>
                  <a:srgbClr val="292929"/>
                </a:solidFill>
                <a:latin typeface="Calibri"/>
                <a:cs typeface="Calibri"/>
              </a:rPr>
              <a:t> </a:t>
            </a:r>
            <a:r>
              <a:rPr sz="2000" spc="-10" dirty="0">
                <a:solidFill>
                  <a:srgbClr val="292929"/>
                </a:solidFill>
                <a:latin typeface="Calibri"/>
                <a:cs typeface="Calibri"/>
              </a:rPr>
              <a:t>overall</a:t>
            </a:r>
            <a:r>
              <a:rPr sz="2000" spc="-60" dirty="0">
                <a:solidFill>
                  <a:srgbClr val="292929"/>
                </a:solidFill>
                <a:latin typeface="Calibri"/>
                <a:cs typeface="Calibri"/>
              </a:rPr>
              <a:t> </a:t>
            </a:r>
            <a:r>
              <a:rPr sz="2000" dirty="0">
                <a:solidFill>
                  <a:srgbClr val="292929"/>
                </a:solidFill>
                <a:latin typeface="Calibri"/>
                <a:cs typeface="Calibri"/>
              </a:rPr>
              <a:t>success</a:t>
            </a:r>
            <a:r>
              <a:rPr sz="2000" spc="-80" dirty="0">
                <a:solidFill>
                  <a:srgbClr val="292929"/>
                </a:solidFill>
                <a:latin typeface="Calibri"/>
                <a:cs typeface="Calibri"/>
              </a:rPr>
              <a:t> </a:t>
            </a:r>
            <a:r>
              <a:rPr sz="2000" spc="-20" dirty="0">
                <a:solidFill>
                  <a:srgbClr val="292929"/>
                </a:solidFill>
                <a:latin typeface="Calibri"/>
                <a:cs typeface="Calibri"/>
              </a:rPr>
              <a:t>rate </a:t>
            </a:r>
            <a:r>
              <a:rPr sz="2000" dirty="0">
                <a:solidFill>
                  <a:srgbClr val="292929"/>
                </a:solidFill>
                <a:latin typeface="Calibri"/>
                <a:cs typeface="Calibri"/>
              </a:rPr>
              <a:t>and</a:t>
            </a:r>
            <a:r>
              <a:rPr sz="2000" spc="-25" dirty="0">
                <a:solidFill>
                  <a:srgbClr val="292929"/>
                </a:solidFill>
                <a:latin typeface="Calibri"/>
                <a:cs typeface="Calibri"/>
              </a:rPr>
              <a:t> </a:t>
            </a:r>
            <a:r>
              <a:rPr sz="2000" spc="-10" dirty="0">
                <a:solidFill>
                  <a:srgbClr val="292929"/>
                </a:solidFill>
                <a:latin typeface="Calibri"/>
                <a:cs typeface="Calibri"/>
              </a:rPr>
              <a:t>performance</a:t>
            </a:r>
            <a:r>
              <a:rPr sz="2000" spc="-40" dirty="0">
                <a:solidFill>
                  <a:srgbClr val="292929"/>
                </a:solidFill>
                <a:latin typeface="Calibri"/>
                <a:cs typeface="Calibri"/>
              </a:rPr>
              <a:t> </a:t>
            </a:r>
            <a:r>
              <a:rPr sz="2000" spc="-10" dirty="0">
                <a:solidFill>
                  <a:srgbClr val="292929"/>
                </a:solidFill>
                <a:latin typeface="Calibri"/>
                <a:cs typeface="Calibri"/>
              </a:rPr>
              <a:t>trends.</a:t>
            </a:r>
            <a:endParaRPr sz="2000" dirty="0">
              <a:latin typeface="Calibri"/>
              <a:cs typeface="Calibri"/>
            </a:endParaRPr>
          </a:p>
          <a:p>
            <a:pPr>
              <a:lnSpc>
                <a:spcPct val="100000"/>
              </a:lnSpc>
              <a:spcBef>
                <a:spcPts val="1030"/>
              </a:spcBef>
              <a:buClr>
                <a:srgbClr val="292929"/>
              </a:buClr>
              <a:buFont typeface="Arial MT"/>
              <a:buChar char="•"/>
            </a:pPr>
            <a:endParaRPr sz="2000" dirty="0">
              <a:latin typeface="Calibri"/>
              <a:cs typeface="Calibri"/>
            </a:endParaRPr>
          </a:p>
          <a:p>
            <a:pPr marL="12700">
              <a:lnSpc>
                <a:spcPct val="100000"/>
              </a:lnSpc>
            </a:pPr>
            <a:r>
              <a:rPr sz="2000" spc="-10" dirty="0">
                <a:solidFill>
                  <a:srgbClr val="292929"/>
                </a:solidFill>
                <a:latin typeface="Calibri"/>
                <a:cs typeface="Calibri"/>
              </a:rPr>
              <a:t>Success-</a:t>
            </a:r>
            <a:r>
              <a:rPr sz="2000" dirty="0">
                <a:solidFill>
                  <a:srgbClr val="292929"/>
                </a:solidFill>
                <a:latin typeface="Calibri"/>
                <a:cs typeface="Calibri"/>
              </a:rPr>
              <a:t>Payload</a:t>
            </a:r>
            <a:r>
              <a:rPr sz="2000" spc="-110" dirty="0">
                <a:solidFill>
                  <a:srgbClr val="292929"/>
                </a:solidFill>
                <a:latin typeface="Calibri"/>
                <a:cs typeface="Calibri"/>
              </a:rPr>
              <a:t> </a:t>
            </a:r>
            <a:r>
              <a:rPr sz="2000" spc="-10" dirty="0">
                <a:solidFill>
                  <a:srgbClr val="292929"/>
                </a:solidFill>
                <a:latin typeface="Calibri"/>
                <a:cs typeface="Calibri"/>
              </a:rPr>
              <a:t>Scatter</a:t>
            </a:r>
            <a:r>
              <a:rPr sz="2000" spc="-60" dirty="0">
                <a:solidFill>
                  <a:srgbClr val="292929"/>
                </a:solidFill>
                <a:latin typeface="Calibri"/>
                <a:cs typeface="Calibri"/>
              </a:rPr>
              <a:t> </a:t>
            </a:r>
            <a:r>
              <a:rPr sz="2000" spc="-20" dirty="0">
                <a:solidFill>
                  <a:srgbClr val="292929"/>
                </a:solidFill>
                <a:latin typeface="Calibri"/>
                <a:cs typeface="Calibri"/>
              </a:rPr>
              <a:t>Plot:</a:t>
            </a:r>
            <a:endParaRPr sz="2000" dirty="0">
              <a:latin typeface="Calibri"/>
              <a:cs typeface="Calibri"/>
            </a:endParaRPr>
          </a:p>
          <a:p>
            <a:pPr marL="355600" marR="5080" indent="-343535">
              <a:lnSpc>
                <a:spcPct val="78200"/>
              </a:lnSpc>
              <a:spcBef>
                <a:spcPts val="1055"/>
              </a:spcBef>
              <a:buFont typeface="Arial MT"/>
              <a:buChar char="•"/>
              <a:tabLst>
                <a:tab pos="355600" algn="l"/>
              </a:tabLst>
            </a:pPr>
            <a:r>
              <a:rPr sz="2000" dirty="0">
                <a:solidFill>
                  <a:srgbClr val="292929"/>
                </a:solidFill>
                <a:latin typeface="Calibri"/>
                <a:cs typeface="Calibri"/>
              </a:rPr>
              <a:t>Shows</a:t>
            </a:r>
            <a:r>
              <a:rPr sz="2000" spc="-70" dirty="0">
                <a:solidFill>
                  <a:srgbClr val="292929"/>
                </a:solidFill>
                <a:latin typeface="Calibri"/>
                <a:cs typeface="Calibri"/>
              </a:rPr>
              <a:t> </a:t>
            </a:r>
            <a:r>
              <a:rPr sz="2000" dirty="0">
                <a:solidFill>
                  <a:srgbClr val="292929"/>
                </a:solidFill>
                <a:latin typeface="Calibri"/>
                <a:cs typeface="Calibri"/>
              </a:rPr>
              <a:t>the</a:t>
            </a:r>
            <a:r>
              <a:rPr sz="2000" spc="10" dirty="0">
                <a:solidFill>
                  <a:srgbClr val="292929"/>
                </a:solidFill>
                <a:latin typeface="Calibri"/>
                <a:cs typeface="Calibri"/>
              </a:rPr>
              <a:t> </a:t>
            </a:r>
            <a:r>
              <a:rPr sz="2000" spc="-10" dirty="0">
                <a:solidFill>
                  <a:srgbClr val="292929"/>
                </a:solidFill>
                <a:latin typeface="Calibri"/>
                <a:cs typeface="Calibri"/>
              </a:rPr>
              <a:t>relationship</a:t>
            </a:r>
            <a:r>
              <a:rPr sz="2000" spc="-45" dirty="0">
                <a:solidFill>
                  <a:srgbClr val="292929"/>
                </a:solidFill>
                <a:latin typeface="Calibri"/>
                <a:cs typeface="Calibri"/>
              </a:rPr>
              <a:t> </a:t>
            </a:r>
            <a:r>
              <a:rPr sz="2000" spc="-10" dirty="0">
                <a:solidFill>
                  <a:srgbClr val="292929"/>
                </a:solidFill>
                <a:latin typeface="Calibri"/>
                <a:cs typeface="Calibri"/>
              </a:rPr>
              <a:t>between</a:t>
            </a:r>
            <a:r>
              <a:rPr sz="2000" spc="-40" dirty="0">
                <a:solidFill>
                  <a:srgbClr val="292929"/>
                </a:solidFill>
                <a:latin typeface="Calibri"/>
                <a:cs typeface="Calibri"/>
              </a:rPr>
              <a:t> </a:t>
            </a:r>
            <a:r>
              <a:rPr sz="2000" spc="-10" dirty="0">
                <a:solidFill>
                  <a:srgbClr val="292929"/>
                </a:solidFill>
                <a:latin typeface="Calibri"/>
                <a:cs typeface="Calibri"/>
              </a:rPr>
              <a:t>payload </a:t>
            </a:r>
            <a:r>
              <a:rPr sz="2000" dirty="0">
                <a:solidFill>
                  <a:srgbClr val="292929"/>
                </a:solidFill>
                <a:latin typeface="Calibri"/>
                <a:cs typeface="Calibri"/>
              </a:rPr>
              <a:t>mass</a:t>
            </a:r>
            <a:r>
              <a:rPr sz="2000" spc="-60" dirty="0">
                <a:solidFill>
                  <a:srgbClr val="292929"/>
                </a:solidFill>
                <a:latin typeface="Calibri"/>
                <a:cs typeface="Calibri"/>
              </a:rPr>
              <a:t> </a:t>
            </a:r>
            <a:r>
              <a:rPr sz="2000" dirty="0">
                <a:solidFill>
                  <a:srgbClr val="292929"/>
                </a:solidFill>
                <a:latin typeface="Calibri"/>
                <a:cs typeface="Calibri"/>
              </a:rPr>
              <a:t>and</a:t>
            </a:r>
            <a:r>
              <a:rPr sz="2000" spc="-35" dirty="0">
                <a:solidFill>
                  <a:srgbClr val="292929"/>
                </a:solidFill>
                <a:latin typeface="Calibri"/>
                <a:cs typeface="Calibri"/>
              </a:rPr>
              <a:t> </a:t>
            </a:r>
            <a:r>
              <a:rPr sz="2000" dirty="0">
                <a:solidFill>
                  <a:srgbClr val="292929"/>
                </a:solidFill>
                <a:latin typeface="Calibri"/>
                <a:cs typeface="Calibri"/>
              </a:rPr>
              <a:t>launch</a:t>
            </a:r>
            <a:r>
              <a:rPr sz="2000" spc="-35" dirty="0">
                <a:solidFill>
                  <a:srgbClr val="292929"/>
                </a:solidFill>
                <a:latin typeface="Calibri"/>
                <a:cs typeface="Calibri"/>
              </a:rPr>
              <a:t> </a:t>
            </a:r>
            <a:r>
              <a:rPr sz="2000" spc="-10" dirty="0">
                <a:solidFill>
                  <a:srgbClr val="292929"/>
                </a:solidFill>
                <a:latin typeface="Calibri"/>
                <a:cs typeface="Calibri"/>
              </a:rPr>
              <a:t>success.</a:t>
            </a:r>
            <a:endParaRPr sz="2000" dirty="0">
              <a:latin typeface="Calibri"/>
              <a:cs typeface="Calibri"/>
            </a:endParaRPr>
          </a:p>
          <a:p>
            <a:pPr marL="355600" marR="443865" indent="-343535">
              <a:lnSpc>
                <a:spcPts val="1950"/>
              </a:lnSpc>
              <a:spcBef>
                <a:spcPts val="965"/>
              </a:spcBef>
              <a:buFont typeface="Arial MT"/>
              <a:buChar char="•"/>
              <a:tabLst>
                <a:tab pos="355600" algn="l"/>
              </a:tabLst>
            </a:pPr>
            <a:r>
              <a:rPr sz="2000" dirty="0">
                <a:solidFill>
                  <a:srgbClr val="292929"/>
                </a:solidFill>
                <a:latin typeface="Calibri"/>
                <a:cs typeface="Calibri"/>
              </a:rPr>
              <a:t>Allows</a:t>
            </a:r>
            <a:r>
              <a:rPr sz="2000" spc="-10" dirty="0">
                <a:solidFill>
                  <a:srgbClr val="292929"/>
                </a:solidFill>
                <a:latin typeface="Calibri"/>
                <a:cs typeface="Calibri"/>
              </a:rPr>
              <a:t> </a:t>
            </a:r>
            <a:r>
              <a:rPr sz="2000" dirty="0">
                <a:solidFill>
                  <a:srgbClr val="292929"/>
                </a:solidFill>
                <a:latin typeface="Calibri"/>
                <a:cs typeface="Calibri"/>
              </a:rPr>
              <a:t>users</a:t>
            </a:r>
            <a:r>
              <a:rPr sz="2000" spc="-75" dirty="0">
                <a:solidFill>
                  <a:srgbClr val="292929"/>
                </a:solidFill>
                <a:latin typeface="Calibri"/>
                <a:cs typeface="Calibri"/>
              </a:rPr>
              <a:t> </a:t>
            </a:r>
            <a:r>
              <a:rPr sz="2000" dirty="0">
                <a:solidFill>
                  <a:srgbClr val="292929"/>
                </a:solidFill>
                <a:latin typeface="Calibri"/>
                <a:cs typeface="Calibri"/>
              </a:rPr>
              <a:t>to</a:t>
            </a:r>
            <a:r>
              <a:rPr sz="2000" spc="-55" dirty="0">
                <a:solidFill>
                  <a:srgbClr val="292929"/>
                </a:solidFill>
                <a:latin typeface="Calibri"/>
                <a:cs typeface="Calibri"/>
              </a:rPr>
              <a:t> </a:t>
            </a:r>
            <a:r>
              <a:rPr sz="2000" spc="-10" dirty="0">
                <a:solidFill>
                  <a:srgbClr val="292929"/>
                </a:solidFill>
                <a:latin typeface="Calibri"/>
                <a:cs typeface="Calibri"/>
              </a:rPr>
              <a:t>explore</a:t>
            </a:r>
            <a:r>
              <a:rPr sz="2000" spc="-70" dirty="0">
                <a:solidFill>
                  <a:srgbClr val="292929"/>
                </a:solidFill>
                <a:latin typeface="Calibri"/>
                <a:cs typeface="Calibri"/>
              </a:rPr>
              <a:t> </a:t>
            </a:r>
            <a:r>
              <a:rPr sz="2000" dirty="0">
                <a:solidFill>
                  <a:srgbClr val="292929"/>
                </a:solidFill>
                <a:latin typeface="Calibri"/>
                <a:cs typeface="Calibri"/>
              </a:rPr>
              <a:t>how</a:t>
            </a:r>
            <a:r>
              <a:rPr sz="2000" spc="-55" dirty="0">
                <a:solidFill>
                  <a:srgbClr val="292929"/>
                </a:solidFill>
                <a:latin typeface="Calibri"/>
                <a:cs typeface="Calibri"/>
              </a:rPr>
              <a:t> </a:t>
            </a:r>
            <a:r>
              <a:rPr sz="2000" spc="-10" dirty="0">
                <a:solidFill>
                  <a:srgbClr val="292929"/>
                </a:solidFill>
                <a:latin typeface="Calibri"/>
                <a:cs typeface="Calibri"/>
              </a:rPr>
              <a:t>payload </a:t>
            </a:r>
            <a:r>
              <a:rPr sz="2000" dirty="0">
                <a:solidFill>
                  <a:srgbClr val="292929"/>
                </a:solidFill>
                <a:latin typeface="Calibri"/>
                <a:cs typeface="Calibri"/>
              </a:rPr>
              <a:t>mass</a:t>
            </a:r>
            <a:r>
              <a:rPr sz="2000" spc="-60" dirty="0">
                <a:solidFill>
                  <a:srgbClr val="292929"/>
                </a:solidFill>
                <a:latin typeface="Calibri"/>
                <a:cs typeface="Calibri"/>
              </a:rPr>
              <a:t> </a:t>
            </a:r>
            <a:r>
              <a:rPr sz="2000" dirty="0">
                <a:solidFill>
                  <a:srgbClr val="292929"/>
                </a:solidFill>
                <a:latin typeface="Calibri"/>
                <a:cs typeface="Calibri"/>
              </a:rPr>
              <a:t>influences</a:t>
            </a:r>
            <a:r>
              <a:rPr sz="2000" spc="-60" dirty="0">
                <a:solidFill>
                  <a:srgbClr val="292929"/>
                </a:solidFill>
                <a:latin typeface="Calibri"/>
                <a:cs typeface="Calibri"/>
              </a:rPr>
              <a:t> </a:t>
            </a:r>
            <a:r>
              <a:rPr sz="2000" dirty="0">
                <a:solidFill>
                  <a:srgbClr val="292929"/>
                </a:solidFill>
                <a:latin typeface="Calibri"/>
                <a:cs typeface="Calibri"/>
              </a:rPr>
              <a:t>mission</a:t>
            </a:r>
            <a:r>
              <a:rPr sz="2000" spc="-30" dirty="0">
                <a:solidFill>
                  <a:srgbClr val="292929"/>
                </a:solidFill>
                <a:latin typeface="Calibri"/>
                <a:cs typeface="Calibri"/>
              </a:rPr>
              <a:t> </a:t>
            </a:r>
            <a:r>
              <a:rPr sz="2000" spc="-10" dirty="0">
                <a:solidFill>
                  <a:srgbClr val="292929"/>
                </a:solidFill>
                <a:latin typeface="Calibri"/>
                <a:cs typeface="Calibri"/>
              </a:rPr>
              <a:t>outcomes.</a:t>
            </a:r>
            <a:endParaRPr sz="2000" dirty="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18</a:t>
            </a:fld>
            <a:endParaRPr spc="60" dirty="0"/>
          </a:p>
        </p:txBody>
      </p:sp>
      <p:sp>
        <p:nvSpPr>
          <p:cNvPr id="3" name="object 3"/>
          <p:cNvSpPr txBox="1">
            <a:spLocks noGrp="1"/>
          </p:cNvSpPr>
          <p:nvPr>
            <p:ph type="title"/>
          </p:nvPr>
        </p:nvSpPr>
        <p:spPr>
          <a:xfrm>
            <a:off x="849312" y="420369"/>
            <a:ext cx="7152640" cy="586740"/>
          </a:xfrm>
          <a:prstGeom prst="rect">
            <a:avLst/>
          </a:prstGeom>
        </p:spPr>
        <p:txBody>
          <a:bodyPr vert="horz" wrap="square" lIns="0" tIns="16510" rIns="0" bIns="0" rtlCol="0">
            <a:spAutoFit/>
          </a:bodyPr>
          <a:lstStyle/>
          <a:p>
            <a:pPr marL="12700">
              <a:lnSpc>
                <a:spcPct val="100000"/>
              </a:lnSpc>
              <a:spcBef>
                <a:spcPts val="130"/>
              </a:spcBef>
            </a:pPr>
            <a:r>
              <a:rPr dirty="0"/>
              <a:t>Build</a:t>
            </a:r>
            <a:r>
              <a:rPr spc="-45" dirty="0"/>
              <a:t> </a:t>
            </a:r>
            <a:r>
              <a:rPr dirty="0"/>
              <a:t>a</a:t>
            </a:r>
            <a:r>
              <a:rPr spc="-5" dirty="0"/>
              <a:t> </a:t>
            </a:r>
            <a:r>
              <a:rPr spc="-40" dirty="0"/>
              <a:t>Dashboard </a:t>
            </a:r>
            <a:r>
              <a:rPr dirty="0"/>
              <a:t>with</a:t>
            </a:r>
            <a:r>
              <a:rPr spc="-5" dirty="0"/>
              <a:t> </a:t>
            </a:r>
            <a:r>
              <a:rPr dirty="0"/>
              <a:t>Plotly</a:t>
            </a:r>
            <a:r>
              <a:rPr spc="-5" dirty="0"/>
              <a:t> </a:t>
            </a:r>
            <a:r>
              <a:rPr spc="-70" dirty="0"/>
              <a:t>Dash</a:t>
            </a:r>
          </a:p>
        </p:txBody>
      </p:sp>
      <p:sp>
        <p:nvSpPr>
          <p:cNvPr id="4" name="object 4"/>
          <p:cNvSpPr txBox="1"/>
          <p:nvPr/>
        </p:nvSpPr>
        <p:spPr>
          <a:xfrm>
            <a:off x="6107429" y="1330146"/>
            <a:ext cx="5163185" cy="4486910"/>
          </a:xfrm>
          <a:prstGeom prst="rect">
            <a:avLst/>
          </a:prstGeom>
        </p:spPr>
        <p:txBody>
          <a:bodyPr vert="horz" wrap="square" lIns="0" tIns="152400" rIns="0" bIns="0" rtlCol="0">
            <a:spAutoFit/>
          </a:bodyPr>
          <a:lstStyle/>
          <a:p>
            <a:pPr marL="12700">
              <a:lnSpc>
                <a:spcPct val="100000"/>
              </a:lnSpc>
              <a:spcBef>
                <a:spcPts val="1200"/>
              </a:spcBef>
            </a:pPr>
            <a:r>
              <a:rPr sz="2600" b="1" spc="-10" dirty="0">
                <a:solidFill>
                  <a:srgbClr val="292929"/>
                </a:solidFill>
                <a:latin typeface="Calibri"/>
                <a:cs typeface="Calibri"/>
              </a:rPr>
              <a:t>Interactions</a:t>
            </a:r>
            <a:r>
              <a:rPr sz="2600" b="1" spc="-130" dirty="0">
                <a:solidFill>
                  <a:srgbClr val="292929"/>
                </a:solidFill>
                <a:latin typeface="Calibri"/>
                <a:cs typeface="Calibri"/>
              </a:rPr>
              <a:t> </a:t>
            </a:r>
            <a:r>
              <a:rPr sz="2600" b="1" spc="-20" dirty="0">
                <a:solidFill>
                  <a:srgbClr val="292929"/>
                </a:solidFill>
                <a:latin typeface="Calibri"/>
                <a:cs typeface="Calibri"/>
              </a:rPr>
              <a:t>Added</a:t>
            </a:r>
            <a:endParaRPr sz="2600">
              <a:latin typeface="Calibri"/>
              <a:cs typeface="Calibri"/>
            </a:endParaRPr>
          </a:p>
          <a:p>
            <a:pPr marL="12700">
              <a:lnSpc>
                <a:spcPct val="100000"/>
              </a:lnSpc>
              <a:spcBef>
                <a:spcPts val="865"/>
              </a:spcBef>
            </a:pPr>
            <a:r>
              <a:rPr sz="2000" dirty="0">
                <a:solidFill>
                  <a:srgbClr val="292929"/>
                </a:solidFill>
                <a:latin typeface="Calibri"/>
                <a:cs typeface="Calibri"/>
              </a:rPr>
              <a:t>Launch</a:t>
            </a:r>
            <a:r>
              <a:rPr sz="2000" spc="-40" dirty="0">
                <a:solidFill>
                  <a:srgbClr val="292929"/>
                </a:solidFill>
                <a:latin typeface="Calibri"/>
                <a:cs typeface="Calibri"/>
              </a:rPr>
              <a:t> </a:t>
            </a:r>
            <a:r>
              <a:rPr sz="2000" dirty="0">
                <a:solidFill>
                  <a:srgbClr val="292929"/>
                </a:solidFill>
                <a:latin typeface="Calibri"/>
                <a:cs typeface="Calibri"/>
              </a:rPr>
              <a:t>Site</a:t>
            </a:r>
            <a:r>
              <a:rPr sz="2000" spc="-55" dirty="0">
                <a:solidFill>
                  <a:srgbClr val="292929"/>
                </a:solidFill>
                <a:latin typeface="Calibri"/>
                <a:cs typeface="Calibri"/>
              </a:rPr>
              <a:t> </a:t>
            </a:r>
            <a:r>
              <a:rPr sz="2000" spc="-10" dirty="0">
                <a:solidFill>
                  <a:srgbClr val="292929"/>
                </a:solidFill>
                <a:latin typeface="Calibri"/>
                <a:cs typeface="Calibri"/>
              </a:rPr>
              <a:t>Dropdown:</a:t>
            </a:r>
            <a:endParaRPr sz="2000">
              <a:latin typeface="Calibri"/>
              <a:cs typeface="Calibri"/>
            </a:endParaRPr>
          </a:p>
          <a:p>
            <a:pPr marL="355600" marR="5080" indent="-343535">
              <a:lnSpc>
                <a:spcPts val="2100"/>
              </a:lnSpc>
              <a:spcBef>
                <a:spcPts val="1070"/>
              </a:spcBef>
              <a:buFont typeface="Arial MT"/>
              <a:buChar char="•"/>
              <a:tabLst>
                <a:tab pos="355600" algn="l"/>
              </a:tabLst>
            </a:pPr>
            <a:r>
              <a:rPr sz="2000" dirty="0">
                <a:solidFill>
                  <a:srgbClr val="292929"/>
                </a:solidFill>
                <a:latin typeface="Calibri"/>
                <a:cs typeface="Calibri"/>
              </a:rPr>
              <a:t>Enables</a:t>
            </a:r>
            <a:r>
              <a:rPr sz="2000" spc="-15" dirty="0">
                <a:solidFill>
                  <a:srgbClr val="292929"/>
                </a:solidFill>
                <a:latin typeface="Calibri"/>
                <a:cs typeface="Calibri"/>
              </a:rPr>
              <a:t> </a:t>
            </a:r>
            <a:r>
              <a:rPr sz="2000" dirty="0">
                <a:solidFill>
                  <a:srgbClr val="292929"/>
                </a:solidFill>
                <a:latin typeface="Calibri"/>
                <a:cs typeface="Calibri"/>
              </a:rPr>
              <a:t>users</a:t>
            </a:r>
            <a:r>
              <a:rPr sz="2000" spc="-75" dirty="0">
                <a:solidFill>
                  <a:srgbClr val="292929"/>
                </a:solidFill>
                <a:latin typeface="Calibri"/>
                <a:cs typeface="Calibri"/>
              </a:rPr>
              <a:t> </a:t>
            </a:r>
            <a:r>
              <a:rPr sz="2000" dirty="0">
                <a:solidFill>
                  <a:srgbClr val="292929"/>
                </a:solidFill>
                <a:latin typeface="Calibri"/>
                <a:cs typeface="Calibri"/>
              </a:rPr>
              <a:t>to</a:t>
            </a:r>
            <a:r>
              <a:rPr sz="2000" spc="-60" dirty="0">
                <a:solidFill>
                  <a:srgbClr val="292929"/>
                </a:solidFill>
                <a:latin typeface="Calibri"/>
                <a:cs typeface="Calibri"/>
              </a:rPr>
              <a:t> </a:t>
            </a:r>
            <a:r>
              <a:rPr sz="2000" dirty="0">
                <a:solidFill>
                  <a:srgbClr val="292929"/>
                </a:solidFill>
                <a:latin typeface="Calibri"/>
                <a:cs typeface="Calibri"/>
              </a:rPr>
              <a:t>select</a:t>
            </a:r>
            <a:r>
              <a:rPr sz="2000" spc="-45" dirty="0">
                <a:solidFill>
                  <a:srgbClr val="292929"/>
                </a:solidFill>
                <a:latin typeface="Calibri"/>
                <a:cs typeface="Calibri"/>
              </a:rPr>
              <a:t> </a:t>
            </a:r>
            <a:r>
              <a:rPr sz="2000" dirty="0">
                <a:solidFill>
                  <a:srgbClr val="292929"/>
                </a:solidFill>
                <a:latin typeface="Calibri"/>
                <a:cs typeface="Calibri"/>
              </a:rPr>
              <a:t>specific</a:t>
            </a:r>
            <a:r>
              <a:rPr sz="2000" spc="-65" dirty="0">
                <a:solidFill>
                  <a:srgbClr val="292929"/>
                </a:solidFill>
                <a:latin typeface="Calibri"/>
                <a:cs typeface="Calibri"/>
              </a:rPr>
              <a:t> </a:t>
            </a:r>
            <a:r>
              <a:rPr sz="2000" dirty="0">
                <a:solidFill>
                  <a:srgbClr val="292929"/>
                </a:solidFill>
                <a:latin typeface="Calibri"/>
                <a:cs typeface="Calibri"/>
              </a:rPr>
              <a:t>launch</a:t>
            </a:r>
            <a:r>
              <a:rPr sz="2000" spc="-55" dirty="0">
                <a:solidFill>
                  <a:srgbClr val="292929"/>
                </a:solidFill>
                <a:latin typeface="Calibri"/>
                <a:cs typeface="Calibri"/>
              </a:rPr>
              <a:t> </a:t>
            </a:r>
            <a:r>
              <a:rPr sz="2000" dirty="0">
                <a:solidFill>
                  <a:srgbClr val="292929"/>
                </a:solidFill>
                <a:latin typeface="Calibri"/>
                <a:cs typeface="Calibri"/>
              </a:rPr>
              <a:t>sites</a:t>
            </a:r>
            <a:r>
              <a:rPr sz="2000" spc="-75" dirty="0">
                <a:solidFill>
                  <a:srgbClr val="292929"/>
                </a:solidFill>
                <a:latin typeface="Calibri"/>
                <a:cs typeface="Calibri"/>
              </a:rPr>
              <a:t> </a:t>
            </a:r>
            <a:r>
              <a:rPr sz="2000" spc="-25" dirty="0">
                <a:solidFill>
                  <a:srgbClr val="292929"/>
                </a:solidFill>
                <a:latin typeface="Calibri"/>
                <a:cs typeface="Calibri"/>
              </a:rPr>
              <a:t>for </a:t>
            </a:r>
            <a:r>
              <a:rPr sz="2000" spc="-10" dirty="0">
                <a:solidFill>
                  <a:srgbClr val="292929"/>
                </a:solidFill>
                <a:latin typeface="Calibri"/>
                <a:cs typeface="Calibri"/>
              </a:rPr>
              <a:t>analysis.</a:t>
            </a:r>
            <a:endParaRPr sz="2000">
              <a:latin typeface="Calibri"/>
              <a:cs typeface="Calibri"/>
            </a:endParaRPr>
          </a:p>
          <a:p>
            <a:pPr marL="355600" marR="368300" indent="-343535">
              <a:lnSpc>
                <a:spcPts val="2100"/>
              </a:lnSpc>
              <a:spcBef>
                <a:spcPts val="1135"/>
              </a:spcBef>
              <a:buFont typeface="Arial MT"/>
              <a:buChar char="•"/>
              <a:tabLst>
                <a:tab pos="355600" algn="l"/>
              </a:tabLst>
            </a:pPr>
            <a:r>
              <a:rPr sz="2000" spc="-20" dirty="0">
                <a:solidFill>
                  <a:srgbClr val="292929"/>
                </a:solidFill>
                <a:latin typeface="Calibri"/>
                <a:cs typeface="Calibri"/>
              </a:rPr>
              <a:t>Facilitates</a:t>
            </a:r>
            <a:r>
              <a:rPr sz="2000" spc="-85" dirty="0">
                <a:solidFill>
                  <a:srgbClr val="292929"/>
                </a:solidFill>
                <a:latin typeface="Calibri"/>
                <a:cs typeface="Calibri"/>
              </a:rPr>
              <a:t> </a:t>
            </a:r>
            <a:r>
              <a:rPr sz="2000" dirty="0">
                <a:solidFill>
                  <a:srgbClr val="292929"/>
                </a:solidFill>
                <a:latin typeface="Calibri"/>
                <a:cs typeface="Calibri"/>
              </a:rPr>
              <a:t>filtering</a:t>
            </a:r>
            <a:r>
              <a:rPr sz="2000" spc="-25" dirty="0">
                <a:solidFill>
                  <a:srgbClr val="292929"/>
                </a:solidFill>
                <a:latin typeface="Calibri"/>
                <a:cs typeface="Calibri"/>
              </a:rPr>
              <a:t> </a:t>
            </a:r>
            <a:r>
              <a:rPr sz="2000" dirty="0">
                <a:solidFill>
                  <a:srgbClr val="292929"/>
                </a:solidFill>
                <a:latin typeface="Calibri"/>
                <a:cs typeface="Calibri"/>
              </a:rPr>
              <a:t>and</a:t>
            </a:r>
            <a:r>
              <a:rPr sz="2000" spc="-60" dirty="0">
                <a:solidFill>
                  <a:srgbClr val="292929"/>
                </a:solidFill>
                <a:latin typeface="Calibri"/>
                <a:cs typeface="Calibri"/>
              </a:rPr>
              <a:t> </a:t>
            </a:r>
            <a:r>
              <a:rPr sz="2000" dirty="0">
                <a:solidFill>
                  <a:srgbClr val="292929"/>
                </a:solidFill>
                <a:latin typeface="Calibri"/>
                <a:cs typeface="Calibri"/>
              </a:rPr>
              <a:t>focused</a:t>
            </a:r>
            <a:r>
              <a:rPr sz="2000" spc="-60" dirty="0">
                <a:solidFill>
                  <a:srgbClr val="292929"/>
                </a:solidFill>
                <a:latin typeface="Calibri"/>
                <a:cs typeface="Calibri"/>
              </a:rPr>
              <a:t> </a:t>
            </a:r>
            <a:r>
              <a:rPr sz="2000" spc="-10" dirty="0">
                <a:solidFill>
                  <a:srgbClr val="292929"/>
                </a:solidFill>
                <a:latin typeface="Calibri"/>
                <a:cs typeface="Calibri"/>
              </a:rPr>
              <a:t>exploration </a:t>
            </a:r>
            <a:r>
              <a:rPr sz="2000" dirty="0">
                <a:solidFill>
                  <a:srgbClr val="292929"/>
                </a:solidFill>
                <a:latin typeface="Calibri"/>
                <a:cs typeface="Calibri"/>
              </a:rPr>
              <a:t>based</a:t>
            </a:r>
            <a:r>
              <a:rPr sz="2000" spc="-40" dirty="0">
                <a:solidFill>
                  <a:srgbClr val="292929"/>
                </a:solidFill>
                <a:latin typeface="Calibri"/>
                <a:cs typeface="Calibri"/>
              </a:rPr>
              <a:t> </a:t>
            </a:r>
            <a:r>
              <a:rPr sz="2000" dirty="0">
                <a:solidFill>
                  <a:srgbClr val="292929"/>
                </a:solidFill>
                <a:latin typeface="Calibri"/>
                <a:cs typeface="Calibri"/>
              </a:rPr>
              <a:t>on</a:t>
            </a:r>
            <a:r>
              <a:rPr sz="2000" spc="-35" dirty="0">
                <a:solidFill>
                  <a:srgbClr val="292929"/>
                </a:solidFill>
                <a:latin typeface="Calibri"/>
                <a:cs typeface="Calibri"/>
              </a:rPr>
              <a:t> </a:t>
            </a:r>
            <a:r>
              <a:rPr sz="2000" spc="-10" dirty="0">
                <a:solidFill>
                  <a:srgbClr val="292929"/>
                </a:solidFill>
                <a:latin typeface="Calibri"/>
                <a:cs typeface="Calibri"/>
              </a:rPr>
              <a:t>geographical</a:t>
            </a:r>
            <a:r>
              <a:rPr sz="2000" spc="-30" dirty="0">
                <a:solidFill>
                  <a:srgbClr val="292929"/>
                </a:solidFill>
                <a:latin typeface="Calibri"/>
                <a:cs typeface="Calibri"/>
              </a:rPr>
              <a:t> </a:t>
            </a:r>
            <a:r>
              <a:rPr sz="2000" spc="-10" dirty="0">
                <a:solidFill>
                  <a:srgbClr val="292929"/>
                </a:solidFill>
                <a:latin typeface="Calibri"/>
                <a:cs typeface="Calibri"/>
              </a:rPr>
              <a:t>locations.</a:t>
            </a:r>
            <a:endParaRPr sz="2000">
              <a:latin typeface="Calibri"/>
              <a:cs typeface="Calibri"/>
            </a:endParaRPr>
          </a:p>
          <a:p>
            <a:pPr>
              <a:lnSpc>
                <a:spcPct val="100000"/>
              </a:lnSpc>
              <a:spcBef>
                <a:spcPts val="1525"/>
              </a:spcBef>
              <a:buClr>
                <a:srgbClr val="292929"/>
              </a:buClr>
              <a:buFont typeface="Arial MT"/>
              <a:buChar char="•"/>
            </a:pPr>
            <a:endParaRPr sz="2000">
              <a:latin typeface="Calibri"/>
              <a:cs typeface="Calibri"/>
            </a:endParaRPr>
          </a:p>
          <a:p>
            <a:pPr marL="12700">
              <a:lnSpc>
                <a:spcPct val="100000"/>
              </a:lnSpc>
            </a:pPr>
            <a:r>
              <a:rPr sz="2000" dirty="0">
                <a:solidFill>
                  <a:srgbClr val="292929"/>
                </a:solidFill>
                <a:latin typeface="Calibri"/>
                <a:cs typeface="Calibri"/>
              </a:rPr>
              <a:t>Range</a:t>
            </a:r>
            <a:r>
              <a:rPr sz="2000" spc="-65" dirty="0">
                <a:solidFill>
                  <a:srgbClr val="292929"/>
                </a:solidFill>
                <a:latin typeface="Calibri"/>
                <a:cs typeface="Calibri"/>
              </a:rPr>
              <a:t> </a:t>
            </a:r>
            <a:r>
              <a:rPr sz="2000" dirty="0">
                <a:solidFill>
                  <a:srgbClr val="292929"/>
                </a:solidFill>
                <a:latin typeface="Calibri"/>
                <a:cs typeface="Calibri"/>
              </a:rPr>
              <a:t>Slider</a:t>
            </a:r>
            <a:r>
              <a:rPr sz="2000" spc="-55" dirty="0">
                <a:solidFill>
                  <a:srgbClr val="292929"/>
                </a:solidFill>
                <a:latin typeface="Calibri"/>
                <a:cs typeface="Calibri"/>
              </a:rPr>
              <a:t> </a:t>
            </a:r>
            <a:r>
              <a:rPr sz="2000" dirty="0">
                <a:solidFill>
                  <a:srgbClr val="292929"/>
                </a:solidFill>
                <a:latin typeface="Calibri"/>
                <a:cs typeface="Calibri"/>
              </a:rPr>
              <a:t>for</a:t>
            </a:r>
            <a:r>
              <a:rPr sz="2000" spc="-55" dirty="0">
                <a:solidFill>
                  <a:srgbClr val="292929"/>
                </a:solidFill>
                <a:latin typeface="Calibri"/>
                <a:cs typeface="Calibri"/>
              </a:rPr>
              <a:t> </a:t>
            </a:r>
            <a:r>
              <a:rPr sz="2000" spc="-10" dirty="0">
                <a:solidFill>
                  <a:srgbClr val="292929"/>
                </a:solidFill>
                <a:latin typeface="Calibri"/>
                <a:cs typeface="Calibri"/>
              </a:rPr>
              <a:t>Payload:</a:t>
            </a:r>
            <a:endParaRPr sz="2000">
              <a:latin typeface="Calibri"/>
              <a:cs typeface="Calibri"/>
            </a:endParaRPr>
          </a:p>
          <a:p>
            <a:pPr marL="355600" indent="-342900">
              <a:lnSpc>
                <a:spcPts val="2290"/>
              </a:lnSpc>
              <a:spcBef>
                <a:spcPts val="755"/>
              </a:spcBef>
              <a:buFont typeface="Arial MT"/>
              <a:buChar char="•"/>
              <a:tabLst>
                <a:tab pos="355600" algn="l"/>
              </a:tabLst>
            </a:pPr>
            <a:r>
              <a:rPr sz="2000" dirty="0">
                <a:solidFill>
                  <a:srgbClr val="292929"/>
                </a:solidFill>
                <a:latin typeface="Calibri"/>
                <a:cs typeface="Calibri"/>
              </a:rPr>
              <a:t>Allows</a:t>
            </a:r>
            <a:r>
              <a:rPr sz="2000" spc="-35" dirty="0">
                <a:solidFill>
                  <a:srgbClr val="292929"/>
                </a:solidFill>
                <a:latin typeface="Calibri"/>
                <a:cs typeface="Calibri"/>
              </a:rPr>
              <a:t> </a:t>
            </a:r>
            <a:r>
              <a:rPr sz="2000" dirty="0">
                <a:solidFill>
                  <a:srgbClr val="292929"/>
                </a:solidFill>
                <a:latin typeface="Calibri"/>
                <a:cs typeface="Calibri"/>
              </a:rPr>
              <a:t>users</a:t>
            </a:r>
            <a:r>
              <a:rPr sz="2000" spc="-90" dirty="0">
                <a:solidFill>
                  <a:srgbClr val="292929"/>
                </a:solidFill>
                <a:latin typeface="Calibri"/>
                <a:cs typeface="Calibri"/>
              </a:rPr>
              <a:t> </a:t>
            </a:r>
            <a:r>
              <a:rPr sz="2000" dirty="0">
                <a:solidFill>
                  <a:srgbClr val="292929"/>
                </a:solidFill>
                <a:latin typeface="Calibri"/>
                <a:cs typeface="Calibri"/>
              </a:rPr>
              <a:t>to</a:t>
            </a:r>
            <a:r>
              <a:rPr sz="2000" spc="-75" dirty="0">
                <a:solidFill>
                  <a:srgbClr val="292929"/>
                </a:solidFill>
                <a:latin typeface="Calibri"/>
                <a:cs typeface="Calibri"/>
              </a:rPr>
              <a:t> </a:t>
            </a:r>
            <a:r>
              <a:rPr sz="2000" dirty="0">
                <a:solidFill>
                  <a:srgbClr val="292929"/>
                </a:solidFill>
                <a:latin typeface="Calibri"/>
                <a:cs typeface="Calibri"/>
              </a:rPr>
              <a:t>adjust</a:t>
            </a:r>
            <a:r>
              <a:rPr sz="2000" spc="-60" dirty="0">
                <a:solidFill>
                  <a:srgbClr val="292929"/>
                </a:solidFill>
                <a:latin typeface="Calibri"/>
                <a:cs typeface="Calibri"/>
              </a:rPr>
              <a:t> </a:t>
            </a:r>
            <a:r>
              <a:rPr sz="2000" dirty="0">
                <a:solidFill>
                  <a:srgbClr val="292929"/>
                </a:solidFill>
                <a:latin typeface="Calibri"/>
                <a:cs typeface="Calibri"/>
              </a:rPr>
              <a:t>payload</a:t>
            </a:r>
            <a:r>
              <a:rPr sz="2000" spc="-70" dirty="0">
                <a:solidFill>
                  <a:srgbClr val="292929"/>
                </a:solidFill>
                <a:latin typeface="Calibri"/>
                <a:cs typeface="Calibri"/>
              </a:rPr>
              <a:t> </a:t>
            </a:r>
            <a:r>
              <a:rPr sz="2000" dirty="0">
                <a:solidFill>
                  <a:srgbClr val="292929"/>
                </a:solidFill>
                <a:latin typeface="Calibri"/>
                <a:cs typeface="Calibri"/>
              </a:rPr>
              <a:t>mass</a:t>
            </a:r>
            <a:r>
              <a:rPr sz="2000" spc="-30" dirty="0">
                <a:solidFill>
                  <a:srgbClr val="292929"/>
                </a:solidFill>
                <a:latin typeface="Calibri"/>
                <a:cs typeface="Calibri"/>
              </a:rPr>
              <a:t> </a:t>
            </a:r>
            <a:r>
              <a:rPr sz="2000" spc="-10" dirty="0">
                <a:solidFill>
                  <a:srgbClr val="292929"/>
                </a:solidFill>
                <a:latin typeface="Calibri"/>
                <a:cs typeface="Calibri"/>
              </a:rPr>
              <a:t>ranges</a:t>
            </a:r>
            <a:endParaRPr sz="2000">
              <a:latin typeface="Calibri"/>
              <a:cs typeface="Calibri"/>
            </a:endParaRPr>
          </a:p>
          <a:p>
            <a:pPr marL="355600">
              <a:lnSpc>
                <a:spcPts val="2290"/>
              </a:lnSpc>
            </a:pPr>
            <a:r>
              <a:rPr sz="2000" spc="-10" dirty="0">
                <a:solidFill>
                  <a:srgbClr val="292929"/>
                </a:solidFill>
                <a:latin typeface="Calibri"/>
                <a:cs typeface="Calibri"/>
              </a:rPr>
              <a:t>dynamically.</a:t>
            </a:r>
            <a:endParaRPr sz="2000">
              <a:latin typeface="Calibri"/>
              <a:cs typeface="Calibri"/>
            </a:endParaRPr>
          </a:p>
          <a:p>
            <a:pPr marL="355600" marR="231775" indent="-343535">
              <a:lnSpc>
                <a:spcPts val="2180"/>
              </a:lnSpc>
              <a:spcBef>
                <a:spcPts val="1010"/>
              </a:spcBef>
              <a:buFont typeface="Arial MT"/>
              <a:buChar char="•"/>
              <a:tabLst>
                <a:tab pos="355600" algn="l"/>
              </a:tabLst>
            </a:pPr>
            <a:r>
              <a:rPr sz="2000" spc="-10" dirty="0">
                <a:solidFill>
                  <a:srgbClr val="292929"/>
                </a:solidFill>
                <a:latin typeface="Calibri"/>
                <a:cs typeface="Calibri"/>
              </a:rPr>
              <a:t>Offers</a:t>
            </a:r>
            <a:r>
              <a:rPr sz="2000" spc="10" dirty="0">
                <a:solidFill>
                  <a:srgbClr val="292929"/>
                </a:solidFill>
                <a:latin typeface="Calibri"/>
                <a:cs typeface="Calibri"/>
              </a:rPr>
              <a:t> </a:t>
            </a:r>
            <a:r>
              <a:rPr sz="2000" spc="-10" dirty="0">
                <a:solidFill>
                  <a:srgbClr val="292929"/>
                </a:solidFill>
                <a:latin typeface="Calibri"/>
                <a:cs typeface="Calibri"/>
              </a:rPr>
              <a:t>flexibility</a:t>
            </a:r>
            <a:r>
              <a:rPr sz="2000" spc="-35" dirty="0">
                <a:solidFill>
                  <a:srgbClr val="292929"/>
                </a:solidFill>
                <a:latin typeface="Calibri"/>
                <a:cs typeface="Calibri"/>
              </a:rPr>
              <a:t> </a:t>
            </a:r>
            <a:r>
              <a:rPr sz="2000" dirty="0">
                <a:solidFill>
                  <a:srgbClr val="292929"/>
                </a:solidFill>
                <a:latin typeface="Calibri"/>
                <a:cs typeface="Calibri"/>
              </a:rPr>
              <a:t>in</a:t>
            </a:r>
            <a:r>
              <a:rPr sz="2000" spc="-30" dirty="0">
                <a:solidFill>
                  <a:srgbClr val="292929"/>
                </a:solidFill>
                <a:latin typeface="Calibri"/>
                <a:cs typeface="Calibri"/>
              </a:rPr>
              <a:t> </a:t>
            </a:r>
            <a:r>
              <a:rPr sz="2000" spc="-10" dirty="0">
                <a:solidFill>
                  <a:srgbClr val="292929"/>
                </a:solidFill>
                <a:latin typeface="Calibri"/>
                <a:cs typeface="Calibri"/>
              </a:rPr>
              <a:t>examining</a:t>
            </a:r>
            <a:r>
              <a:rPr sz="2000" spc="-70" dirty="0">
                <a:solidFill>
                  <a:srgbClr val="292929"/>
                </a:solidFill>
                <a:latin typeface="Calibri"/>
                <a:cs typeface="Calibri"/>
              </a:rPr>
              <a:t> </a:t>
            </a:r>
            <a:r>
              <a:rPr sz="2000" dirty="0">
                <a:solidFill>
                  <a:srgbClr val="292929"/>
                </a:solidFill>
                <a:latin typeface="Calibri"/>
                <a:cs typeface="Calibri"/>
              </a:rPr>
              <a:t>launch</a:t>
            </a:r>
            <a:r>
              <a:rPr sz="2000" spc="-30" dirty="0">
                <a:solidFill>
                  <a:srgbClr val="292929"/>
                </a:solidFill>
                <a:latin typeface="Calibri"/>
                <a:cs typeface="Calibri"/>
              </a:rPr>
              <a:t> </a:t>
            </a:r>
            <a:r>
              <a:rPr sz="2000" spc="-10" dirty="0">
                <a:solidFill>
                  <a:srgbClr val="292929"/>
                </a:solidFill>
                <a:latin typeface="Calibri"/>
                <a:cs typeface="Calibri"/>
              </a:rPr>
              <a:t>success </a:t>
            </a:r>
            <a:r>
              <a:rPr sz="2000" dirty="0">
                <a:solidFill>
                  <a:srgbClr val="292929"/>
                </a:solidFill>
                <a:latin typeface="Calibri"/>
                <a:cs typeface="Calibri"/>
              </a:rPr>
              <a:t>concerning</a:t>
            </a:r>
            <a:r>
              <a:rPr sz="2000" spc="-40" dirty="0">
                <a:solidFill>
                  <a:srgbClr val="292929"/>
                </a:solidFill>
                <a:latin typeface="Calibri"/>
                <a:cs typeface="Calibri"/>
              </a:rPr>
              <a:t> </a:t>
            </a:r>
            <a:r>
              <a:rPr sz="2000" spc="-10" dirty="0">
                <a:solidFill>
                  <a:srgbClr val="292929"/>
                </a:solidFill>
                <a:latin typeface="Calibri"/>
                <a:cs typeface="Calibri"/>
              </a:rPr>
              <a:t>payload</a:t>
            </a:r>
            <a:r>
              <a:rPr sz="2000" spc="-60" dirty="0">
                <a:solidFill>
                  <a:srgbClr val="292929"/>
                </a:solidFill>
                <a:latin typeface="Calibri"/>
                <a:cs typeface="Calibri"/>
              </a:rPr>
              <a:t> </a:t>
            </a:r>
            <a:r>
              <a:rPr sz="2000" dirty="0">
                <a:solidFill>
                  <a:srgbClr val="292929"/>
                </a:solidFill>
                <a:latin typeface="Calibri"/>
                <a:cs typeface="Calibri"/>
              </a:rPr>
              <a:t>mass</a:t>
            </a:r>
            <a:r>
              <a:rPr sz="2000" spc="-90" dirty="0">
                <a:solidFill>
                  <a:srgbClr val="292929"/>
                </a:solidFill>
                <a:latin typeface="Calibri"/>
                <a:cs typeface="Calibri"/>
              </a:rPr>
              <a:t> </a:t>
            </a:r>
            <a:r>
              <a:rPr sz="2000" spc="-10" dirty="0">
                <a:solidFill>
                  <a:srgbClr val="292929"/>
                </a:solidFill>
                <a:latin typeface="Calibri"/>
                <a:cs typeface="Calibri"/>
              </a:rPr>
              <a:t>variations.</a:t>
            </a:r>
            <a:endParaRPr sz="20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312" y="1510982"/>
            <a:ext cx="4742815" cy="3691890"/>
          </a:xfrm>
          <a:prstGeom prst="rect">
            <a:avLst/>
          </a:prstGeom>
        </p:spPr>
        <p:txBody>
          <a:bodyPr vert="horz" wrap="square" lIns="0" tIns="15875" rIns="0" bIns="0" rtlCol="0">
            <a:spAutoFit/>
          </a:bodyPr>
          <a:lstStyle/>
          <a:p>
            <a:pPr marL="12700">
              <a:lnSpc>
                <a:spcPct val="100000"/>
              </a:lnSpc>
              <a:spcBef>
                <a:spcPts val="125"/>
              </a:spcBef>
            </a:pPr>
            <a:r>
              <a:rPr sz="2000" b="1" dirty="0">
                <a:solidFill>
                  <a:srgbClr val="525252"/>
                </a:solidFill>
                <a:latin typeface="Calibri"/>
                <a:cs typeface="Calibri"/>
              </a:rPr>
              <a:t>Success</a:t>
            </a:r>
            <a:r>
              <a:rPr sz="2000" b="1" spc="-50" dirty="0">
                <a:solidFill>
                  <a:srgbClr val="525252"/>
                </a:solidFill>
                <a:latin typeface="Calibri"/>
                <a:cs typeface="Calibri"/>
              </a:rPr>
              <a:t> </a:t>
            </a:r>
            <a:r>
              <a:rPr sz="2000" b="1" dirty="0">
                <a:solidFill>
                  <a:srgbClr val="525252"/>
                </a:solidFill>
                <a:latin typeface="Calibri"/>
                <a:cs typeface="Calibri"/>
              </a:rPr>
              <a:t>Pie</a:t>
            </a:r>
            <a:r>
              <a:rPr sz="2000" b="1" spc="-40" dirty="0">
                <a:solidFill>
                  <a:srgbClr val="525252"/>
                </a:solidFill>
                <a:latin typeface="Calibri"/>
                <a:cs typeface="Calibri"/>
              </a:rPr>
              <a:t> </a:t>
            </a:r>
            <a:r>
              <a:rPr sz="2000" b="1" spc="-10" dirty="0">
                <a:solidFill>
                  <a:srgbClr val="525252"/>
                </a:solidFill>
                <a:latin typeface="Calibri"/>
                <a:cs typeface="Calibri"/>
              </a:rPr>
              <a:t>Chart:</a:t>
            </a:r>
            <a:endParaRPr sz="2000">
              <a:latin typeface="Calibri"/>
              <a:cs typeface="Calibri"/>
            </a:endParaRPr>
          </a:p>
          <a:p>
            <a:pPr marL="182245" marR="767080" indent="-170180">
              <a:lnSpc>
                <a:spcPct val="100000"/>
              </a:lnSpc>
              <a:spcBef>
                <a:spcPts val="5"/>
              </a:spcBef>
              <a:buFont typeface="Arial MT"/>
              <a:buChar char="•"/>
              <a:tabLst>
                <a:tab pos="184150" algn="l"/>
              </a:tabLst>
            </a:pPr>
            <a:r>
              <a:rPr sz="2000" dirty="0">
                <a:solidFill>
                  <a:srgbClr val="525252"/>
                </a:solidFill>
                <a:latin typeface="Calibri"/>
                <a:cs typeface="Calibri"/>
              </a:rPr>
              <a:t>Provides</a:t>
            </a:r>
            <a:r>
              <a:rPr sz="2000" spc="-15" dirty="0">
                <a:solidFill>
                  <a:srgbClr val="525252"/>
                </a:solidFill>
                <a:latin typeface="Calibri"/>
                <a:cs typeface="Calibri"/>
              </a:rPr>
              <a:t> </a:t>
            </a:r>
            <a:r>
              <a:rPr sz="2000" dirty="0">
                <a:solidFill>
                  <a:srgbClr val="525252"/>
                </a:solidFill>
                <a:latin typeface="Calibri"/>
                <a:cs typeface="Calibri"/>
              </a:rPr>
              <a:t>a</a:t>
            </a:r>
            <a:r>
              <a:rPr sz="2000" spc="-100" dirty="0">
                <a:solidFill>
                  <a:srgbClr val="525252"/>
                </a:solidFill>
                <a:latin typeface="Calibri"/>
                <a:cs typeface="Calibri"/>
              </a:rPr>
              <a:t> </a:t>
            </a:r>
            <a:r>
              <a:rPr sz="2000" dirty="0">
                <a:solidFill>
                  <a:srgbClr val="525252"/>
                </a:solidFill>
                <a:latin typeface="Calibri"/>
                <a:cs typeface="Calibri"/>
              </a:rPr>
              <a:t>quick</a:t>
            </a:r>
            <a:r>
              <a:rPr sz="2000" spc="-60" dirty="0">
                <a:solidFill>
                  <a:srgbClr val="525252"/>
                </a:solidFill>
                <a:latin typeface="Calibri"/>
                <a:cs typeface="Calibri"/>
              </a:rPr>
              <a:t> </a:t>
            </a:r>
            <a:r>
              <a:rPr sz="2000" dirty="0">
                <a:solidFill>
                  <a:srgbClr val="525252"/>
                </a:solidFill>
                <a:latin typeface="Calibri"/>
                <a:cs typeface="Calibri"/>
              </a:rPr>
              <a:t>overview</a:t>
            </a:r>
            <a:r>
              <a:rPr sz="2000" spc="-60" dirty="0">
                <a:solidFill>
                  <a:srgbClr val="525252"/>
                </a:solidFill>
                <a:latin typeface="Calibri"/>
                <a:cs typeface="Calibri"/>
              </a:rPr>
              <a:t> </a:t>
            </a:r>
            <a:r>
              <a:rPr sz="2000" dirty="0">
                <a:solidFill>
                  <a:srgbClr val="525252"/>
                </a:solidFill>
                <a:latin typeface="Calibri"/>
                <a:cs typeface="Calibri"/>
              </a:rPr>
              <a:t>of</a:t>
            </a:r>
            <a:r>
              <a:rPr sz="2000" spc="-60" dirty="0">
                <a:solidFill>
                  <a:srgbClr val="525252"/>
                </a:solidFill>
                <a:latin typeface="Calibri"/>
                <a:cs typeface="Calibri"/>
              </a:rPr>
              <a:t> </a:t>
            </a:r>
            <a:r>
              <a:rPr sz="2000" spc="-10" dirty="0">
                <a:solidFill>
                  <a:srgbClr val="525252"/>
                </a:solidFill>
                <a:latin typeface="Calibri"/>
                <a:cs typeface="Calibri"/>
              </a:rPr>
              <a:t>mission 	</a:t>
            </a:r>
            <a:r>
              <a:rPr sz="2000" dirty="0">
                <a:solidFill>
                  <a:srgbClr val="525252"/>
                </a:solidFill>
                <a:latin typeface="Calibri"/>
                <a:cs typeface="Calibri"/>
              </a:rPr>
              <a:t>success</a:t>
            </a:r>
            <a:r>
              <a:rPr sz="2000" spc="-30" dirty="0">
                <a:solidFill>
                  <a:srgbClr val="525252"/>
                </a:solidFill>
                <a:latin typeface="Calibri"/>
                <a:cs typeface="Calibri"/>
              </a:rPr>
              <a:t> </a:t>
            </a:r>
            <a:r>
              <a:rPr sz="2000" spc="-10" dirty="0">
                <a:solidFill>
                  <a:srgbClr val="525252"/>
                </a:solidFill>
                <a:latin typeface="Calibri"/>
                <a:cs typeface="Calibri"/>
              </a:rPr>
              <a:t>rates.</a:t>
            </a:r>
            <a:endParaRPr sz="2000">
              <a:latin typeface="Calibri"/>
              <a:cs typeface="Calibri"/>
            </a:endParaRPr>
          </a:p>
          <a:p>
            <a:pPr marL="182245" marR="398780" indent="-170180">
              <a:lnSpc>
                <a:spcPct val="100000"/>
              </a:lnSpc>
              <a:spcBef>
                <a:spcPts val="5"/>
              </a:spcBef>
              <a:buFont typeface="Arial MT"/>
              <a:buChar char="•"/>
              <a:tabLst>
                <a:tab pos="184150" algn="l"/>
              </a:tabLst>
            </a:pPr>
            <a:r>
              <a:rPr sz="2000" dirty="0">
                <a:solidFill>
                  <a:srgbClr val="525252"/>
                </a:solidFill>
                <a:latin typeface="Calibri"/>
                <a:cs typeface="Calibri"/>
              </a:rPr>
              <a:t>Essential</a:t>
            </a:r>
            <a:r>
              <a:rPr sz="2000" spc="-35" dirty="0">
                <a:solidFill>
                  <a:srgbClr val="525252"/>
                </a:solidFill>
                <a:latin typeface="Calibri"/>
                <a:cs typeface="Calibri"/>
              </a:rPr>
              <a:t> </a:t>
            </a:r>
            <a:r>
              <a:rPr sz="2000" dirty="0">
                <a:solidFill>
                  <a:srgbClr val="525252"/>
                </a:solidFill>
                <a:latin typeface="Calibri"/>
                <a:cs typeface="Calibri"/>
              </a:rPr>
              <a:t>for</a:t>
            </a:r>
            <a:r>
              <a:rPr sz="2000" spc="-55" dirty="0">
                <a:solidFill>
                  <a:srgbClr val="525252"/>
                </a:solidFill>
                <a:latin typeface="Calibri"/>
                <a:cs typeface="Calibri"/>
              </a:rPr>
              <a:t> </a:t>
            </a:r>
            <a:r>
              <a:rPr sz="2000" spc="-20" dirty="0">
                <a:solidFill>
                  <a:srgbClr val="525252"/>
                </a:solidFill>
                <a:latin typeface="Calibri"/>
                <a:cs typeface="Calibri"/>
              </a:rPr>
              <a:t>stakeholders</a:t>
            </a:r>
            <a:r>
              <a:rPr sz="2000" spc="-60" dirty="0">
                <a:solidFill>
                  <a:srgbClr val="525252"/>
                </a:solidFill>
                <a:latin typeface="Calibri"/>
                <a:cs typeface="Calibri"/>
              </a:rPr>
              <a:t> </a:t>
            </a:r>
            <a:r>
              <a:rPr sz="2000" dirty="0">
                <a:solidFill>
                  <a:srgbClr val="525252"/>
                </a:solidFill>
                <a:latin typeface="Calibri"/>
                <a:cs typeface="Calibri"/>
              </a:rPr>
              <a:t>to</a:t>
            </a:r>
            <a:r>
              <a:rPr sz="2000" spc="-40" dirty="0">
                <a:solidFill>
                  <a:srgbClr val="525252"/>
                </a:solidFill>
                <a:latin typeface="Calibri"/>
                <a:cs typeface="Calibri"/>
              </a:rPr>
              <a:t> </a:t>
            </a:r>
            <a:r>
              <a:rPr sz="2000" spc="-10" dirty="0">
                <a:solidFill>
                  <a:srgbClr val="525252"/>
                </a:solidFill>
                <a:latin typeface="Calibri"/>
                <a:cs typeface="Calibri"/>
              </a:rPr>
              <a:t>understand 	overall</a:t>
            </a:r>
            <a:r>
              <a:rPr sz="2000" spc="-35" dirty="0">
                <a:solidFill>
                  <a:srgbClr val="525252"/>
                </a:solidFill>
                <a:latin typeface="Calibri"/>
                <a:cs typeface="Calibri"/>
              </a:rPr>
              <a:t> </a:t>
            </a:r>
            <a:r>
              <a:rPr sz="2000" spc="-10" dirty="0">
                <a:solidFill>
                  <a:srgbClr val="525252"/>
                </a:solidFill>
                <a:latin typeface="Calibri"/>
                <a:cs typeface="Calibri"/>
              </a:rPr>
              <a:t>performance</a:t>
            </a:r>
            <a:r>
              <a:rPr sz="2000" spc="-50" dirty="0">
                <a:solidFill>
                  <a:srgbClr val="525252"/>
                </a:solidFill>
                <a:latin typeface="Calibri"/>
                <a:cs typeface="Calibri"/>
              </a:rPr>
              <a:t> </a:t>
            </a:r>
            <a:r>
              <a:rPr sz="2000" dirty="0">
                <a:solidFill>
                  <a:srgbClr val="525252"/>
                </a:solidFill>
                <a:latin typeface="Calibri"/>
                <a:cs typeface="Calibri"/>
              </a:rPr>
              <a:t>metrics</a:t>
            </a:r>
            <a:r>
              <a:rPr sz="2000" spc="-60" dirty="0">
                <a:solidFill>
                  <a:srgbClr val="525252"/>
                </a:solidFill>
                <a:latin typeface="Calibri"/>
                <a:cs typeface="Calibri"/>
              </a:rPr>
              <a:t> </a:t>
            </a:r>
            <a:r>
              <a:rPr sz="2000" dirty="0">
                <a:solidFill>
                  <a:srgbClr val="525252"/>
                </a:solidFill>
                <a:latin typeface="Calibri"/>
                <a:cs typeface="Calibri"/>
              </a:rPr>
              <a:t>at</a:t>
            </a:r>
            <a:r>
              <a:rPr sz="2000" spc="-15" dirty="0">
                <a:solidFill>
                  <a:srgbClr val="525252"/>
                </a:solidFill>
                <a:latin typeface="Calibri"/>
                <a:cs typeface="Calibri"/>
              </a:rPr>
              <a:t> </a:t>
            </a:r>
            <a:r>
              <a:rPr sz="2000" dirty="0">
                <a:solidFill>
                  <a:srgbClr val="525252"/>
                </a:solidFill>
                <a:latin typeface="Calibri"/>
                <a:cs typeface="Calibri"/>
              </a:rPr>
              <a:t>a</a:t>
            </a:r>
            <a:r>
              <a:rPr sz="2000" spc="-10" dirty="0">
                <a:solidFill>
                  <a:srgbClr val="525252"/>
                </a:solidFill>
                <a:latin typeface="Calibri"/>
                <a:cs typeface="Calibri"/>
              </a:rPr>
              <a:t> glance.</a:t>
            </a:r>
            <a:endParaRPr sz="2000">
              <a:latin typeface="Calibri"/>
              <a:cs typeface="Calibri"/>
            </a:endParaRPr>
          </a:p>
          <a:p>
            <a:pPr marL="12700">
              <a:lnSpc>
                <a:spcPct val="100000"/>
              </a:lnSpc>
              <a:spcBef>
                <a:spcPts val="2410"/>
              </a:spcBef>
            </a:pPr>
            <a:r>
              <a:rPr sz="2000" b="1" spc="-10" dirty="0">
                <a:solidFill>
                  <a:srgbClr val="525252"/>
                </a:solidFill>
                <a:latin typeface="Calibri"/>
                <a:cs typeface="Calibri"/>
              </a:rPr>
              <a:t>Success-Payload</a:t>
            </a:r>
            <a:r>
              <a:rPr sz="2000" b="1" spc="-70" dirty="0">
                <a:solidFill>
                  <a:srgbClr val="525252"/>
                </a:solidFill>
                <a:latin typeface="Calibri"/>
                <a:cs typeface="Calibri"/>
              </a:rPr>
              <a:t> </a:t>
            </a:r>
            <a:r>
              <a:rPr sz="2000" b="1" dirty="0">
                <a:solidFill>
                  <a:srgbClr val="525252"/>
                </a:solidFill>
                <a:latin typeface="Calibri"/>
                <a:cs typeface="Calibri"/>
              </a:rPr>
              <a:t>Scatter</a:t>
            </a:r>
            <a:r>
              <a:rPr sz="2000" b="1" spc="-5" dirty="0">
                <a:solidFill>
                  <a:srgbClr val="525252"/>
                </a:solidFill>
                <a:latin typeface="Calibri"/>
                <a:cs typeface="Calibri"/>
              </a:rPr>
              <a:t> </a:t>
            </a:r>
            <a:r>
              <a:rPr sz="2000" b="1" spc="-20" dirty="0">
                <a:solidFill>
                  <a:srgbClr val="525252"/>
                </a:solidFill>
                <a:latin typeface="Calibri"/>
                <a:cs typeface="Calibri"/>
              </a:rPr>
              <a:t>Plot:</a:t>
            </a:r>
            <a:endParaRPr sz="2000">
              <a:latin typeface="Calibri"/>
              <a:cs typeface="Calibri"/>
            </a:endParaRPr>
          </a:p>
          <a:p>
            <a:pPr marL="182245" marR="5080" indent="-170180">
              <a:lnSpc>
                <a:spcPct val="100000"/>
              </a:lnSpc>
              <a:spcBef>
                <a:spcPts val="5"/>
              </a:spcBef>
              <a:buFont typeface="Arial MT"/>
              <a:buChar char="•"/>
              <a:tabLst>
                <a:tab pos="184150" algn="l"/>
              </a:tabLst>
            </a:pPr>
            <a:r>
              <a:rPr sz="2000" dirty="0">
                <a:solidFill>
                  <a:srgbClr val="525252"/>
                </a:solidFill>
                <a:latin typeface="Calibri"/>
                <a:cs typeface="Calibri"/>
              </a:rPr>
              <a:t>Helps</a:t>
            </a:r>
            <a:r>
              <a:rPr sz="2000" spc="-30" dirty="0">
                <a:solidFill>
                  <a:srgbClr val="525252"/>
                </a:solidFill>
                <a:latin typeface="Calibri"/>
                <a:cs typeface="Calibri"/>
              </a:rPr>
              <a:t> </a:t>
            </a:r>
            <a:r>
              <a:rPr sz="2000" dirty="0">
                <a:solidFill>
                  <a:srgbClr val="525252"/>
                </a:solidFill>
                <a:latin typeface="Calibri"/>
                <a:cs typeface="Calibri"/>
              </a:rPr>
              <a:t>identify</a:t>
            </a:r>
            <a:r>
              <a:rPr sz="2000" spc="-65" dirty="0">
                <a:solidFill>
                  <a:srgbClr val="525252"/>
                </a:solidFill>
                <a:latin typeface="Calibri"/>
                <a:cs typeface="Calibri"/>
              </a:rPr>
              <a:t> </a:t>
            </a:r>
            <a:r>
              <a:rPr sz="2000" spc="-10" dirty="0">
                <a:solidFill>
                  <a:srgbClr val="525252"/>
                </a:solidFill>
                <a:latin typeface="Calibri"/>
                <a:cs typeface="Calibri"/>
              </a:rPr>
              <a:t>correlations</a:t>
            </a:r>
            <a:r>
              <a:rPr sz="2000" spc="-85" dirty="0">
                <a:solidFill>
                  <a:srgbClr val="525252"/>
                </a:solidFill>
                <a:latin typeface="Calibri"/>
                <a:cs typeface="Calibri"/>
              </a:rPr>
              <a:t> </a:t>
            </a:r>
            <a:r>
              <a:rPr sz="2000" dirty="0">
                <a:solidFill>
                  <a:srgbClr val="525252"/>
                </a:solidFill>
                <a:latin typeface="Calibri"/>
                <a:cs typeface="Calibri"/>
              </a:rPr>
              <a:t>between</a:t>
            </a:r>
            <a:r>
              <a:rPr sz="2000" spc="-65" dirty="0">
                <a:solidFill>
                  <a:srgbClr val="525252"/>
                </a:solidFill>
                <a:latin typeface="Calibri"/>
                <a:cs typeface="Calibri"/>
              </a:rPr>
              <a:t> </a:t>
            </a:r>
            <a:r>
              <a:rPr sz="2000" spc="-10" dirty="0">
                <a:solidFill>
                  <a:srgbClr val="525252"/>
                </a:solidFill>
                <a:latin typeface="Calibri"/>
                <a:cs typeface="Calibri"/>
              </a:rPr>
              <a:t>payload 	characteristics</a:t>
            </a:r>
            <a:r>
              <a:rPr sz="2000" spc="-15" dirty="0">
                <a:solidFill>
                  <a:srgbClr val="525252"/>
                </a:solidFill>
                <a:latin typeface="Calibri"/>
                <a:cs typeface="Calibri"/>
              </a:rPr>
              <a:t> </a:t>
            </a:r>
            <a:r>
              <a:rPr sz="2000" dirty="0">
                <a:solidFill>
                  <a:srgbClr val="525252"/>
                </a:solidFill>
                <a:latin typeface="Calibri"/>
                <a:cs typeface="Calibri"/>
              </a:rPr>
              <a:t>and</a:t>
            </a:r>
            <a:r>
              <a:rPr sz="2000" spc="-55" dirty="0">
                <a:solidFill>
                  <a:srgbClr val="525252"/>
                </a:solidFill>
                <a:latin typeface="Calibri"/>
                <a:cs typeface="Calibri"/>
              </a:rPr>
              <a:t> </a:t>
            </a:r>
            <a:r>
              <a:rPr sz="2000" dirty="0">
                <a:solidFill>
                  <a:srgbClr val="525252"/>
                </a:solidFill>
                <a:latin typeface="Calibri"/>
                <a:cs typeface="Calibri"/>
              </a:rPr>
              <a:t>launch</a:t>
            </a:r>
            <a:r>
              <a:rPr sz="2000" spc="-55" dirty="0">
                <a:solidFill>
                  <a:srgbClr val="525252"/>
                </a:solidFill>
                <a:latin typeface="Calibri"/>
                <a:cs typeface="Calibri"/>
              </a:rPr>
              <a:t> </a:t>
            </a:r>
            <a:r>
              <a:rPr sz="2000" spc="-10" dirty="0">
                <a:solidFill>
                  <a:srgbClr val="525252"/>
                </a:solidFill>
                <a:latin typeface="Calibri"/>
                <a:cs typeface="Calibri"/>
              </a:rPr>
              <a:t>outcomes.</a:t>
            </a:r>
            <a:endParaRPr sz="2000">
              <a:latin typeface="Calibri"/>
              <a:cs typeface="Calibri"/>
            </a:endParaRPr>
          </a:p>
          <a:p>
            <a:pPr marL="182245" marR="9525" indent="-170180">
              <a:lnSpc>
                <a:spcPct val="100000"/>
              </a:lnSpc>
              <a:spcBef>
                <a:spcPts val="5"/>
              </a:spcBef>
              <a:buFont typeface="Arial MT"/>
              <a:buChar char="•"/>
              <a:tabLst>
                <a:tab pos="184150" algn="l"/>
              </a:tabLst>
            </a:pPr>
            <a:r>
              <a:rPr sz="2000" dirty="0">
                <a:solidFill>
                  <a:srgbClr val="525252"/>
                </a:solidFill>
                <a:latin typeface="Calibri"/>
                <a:cs typeface="Calibri"/>
              </a:rPr>
              <a:t>Supports</a:t>
            </a:r>
            <a:r>
              <a:rPr sz="2000" spc="-40" dirty="0">
                <a:solidFill>
                  <a:srgbClr val="525252"/>
                </a:solidFill>
                <a:latin typeface="Calibri"/>
                <a:cs typeface="Calibri"/>
              </a:rPr>
              <a:t> </a:t>
            </a:r>
            <a:r>
              <a:rPr sz="2000" spc="-10" dirty="0">
                <a:solidFill>
                  <a:srgbClr val="525252"/>
                </a:solidFill>
                <a:latin typeface="Calibri"/>
                <a:cs typeface="Calibri"/>
              </a:rPr>
              <a:t>decision-</a:t>
            </a:r>
            <a:r>
              <a:rPr sz="2000" dirty="0">
                <a:solidFill>
                  <a:srgbClr val="525252"/>
                </a:solidFill>
                <a:latin typeface="Calibri"/>
                <a:cs typeface="Calibri"/>
              </a:rPr>
              <a:t>making</a:t>
            </a:r>
            <a:r>
              <a:rPr sz="2000" spc="-40" dirty="0">
                <a:solidFill>
                  <a:srgbClr val="525252"/>
                </a:solidFill>
                <a:latin typeface="Calibri"/>
                <a:cs typeface="Calibri"/>
              </a:rPr>
              <a:t> </a:t>
            </a:r>
            <a:r>
              <a:rPr sz="2000" spc="-10" dirty="0">
                <a:solidFill>
                  <a:srgbClr val="525252"/>
                </a:solidFill>
                <a:latin typeface="Calibri"/>
                <a:cs typeface="Calibri"/>
              </a:rPr>
              <a:t>processes</a:t>
            </a:r>
            <a:r>
              <a:rPr sz="2000" spc="-20" dirty="0">
                <a:solidFill>
                  <a:srgbClr val="525252"/>
                </a:solidFill>
                <a:latin typeface="Calibri"/>
                <a:cs typeface="Calibri"/>
              </a:rPr>
              <a:t> </a:t>
            </a:r>
            <a:r>
              <a:rPr sz="2000" spc="-10" dirty="0">
                <a:solidFill>
                  <a:srgbClr val="525252"/>
                </a:solidFill>
                <a:latin typeface="Calibri"/>
                <a:cs typeface="Calibri"/>
              </a:rPr>
              <a:t>related 	</a:t>
            </a:r>
            <a:r>
              <a:rPr sz="2000" dirty="0">
                <a:solidFill>
                  <a:srgbClr val="525252"/>
                </a:solidFill>
                <a:latin typeface="Calibri"/>
                <a:cs typeface="Calibri"/>
              </a:rPr>
              <a:t>to</a:t>
            </a:r>
            <a:r>
              <a:rPr sz="2000" spc="-40" dirty="0">
                <a:solidFill>
                  <a:srgbClr val="525252"/>
                </a:solidFill>
                <a:latin typeface="Calibri"/>
                <a:cs typeface="Calibri"/>
              </a:rPr>
              <a:t> </a:t>
            </a:r>
            <a:r>
              <a:rPr sz="2000" spc="-10" dirty="0">
                <a:solidFill>
                  <a:srgbClr val="525252"/>
                </a:solidFill>
                <a:latin typeface="Calibri"/>
                <a:cs typeface="Calibri"/>
              </a:rPr>
              <a:t>payload</a:t>
            </a:r>
            <a:r>
              <a:rPr sz="2000" spc="-30" dirty="0">
                <a:solidFill>
                  <a:srgbClr val="525252"/>
                </a:solidFill>
                <a:latin typeface="Calibri"/>
                <a:cs typeface="Calibri"/>
              </a:rPr>
              <a:t> </a:t>
            </a:r>
            <a:r>
              <a:rPr sz="2000" dirty="0">
                <a:solidFill>
                  <a:srgbClr val="525252"/>
                </a:solidFill>
                <a:latin typeface="Calibri"/>
                <a:cs typeface="Calibri"/>
              </a:rPr>
              <a:t>planning and</a:t>
            </a:r>
            <a:r>
              <a:rPr sz="2000" spc="-35" dirty="0">
                <a:solidFill>
                  <a:srgbClr val="525252"/>
                </a:solidFill>
                <a:latin typeface="Calibri"/>
                <a:cs typeface="Calibri"/>
              </a:rPr>
              <a:t> </a:t>
            </a:r>
            <a:r>
              <a:rPr sz="2000" spc="-10" dirty="0">
                <a:solidFill>
                  <a:srgbClr val="525252"/>
                </a:solidFill>
                <a:latin typeface="Calibri"/>
                <a:cs typeface="Calibri"/>
              </a:rPr>
              <a:t>operational 	strategies.</a:t>
            </a:r>
            <a:endParaRPr sz="200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19</a:t>
            </a:fld>
            <a:endParaRPr spc="60"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75" dirty="0"/>
              <a:t>Reasons</a:t>
            </a:r>
            <a:r>
              <a:rPr dirty="0"/>
              <a:t> for</a:t>
            </a:r>
            <a:r>
              <a:rPr spc="-20" dirty="0"/>
              <a:t> </a:t>
            </a:r>
            <a:r>
              <a:rPr dirty="0"/>
              <a:t>Adding Plots</a:t>
            </a:r>
            <a:r>
              <a:rPr spc="-55" dirty="0"/>
              <a:t> </a:t>
            </a:r>
            <a:r>
              <a:rPr dirty="0"/>
              <a:t>and</a:t>
            </a:r>
            <a:r>
              <a:rPr spc="5" dirty="0"/>
              <a:t> </a:t>
            </a:r>
            <a:r>
              <a:rPr spc="-30" dirty="0"/>
              <a:t>Interactions</a:t>
            </a:r>
          </a:p>
        </p:txBody>
      </p:sp>
      <p:sp>
        <p:nvSpPr>
          <p:cNvPr id="4" name="object 4"/>
          <p:cNvSpPr txBox="1"/>
          <p:nvPr/>
        </p:nvSpPr>
        <p:spPr>
          <a:xfrm>
            <a:off x="6372478" y="1509966"/>
            <a:ext cx="4969510" cy="3387090"/>
          </a:xfrm>
          <a:prstGeom prst="rect">
            <a:avLst/>
          </a:prstGeom>
        </p:spPr>
        <p:txBody>
          <a:bodyPr vert="horz" wrap="square" lIns="0" tIns="15875" rIns="0" bIns="0" rtlCol="0">
            <a:spAutoFit/>
          </a:bodyPr>
          <a:lstStyle/>
          <a:p>
            <a:pPr marL="12700">
              <a:lnSpc>
                <a:spcPct val="100000"/>
              </a:lnSpc>
              <a:spcBef>
                <a:spcPts val="125"/>
              </a:spcBef>
            </a:pPr>
            <a:r>
              <a:rPr sz="2000" b="1" dirty="0">
                <a:solidFill>
                  <a:srgbClr val="525252"/>
                </a:solidFill>
                <a:latin typeface="Calibri"/>
                <a:cs typeface="Calibri"/>
              </a:rPr>
              <a:t>Launch</a:t>
            </a:r>
            <a:r>
              <a:rPr sz="2000" b="1" spc="-20" dirty="0">
                <a:solidFill>
                  <a:srgbClr val="525252"/>
                </a:solidFill>
                <a:latin typeface="Calibri"/>
                <a:cs typeface="Calibri"/>
              </a:rPr>
              <a:t> </a:t>
            </a:r>
            <a:r>
              <a:rPr sz="2000" b="1" dirty="0">
                <a:solidFill>
                  <a:srgbClr val="525252"/>
                </a:solidFill>
                <a:latin typeface="Calibri"/>
                <a:cs typeface="Calibri"/>
              </a:rPr>
              <a:t>Site</a:t>
            </a:r>
            <a:r>
              <a:rPr sz="2000" b="1" spc="-90" dirty="0">
                <a:solidFill>
                  <a:srgbClr val="525252"/>
                </a:solidFill>
                <a:latin typeface="Calibri"/>
                <a:cs typeface="Calibri"/>
              </a:rPr>
              <a:t> </a:t>
            </a:r>
            <a:r>
              <a:rPr sz="2000" b="1" spc="-10" dirty="0">
                <a:solidFill>
                  <a:srgbClr val="525252"/>
                </a:solidFill>
                <a:latin typeface="Calibri"/>
                <a:cs typeface="Calibri"/>
              </a:rPr>
              <a:t>Dropdown:</a:t>
            </a:r>
            <a:endParaRPr sz="2000">
              <a:latin typeface="Calibri"/>
              <a:cs typeface="Calibri"/>
            </a:endParaRPr>
          </a:p>
          <a:p>
            <a:pPr marL="182245" marR="5080" indent="-169545">
              <a:lnSpc>
                <a:spcPct val="100000"/>
              </a:lnSpc>
              <a:spcBef>
                <a:spcPts val="5"/>
              </a:spcBef>
              <a:buFont typeface="Arial MT"/>
              <a:buChar char="•"/>
              <a:tabLst>
                <a:tab pos="184150" algn="l"/>
              </a:tabLst>
            </a:pPr>
            <a:r>
              <a:rPr sz="2000" dirty="0">
                <a:solidFill>
                  <a:srgbClr val="525252"/>
                </a:solidFill>
                <a:latin typeface="Calibri"/>
                <a:cs typeface="Calibri"/>
              </a:rPr>
              <a:t>Enhances</a:t>
            </a:r>
            <a:r>
              <a:rPr sz="2000" spc="-60" dirty="0">
                <a:solidFill>
                  <a:srgbClr val="525252"/>
                </a:solidFill>
                <a:latin typeface="Calibri"/>
                <a:cs typeface="Calibri"/>
              </a:rPr>
              <a:t> </a:t>
            </a:r>
            <a:r>
              <a:rPr sz="2000" dirty="0">
                <a:solidFill>
                  <a:srgbClr val="525252"/>
                </a:solidFill>
                <a:latin typeface="Calibri"/>
                <a:cs typeface="Calibri"/>
              </a:rPr>
              <a:t>user</a:t>
            </a:r>
            <a:r>
              <a:rPr sz="2000" spc="-50" dirty="0">
                <a:solidFill>
                  <a:srgbClr val="525252"/>
                </a:solidFill>
                <a:latin typeface="Calibri"/>
                <a:cs typeface="Calibri"/>
              </a:rPr>
              <a:t> </a:t>
            </a:r>
            <a:r>
              <a:rPr sz="2000" spc="-10" dirty="0">
                <a:solidFill>
                  <a:srgbClr val="525252"/>
                </a:solidFill>
                <a:latin typeface="Calibri"/>
                <a:cs typeface="Calibri"/>
              </a:rPr>
              <a:t>experience</a:t>
            </a:r>
            <a:r>
              <a:rPr sz="2000" spc="-50" dirty="0">
                <a:solidFill>
                  <a:srgbClr val="525252"/>
                </a:solidFill>
                <a:latin typeface="Calibri"/>
                <a:cs typeface="Calibri"/>
              </a:rPr>
              <a:t> </a:t>
            </a:r>
            <a:r>
              <a:rPr sz="2000" dirty="0">
                <a:solidFill>
                  <a:srgbClr val="525252"/>
                </a:solidFill>
                <a:latin typeface="Calibri"/>
                <a:cs typeface="Calibri"/>
              </a:rPr>
              <a:t>by</a:t>
            </a:r>
            <a:r>
              <a:rPr sz="2000" spc="-30" dirty="0">
                <a:solidFill>
                  <a:srgbClr val="525252"/>
                </a:solidFill>
                <a:latin typeface="Calibri"/>
                <a:cs typeface="Calibri"/>
              </a:rPr>
              <a:t> </a:t>
            </a:r>
            <a:r>
              <a:rPr sz="2000" dirty="0">
                <a:solidFill>
                  <a:srgbClr val="525252"/>
                </a:solidFill>
                <a:latin typeface="Calibri"/>
                <a:cs typeface="Calibri"/>
              </a:rPr>
              <a:t>focusing</a:t>
            </a:r>
            <a:r>
              <a:rPr sz="2000" spc="-75" dirty="0">
                <a:solidFill>
                  <a:srgbClr val="525252"/>
                </a:solidFill>
                <a:latin typeface="Calibri"/>
                <a:cs typeface="Calibri"/>
              </a:rPr>
              <a:t> </a:t>
            </a:r>
            <a:r>
              <a:rPr sz="2000" spc="-10" dirty="0">
                <a:solidFill>
                  <a:srgbClr val="525252"/>
                </a:solidFill>
                <a:latin typeface="Calibri"/>
                <a:cs typeface="Calibri"/>
              </a:rPr>
              <a:t>analysis 	</a:t>
            </a:r>
            <a:r>
              <a:rPr sz="2000" dirty="0">
                <a:solidFill>
                  <a:srgbClr val="525252"/>
                </a:solidFill>
                <a:latin typeface="Calibri"/>
                <a:cs typeface="Calibri"/>
              </a:rPr>
              <a:t>on</a:t>
            </a:r>
            <a:r>
              <a:rPr sz="2000" spc="-45" dirty="0">
                <a:solidFill>
                  <a:srgbClr val="525252"/>
                </a:solidFill>
                <a:latin typeface="Calibri"/>
                <a:cs typeface="Calibri"/>
              </a:rPr>
              <a:t> </a:t>
            </a:r>
            <a:r>
              <a:rPr sz="2000" dirty="0">
                <a:solidFill>
                  <a:srgbClr val="525252"/>
                </a:solidFill>
                <a:latin typeface="Calibri"/>
                <a:cs typeface="Calibri"/>
              </a:rPr>
              <a:t>specific</a:t>
            </a:r>
            <a:r>
              <a:rPr sz="2000" spc="-60" dirty="0">
                <a:solidFill>
                  <a:srgbClr val="525252"/>
                </a:solidFill>
                <a:latin typeface="Calibri"/>
                <a:cs typeface="Calibri"/>
              </a:rPr>
              <a:t> </a:t>
            </a:r>
            <a:r>
              <a:rPr sz="2000" dirty="0">
                <a:solidFill>
                  <a:srgbClr val="525252"/>
                </a:solidFill>
                <a:latin typeface="Calibri"/>
                <a:cs typeface="Calibri"/>
              </a:rPr>
              <a:t>launch</a:t>
            </a:r>
            <a:r>
              <a:rPr sz="2000" spc="-45" dirty="0">
                <a:solidFill>
                  <a:srgbClr val="525252"/>
                </a:solidFill>
                <a:latin typeface="Calibri"/>
                <a:cs typeface="Calibri"/>
              </a:rPr>
              <a:t> </a:t>
            </a:r>
            <a:r>
              <a:rPr sz="2000" spc="-10" dirty="0">
                <a:solidFill>
                  <a:srgbClr val="525252"/>
                </a:solidFill>
                <a:latin typeface="Calibri"/>
                <a:cs typeface="Calibri"/>
              </a:rPr>
              <a:t>locations.</a:t>
            </a:r>
            <a:endParaRPr sz="2000">
              <a:latin typeface="Calibri"/>
              <a:cs typeface="Calibri"/>
            </a:endParaRPr>
          </a:p>
          <a:p>
            <a:pPr marL="182245" marR="186055" indent="-169545">
              <a:lnSpc>
                <a:spcPct val="100000"/>
              </a:lnSpc>
              <a:spcBef>
                <a:spcPts val="5"/>
              </a:spcBef>
              <a:buFont typeface="Arial MT"/>
              <a:buChar char="•"/>
              <a:tabLst>
                <a:tab pos="184150" algn="l"/>
              </a:tabLst>
            </a:pPr>
            <a:r>
              <a:rPr sz="2000" dirty="0">
                <a:solidFill>
                  <a:srgbClr val="525252"/>
                </a:solidFill>
                <a:latin typeface="Calibri"/>
                <a:cs typeface="Calibri"/>
              </a:rPr>
              <a:t>Allows</a:t>
            </a:r>
            <a:r>
              <a:rPr sz="2000" spc="-50" dirty="0">
                <a:solidFill>
                  <a:srgbClr val="525252"/>
                </a:solidFill>
                <a:latin typeface="Calibri"/>
                <a:cs typeface="Calibri"/>
              </a:rPr>
              <a:t> </a:t>
            </a:r>
            <a:r>
              <a:rPr sz="2000" dirty="0">
                <a:solidFill>
                  <a:srgbClr val="525252"/>
                </a:solidFill>
                <a:latin typeface="Calibri"/>
                <a:cs typeface="Calibri"/>
              </a:rPr>
              <a:t>for</a:t>
            </a:r>
            <a:r>
              <a:rPr sz="2000" spc="-100" dirty="0">
                <a:solidFill>
                  <a:srgbClr val="525252"/>
                </a:solidFill>
                <a:latin typeface="Calibri"/>
                <a:cs typeface="Calibri"/>
              </a:rPr>
              <a:t> </a:t>
            </a:r>
            <a:r>
              <a:rPr sz="2000" dirty="0">
                <a:solidFill>
                  <a:srgbClr val="525252"/>
                </a:solidFill>
                <a:latin typeface="Calibri"/>
                <a:cs typeface="Calibri"/>
              </a:rPr>
              <a:t>regional</a:t>
            </a:r>
            <a:r>
              <a:rPr sz="2000" spc="-90" dirty="0">
                <a:solidFill>
                  <a:srgbClr val="525252"/>
                </a:solidFill>
                <a:latin typeface="Calibri"/>
                <a:cs typeface="Calibri"/>
              </a:rPr>
              <a:t> </a:t>
            </a:r>
            <a:r>
              <a:rPr sz="2000" dirty="0">
                <a:solidFill>
                  <a:srgbClr val="525252"/>
                </a:solidFill>
                <a:latin typeface="Calibri"/>
                <a:cs typeface="Calibri"/>
              </a:rPr>
              <a:t>insights</a:t>
            </a:r>
            <a:r>
              <a:rPr sz="2000" spc="-50" dirty="0">
                <a:solidFill>
                  <a:srgbClr val="525252"/>
                </a:solidFill>
                <a:latin typeface="Calibri"/>
                <a:cs typeface="Calibri"/>
              </a:rPr>
              <a:t> </a:t>
            </a:r>
            <a:r>
              <a:rPr sz="2000" dirty="0">
                <a:solidFill>
                  <a:srgbClr val="525252"/>
                </a:solidFill>
                <a:latin typeface="Calibri"/>
                <a:cs typeface="Calibri"/>
              </a:rPr>
              <a:t>and</a:t>
            </a:r>
            <a:r>
              <a:rPr sz="2000" spc="-85" dirty="0">
                <a:solidFill>
                  <a:srgbClr val="525252"/>
                </a:solidFill>
                <a:latin typeface="Calibri"/>
                <a:cs typeface="Calibri"/>
              </a:rPr>
              <a:t> </a:t>
            </a:r>
            <a:r>
              <a:rPr sz="2000" spc="-10" dirty="0">
                <a:solidFill>
                  <a:srgbClr val="525252"/>
                </a:solidFill>
                <a:latin typeface="Calibri"/>
                <a:cs typeface="Calibri"/>
              </a:rPr>
              <a:t>comparisons 	</a:t>
            </a:r>
            <a:r>
              <a:rPr sz="2000" dirty="0">
                <a:solidFill>
                  <a:srgbClr val="525252"/>
                </a:solidFill>
                <a:latin typeface="Calibri"/>
                <a:cs typeface="Calibri"/>
              </a:rPr>
              <a:t>across</a:t>
            </a:r>
            <a:r>
              <a:rPr sz="2000" spc="-105" dirty="0">
                <a:solidFill>
                  <a:srgbClr val="525252"/>
                </a:solidFill>
                <a:latin typeface="Calibri"/>
                <a:cs typeface="Calibri"/>
              </a:rPr>
              <a:t> </a:t>
            </a:r>
            <a:r>
              <a:rPr sz="2000" spc="-10" dirty="0">
                <a:solidFill>
                  <a:srgbClr val="525252"/>
                </a:solidFill>
                <a:latin typeface="Calibri"/>
                <a:cs typeface="Calibri"/>
              </a:rPr>
              <a:t>different</a:t>
            </a:r>
            <a:r>
              <a:rPr sz="2000" spc="-70" dirty="0">
                <a:solidFill>
                  <a:srgbClr val="525252"/>
                </a:solidFill>
                <a:latin typeface="Calibri"/>
                <a:cs typeface="Calibri"/>
              </a:rPr>
              <a:t> </a:t>
            </a:r>
            <a:r>
              <a:rPr sz="2000" dirty="0">
                <a:solidFill>
                  <a:srgbClr val="525252"/>
                </a:solidFill>
                <a:latin typeface="Calibri"/>
                <a:cs typeface="Calibri"/>
              </a:rPr>
              <a:t>launch</a:t>
            </a:r>
            <a:r>
              <a:rPr sz="2000" spc="-70" dirty="0">
                <a:solidFill>
                  <a:srgbClr val="525252"/>
                </a:solidFill>
                <a:latin typeface="Calibri"/>
                <a:cs typeface="Calibri"/>
              </a:rPr>
              <a:t> </a:t>
            </a:r>
            <a:r>
              <a:rPr sz="2000" spc="-10" dirty="0">
                <a:solidFill>
                  <a:srgbClr val="525252"/>
                </a:solidFill>
                <a:latin typeface="Calibri"/>
                <a:cs typeface="Calibri"/>
              </a:rPr>
              <a:t>sites.</a:t>
            </a:r>
            <a:endParaRPr sz="2000">
              <a:latin typeface="Calibri"/>
              <a:cs typeface="Calibri"/>
            </a:endParaRPr>
          </a:p>
          <a:p>
            <a:pPr marL="12700">
              <a:lnSpc>
                <a:spcPct val="100000"/>
              </a:lnSpc>
              <a:spcBef>
                <a:spcPts val="2410"/>
              </a:spcBef>
            </a:pPr>
            <a:r>
              <a:rPr sz="2000" b="1" dirty="0">
                <a:solidFill>
                  <a:srgbClr val="525252"/>
                </a:solidFill>
                <a:latin typeface="Calibri"/>
                <a:cs typeface="Calibri"/>
              </a:rPr>
              <a:t>Range</a:t>
            </a:r>
            <a:r>
              <a:rPr sz="2000" b="1" spc="-60" dirty="0">
                <a:solidFill>
                  <a:srgbClr val="525252"/>
                </a:solidFill>
                <a:latin typeface="Calibri"/>
                <a:cs typeface="Calibri"/>
              </a:rPr>
              <a:t> </a:t>
            </a:r>
            <a:r>
              <a:rPr sz="2000" b="1" dirty="0">
                <a:solidFill>
                  <a:srgbClr val="525252"/>
                </a:solidFill>
                <a:latin typeface="Calibri"/>
                <a:cs typeface="Calibri"/>
              </a:rPr>
              <a:t>Slider</a:t>
            </a:r>
            <a:r>
              <a:rPr sz="2000" b="1" spc="-60" dirty="0">
                <a:solidFill>
                  <a:srgbClr val="525252"/>
                </a:solidFill>
                <a:latin typeface="Calibri"/>
                <a:cs typeface="Calibri"/>
              </a:rPr>
              <a:t> </a:t>
            </a:r>
            <a:r>
              <a:rPr sz="2000" b="1" dirty="0">
                <a:solidFill>
                  <a:srgbClr val="525252"/>
                </a:solidFill>
                <a:latin typeface="Calibri"/>
                <a:cs typeface="Calibri"/>
              </a:rPr>
              <a:t>for</a:t>
            </a:r>
            <a:r>
              <a:rPr sz="2000" b="1" spc="-60" dirty="0">
                <a:solidFill>
                  <a:srgbClr val="525252"/>
                </a:solidFill>
                <a:latin typeface="Calibri"/>
                <a:cs typeface="Calibri"/>
              </a:rPr>
              <a:t> </a:t>
            </a:r>
            <a:r>
              <a:rPr sz="2000" b="1" spc="-10" dirty="0">
                <a:solidFill>
                  <a:srgbClr val="525252"/>
                </a:solidFill>
                <a:latin typeface="Calibri"/>
                <a:cs typeface="Calibri"/>
              </a:rPr>
              <a:t>Payload:</a:t>
            </a:r>
            <a:endParaRPr sz="2000">
              <a:latin typeface="Calibri"/>
              <a:cs typeface="Calibri"/>
            </a:endParaRPr>
          </a:p>
          <a:p>
            <a:pPr marL="355600" marR="721995" indent="-343535">
              <a:lnSpc>
                <a:spcPct val="100000"/>
              </a:lnSpc>
              <a:spcBef>
                <a:spcPts val="5"/>
              </a:spcBef>
              <a:buFont typeface="Arial MT"/>
              <a:buChar char="•"/>
              <a:tabLst>
                <a:tab pos="355600" algn="l"/>
              </a:tabLst>
            </a:pPr>
            <a:r>
              <a:rPr sz="2000" spc="-10" dirty="0">
                <a:solidFill>
                  <a:srgbClr val="525252"/>
                </a:solidFill>
                <a:latin typeface="Calibri"/>
                <a:cs typeface="Calibri"/>
              </a:rPr>
              <a:t>Offers</a:t>
            </a:r>
            <a:r>
              <a:rPr sz="2000" spc="-35" dirty="0">
                <a:solidFill>
                  <a:srgbClr val="525252"/>
                </a:solidFill>
                <a:latin typeface="Calibri"/>
                <a:cs typeface="Calibri"/>
              </a:rPr>
              <a:t> </a:t>
            </a:r>
            <a:r>
              <a:rPr sz="2000" spc="-10" dirty="0">
                <a:solidFill>
                  <a:srgbClr val="525252"/>
                </a:solidFill>
                <a:latin typeface="Calibri"/>
                <a:cs typeface="Calibri"/>
              </a:rPr>
              <a:t>interactive</a:t>
            </a:r>
            <a:r>
              <a:rPr sz="2000" spc="-95" dirty="0">
                <a:solidFill>
                  <a:srgbClr val="525252"/>
                </a:solidFill>
                <a:latin typeface="Calibri"/>
                <a:cs typeface="Calibri"/>
              </a:rPr>
              <a:t> </a:t>
            </a:r>
            <a:r>
              <a:rPr sz="2000" spc="-10" dirty="0">
                <a:solidFill>
                  <a:srgbClr val="525252"/>
                </a:solidFill>
                <a:latin typeface="Calibri"/>
                <a:cs typeface="Calibri"/>
              </a:rPr>
              <a:t>exploration</a:t>
            </a:r>
            <a:r>
              <a:rPr sz="2000" spc="-70" dirty="0">
                <a:solidFill>
                  <a:srgbClr val="525252"/>
                </a:solidFill>
                <a:latin typeface="Calibri"/>
                <a:cs typeface="Calibri"/>
              </a:rPr>
              <a:t> </a:t>
            </a:r>
            <a:r>
              <a:rPr sz="2000" dirty="0">
                <a:solidFill>
                  <a:srgbClr val="525252"/>
                </a:solidFill>
                <a:latin typeface="Calibri"/>
                <a:cs typeface="Calibri"/>
              </a:rPr>
              <a:t>of</a:t>
            </a:r>
            <a:r>
              <a:rPr sz="2000" spc="-80" dirty="0">
                <a:solidFill>
                  <a:srgbClr val="525252"/>
                </a:solidFill>
                <a:latin typeface="Calibri"/>
                <a:cs typeface="Calibri"/>
              </a:rPr>
              <a:t> </a:t>
            </a:r>
            <a:r>
              <a:rPr sz="2000" spc="-25" dirty="0">
                <a:solidFill>
                  <a:srgbClr val="525252"/>
                </a:solidFill>
                <a:latin typeface="Calibri"/>
                <a:cs typeface="Calibri"/>
              </a:rPr>
              <a:t>how </a:t>
            </a:r>
            <a:r>
              <a:rPr sz="2000" spc="-10" dirty="0">
                <a:solidFill>
                  <a:srgbClr val="525252"/>
                </a:solidFill>
                <a:latin typeface="Calibri"/>
                <a:cs typeface="Calibri"/>
              </a:rPr>
              <a:t>payload</a:t>
            </a:r>
            <a:r>
              <a:rPr sz="2000" spc="-80" dirty="0">
                <a:solidFill>
                  <a:srgbClr val="525252"/>
                </a:solidFill>
                <a:latin typeface="Calibri"/>
                <a:cs typeface="Calibri"/>
              </a:rPr>
              <a:t> </a:t>
            </a:r>
            <a:r>
              <a:rPr sz="2000" dirty="0">
                <a:solidFill>
                  <a:srgbClr val="525252"/>
                </a:solidFill>
                <a:latin typeface="Calibri"/>
                <a:cs typeface="Calibri"/>
              </a:rPr>
              <a:t>mass</a:t>
            </a:r>
            <a:r>
              <a:rPr sz="2000" spc="-35" dirty="0">
                <a:solidFill>
                  <a:srgbClr val="525252"/>
                </a:solidFill>
                <a:latin typeface="Calibri"/>
                <a:cs typeface="Calibri"/>
              </a:rPr>
              <a:t> </a:t>
            </a:r>
            <a:r>
              <a:rPr sz="2000" spc="-10" dirty="0">
                <a:solidFill>
                  <a:srgbClr val="525252"/>
                </a:solidFill>
                <a:latin typeface="Calibri"/>
                <a:cs typeface="Calibri"/>
              </a:rPr>
              <a:t>affects</a:t>
            </a:r>
            <a:r>
              <a:rPr sz="2000" spc="-40" dirty="0">
                <a:solidFill>
                  <a:srgbClr val="525252"/>
                </a:solidFill>
                <a:latin typeface="Calibri"/>
                <a:cs typeface="Calibri"/>
              </a:rPr>
              <a:t> </a:t>
            </a:r>
            <a:r>
              <a:rPr sz="2000" dirty="0">
                <a:solidFill>
                  <a:srgbClr val="525252"/>
                </a:solidFill>
                <a:latin typeface="Calibri"/>
                <a:cs typeface="Calibri"/>
              </a:rPr>
              <a:t>mission</a:t>
            </a:r>
            <a:r>
              <a:rPr sz="2000" spc="-75" dirty="0">
                <a:solidFill>
                  <a:srgbClr val="525252"/>
                </a:solidFill>
                <a:latin typeface="Calibri"/>
                <a:cs typeface="Calibri"/>
              </a:rPr>
              <a:t> </a:t>
            </a:r>
            <a:r>
              <a:rPr sz="2000" spc="-10" dirty="0">
                <a:solidFill>
                  <a:srgbClr val="525252"/>
                </a:solidFill>
                <a:latin typeface="Calibri"/>
                <a:cs typeface="Calibri"/>
              </a:rPr>
              <a:t>success.</a:t>
            </a:r>
            <a:endParaRPr sz="2000">
              <a:latin typeface="Calibri"/>
              <a:cs typeface="Calibri"/>
            </a:endParaRPr>
          </a:p>
          <a:p>
            <a:pPr marL="355600" marR="287655" indent="-343535">
              <a:lnSpc>
                <a:spcPct val="100000"/>
              </a:lnSpc>
              <a:spcBef>
                <a:spcPts val="5"/>
              </a:spcBef>
              <a:buFont typeface="Arial MT"/>
              <a:buChar char="•"/>
              <a:tabLst>
                <a:tab pos="355600" algn="l"/>
              </a:tabLst>
            </a:pPr>
            <a:r>
              <a:rPr sz="2000" dirty="0">
                <a:solidFill>
                  <a:srgbClr val="525252"/>
                </a:solidFill>
                <a:latin typeface="Calibri"/>
                <a:cs typeface="Calibri"/>
              </a:rPr>
              <a:t>Enables</a:t>
            </a:r>
            <a:r>
              <a:rPr sz="2000" spc="-10" dirty="0">
                <a:solidFill>
                  <a:srgbClr val="525252"/>
                </a:solidFill>
                <a:latin typeface="Calibri"/>
                <a:cs typeface="Calibri"/>
              </a:rPr>
              <a:t> detailed</a:t>
            </a:r>
            <a:r>
              <a:rPr sz="2000" spc="-50" dirty="0">
                <a:solidFill>
                  <a:srgbClr val="525252"/>
                </a:solidFill>
                <a:latin typeface="Calibri"/>
                <a:cs typeface="Calibri"/>
              </a:rPr>
              <a:t> </a:t>
            </a:r>
            <a:r>
              <a:rPr sz="2000" dirty="0">
                <a:solidFill>
                  <a:srgbClr val="525252"/>
                </a:solidFill>
                <a:latin typeface="Calibri"/>
                <a:cs typeface="Calibri"/>
              </a:rPr>
              <a:t>analysis</a:t>
            </a:r>
            <a:r>
              <a:rPr sz="2000" spc="-10" dirty="0">
                <a:solidFill>
                  <a:srgbClr val="525252"/>
                </a:solidFill>
                <a:latin typeface="Calibri"/>
                <a:cs typeface="Calibri"/>
              </a:rPr>
              <a:t> </a:t>
            </a:r>
            <a:r>
              <a:rPr sz="2000" dirty="0">
                <a:solidFill>
                  <a:srgbClr val="525252"/>
                </a:solidFill>
                <a:latin typeface="Calibri"/>
                <a:cs typeface="Calibri"/>
              </a:rPr>
              <a:t>and</a:t>
            </a:r>
            <a:r>
              <a:rPr sz="2000" spc="-50" dirty="0">
                <a:solidFill>
                  <a:srgbClr val="525252"/>
                </a:solidFill>
                <a:latin typeface="Calibri"/>
                <a:cs typeface="Calibri"/>
              </a:rPr>
              <a:t> </a:t>
            </a:r>
            <a:r>
              <a:rPr sz="2000" spc="-10" dirty="0">
                <a:solidFill>
                  <a:srgbClr val="525252"/>
                </a:solidFill>
                <a:latin typeface="Calibri"/>
                <a:cs typeface="Calibri"/>
              </a:rPr>
              <a:t>insights</a:t>
            </a:r>
            <a:r>
              <a:rPr sz="2000" spc="-80" dirty="0">
                <a:solidFill>
                  <a:srgbClr val="525252"/>
                </a:solidFill>
                <a:latin typeface="Calibri"/>
                <a:cs typeface="Calibri"/>
              </a:rPr>
              <a:t> </a:t>
            </a:r>
            <a:r>
              <a:rPr sz="2000" spc="-20" dirty="0">
                <a:solidFill>
                  <a:srgbClr val="525252"/>
                </a:solidFill>
                <a:latin typeface="Calibri"/>
                <a:cs typeface="Calibri"/>
              </a:rPr>
              <a:t>into payload-</a:t>
            </a:r>
            <a:r>
              <a:rPr sz="2000" spc="-10" dirty="0">
                <a:solidFill>
                  <a:srgbClr val="525252"/>
                </a:solidFill>
                <a:latin typeface="Calibri"/>
                <a:cs typeface="Calibri"/>
              </a:rPr>
              <a:t>related</a:t>
            </a:r>
            <a:r>
              <a:rPr sz="2000" spc="-70" dirty="0">
                <a:solidFill>
                  <a:srgbClr val="525252"/>
                </a:solidFill>
                <a:latin typeface="Calibri"/>
                <a:cs typeface="Calibri"/>
              </a:rPr>
              <a:t> </a:t>
            </a:r>
            <a:r>
              <a:rPr sz="2000" dirty="0">
                <a:solidFill>
                  <a:srgbClr val="525252"/>
                </a:solidFill>
                <a:latin typeface="Calibri"/>
                <a:cs typeface="Calibri"/>
              </a:rPr>
              <a:t>performance</a:t>
            </a:r>
            <a:r>
              <a:rPr sz="2000" spc="-20" dirty="0">
                <a:solidFill>
                  <a:srgbClr val="525252"/>
                </a:solidFill>
                <a:latin typeface="Calibri"/>
                <a:cs typeface="Calibri"/>
              </a:rPr>
              <a:t> </a:t>
            </a:r>
            <a:r>
              <a:rPr sz="2000" spc="-10" dirty="0">
                <a:solidFill>
                  <a:srgbClr val="525252"/>
                </a:solidFill>
                <a:latin typeface="Calibri"/>
                <a:cs typeface="Calibri"/>
              </a:rPr>
              <a:t>factors.</a:t>
            </a:r>
            <a:endParaRPr sz="20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sz="half" idx="2"/>
          </p:nvPr>
        </p:nvSpPr>
        <p:spPr>
          <a:xfrm>
            <a:off x="847407" y="1284795"/>
            <a:ext cx="5264785" cy="4058612"/>
          </a:xfrm>
          <a:prstGeom prst="rect">
            <a:avLst/>
          </a:prstGeom>
        </p:spPr>
        <p:txBody>
          <a:bodyPr vert="horz" wrap="square" lIns="0" tIns="103505" rIns="0" bIns="0" rtlCol="0">
            <a:spAutoFit/>
          </a:bodyPr>
          <a:lstStyle/>
          <a:p>
            <a:pPr marL="184785" indent="-170180">
              <a:lnSpc>
                <a:spcPct val="100000"/>
              </a:lnSpc>
              <a:spcBef>
                <a:spcPts val="815"/>
              </a:spcBef>
              <a:buClr>
                <a:srgbClr val="292929"/>
              </a:buClr>
              <a:buFont typeface="Calibri"/>
              <a:buAutoNum type="arabicPeriod"/>
              <a:tabLst>
                <a:tab pos="184785" algn="l"/>
              </a:tabLst>
            </a:pPr>
            <a:r>
              <a:rPr dirty="0"/>
              <a:t>Data</a:t>
            </a:r>
            <a:r>
              <a:rPr spc="-25" dirty="0"/>
              <a:t> </a:t>
            </a:r>
            <a:r>
              <a:rPr spc="-10" dirty="0"/>
              <a:t>Preprocessing:</a:t>
            </a:r>
          </a:p>
          <a:p>
            <a:pPr marL="300355" lvl="1" indent="-285750">
              <a:lnSpc>
                <a:spcPct val="100000"/>
              </a:lnSpc>
              <a:spcBef>
                <a:spcPts val="720"/>
              </a:spcBef>
              <a:buFont typeface="Arial MT"/>
              <a:buChar char="•"/>
              <a:tabLst>
                <a:tab pos="300355" algn="l"/>
              </a:tabLst>
            </a:pPr>
            <a:r>
              <a:rPr sz="1400" spc="-10" dirty="0">
                <a:solidFill>
                  <a:srgbClr val="292929"/>
                </a:solidFill>
                <a:latin typeface="Calibri"/>
                <a:cs typeface="Calibri"/>
              </a:rPr>
              <a:t>Standardized</a:t>
            </a:r>
            <a:r>
              <a:rPr sz="1400" spc="-65" dirty="0">
                <a:solidFill>
                  <a:srgbClr val="292929"/>
                </a:solidFill>
                <a:latin typeface="Calibri"/>
                <a:cs typeface="Calibri"/>
              </a:rPr>
              <a:t> </a:t>
            </a:r>
            <a:r>
              <a:rPr sz="1400" spc="-10" dirty="0">
                <a:solidFill>
                  <a:srgbClr val="292929"/>
                </a:solidFill>
                <a:latin typeface="Calibri"/>
                <a:cs typeface="Calibri"/>
              </a:rPr>
              <a:t>features</a:t>
            </a:r>
            <a:r>
              <a:rPr sz="1400" spc="-15" dirty="0">
                <a:solidFill>
                  <a:srgbClr val="292929"/>
                </a:solidFill>
                <a:latin typeface="Calibri"/>
                <a:cs typeface="Calibri"/>
              </a:rPr>
              <a:t> </a:t>
            </a:r>
            <a:r>
              <a:rPr sz="1400" dirty="0">
                <a:solidFill>
                  <a:srgbClr val="292929"/>
                </a:solidFill>
                <a:latin typeface="Calibri"/>
                <a:cs typeface="Calibri"/>
              </a:rPr>
              <a:t>to</a:t>
            </a:r>
            <a:r>
              <a:rPr sz="1400" spc="-55" dirty="0">
                <a:solidFill>
                  <a:srgbClr val="292929"/>
                </a:solidFill>
                <a:latin typeface="Calibri"/>
                <a:cs typeface="Calibri"/>
              </a:rPr>
              <a:t> </a:t>
            </a:r>
            <a:r>
              <a:rPr sz="1400" dirty="0">
                <a:solidFill>
                  <a:srgbClr val="292929"/>
                </a:solidFill>
                <a:latin typeface="Calibri"/>
                <a:cs typeface="Calibri"/>
              </a:rPr>
              <a:t>ensure</a:t>
            </a:r>
            <a:r>
              <a:rPr sz="1400" spc="-15" dirty="0">
                <a:solidFill>
                  <a:srgbClr val="292929"/>
                </a:solidFill>
                <a:latin typeface="Calibri"/>
                <a:cs typeface="Calibri"/>
              </a:rPr>
              <a:t> </a:t>
            </a:r>
            <a:r>
              <a:rPr sz="1400" dirty="0">
                <a:solidFill>
                  <a:srgbClr val="292929"/>
                </a:solidFill>
                <a:latin typeface="Calibri"/>
                <a:cs typeface="Calibri"/>
              </a:rPr>
              <a:t>all</a:t>
            </a:r>
            <a:r>
              <a:rPr sz="1400" spc="-10" dirty="0">
                <a:solidFill>
                  <a:srgbClr val="292929"/>
                </a:solidFill>
                <a:latin typeface="Calibri"/>
                <a:cs typeface="Calibri"/>
              </a:rPr>
              <a:t> </a:t>
            </a:r>
            <a:r>
              <a:rPr sz="1400" dirty="0">
                <a:solidFill>
                  <a:srgbClr val="292929"/>
                </a:solidFill>
                <a:latin typeface="Calibri"/>
                <a:cs typeface="Calibri"/>
              </a:rPr>
              <a:t>variables</a:t>
            </a:r>
            <a:r>
              <a:rPr sz="1400" spc="-15" dirty="0">
                <a:solidFill>
                  <a:srgbClr val="292929"/>
                </a:solidFill>
                <a:latin typeface="Calibri"/>
                <a:cs typeface="Calibri"/>
              </a:rPr>
              <a:t> </a:t>
            </a:r>
            <a:r>
              <a:rPr sz="1400" spc="-10" dirty="0">
                <a:solidFill>
                  <a:srgbClr val="292929"/>
                </a:solidFill>
                <a:latin typeface="Calibri"/>
                <a:cs typeface="Calibri"/>
              </a:rPr>
              <a:t>contribute</a:t>
            </a:r>
            <a:r>
              <a:rPr sz="1400" spc="-65" dirty="0">
                <a:solidFill>
                  <a:srgbClr val="292929"/>
                </a:solidFill>
                <a:latin typeface="Calibri"/>
                <a:cs typeface="Calibri"/>
              </a:rPr>
              <a:t> </a:t>
            </a:r>
            <a:r>
              <a:rPr sz="1400" spc="-10" dirty="0">
                <a:solidFill>
                  <a:srgbClr val="292929"/>
                </a:solidFill>
                <a:latin typeface="Calibri"/>
                <a:cs typeface="Calibri"/>
              </a:rPr>
              <a:t>equally.</a:t>
            </a:r>
            <a:endParaRPr sz="1400" dirty="0">
              <a:latin typeface="Calibri"/>
              <a:cs typeface="Calibri"/>
            </a:endParaRPr>
          </a:p>
          <a:p>
            <a:pPr marL="300355" lvl="1" indent="-285750">
              <a:lnSpc>
                <a:spcPct val="100000"/>
              </a:lnSpc>
              <a:spcBef>
                <a:spcPts val="650"/>
              </a:spcBef>
              <a:buFont typeface="Arial MT"/>
              <a:buChar char="•"/>
              <a:tabLst>
                <a:tab pos="300355" algn="l"/>
              </a:tabLst>
            </a:pPr>
            <a:r>
              <a:rPr sz="1400" dirty="0">
                <a:solidFill>
                  <a:srgbClr val="292929"/>
                </a:solidFill>
                <a:latin typeface="Calibri"/>
                <a:cs typeface="Calibri"/>
              </a:rPr>
              <a:t>Split</a:t>
            </a:r>
            <a:r>
              <a:rPr sz="1400" spc="10" dirty="0">
                <a:solidFill>
                  <a:srgbClr val="292929"/>
                </a:solidFill>
                <a:latin typeface="Calibri"/>
                <a:cs typeface="Calibri"/>
              </a:rPr>
              <a:t> </a:t>
            </a:r>
            <a:r>
              <a:rPr sz="1400" spc="-20" dirty="0">
                <a:solidFill>
                  <a:srgbClr val="292929"/>
                </a:solidFill>
                <a:latin typeface="Calibri"/>
                <a:cs typeface="Calibri"/>
              </a:rPr>
              <a:t>data</a:t>
            </a:r>
            <a:r>
              <a:rPr sz="1400" spc="-30" dirty="0">
                <a:solidFill>
                  <a:srgbClr val="292929"/>
                </a:solidFill>
                <a:latin typeface="Calibri"/>
                <a:cs typeface="Calibri"/>
              </a:rPr>
              <a:t> </a:t>
            </a:r>
            <a:r>
              <a:rPr sz="1400" dirty="0">
                <a:solidFill>
                  <a:srgbClr val="292929"/>
                </a:solidFill>
                <a:latin typeface="Calibri"/>
                <a:cs typeface="Calibri"/>
              </a:rPr>
              <a:t>into</a:t>
            </a:r>
            <a:r>
              <a:rPr sz="1400" spc="-25" dirty="0">
                <a:solidFill>
                  <a:srgbClr val="292929"/>
                </a:solidFill>
                <a:latin typeface="Calibri"/>
                <a:cs typeface="Calibri"/>
              </a:rPr>
              <a:t> </a:t>
            </a:r>
            <a:r>
              <a:rPr sz="1400" spc="-10" dirty="0">
                <a:solidFill>
                  <a:srgbClr val="292929"/>
                </a:solidFill>
                <a:latin typeface="Calibri"/>
                <a:cs typeface="Calibri"/>
              </a:rPr>
              <a:t>training</a:t>
            </a:r>
            <a:r>
              <a:rPr sz="1400" spc="-20" dirty="0">
                <a:solidFill>
                  <a:srgbClr val="292929"/>
                </a:solidFill>
                <a:latin typeface="Calibri"/>
                <a:cs typeface="Calibri"/>
              </a:rPr>
              <a:t> </a:t>
            </a:r>
            <a:r>
              <a:rPr sz="1400" dirty="0">
                <a:solidFill>
                  <a:srgbClr val="292929"/>
                </a:solidFill>
                <a:latin typeface="Calibri"/>
                <a:cs typeface="Calibri"/>
              </a:rPr>
              <a:t>and</a:t>
            </a:r>
            <a:r>
              <a:rPr sz="1400" spc="-20" dirty="0">
                <a:solidFill>
                  <a:srgbClr val="292929"/>
                </a:solidFill>
                <a:latin typeface="Calibri"/>
                <a:cs typeface="Calibri"/>
              </a:rPr>
              <a:t> </a:t>
            </a:r>
            <a:r>
              <a:rPr sz="1400" dirty="0">
                <a:solidFill>
                  <a:srgbClr val="292929"/>
                </a:solidFill>
                <a:latin typeface="Calibri"/>
                <a:cs typeface="Calibri"/>
              </a:rPr>
              <a:t>test</a:t>
            </a:r>
            <a:r>
              <a:rPr sz="1400" spc="-50" dirty="0">
                <a:solidFill>
                  <a:srgbClr val="292929"/>
                </a:solidFill>
                <a:latin typeface="Calibri"/>
                <a:cs typeface="Calibri"/>
              </a:rPr>
              <a:t> </a:t>
            </a:r>
            <a:r>
              <a:rPr sz="1400" dirty="0">
                <a:solidFill>
                  <a:srgbClr val="292929"/>
                </a:solidFill>
                <a:latin typeface="Calibri"/>
                <a:cs typeface="Calibri"/>
              </a:rPr>
              <a:t>sets</a:t>
            </a:r>
            <a:r>
              <a:rPr sz="1400" spc="20" dirty="0">
                <a:solidFill>
                  <a:srgbClr val="292929"/>
                </a:solidFill>
                <a:latin typeface="Calibri"/>
                <a:cs typeface="Calibri"/>
              </a:rPr>
              <a:t> </a:t>
            </a:r>
            <a:r>
              <a:rPr sz="1400" spc="-20" dirty="0">
                <a:solidFill>
                  <a:srgbClr val="292929"/>
                </a:solidFill>
                <a:latin typeface="Calibri"/>
                <a:cs typeface="Calibri"/>
              </a:rPr>
              <a:t>for</a:t>
            </a:r>
            <a:r>
              <a:rPr sz="1400" spc="-65" dirty="0">
                <a:solidFill>
                  <a:srgbClr val="292929"/>
                </a:solidFill>
                <a:latin typeface="Calibri"/>
                <a:cs typeface="Calibri"/>
              </a:rPr>
              <a:t> </a:t>
            </a:r>
            <a:r>
              <a:rPr sz="1400" dirty="0">
                <a:solidFill>
                  <a:srgbClr val="292929"/>
                </a:solidFill>
                <a:latin typeface="Calibri"/>
                <a:cs typeface="Calibri"/>
              </a:rPr>
              <a:t>model</a:t>
            </a:r>
            <a:r>
              <a:rPr sz="1400" spc="20" dirty="0">
                <a:solidFill>
                  <a:srgbClr val="292929"/>
                </a:solidFill>
                <a:latin typeface="Calibri"/>
                <a:cs typeface="Calibri"/>
              </a:rPr>
              <a:t> </a:t>
            </a:r>
            <a:r>
              <a:rPr sz="1400" spc="-10" dirty="0">
                <a:solidFill>
                  <a:srgbClr val="292929"/>
                </a:solidFill>
                <a:latin typeface="Calibri"/>
                <a:cs typeface="Calibri"/>
              </a:rPr>
              <a:t>validation.</a:t>
            </a:r>
            <a:endParaRPr sz="1400" dirty="0">
              <a:latin typeface="Calibri"/>
              <a:cs typeface="Calibri"/>
            </a:endParaRPr>
          </a:p>
          <a:p>
            <a:pPr marL="1905">
              <a:lnSpc>
                <a:spcPct val="100000"/>
              </a:lnSpc>
              <a:spcBef>
                <a:spcPts val="1265"/>
              </a:spcBef>
            </a:pPr>
            <a:endParaRPr sz="1400" dirty="0">
              <a:latin typeface="Calibri"/>
              <a:cs typeface="Calibri"/>
            </a:endParaRPr>
          </a:p>
          <a:p>
            <a:pPr marL="184785" indent="-170180">
              <a:lnSpc>
                <a:spcPct val="100000"/>
              </a:lnSpc>
              <a:spcBef>
                <a:spcPts val="5"/>
              </a:spcBef>
              <a:buAutoNum type="arabicPeriod" startAt="2"/>
              <a:tabLst>
                <a:tab pos="184785" algn="l"/>
              </a:tabLst>
            </a:pPr>
            <a:r>
              <a:rPr dirty="0"/>
              <a:t>Model</a:t>
            </a:r>
            <a:r>
              <a:rPr spc="5" dirty="0"/>
              <a:t> </a:t>
            </a:r>
            <a:r>
              <a:rPr spc="-10" dirty="0"/>
              <a:t>Selection:</a:t>
            </a:r>
          </a:p>
          <a:p>
            <a:pPr marL="300355" marR="5080" lvl="1" indent="-286385">
              <a:lnSpc>
                <a:spcPts val="1350"/>
              </a:lnSpc>
              <a:spcBef>
                <a:spcPts val="1040"/>
              </a:spcBef>
              <a:buFont typeface="Arial MT"/>
              <a:buChar char="•"/>
              <a:tabLst>
                <a:tab pos="300355" algn="l"/>
              </a:tabLst>
            </a:pPr>
            <a:r>
              <a:rPr sz="1400" dirty="0">
                <a:solidFill>
                  <a:srgbClr val="292929"/>
                </a:solidFill>
                <a:latin typeface="Calibri"/>
                <a:cs typeface="Calibri"/>
              </a:rPr>
              <a:t>Explored</a:t>
            </a:r>
            <a:r>
              <a:rPr sz="1400" spc="-40" dirty="0">
                <a:solidFill>
                  <a:srgbClr val="292929"/>
                </a:solidFill>
                <a:latin typeface="Calibri"/>
                <a:cs typeface="Calibri"/>
              </a:rPr>
              <a:t> </a:t>
            </a:r>
            <a:r>
              <a:rPr sz="1400" dirty="0">
                <a:solidFill>
                  <a:srgbClr val="292929"/>
                </a:solidFill>
                <a:latin typeface="Calibri"/>
                <a:cs typeface="Calibri"/>
              </a:rPr>
              <a:t>multiple</a:t>
            </a:r>
            <a:r>
              <a:rPr sz="1400" spc="-70" dirty="0">
                <a:solidFill>
                  <a:srgbClr val="292929"/>
                </a:solidFill>
                <a:latin typeface="Calibri"/>
                <a:cs typeface="Calibri"/>
              </a:rPr>
              <a:t> </a:t>
            </a:r>
            <a:r>
              <a:rPr sz="1400" spc="-10" dirty="0">
                <a:solidFill>
                  <a:srgbClr val="292929"/>
                </a:solidFill>
                <a:latin typeface="Calibri"/>
                <a:cs typeface="Calibri"/>
              </a:rPr>
              <a:t>classification</a:t>
            </a:r>
            <a:r>
              <a:rPr sz="1400" spc="-35" dirty="0">
                <a:solidFill>
                  <a:srgbClr val="292929"/>
                </a:solidFill>
                <a:latin typeface="Calibri"/>
                <a:cs typeface="Calibri"/>
              </a:rPr>
              <a:t> </a:t>
            </a:r>
            <a:r>
              <a:rPr sz="1400" dirty="0">
                <a:solidFill>
                  <a:srgbClr val="292929"/>
                </a:solidFill>
                <a:latin typeface="Calibri"/>
                <a:cs typeface="Calibri"/>
              </a:rPr>
              <a:t>algorithms:</a:t>
            </a:r>
            <a:r>
              <a:rPr sz="1400" spc="30" dirty="0">
                <a:solidFill>
                  <a:srgbClr val="292929"/>
                </a:solidFill>
                <a:latin typeface="Calibri"/>
                <a:cs typeface="Calibri"/>
              </a:rPr>
              <a:t> </a:t>
            </a:r>
            <a:r>
              <a:rPr sz="1400" dirty="0">
                <a:solidFill>
                  <a:srgbClr val="292929"/>
                </a:solidFill>
                <a:latin typeface="Calibri"/>
                <a:cs typeface="Calibri"/>
              </a:rPr>
              <a:t>SVM,</a:t>
            </a:r>
            <a:r>
              <a:rPr sz="1400" spc="-15" dirty="0">
                <a:solidFill>
                  <a:srgbClr val="292929"/>
                </a:solidFill>
                <a:latin typeface="Calibri"/>
                <a:cs typeface="Calibri"/>
              </a:rPr>
              <a:t> </a:t>
            </a:r>
            <a:r>
              <a:rPr sz="1400" spc="-10" dirty="0">
                <a:solidFill>
                  <a:srgbClr val="292929"/>
                </a:solidFill>
                <a:latin typeface="Calibri"/>
                <a:cs typeface="Calibri"/>
              </a:rPr>
              <a:t>Decision</a:t>
            </a:r>
            <a:r>
              <a:rPr sz="1400" spc="-40" dirty="0">
                <a:solidFill>
                  <a:srgbClr val="292929"/>
                </a:solidFill>
                <a:latin typeface="Calibri"/>
                <a:cs typeface="Calibri"/>
              </a:rPr>
              <a:t> </a:t>
            </a:r>
            <a:r>
              <a:rPr sz="1400" spc="-20" dirty="0">
                <a:solidFill>
                  <a:srgbClr val="292929"/>
                </a:solidFill>
                <a:latin typeface="Calibri"/>
                <a:cs typeface="Calibri"/>
              </a:rPr>
              <a:t>Trees,</a:t>
            </a:r>
            <a:r>
              <a:rPr sz="1400" spc="-15" dirty="0">
                <a:solidFill>
                  <a:srgbClr val="292929"/>
                </a:solidFill>
                <a:latin typeface="Calibri"/>
                <a:cs typeface="Calibri"/>
              </a:rPr>
              <a:t> </a:t>
            </a:r>
            <a:r>
              <a:rPr sz="1400" spc="-25" dirty="0">
                <a:solidFill>
                  <a:srgbClr val="292929"/>
                </a:solidFill>
                <a:latin typeface="Calibri"/>
                <a:cs typeface="Calibri"/>
              </a:rPr>
              <a:t>and </a:t>
            </a:r>
            <a:r>
              <a:rPr sz="1400" spc="-10" dirty="0">
                <a:solidFill>
                  <a:srgbClr val="292929"/>
                </a:solidFill>
                <a:latin typeface="Calibri"/>
                <a:cs typeface="Calibri"/>
              </a:rPr>
              <a:t>K-</a:t>
            </a:r>
            <a:r>
              <a:rPr sz="1400" dirty="0">
                <a:solidFill>
                  <a:srgbClr val="292929"/>
                </a:solidFill>
                <a:latin typeface="Calibri"/>
                <a:cs typeface="Calibri"/>
              </a:rPr>
              <a:t>Nearest</a:t>
            </a:r>
            <a:r>
              <a:rPr sz="1400" spc="15" dirty="0">
                <a:solidFill>
                  <a:srgbClr val="292929"/>
                </a:solidFill>
                <a:latin typeface="Calibri"/>
                <a:cs typeface="Calibri"/>
              </a:rPr>
              <a:t> </a:t>
            </a:r>
            <a:r>
              <a:rPr sz="1400" spc="-10" dirty="0">
                <a:solidFill>
                  <a:srgbClr val="292929"/>
                </a:solidFill>
                <a:latin typeface="Calibri"/>
                <a:cs typeface="Calibri"/>
              </a:rPr>
              <a:t>Neighbors</a:t>
            </a:r>
            <a:r>
              <a:rPr sz="1400" spc="-60" dirty="0">
                <a:solidFill>
                  <a:srgbClr val="292929"/>
                </a:solidFill>
                <a:latin typeface="Calibri"/>
                <a:cs typeface="Calibri"/>
              </a:rPr>
              <a:t> </a:t>
            </a:r>
            <a:r>
              <a:rPr sz="1400" spc="-10" dirty="0">
                <a:solidFill>
                  <a:srgbClr val="292929"/>
                </a:solidFill>
                <a:latin typeface="Calibri"/>
                <a:cs typeface="Calibri"/>
              </a:rPr>
              <a:t>(KNN).</a:t>
            </a:r>
            <a:endParaRPr sz="1400" dirty="0">
              <a:latin typeface="Calibri"/>
              <a:cs typeface="Calibri"/>
            </a:endParaRPr>
          </a:p>
          <a:p>
            <a:pPr marL="300355" marR="280035" lvl="1" indent="-286385">
              <a:lnSpc>
                <a:spcPts val="1350"/>
              </a:lnSpc>
              <a:spcBef>
                <a:spcPts val="980"/>
              </a:spcBef>
              <a:buFont typeface="Arial MT"/>
              <a:buChar char="•"/>
              <a:tabLst>
                <a:tab pos="300355" algn="l"/>
              </a:tabLst>
            </a:pPr>
            <a:r>
              <a:rPr sz="1400" dirty="0">
                <a:solidFill>
                  <a:srgbClr val="292929"/>
                </a:solidFill>
                <a:latin typeface="Calibri"/>
                <a:cs typeface="Calibri"/>
              </a:rPr>
              <a:t>Chose </a:t>
            </a:r>
            <a:r>
              <a:rPr sz="1400" spc="-10" dirty="0">
                <a:solidFill>
                  <a:srgbClr val="292929"/>
                </a:solidFill>
                <a:latin typeface="Calibri"/>
                <a:cs typeface="Calibri"/>
              </a:rPr>
              <a:t>algorithms</a:t>
            </a:r>
            <a:r>
              <a:rPr sz="1400" dirty="0">
                <a:solidFill>
                  <a:srgbClr val="292929"/>
                </a:solidFill>
                <a:latin typeface="Calibri"/>
                <a:cs typeface="Calibri"/>
              </a:rPr>
              <a:t> suitable</a:t>
            </a:r>
            <a:r>
              <a:rPr sz="1400" spc="5" dirty="0">
                <a:solidFill>
                  <a:srgbClr val="292929"/>
                </a:solidFill>
                <a:latin typeface="Calibri"/>
                <a:cs typeface="Calibri"/>
              </a:rPr>
              <a:t> </a:t>
            </a:r>
            <a:r>
              <a:rPr sz="1400" dirty="0">
                <a:solidFill>
                  <a:srgbClr val="292929"/>
                </a:solidFill>
                <a:latin typeface="Calibri"/>
                <a:cs typeface="Calibri"/>
              </a:rPr>
              <a:t>for</a:t>
            </a:r>
            <a:r>
              <a:rPr sz="1400" spc="-15" dirty="0">
                <a:solidFill>
                  <a:srgbClr val="292929"/>
                </a:solidFill>
                <a:latin typeface="Calibri"/>
                <a:cs typeface="Calibri"/>
              </a:rPr>
              <a:t> </a:t>
            </a:r>
            <a:r>
              <a:rPr sz="1400" dirty="0">
                <a:solidFill>
                  <a:srgbClr val="292929"/>
                </a:solidFill>
                <a:latin typeface="Calibri"/>
                <a:cs typeface="Calibri"/>
              </a:rPr>
              <a:t>binary</a:t>
            </a:r>
            <a:r>
              <a:rPr sz="1400" spc="-5" dirty="0">
                <a:solidFill>
                  <a:srgbClr val="292929"/>
                </a:solidFill>
                <a:latin typeface="Calibri"/>
                <a:cs typeface="Calibri"/>
              </a:rPr>
              <a:t> </a:t>
            </a:r>
            <a:r>
              <a:rPr sz="1400" spc="-10" dirty="0">
                <a:solidFill>
                  <a:srgbClr val="292929"/>
                </a:solidFill>
                <a:latin typeface="Calibri"/>
                <a:cs typeface="Calibri"/>
              </a:rPr>
              <a:t>classification</a:t>
            </a:r>
            <a:r>
              <a:rPr sz="1400" spc="-35" dirty="0">
                <a:solidFill>
                  <a:srgbClr val="292929"/>
                </a:solidFill>
                <a:latin typeface="Calibri"/>
                <a:cs typeface="Calibri"/>
              </a:rPr>
              <a:t> </a:t>
            </a:r>
            <a:r>
              <a:rPr sz="1400" spc="-10" dirty="0">
                <a:solidFill>
                  <a:srgbClr val="292929"/>
                </a:solidFill>
                <a:latin typeface="Calibri"/>
                <a:cs typeface="Calibri"/>
              </a:rPr>
              <a:t>tasks</a:t>
            </a:r>
            <a:r>
              <a:rPr sz="1400" spc="-65" dirty="0">
                <a:solidFill>
                  <a:srgbClr val="292929"/>
                </a:solidFill>
                <a:latin typeface="Calibri"/>
                <a:cs typeface="Calibri"/>
              </a:rPr>
              <a:t> </a:t>
            </a:r>
            <a:r>
              <a:rPr sz="1400" dirty="0">
                <a:solidFill>
                  <a:srgbClr val="292929"/>
                </a:solidFill>
                <a:latin typeface="Calibri"/>
                <a:cs typeface="Calibri"/>
              </a:rPr>
              <a:t>based</a:t>
            </a:r>
            <a:r>
              <a:rPr sz="1400" spc="-40" dirty="0">
                <a:solidFill>
                  <a:srgbClr val="292929"/>
                </a:solidFill>
                <a:latin typeface="Calibri"/>
                <a:cs typeface="Calibri"/>
              </a:rPr>
              <a:t> </a:t>
            </a:r>
            <a:r>
              <a:rPr sz="1400" spc="-25" dirty="0">
                <a:solidFill>
                  <a:srgbClr val="292929"/>
                </a:solidFill>
                <a:latin typeface="Calibri"/>
                <a:cs typeface="Calibri"/>
              </a:rPr>
              <a:t>on </a:t>
            </a:r>
            <a:r>
              <a:rPr sz="1400" dirty="0">
                <a:solidFill>
                  <a:srgbClr val="292929"/>
                </a:solidFill>
                <a:latin typeface="Calibri"/>
                <a:cs typeface="Calibri"/>
              </a:rPr>
              <a:t>project</a:t>
            </a:r>
            <a:r>
              <a:rPr sz="1400" spc="-75" dirty="0">
                <a:solidFill>
                  <a:srgbClr val="292929"/>
                </a:solidFill>
                <a:latin typeface="Calibri"/>
                <a:cs typeface="Calibri"/>
              </a:rPr>
              <a:t> </a:t>
            </a:r>
            <a:r>
              <a:rPr sz="1400" spc="-10" dirty="0">
                <a:solidFill>
                  <a:srgbClr val="292929"/>
                </a:solidFill>
                <a:latin typeface="Calibri"/>
                <a:cs typeface="Calibri"/>
              </a:rPr>
              <a:t>requirements.</a:t>
            </a:r>
            <a:endParaRPr sz="1400" dirty="0">
              <a:latin typeface="Calibri"/>
              <a:cs typeface="Calibri"/>
            </a:endParaRPr>
          </a:p>
          <a:p>
            <a:pPr marL="1905">
              <a:lnSpc>
                <a:spcPct val="100000"/>
              </a:lnSpc>
              <a:spcBef>
                <a:spcPts val="1280"/>
              </a:spcBef>
            </a:pPr>
            <a:endParaRPr sz="1400" dirty="0">
              <a:latin typeface="Calibri"/>
              <a:cs typeface="Calibri"/>
            </a:endParaRPr>
          </a:p>
          <a:p>
            <a:pPr marL="184785" indent="-170180">
              <a:lnSpc>
                <a:spcPct val="100000"/>
              </a:lnSpc>
              <a:buAutoNum type="arabicPeriod" startAt="3"/>
              <a:tabLst>
                <a:tab pos="184785" algn="l"/>
              </a:tabLst>
            </a:pPr>
            <a:r>
              <a:rPr spc="-10" dirty="0"/>
              <a:t>Hyperparameter</a:t>
            </a:r>
            <a:r>
              <a:rPr spc="35" dirty="0"/>
              <a:t> </a:t>
            </a:r>
            <a:r>
              <a:rPr spc="-10" dirty="0"/>
              <a:t>Tuning:</a:t>
            </a:r>
          </a:p>
          <a:p>
            <a:pPr marL="300355" marR="962025" lvl="1" indent="-286385">
              <a:lnSpc>
                <a:spcPct val="76000"/>
              </a:lnSpc>
              <a:spcBef>
                <a:spcPts val="1125"/>
              </a:spcBef>
              <a:buFont typeface="Arial MT"/>
              <a:buChar char="•"/>
              <a:tabLst>
                <a:tab pos="300355" algn="l"/>
              </a:tabLst>
            </a:pPr>
            <a:r>
              <a:rPr sz="1400" dirty="0">
                <a:solidFill>
                  <a:srgbClr val="292929"/>
                </a:solidFill>
                <a:latin typeface="Calibri"/>
                <a:cs typeface="Calibri"/>
              </a:rPr>
              <a:t>Used</a:t>
            </a:r>
            <a:r>
              <a:rPr sz="1400" spc="-45" dirty="0">
                <a:solidFill>
                  <a:srgbClr val="292929"/>
                </a:solidFill>
                <a:latin typeface="Calibri"/>
                <a:cs typeface="Calibri"/>
              </a:rPr>
              <a:t> </a:t>
            </a:r>
            <a:r>
              <a:rPr sz="1400" spc="-10" dirty="0">
                <a:solidFill>
                  <a:srgbClr val="292929"/>
                </a:solidFill>
                <a:latin typeface="Calibri"/>
                <a:cs typeface="Calibri"/>
              </a:rPr>
              <a:t>GridSearchCV</a:t>
            </a:r>
            <a:r>
              <a:rPr sz="1400" dirty="0">
                <a:solidFill>
                  <a:srgbClr val="292929"/>
                </a:solidFill>
                <a:latin typeface="Calibri"/>
                <a:cs typeface="Calibri"/>
              </a:rPr>
              <a:t> to</a:t>
            </a:r>
            <a:r>
              <a:rPr sz="1400" spc="-20" dirty="0">
                <a:solidFill>
                  <a:srgbClr val="292929"/>
                </a:solidFill>
                <a:latin typeface="Calibri"/>
                <a:cs typeface="Calibri"/>
              </a:rPr>
              <a:t> </a:t>
            </a:r>
            <a:r>
              <a:rPr sz="1400" spc="-10" dirty="0">
                <a:solidFill>
                  <a:srgbClr val="292929"/>
                </a:solidFill>
                <a:latin typeface="Calibri"/>
                <a:cs typeface="Calibri"/>
              </a:rPr>
              <a:t>systematically</a:t>
            </a:r>
            <a:r>
              <a:rPr sz="1400" spc="-70" dirty="0">
                <a:solidFill>
                  <a:srgbClr val="292929"/>
                </a:solidFill>
                <a:latin typeface="Calibri"/>
                <a:cs typeface="Calibri"/>
              </a:rPr>
              <a:t> </a:t>
            </a:r>
            <a:r>
              <a:rPr sz="1400" dirty="0">
                <a:solidFill>
                  <a:srgbClr val="292929"/>
                </a:solidFill>
                <a:latin typeface="Calibri"/>
                <a:cs typeface="Calibri"/>
              </a:rPr>
              <a:t>search</a:t>
            </a:r>
            <a:r>
              <a:rPr sz="1400" spc="-20" dirty="0">
                <a:solidFill>
                  <a:srgbClr val="292929"/>
                </a:solidFill>
                <a:latin typeface="Calibri"/>
                <a:cs typeface="Calibri"/>
              </a:rPr>
              <a:t> </a:t>
            </a:r>
            <a:r>
              <a:rPr sz="1400" dirty="0">
                <a:solidFill>
                  <a:srgbClr val="292929"/>
                </a:solidFill>
                <a:latin typeface="Calibri"/>
                <a:cs typeface="Calibri"/>
              </a:rPr>
              <a:t>for </a:t>
            </a:r>
            <a:r>
              <a:rPr sz="1400" spc="-10" dirty="0">
                <a:solidFill>
                  <a:srgbClr val="292929"/>
                </a:solidFill>
                <a:latin typeface="Calibri"/>
                <a:cs typeface="Calibri"/>
              </a:rPr>
              <a:t>optimal hyperparameters.</a:t>
            </a:r>
            <a:endParaRPr sz="1400" dirty="0">
              <a:latin typeface="Calibri"/>
              <a:cs typeface="Calibri"/>
            </a:endParaRPr>
          </a:p>
          <a:p>
            <a:pPr marL="300355" marR="6350" lvl="1" indent="-286385">
              <a:lnSpc>
                <a:spcPts val="1350"/>
              </a:lnSpc>
              <a:spcBef>
                <a:spcPts val="1045"/>
              </a:spcBef>
              <a:buFont typeface="Arial MT"/>
              <a:buChar char="•"/>
              <a:tabLst>
                <a:tab pos="300355" algn="l"/>
              </a:tabLst>
            </a:pPr>
            <a:r>
              <a:rPr sz="1400" spc="-20" dirty="0">
                <a:solidFill>
                  <a:srgbClr val="292929"/>
                </a:solidFill>
                <a:latin typeface="Calibri"/>
                <a:cs typeface="Calibri"/>
              </a:rPr>
              <a:t>Tuned</a:t>
            </a:r>
            <a:r>
              <a:rPr sz="1400" spc="-60" dirty="0">
                <a:solidFill>
                  <a:srgbClr val="292929"/>
                </a:solidFill>
                <a:latin typeface="Calibri"/>
                <a:cs typeface="Calibri"/>
              </a:rPr>
              <a:t> </a:t>
            </a:r>
            <a:r>
              <a:rPr sz="1400" spc="-10" dirty="0">
                <a:solidFill>
                  <a:srgbClr val="292929"/>
                </a:solidFill>
                <a:latin typeface="Calibri"/>
                <a:cs typeface="Calibri"/>
              </a:rPr>
              <a:t>parameters</a:t>
            </a:r>
            <a:r>
              <a:rPr sz="1400" spc="-65" dirty="0">
                <a:solidFill>
                  <a:srgbClr val="292929"/>
                </a:solidFill>
                <a:latin typeface="Calibri"/>
                <a:cs typeface="Calibri"/>
              </a:rPr>
              <a:t> </a:t>
            </a:r>
            <a:r>
              <a:rPr sz="1400" dirty="0">
                <a:solidFill>
                  <a:srgbClr val="292929"/>
                </a:solidFill>
                <a:latin typeface="Calibri"/>
                <a:cs typeface="Calibri"/>
              </a:rPr>
              <a:t>such</a:t>
            </a:r>
            <a:r>
              <a:rPr sz="1400" spc="-55" dirty="0">
                <a:solidFill>
                  <a:srgbClr val="292929"/>
                </a:solidFill>
                <a:latin typeface="Calibri"/>
                <a:cs typeface="Calibri"/>
              </a:rPr>
              <a:t> </a:t>
            </a:r>
            <a:r>
              <a:rPr sz="1400" dirty="0">
                <a:solidFill>
                  <a:srgbClr val="292929"/>
                </a:solidFill>
                <a:latin typeface="Calibri"/>
                <a:cs typeface="Calibri"/>
              </a:rPr>
              <a:t>as</a:t>
            </a:r>
            <a:r>
              <a:rPr sz="1400" spc="-15" dirty="0">
                <a:solidFill>
                  <a:srgbClr val="292929"/>
                </a:solidFill>
                <a:latin typeface="Calibri"/>
                <a:cs typeface="Calibri"/>
              </a:rPr>
              <a:t> </a:t>
            </a:r>
            <a:r>
              <a:rPr sz="1400" dirty="0">
                <a:solidFill>
                  <a:srgbClr val="292929"/>
                </a:solidFill>
                <a:latin typeface="Calibri"/>
                <a:cs typeface="Calibri"/>
              </a:rPr>
              <a:t>C</a:t>
            </a:r>
            <a:r>
              <a:rPr sz="1400" spc="-55" dirty="0">
                <a:solidFill>
                  <a:srgbClr val="292929"/>
                </a:solidFill>
                <a:latin typeface="Calibri"/>
                <a:cs typeface="Calibri"/>
              </a:rPr>
              <a:t> </a:t>
            </a:r>
            <a:r>
              <a:rPr sz="1400" dirty="0">
                <a:solidFill>
                  <a:srgbClr val="292929"/>
                </a:solidFill>
                <a:latin typeface="Calibri"/>
                <a:cs typeface="Calibri"/>
              </a:rPr>
              <a:t>(SVM),</a:t>
            </a:r>
            <a:r>
              <a:rPr sz="1400" spc="-10" dirty="0">
                <a:solidFill>
                  <a:srgbClr val="292929"/>
                </a:solidFill>
                <a:latin typeface="Calibri"/>
                <a:cs typeface="Calibri"/>
              </a:rPr>
              <a:t> </a:t>
            </a:r>
            <a:r>
              <a:rPr sz="1400" dirty="0">
                <a:solidFill>
                  <a:srgbClr val="292929"/>
                </a:solidFill>
                <a:latin typeface="Calibri"/>
                <a:cs typeface="Calibri"/>
              </a:rPr>
              <a:t>max_depth</a:t>
            </a:r>
            <a:r>
              <a:rPr sz="1400" spc="-15" dirty="0">
                <a:solidFill>
                  <a:srgbClr val="292929"/>
                </a:solidFill>
                <a:latin typeface="Calibri"/>
                <a:cs typeface="Calibri"/>
              </a:rPr>
              <a:t> </a:t>
            </a:r>
            <a:r>
              <a:rPr sz="1400" dirty="0">
                <a:solidFill>
                  <a:srgbClr val="292929"/>
                </a:solidFill>
                <a:latin typeface="Calibri"/>
                <a:cs typeface="Calibri"/>
              </a:rPr>
              <a:t>(Decision</a:t>
            </a:r>
            <a:r>
              <a:rPr sz="1400" spc="-50" dirty="0">
                <a:solidFill>
                  <a:srgbClr val="292929"/>
                </a:solidFill>
                <a:latin typeface="Calibri"/>
                <a:cs typeface="Calibri"/>
              </a:rPr>
              <a:t> </a:t>
            </a:r>
            <a:r>
              <a:rPr sz="1400" spc="-10" dirty="0">
                <a:solidFill>
                  <a:srgbClr val="292929"/>
                </a:solidFill>
                <a:latin typeface="Calibri"/>
                <a:cs typeface="Calibri"/>
              </a:rPr>
              <a:t>Trees),</a:t>
            </a:r>
            <a:r>
              <a:rPr sz="1400" spc="-30" dirty="0">
                <a:solidFill>
                  <a:srgbClr val="292929"/>
                </a:solidFill>
                <a:latin typeface="Calibri"/>
                <a:cs typeface="Calibri"/>
              </a:rPr>
              <a:t> </a:t>
            </a:r>
            <a:r>
              <a:rPr sz="1400" spc="-25" dirty="0">
                <a:solidFill>
                  <a:srgbClr val="292929"/>
                </a:solidFill>
                <a:latin typeface="Calibri"/>
                <a:cs typeface="Calibri"/>
              </a:rPr>
              <a:t>and </a:t>
            </a:r>
            <a:r>
              <a:rPr sz="1400" spc="-10" dirty="0">
                <a:solidFill>
                  <a:srgbClr val="292929"/>
                </a:solidFill>
                <a:latin typeface="Calibri"/>
                <a:cs typeface="Calibri"/>
              </a:rPr>
              <a:t>n_neighbors</a:t>
            </a:r>
            <a:r>
              <a:rPr sz="1400" spc="10" dirty="0">
                <a:solidFill>
                  <a:srgbClr val="292929"/>
                </a:solidFill>
                <a:latin typeface="Calibri"/>
                <a:cs typeface="Calibri"/>
              </a:rPr>
              <a:t> </a:t>
            </a:r>
            <a:r>
              <a:rPr sz="1400" spc="-10" dirty="0">
                <a:solidFill>
                  <a:srgbClr val="292929"/>
                </a:solidFill>
                <a:latin typeface="Calibri"/>
                <a:cs typeface="Calibri"/>
              </a:rPr>
              <a:t>(KNN).</a:t>
            </a:r>
            <a:endParaRPr sz="1400" dirty="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20</a:t>
            </a:fld>
            <a:endParaRPr spc="60"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40" dirty="0"/>
              <a:t>Predictive</a:t>
            </a:r>
            <a:r>
              <a:rPr spc="-150" dirty="0"/>
              <a:t> </a:t>
            </a:r>
            <a:r>
              <a:rPr spc="-80" dirty="0"/>
              <a:t>Analysis</a:t>
            </a:r>
            <a:r>
              <a:rPr spc="-150" dirty="0"/>
              <a:t> </a:t>
            </a:r>
            <a:r>
              <a:rPr spc="-90" dirty="0"/>
              <a:t>(Classification)</a:t>
            </a:r>
          </a:p>
        </p:txBody>
      </p:sp>
      <p:sp>
        <p:nvSpPr>
          <p:cNvPr id="4" name="object 4"/>
          <p:cNvSpPr txBox="1"/>
          <p:nvPr/>
        </p:nvSpPr>
        <p:spPr>
          <a:xfrm>
            <a:off x="6584315" y="1392554"/>
            <a:ext cx="1513205" cy="242570"/>
          </a:xfrm>
          <a:prstGeom prst="rect">
            <a:avLst/>
          </a:prstGeom>
        </p:spPr>
        <p:txBody>
          <a:bodyPr vert="horz" wrap="square" lIns="0" tIns="15875" rIns="0" bIns="0" rtlCol="0">
            <a:spAutoFit/>
          </a:bodyPr>
          <a:lstStyle/>
          <a:p>
            <a:pPr marL="12700">
              <a:lnSpc>
                <a:spcPct val="100000"/>
              </a:lnSpc>
              <a:spcBef>
                <a:spcPts val="125"/>
              </a:spcBef>
            </a:pPr>
            <a:r>
              <a:rPr sz="1400" dirty="0">
                <a:solidFill>
                  <a:srgbClr val="292929"/>
                </a:solidFill>
                <a:latin typeface="Calibri"/>
                <a:cs typeface="Calibri"/>
              </a:rPr>
              <a:t>4.</a:t>
            </a:r>
            <a:r>
              <a:rPr sz="1400" spc="-70" dirty="0">
                <a:solidFill>
                  <a:srgbClr val="292929"/>
                </a:solidFill>
                <a:latin typeface="Calibri"/>
                <a:cs typeface="Calibri"/>
              </a:rPr>
              <a:t> </a:t>
            </a:r>
            <a:r>
              <a:rPr sz="1400" dirty="0">
                <a:solidFill>
                  <a:srgbClr val="292929"/>
                </a:solidFill>
                <a:latin typeface="Calibri"/>
                <a:cs typeface="Calibri"/>
              </a:rPr>
              <a:t>Model</a:t>
            </a:r>
            <a:r>
              <a:rPr sz="1400" spc="40" dirty="0">
                <a:solidFill>
                  <a:srgbClr val="292929"/>
                </a:solidFill>
                <a:latin typeface="Calibri"/>
                <a:cs typeface="Calibri"/>
              </a:rPr>
              <a:t> </a:t>
            </a:r>
            <a:r>
              <a:rPr sz="1400" spc="-10" dirty="0">
                <a:solidFill>
                  <a:srgbClr val="292929"/>
                </a:solidFill>
                <a:latin typeface="Calibri"/>
                <a:cs typeface="Calibri"/>
              </a:rPr>
              <a:t>Evaluation:</a:t>
            </a:r>
            <a:endParaRPr sz="1400">
              <a:latin typeface="Calibri"/>
              <a:cs typeface="Calibri"/>
            </a:endParaRPr>
          </a:p>
        </p:txBody>
      </p:sp>
      <p:sp>
        <p:nvSpPr>
          <p:cNvPr id="5" name="object 5"/>
          <p:cNvSpPr txBox="1">
            <a:spLocks noGrp="1"/>
          </p:cNvSpPr>
          <p:nvPr>
            <p:ph sz="half" idx="3"/>
          </p:nvPr>
        </p:nvSpPr>
        <p:spPr>
          <a:prstGeom prst="rect">
            <a:avLst/>
          </a:prstGeom>
        </p:spPr>
        <p:txBody>
          <a:bodyPr vert="horz" wrap="square" lIns="0" tIns="41275" rIns="0" bIns="0" rtlCol="0">
            <a:spAutoFit/>
          </a:bodyPr>
          <a:lstStyle/>
          <a:p>
            <a:pPr marL="298450" marR="50165" indent="-285750">
              <a:lnSpc>
                <a:spcPts val="1500"/>
              </a:lnSpc>
              <a:spcBef>
                <a:spcPts val="325"/>
              </a:spcBef>
              <a:buFont typeface="Arial MT"/>
              <a:buChar char="•"/>
              <a:tabLst>
                <a:tab pos="298450" algn="l"/>
              </a:tabLst>
            </a:pPr>
            <a:r>
              <a:rPr spc="-10" dirty="0"/>
              <a:t>Evaluated</a:t>
            </a:r>
            <a:r>
              <a:rPr spc="-25" dirty="0"/>
              <a:t> </a:t>
            </a:r>
            <a:r>
              <a:rPr dirty="0"/>
              <a:t>models</a:t>
            </a:r>
            <a:r>
              <a:rPr spc="-50" dirty="0"/>
              <a:t> </a:t>
            </a:r>
            <a:r>
              <a:rPr dirty="0"/>
              <a:t>using</a:t>
            </a:r>
            <a:r>
              <a:rPr spc="-15" dirty="0"/>
              <a:t> </a:t>
            </a:r>
            <a:r>
              <a:rPr spc="-20" dirty="0"/>
              <a:t>cross-</a:t>
            </a:r>
            <a:r>
              <a:rPr spc="-10" dirty="0"/>
              <a:t>validation</a:t>
            </a:r>
            <a:r>
              <a:rPr spc="-25" dirty="0"/>
              <a:t> </a:t>
            </a:r>
            <a:r>
              <a:rPr dirty="0"/>
              <a:t>techniques</a:t>
            </a:r>
            <a:r>
              <a:rPr spc="10" dirty="0"/>
              <a:t> </a:t>
            </a:r>
            <a:r>
              <a:rPr dirty="0"/>
              <a:t>to</a:t>
            </a:r>
            <a:r>
              <a:rPr spc="-25" dirty="0"/>
              <a:t> </a:t>
            </a:r>
            <a:r>
              <a:rPr spc="-10" dirty="0"/>
              <a:t>ensure robustness</a:t>
            </a:r>
            <a:r>
              <a:rPr spc="-20" dirty="0"/>
              <a:t> </a:t>
            </a:r>
            <a:r>
              <a:rPr dirty="0"/>
              <a:t>and</a:t>
            </a:r>
            <a:r>
              <a:rPr spc="10" dirty="0"/>
              <a:t> </a:t>
            </a:r>
            <a:r>
              <a:rPr spc="-10" dirty="0"/>
              <a:t>generalizability.</a:t>
            </a:r>
          </a:p>
          <a:p>
            <a:pPr marL="298450" marR="5080" indent="-285750">
              <a:lnSpc>
                <a:spcPts val="1580"/>
              </a:lnSpc>
              <a:spcBef>
                <a:spcPts val="915"/>
              </a:spcBef>
              <a:buFont typeface="Arial MT"/>
              <a:buChar char="•"/>
              <a:tabLst>
                <a:tab pos="298450" algn="l"/>
              </a:tabLst>
            </a:pPr>
            <a:r>
              <a:rPr dirty="0"/>
              <a:t>Utilized</a:t>
            </a:r>
            <a:r>
              <a:rPr spc="-20" dirty="0"/>
              <a:t> </a:t>
            </a:r>
            <a:r>
              <a:rPr spc="-10" dirty="0"/>
              <a:t>metrics</a:t>
            </a:r>
            <a:r>
              <a:rPr spc="-50" dirty="0"/>
              <a:t> </a:t>
            </a:r>
            <a:r>
              <a:rPr dirty="0"/>
              <a:t>like</a:t>
            </a:r>
            <a:r>
              <a:rPr spc="-50" dirty="0"/>
              <a:t> </a:t>
            </a:r>
            <a:r>
              <a:rPr spc="-10" dirty="0"/>
              <a:t>accuracy,</a:t>
            </a:r>
            <a:r>
              <a:rPr spc="5" dirty="0"/>
              <a:t> </a:t>
            </a:r>
            <a:r>
              <a:rPr spc="-10" dirty="0"/>
              <a:t>precision,</a:t>
            </a:r>
            <a:r>
              <a:rPr spc="-65" dirty="0"/>
              <a:t> </a:t>
            </a:r>
            <a:r>
              <a:rPr dirty="0"/>
              <a:t>recall,</a:t>
            </a:r>
            <a:r>
              <a:rPr spc="5" dirty="0"/>
              <a:t> </a:t>
            </a:r>
            <a:r>
              <a:rPr dirty="0"/>
              <a:t>and</a:t>
            </a:r>
            <a:r>
              <a:rPr spc="-15" dirty="0"/>
              <a:t> </a:t>
            </a:r>
            <a:r>
              <a:rPr spc="-45" dirty="0"/>
              <a:t>F1-</a:t>
            </a:r>
            <a:r>
              <a:rPr dirty="0"/>
              <a:t>score</a:t>
            </a:r>
            <a:r>
              <a:rPr spc="20" dirty="0"/>
              <a:t> </a:t>
            </a:r>
            <a:r>
              <a:rPr spc="-25" dirty="0"/>
              <a:t>to </a:t>
            </a:r>
            <a:r>
              <a:rPr dirty="0"/>
              <a:t>assess</a:t>
            </a:r>
            <a:r>
              <a:rPr spc="-5" dirty="0"/>
              <a:t> </a:t>
            </a:r>
            <a:r>
              <a:rPr dirty="0"/>
              <a:t>model</a:t>
            </a:r>
            <a:r>
              <a:rPr spc="-65" dirty="0"/>
              <a:t> </a:t>
            </a:r>
            <a:r>
              <a:rPr spc="-10" dirty="0"/>
              <a:t>performance.</a:t>
            </a:r>
          </a:p>
          <a:p>
            <a:pPr>
              <a:lnSpc>
                <a:spcPct val="100000"/>
              </a:lnSpc>
              <a:spcBef>
                <a:spcPts val="1605"/>
              </a:spcBef>
            </a:pPr>
            <a:endParaRPr spc="-10" dirty="0"/>
          </a:p>
          <a:p>
            <a:pPr marL="182245" indent="-169545">
              <a:lnSpc>
                <a:spcPct val="100000"/>
              </a:lnSpc>
              <a:spcBef>
                <a:spcPts val="5"/>
              </a:spcBef>
              <a:buAutoNum type="arabicPeriod" startAt="5"/>
              <a:tabLst>
                <a:tab pos="182245" algn="l"/>
              </a:tabLst>
            </a:pPr>
            <a:r>
              <a:rPr dirty="0"/>
              <a:t>Improvement</a:t>
            </a:r>
            <a:r>
              <a:rPr spc="-80" dirty="0"/>
              <a:t> </a:t>
            </a:r>
            <a:r>
              <a:rPr spc="-10" dirty="0"/>
              <a:t>Iterations:</a:t>
            </a:r>
          </a:p>
          <a:p>
            <a:pPr marL="298450" marR="81915" lvl="1" indent="-285750">
              <a:lnSpc>
                <a:spcPts val="1500"/>
              </a:lnSpc>
              <a:spcBef>
                <a:spcPts val="994"/>
              </a:spcBef>
              <a:buFont typeface="Arial MT"/>
              <a:buChar char="•"/>
              <a:tabLst>
                <a:tab pos="298450" algn="l"/>
              </a:tabLst>
            </a:pPr>
            <a:r>
              <a:rPr sz="1400" spc="-10" dirty="0">
                <a:solidFill>
                  <a:srgbClr val="292929"/>
                </a:solidFill>
                <a:latin typeface="Calibri"/>
                <a:cs typeface="Calibri"/>
              </a:rPr>
              <a:t>Iteratively</a:t>
            </a:r>
            <a:r>
              <a:rPr sz="1400" spc="-70" dirty="0">
                <a:solidFill>
                  <a:srgbClr val="292929"/>
                </a:solidFill>
                <a:latin typeface="Calibri"/>
                <a:cs typeface="Calibri"/>
              </a:rPr>
              <a:t> </a:t>
            </a:r>
            <a:r>
              <a:rPr sz="1400" dirty="0">
                <a:solidFill>
                  <a:srgbClr val="292929"/>
                </a:solidFill>
                <a:latin typeface="Calibri"/>
                <a:cs typeface="Calibri"/>
              </a:rPr>
              <a:t>adjusted</a:t>
            </a:r>
            <a:r>
              <a:rPr sz="1400" spc="-20" dirty="0">
                <a:solidFill>
                  <a:srgbClr val="292929"/>
                </a:solidFill>
                <a:latin typeface="Calibri"/>
                <a:cs typeface="Calibri"/>
              </a:rPr>
              <a:t> </a:t>
            </a:r>
            <a:r>
              <a:rPr sz="1400" dirty="0">
                <a:solidFill>
                  <a:srgbClr val="292929"/>
                </a:solidFill>
                <a:latin typeface="Calibri"/>
                <a:cs typeface="Calibri"/>
              </a:rPr>
              <a:t>models</a:t>
            </a:r>
            <a:r>
              <a:rPr sz="1400" spc="15" dirty="0">
                <a:solidFill>
                  <a:srgbClr val="292929"/>
                </a:solidFill>
                <a:latin typeface="Calibri"/>
                <a:cs typeface="Calibri"/>
              </a:rPr>
              <a:t> </a:t>
            </a:r>
            <a:r>
              <a:rPr sz="1400" dirty="0">
                <a:solidFill>
                  <a:srgbClr val="292929"/>
                </a:solidFill>
                <a:latin typeface="Calibri"/>
                <a:cs typeface="Calibri"/>
              </a:rPr>
              <a:t>based</a:t>
            </a:r>
            <a:r>
              <a:rPr sz="1400" spc="-20" dirty="0">
                <a:solidFill>
                  <a:srgbClr val="292929"/>
                </a:solidFill>
                <a:latin typeface="Calibri"/>
                <a:cs typeface="Calibri"/>
              </a:rPr>
              <a:t> </a:t>
            </a:r>
            <a:r>
              <a:rPr sz="1400" dirty="0">
                <a:solidFill>
                  <a:srgbClr val="292929"/>
                </a:solidFill>
                <a:latin typeface="Calibri"/>
                <a:cs typeface="Calibri"/>
              </a:rPr>
              <a:t>on</a:t>
            </a:r>
            <a:r>
              <a:rPr sz="1400" spc="-25" dirty="0">
                <a:solidFill>
                  <a:srgbClr val="292929"/>
                </a:solidFill>
                <a:latin typeface="Calibri"/>
                <a:cs typeface="Calibri"/>
              </a:rPr>
              <a:t> </a:t>
            </a:r>
            <a:r>
              <a:rPr sz="1400" dirty="0">
                <a:solidFill>
                  <a:srgbClr val="292929"/>
                </a:solidFill>
                <a:latin typeface="Calibri"/>
                <a:cs typeface="Calibri"/>
              </a:rPr>
              <a:t>insights</a:t>
            </a:r>
            <a:r>
              <a:rPr sz="1400" spc="-50" dirty="0">
                <a:solidFill>
                  <a:srgbClr val="292929"/>
                </a:solidFill>
                <a:latin typeface="Calibri"/>
                <a:cs typeface="Calibri"/>
              </a:rPr>
              <a:t> </a:t>
            </a:r>
            <a:r>
              <a:rPr sz="1400" dirty="0">
                <a:solidFill>
                  <a:srgbClr val="292929"/>
                </a:solidFill>
                <a:latin typeface="Calibri"/>
                <a:cs typeface="Calibri"/>
              </a:rPr>
              <a:t>from</a:t>
            </a:r>
            <a:r>
              <a:rPr sz="1400" spc="-35" dirty="0">
                <a:solidFill>
                  <a:srgbClr val="292929"/>
                </a:solidFill>
                <a:latin typeface="Calibri"/>
                <a:cs typeface="Calibri"/>
              </a:rPr>
              <a:t> </a:t>
            </a:r>
            <a:r>
              <a:rPr sz="1400" spc="-10" dirty="0">
                <a:solidFill>
                  <a:srgbClr val="292929"/>
                </a:solidFill>
                <a:latin typeface="Calibri"/>
                <a:cs typeface="Calibri"/>
              </a:rPr>
              <a:t>validation results.</a:t>
            </a:r>
            <a:endParaRPr sz="1400">
              <a:latin typeface="Calibri"/>
              <a:cs typeface="Calibri"/>
            </a:endParaRPr>
          </a:p>
          <a:p>
            <a:pPr marL="298450" marR="66040" lvl="1" indent="-285750">
              <a:lnSpc>
                <a:spcPts val="1500"/>
              </a:lnSpc>
              <a:spcBef>
                <a:spcPts val="1055"/>
              </a:spcBef>
              <a:buFont typeface="Arial MT"/>
              <a:buChar char="•"/>
              <a:tabLst>
                <a:tab pos="298450" algn="l"/>
              </a:tabLst>
            </a:pPr>
            <a:r>
              <a:rPr sz="1400" spc="-10" dirty="0">
                <a:solidFill>
                  <a:srgbClr val="292929"/>
                </a:solidFill>
                <a:latin typeface="Calibri"/>
                <a:cs typeface="Calibri"/>
              </a:rPr>
              <a:t>Fine-</a:t>
            </a:r>
            <a:r>
              <a:rPr sz="1400" dirty="0">
                <a:solidFill>
                  <a:srgbClr val="292929"/>
                </a:solidFill>
                <a:latin typeface="Calibri"/>
                <a:cs typeface="Calibri"/>
              </a:rPr>
              <a:t>tuned</a:t>
            </a:r>
            <a:r>
              <a:rPr sz="1400" spc="-35" dirty="0">
                <a:solidFill>
                  <a:srgbClr val="292929"/>
                </a:solidFill>
                <a:latin typeface="Calibri"/>
                <a:cs typeface="Calibri"/>
              </a:rPr>
              <a:t> </a:t>
            </a:r>
            <a:r>
              <a:rPr sz="1400" spc="-10" dirty="0">
                <a:solidFill>
                  <a:srgbClr val="292929"/>
                </a:solidFill>
                <a:latin typeface="Calibri"/>
                <a:cs typeface="Calibri"/>
              </a:rPr>
              <a:t>hyperparameters</a:t>
            </a:r>
            <a:r>
              <a:rPr sz="1400" spc="-65" dirty="0">
                <a:solidFill>
                  <a:srgbClr val="292929"/>
                </a:solidFill>
                <a:latin typeface="Calibri"/>
                <a:cs typeface="Calibri"/>
              </a:rPr>
              <a:t> </a:t>
            </a:r>
            <a:r>
              <a:rPr sz="1400" dirty="0">
                <a:solidFill>
                  <a:srgbClr val="292929"/>
                </a:solidFill>
                <a:latin typeface="Calibri"/>
                <a:cs typeface="Calibri"/>
              </a:rPr>
              <a:t>to</a:t>
            </a:r>
            <a:r>
              <a:rPr sz="1400" spc="-35" dirty="0">
                <a:solidFill>
                  <a:srgbClr val="292929"/>
                </a:solidFill>
                <a:latin typeface="Calibri"/>
                <a:cs typeface="Calibri"/>
              </a:rPr>
              <a:t> </a:t>
            </a:r>
            <a:r>
              <a:rPr sz="1400" dirty="0">
                <a:solidFill>
                  <a:srgbClr val="292929"/>
                </a:solidFill>
                <a:latin typeface="Calibri"/>
                <a:cs typeface="Calibri"/>
              </a:rPr>
              <a:t>maximize</a:t>
            </a:r>
            <a:r>
              <a:rPr sz="1400" spc="-65" dirty="0">
                <a:solidFill>
                  <a:srgbClr val="292929"/>
                </a:solidFill>
                <a:latin typeface="Calibri"/>
                <a:cs typeface="Calibri"/>
              </a:rPr>
              <a:t> </a:t>
            </a:r>
            <a:r>
              <a:rPr sz="1400" dirty="0">
                <a:solidFill>
                  <a:srgbClr val="292929"/>
                </a:solidFill>
                <a:latin typeface="Calibri"/>
                <a:cs typeface="Calibri"/>
              </a:rPr>
              <a:t>predictive </a:t>
            </a:r>
            <a:r>
              <a:rPr sz="1400" spc="-10" dirty="0">
                <a:solidFill>
                  <a:srgbClr val="292929"/>
                </a:solidFill>
                <a:latin typeface="Calibri"/>
                <a:cs typeface="Calibri"/>
              </a:rPr>
              <a:t>accuracy </a:t>
            </a:r>
            <a:r>
              <a:rPr sz="1400" dirty="0">
                <a:solidFill>
                  <a:srgbClr val="292929"/>
                </a:solidFill>
                <a:latin typeface="Calibri"/>
                <a:cs typeface="Calibri"/>
              </a:rPr>
              <a:t>and</a:t>
            </a:r>
            <a:r>
              <a:rPr sz="1400" spc="-10" dirty="0">
                <a:solidFill>
                  <a:srgbClr val="292929"/>
                </a:solidFill>
                <a:latin typeface="Calibri"/>
                <a:cs typeface="Calibri"/>
              </a:rPr>
              <a:t> reliability.</a:t>
            </a:r>
            <a:endParaRPr sz="1400">
              <a:latin typeface="Calibri"/>
              <a:cs typeface="Calibri"/>
            </a:endParaRPr>
          </a:p>
          <a:p>
            <a:pPr>
              <a:lnSpc>
                <a:spcPct val="100000"/>
              </a:lnSpc>
              <a:spcBef>
                <a:spcPts val="1625"/>
              </a:spcBef>
            </a:pPr>
            <a:endParaRPr sz="1400">
              <a:latin typeface="Calibri"/>
              <a:cs typeface="Calibri"/>
            </a:endParaRPr>
          </a:p>
          <a:p>
            <a:pPr marL="182245" indent="-169545">
              <a:lnSpc>
                <a:spcPct val="100000"/>
              </a:lnSpc>
              <a:buAutoNum type="arabicPeriod" startAt="6"/>
              <a:tabLst>
                <a:tab pos="182245" algn="l"/>
              </a:tabLst>
            </a:pPr>
            <a:r>
              <a:rPr dirty="0"/>
              <a:t>Selection</a:t>
            </a:r>
            <a:r>
              <a:rPr spc="-45" dirty="0"/>
              <a:t> </a:t>
            </a:r>
            <a:r>
              <a:rPr dirty="0"/>
              <a:t>of</a:t>
            </a:r>
            <a:r>
              <a:rPr spc="-30" dirty="0"/>
              <a:t> </a:t>
            </a:r>
            <a:r>
              <a:rPr dirty="0"/>
              <a:t>Best </a:t>
            </a:r>
            <a:r>
              <a:rPr spc="-10" dirty="0"/>
              <a:t>Performing</a:t>
            </a:r>
            <a:r>
              <a:rPr spc="-35" dirty="0"/>
              <a:t> </a:t>
            </a:r>
            <a:r>
              <a:rPr spc="-10" dirty="0"/>
              <a:t>Model:</a:t>
            </a:r>
          </a:p>
          <a:p>
            <a:pPr marL="298450" marR="29209" lvl="1" indent="-285750">
              <a:lnSpc>
                <a:spcPts val="1500"/>
              </a:lnSpc>
              <a:spcBef>
                <a:spcPts val="1000"/>
              </a:spcBef>
              <a:buFont typeface="Arial MT"/>
              <a:buChar char="•"/>
              <a:tabLst>
                <a:tab pos="298450" algn="l"/>
              </a:tabLst>
            </a:pPr>
            <a:r>
              <a:rPr sz="1400" spc="-10" dirty="0">
                <a:solidFill>
                  <a:srgbClr val="292929"/>
                </a:solidFill>
                <a:latin typeface="Calibri"/>
                <a:cs typeface="Calibri"/>
              </a:rPr>
              <a:t>Identified</a:t>
            </a:r>
            <a:r>
              <a:rPr sz="1400" spc="-25" dirty="0">
                <a:solidFill>
                  <a:srgbClr val="292929"/>
                </a:solidFill>
                <a:latin typeface="Calibri"/>
                <a:cs typeface="Calibri"/>
              </a:rPr>
              <a:t> </a:t>
            </a:r>
            <a:r>
              <a:rPr sz="1400" dirty="0">
                <a:solidFill>
                  <a:srgbClr val="292929"/>
                </a:solidFill>
                <a:latin typeface="Calibri"/>
                <a:cs typeface="Calibri"/>
              </a:rPr>
              <a:t>the</a:t>
            </a:r>
            <a:r>
              <a:rPr sz="1400" spc="-50" dirty="0">
                <a:solidFill>
                  <a:srgbClr val="292929"/>
                </a:solidFill>
                <a:latin typeface="Calibri"/>
                <a:cs typeface="Calibri"/>
              </a:rPr>
              <a:t> </a:t>
            </a:r>
            <a:r>
              <a:rPr sz="1400" dirty="0">
                <a:solidFill>
                  <a:srgbClr val="292929"/>
                </a:solidFill>
                <a:latin typeface="Calibri"/>
                <a:cs typeface="Calibri"/>
              </a:rPr>
              <a:t>model</a:t>
            </a:r>
            <a:r>
              <a:rPr sz="1400" spc="-45" dirty="0">
                <a:solidFill>
                  <a:srgbClr val="292929"/>
                </a:solidFill>
                <a:latin typeface="Calibri"/>
                <a:cs typeface="Calibri"/>
              </a:rPr>
              <a:t> </a:t>
            </a:r>
            <a:r>
              <a:rPr sz="1400" dirty="0">
                <a:solidFill>
                  <a:srgbClr val="292929"/>
                </a:solidFill>
                <a:latin typeface="Calibri"/>
                <a:cs typeface="Calibri"/>
              </a:rPr>
              <a:t>with</a:t>
            </a:r>
            <a:r>
              <a:rPr sz="1400" spc="-25" dirty="0">
                <a:solidFill>
                  <a:srgbClr val="292929"/>
                </a:solidFill>
                <a:latin typeface="Calibri"/>
                <a:cs typeface="Calibri"/>
              </a:rPr>
              <a:t> </a:t>
            </a:r>
            <a:r>
              <a:rPr sz="1400" dirty="0">
                <a:solidFill>
                  <a:srgbClr val="292929"/>
                </a:solidFill>
                <a:latin typeface="Calibri"/>
                <a:cs typeface="Calibri"/>
              </a:rPr>
              <a:t>the</a:t>
            </a:r>
            <a:r>
              <a:rPr sz="1400" spc="-50" dirty="0">
                <a:solidFill>
                  <a:srgbClr val="292929"/>
                </a:solidFill>
                <a:latin typeface="Calibri"/>
                <a:cs typeface="Calibri"/>
              </a:rPr>
              <a:t> </a:t>
            </a:r>
            <a:r>
              <a:rPr sz="1400" dirty="0">
                <a:solidFill>
                  <a:srgbClr val="292929"/>
                </a:solidFill>
                <a:latin typeface="Calibri"/>
                <a:cs typeface="Calibri"/>
              </a:rPr>
              <a:t>highest</a:t>
            </a:r>
            <a:r>
              <a:rPr sz="1400" spc="25" dirty="0">
                <a:solidFill>
                  <a:srgbClr val="292929"/>
                </a:solidFill>
                <a:latin typeface="Calibri"/>
                <a:cs typeface="Calibri"/>
              </a:rPr>
              <a:t> </a:t>
            </a:r>
            <a:r>
              <a:rPr sz="1400" dirty="0">
                <a:solidFill>
                  <a:srgbClr val="292929"/>
                </a:solidFill>
                <a:latin typeface="Calibri"/>
                <a:cs typeface="Calibri"/>
              </a:rPr>
              <a:t>accuracy</a:t>
            </a:r>
            <a:r>
              <a:rPr sz="1400" spc="5" dirty="0">
                <a:solidFill>
                  <a:srgbClr val="292929"/>
                </a:solidFill>
                <a:latin typeface="Calibri"/>
                <a:cs typeface="Calibri"/>
              </a:rPr>
              <a:t> </a:t>
            </a:r>
            <a:r>
              <a:rPr sz="1400" dirty="0">
                <a:solidFill>
                  <a:srgbClr val="292929"/>
                </a:solidFill>
                <a:latin typeface="Calibri"/>
                <a:cs typeface="Calibri"/>
              </a:rPr>
              <a:t>on</a:t>
            </a:r>
            <a:r>
              <a:rPr sz="1400" spc="-20" dirty="0">
                <a:solidFill>
                  <a:srgbClr val="292929"/>
                </a:solidFill>
                <a:latin typeface="Calibri"/>
                <a:cs typeface="Calibri"/>
              </a:rPr>
              <a:t> </a:t>
            </a:r>
            <a:r>
              <a:rPr sz="1400" dirty="0">
                <a:solidFill>
                  <a:srgbClr val="292929"/>
                </a:solidFill>
                <a:latin typeface="Calibri"/>
                <a:cs typeface="Calibri"/>
              </a:rPr>
              <a:t>the</a:t>
            </a:r>
            <a:r>
              <a:rPr sz="1400" spc="15" dirty="0">
                <a:solidFill>
                  <a:srgbClr val="292929"/>
                </a:solidFill>
                <a:latin typeface="Calibri"/>
                <a:cs typeface="Calibri"/>
              </a:rPr>
              <a:t> </a:t>
            </a:r>
            <a:r>
              <a:rPr sz="1400" dirty="0">
                <a:solidFill>
                  <a:srgbClr val="292929"/>
                </a:solidFill>
                <a:latin typeface="Calibri"/>
                <a:cs typeface="Calibri"/>
              </a:rPr>
              <a:t>test</a:t>
            </a:r>
            <a:r>
              <a:rPr sz="1400" spc="25" dirty="0">
                <a:solidFill>
                  <a:srgbClr val="292929"/>
                </a:solidFill>
                <a:latin typeface="Calibri"/>
                <a:cs typeface="Calibri"/>
              </a:rPr>
              <a:t> </a:t>
            </a:r>
            <a:r>
              <a:rPr sz="1400" spc="-25" dirty="0">
                <a:solidFill>
                  <a:srgbClr val="292929"/>
                </a:solidFill>
                <a:latin typeface="Calibri"/>
                <a:cs typeface="Calibri"/>
              </a:rPr>
              <a:t>set </a:t>
            </a:r>
            <a:r>
              <a:rPr sz="1400" dirty="0">
                <a:solidFill>
                  <a:srgbClr val="292929"/>
                </a:solidFill>
                <a:latin typeface="Calibri"/>
                <a:cs typeface="Calibri"/>
              </a:rPr>
              <a:t>as the</a:t>
            </a:r>
            <a:r>
              <a:rPr sz="1400" spc="-60" dirty="0">
                <a:solidFill>
                  <a:srgbClr val="292929"/>
                </a:solidFill>
                <a:latin typeface="Calibri"/>
                <a:cs typeface="Calibri"/>
              </a:rPr>
              <a:t> </a:t>
            </a:r>
            <a:r>
              <a:rPr sz="1400" dirty="0">
                <a:solidFill>
                  <a:srgbClr val="292929"/>
                </a:solidFill>
                <a:latin typeface="Calibri"/>
                <a:cs typeface="Calibri"/>
              </a:rPr>
              <a:t>best</a:t>
            </a:r>
            <a:r>
              <a:rPr sz="1400" spc="10" dirty="0">
                <a:solidFill>
                  <a:srgbClr val="292929"/>
                </a:solidFill>
                <a:latin typeface="Calibri"/>
                <a:cs typeface="Calibri"/>
              </a:rPr>
              <a:t> </a:t>
            </a:r>
            <a:r>
              <a:rPr sz="1400" spc="-10" dirty="0">
                <a:solidFill>
                  <a:srgbClr val="292929"/>
                </a:solidFill>
                <a:latin typeface="Calibri"/>
                <a:cs typeface="Calibri"/>
              </a:rPr>
              <a:t>performer.</a:t>
            </a:r>
            <a:endParaRPr sz="1400">
              <a:latin typeface="Calibri"/>
              <a:cs typeface="Calibri"/>
            </a:endParaRPr>
          </a:p>
          <a:p>
            <a:pPr marL="298450" marR="200660" lvl="1" indent="-285750">
              <a:lnSpc>
                <a:spcPts val="1500"/>
              </a:lnSpc>
              <a:spcBef>
                <a:spcPts val="1055"/>
              </a:spcBef>
              <a:buFont typeface="Arial MT"/>
              <a:buChar char="•"/>
              <a:tabLst>
                <a:tab pos="298450" algn="l"/>
              </a:tabLst>
            </a:pPr>
            <a:r>
              <a:rPr sz="1400" dirty="0">
                <a:solidFill>
                  <a:srgbClr val="292929"/>
                </a:solidFill>
                <a:latin typeface="Calibri"/>
                <a:cs typeface="Calibri"/>
              </a:rPr>
              <a:t>Considered</a:t>
            </a:r>
            <a:r>
              <a:rPr sz="1400" spc="-40" dirty="0">
                <a:solidFill>
                  <a:srgbClr val="292929"/>
                </a:solidFill>
                <a:latin typeface="Calibri"/>
                <a:cs typeface="Calibri"/>
              </a:rPr>
              <a:t> </a:t>
            </a:r>
            <a:r>
              <a:rPr sz="1400" dirty="0">
                <a:solidFill>
                  <a:srgbClr val="292929"/>
                </a:solidFill>
                <a:latin typeface="Calibri"/>
                <a:cs typeface="Calibri"/>
              </a:rPr>
              <a:t>both</a:t>
            </a:r>
            <a:r>
              <a:rPr sz="1400" spc="-35" dirty="0">
                <a:solidFill>
                  <a:srgbClr val="292929"/>
                </a:solidFill>
                <a:latin typeface="Calibri"/>
                <a:cs typeface="Calibri"/>
              </a:rPr>
              <a:t> </a:t>
            </a:r>
            <a:r>
              <a:rPr sz="1400" dirty="0">
                <a:solidFill>
                  <a:srgbClr val="292929"/>
                </a:solidFill>
                <a:latin typeface="Calibri"/>
                <a:cs typeface="Calibri"/>
              </a:rPr>
              <a:t>training</a:t>
            </a:r>
            <a:r>
              <a:rPr sz="1400" spc="-30" dirty="0">
                <a:solidFill>
                  <a:srgbClr val="292929"/>
                </a:solidFill>
                <a:latin typeface="Calibri"/>
                <a:cs typeface="Calibri"/>
              </a:rPr>
              <a:t> </a:t>
            </a:r>
            <a:r>
              <a:rPr sz="1400" dirty="0">
                <a:solidFill>
                  <a:srgbClr val="292929"/>
                </a:solidFill>
                <a:latin typeface="Calibri"/>
                <a:cs typeface="Calibri"/>
              </a:rPr>
              <a:t>and</a:t>
            </a:r>
            <a:r>
              <a:rPr sz="1400" spc="-35" dirty="0">
                <a:solidFill>
                  <a:srgbClr val="292929"/>
                </a:solidFill>
                <a:latin typeface="Calibri"/>
                <a:cs typeface="Calibri"/>
              </a:rPr>
              <a:t> </a:t>
            </a:r>
            <a:r>
              <a:rPr sz="1400" dirty="0">
                <a:solidFill>
                  <a:srgbClr val="292929"/>
                </a:solidFill>
                <a:latin typeface="Calibri"/>
                <a:cs typeface="Calibri"/>
              </a:rPr>
              <a:t>test</a:t>
            </a:r>
            <a:r>
              <a:rPr sz="1400" spc="10" dirty="0">
                <a:solidFill>
                  <a:srgbClr val="292929"/>
                </a:solidFill>
                <a:latin typeface="Calibri"/>
                <a:cs typeface="Calibri"/>
              </a:rPr>
              <a:t> </a:t>
            </a:r>
            <a:r>
              <a:rPr sz="1400" dirty="0">
                <a:solidFill>
                  <a:srgbClr val="292929"/>
                </a:solidFill>
                <a:latin typeface="Calibri"/>
                <a:cs typeface="Calibri"/>
              </a:rPr>
              <a:t>set</a:t>
            </a:r>
            <a:r>
              <a:rPr sz="1400" spc="5" dirty="0">
                <a:solidFill>
                  <a:srgbClr val="292929"/>
                </a:solidFill>
                <a:latin typeface="Calibri"/>
                <a:cs typeface="Calibri"/>
              </a:rPr>
              <a:t> </a:t>
            </a:r>
            <a:r>
              <a:rPr sz="1400" spc="-10" dirty="0">
                <a:solidFill>
                  <a:srgbClr val="292929"/>
                </a:solidFill>
                <a:latin typeface="Calibri"/>
                <a:cs typeface="Calibri"/>
              </a:rPr>
              <a:t>performance</a:t>
            </a:r>
            <a:r>
              <a:rPr sz="1400" spc="-70" dirty="0">
                <a:solidFill>
                  <a:srgbClr val="292929"/>
                </a:solidFill>
                <a:latin typeface="Calibri"/>
                <a:cs typeface="Calibri"/>
              </a:rPr>
              <a:t> </a:t>
            </a:r>
            <a:r>
              <a:rPr sz="1400" dirty="0">
                <a:solidFill>
                  <a:srgbClr val="292929"/>
                </a:solidFill>
                <a:latin typeface="Calibri"/>
                <a:cs typeface="Calibri"/>
              </a:rPr>
              <a:t>to</a:t>
            </a:r>
            <a:r>
              <a:rPr sz="1400" spc="-35" dirty="0">
                <a:solidFill>
                  <a:srgbClr val="292929"/>
                </a:solidFill>
                <a:latin typeface="Calibri"/>
                <a:cs typeface="Calibri"/>
              </a:rPr>
              <a:t> </a:t>
            </a:r>
            <a:r>
              <a:rPr sz="1400" spc="-10" dirty="0">
                <a:solidFill>
                  <a:srgbClr val="292929"/>
                </a:solidFill>
                <a:latin typeface="Calibri"/>
                <a:cs typeface="Calibri"/>
              </a:rPr>
              <a:t>avoid overfitting </a:t>
            </a:r>
            <a:r>
              <a:rPr sz="1400" dirty="0">
                <a:solidFill>
                  <a:srgbClr val="292929"/>
                </a:solidFill>
                <a:latin typeface="Calibri"/>
                <a:cs typeface="Calibri"/>
              </a:rPr>
              <a:t>and</a:t>
            </a:r>
            <a:r>
              <a:rPr sz="1400" spc="-10" dirty="0">
                <a:solidFill>
                  <a:srgbClr val="292929"/>
                </a:solidFill>
                <a:latin typeface="Calibri"/>
                <a:cs typeface="Calibri"/>
              </a:rPr>
              <a:t> </a:t>
            </a:r>
            <a:r>
              <a:rPr sz="1400" dirty="0">
                <a:solidFill>
                  <a:srgbClr val="292929"/>
                </a:solidFill>
                <a:latin typeface="Calibri"/>
                <a:cs typeface="Calibri"/>
              </a:rPr>
              <a:t>ensure</a:t>
            </a:r>
            <a:r>
              <a:rPr sz="1400" spc="-50" dirty="0">
                <a:solidFill>
                  <a:srgbClr val="292929"/>
                </a:solidFill>
                <a:latin typeface="Calibri"/>
                <a:cs typeface="Calibri"/>
              </a:rPr>
              <a:t> </a:t>
            </a:r>
            <a:r>
              <a:rPr sz="1400" spc="-10" dirty="0">
                <a:solidFill>
                  <a:srgbClr val="292929"/>
                </a:solidFill>
                <a:latin typeface="Calibri"/>
                <a:cs typeface="Calibri"/>
              </a:rPr>
              <a:t>real-</a:t>
            </a:r>
            <a:r>
              <a:rPr sz="1400" dirty="0">
                <a:solidFill>
                  <a:srgbClr val="292929"/>
                </a:solidFill>
                <a:latin typeface="Calibri"/>
                <a:cs typeface="Calibri"/>
              </a:rPr>
              <a:t>world</a:t>
            </a:r>
            <a:r>
              <a:rPr sz="1400" spc="-10" dirty="0">
                <a:solidFill>
                  <a:srgbClr val="292929"/>
                </a:solidFill>
                <a:latin typeface="Calibri"/>
                <a:cs typeface="Calibri"/>
              </a:rPr>
              <a:t> applicability.</a:t>
            </a:r>
            <a:endParaRPr sz="140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40" dirty="0"/>
              <a:t>Predictive</a:t>
            </a:r>
            <a:r>
              <a:rPr spc="-150" dirty="0"/>
              <a:t> </a:t>
            </a:r>
            <a:r>
              <a:rPr spc="-80" dirty="0"/>
              <a:t>Analysis</a:t>
            </a:r>
            <a:r>
              <a:rPr spc="-150" dirty="0"/>
              <a:t> </a:t>
            </a:r>
            <a:r>
              <a:rPr spc="-65" dirty="0"/>
              <a:t>(Flowchart)</a:t>
            </a:r>
          </a:p>
        </p:txBody>
      </p:sp>
      <p:grpSp>
        <p:nvGrpSpPr>
          <p:cNvPr id="3" name="object 3"/>
          <p:cNvGrpSpPr/>
          <p:nvPr/>
        </p:nvGrpSpPr>
        <p:grpSpPr>
          <a:xfrm>
            <a:off x="3522726" y="1608200"/>
            <a:ext cx="1936750" cy="1725930"/>
            <a:chOff x="3522726" y="1608200"/>
            <a:chExt cx="1936750" cy="1725930"/>
          </a:xfrm>
        </p:grpSpPr>
        <p:sp>
          <p:nvSpPr>
            <p:cNvPr id="4" name="object 4"/>
            <p:cNvSpPr/>
            <p:nvPr/>
          </p:nvSpPr>
          <p:spPr>
            <a:xfrm>
              <a:off x="3829050" y="1904999"/>
              <a:ext cx="171450" cy="1428750"/>
            </a:xfrm>
            <a:custGeom>
              <a:avLst/>
              <a:gdLst/>
              <a:ahLst/>
              <a:cxnLst/>
              <a:rect l="l" t="t" r="r" b="b"/>
              <a:pathLst>
                <a:path w="171450" h="1428750">
                  <a:moveTo>
                    <a:pt x="171450" y="0"/>
                  </a:moveTo>
                  <a:lnTo>
                    <a:pt x="0" y="0"/>
                  </a:lnTo>
                  <a:lnTo>
                    <a:pt x="0" y="1428750"/>
                  </a:lnTo>
                  <a:lnTo>
                    <a:pt x="171450" y="1428750"/>
                  </a:lnTo>
                  <a:lnTo>
                    <a:pt x="171450" y="0"/>
                  </a:lnTo>
                  <a:close/>
                </a:path>
              </a:pathLst>
            </a:custGeom>
            <a:solidFill>
              <a:srgbClr val="406CBA"/>
            </a:solidFill>
          </p:spPr>
          <p:txBody>
            <a:bodyPr wrap="square" lIns="0" tIns="0" rIns="0" bIns="0" rtlCol="0"/>
            <a:lstStyle/>
            <a:p>
              <a:endParaRPr/>
            </a:p>
          </p:txBody>
        </p:sp>
        <p:sp>
          <p:nvSpPr>
            <p:cNvPr id="5" name="object 5"/>
            <p:cNvSpPr/>
            <p:nvPr/>
          </p:nvSpPr>
          <p:spPr>
            <a:xfrm>
              <a:off x="3529076" y="1614550"/>
              <a:ext cx="1924050" cy="1162050"/>
            </a:xfrm>
            <a:custGeom>
              <a:avLst/>
              <a:gdLst/>
              <a:ahLst/>
              <a:cxnLst/>
              <a:rect l="l" t="t" r="r" b="b"/>
              <a:pathLst>
                <a:path w="1924050" h="1162050">
                  <a:moveTo>
                    <a:pt x="1807845" y="0"/>
                  </a:moveTo>
                  <a:lnTo>
                    <a:pt x="116077" y="0"/>
                  </a:lnTo>
                  <a:lnTo>
                    <a:pt x="70883" y="9120"/>
                  </a:lnTo>
                  <a:lnTo>
                    <a:pt x="33988" y="34004"/>
                  </a:lnTo>
                  <a:lnTo>
                    <a:pt x="9118" y="70937"/>
                  </a:lnTo>
                  <a:lnTo>
                    <a:pt x="0" y="116204"/>
                  </a:lnTo>
                  <a:lnTo>
                    <a:pt x="0" y="1045845"/>
                  </a:lnTo>
                  <a:lnTo>
                    <a:pt x="9118" y="1091058"/>
                  </a:lnTo>
                  <a:lnTo>
                    <a:pt x="33988" y="1127998"/>
                  </a:lnTo>
                  <a:lnTo>
                    <a:pt x="70883" y="1152911"/>
                  </a:lnTo>
                  <a:lnTo>
                    <a:pt x="116077" y="1162050"/>
                  </a:lnTo>
                  <a:lnTo>
                    <a:pt x="1807845" y="1162050"/>
                  </a:lnTo>
                  <a:lnTo>
                    <a:pt x="1853058" y="1152911"/>
                  </a:lnTo>
                  <a:lnTo>
                    <a:pt x="1889998" y="1127998"/>
                  </a:lnTo>
                  <a:lnTo>
                    <a:pt x="1914911" y="1091058"/>
                  </a:lnTo>
                  <a:lnTo>
                    <a:pt x="1924050" y="1045845"/>
                  </a:lnTo>
                  <a:lnTo>
                    <a:pt x="1924050" y="116204"/>
                  </a:lnTo>
                  <a:lnTo>
                    <a:pt x="1914911" y="70937"/>
                  </a:lnTo>
                  <a:lnTo>
                    <a:pt x="1889998" y="34004"/>
                  </a:lnTo>
                  <a:lnTo>
                    <a:pt x="1853058" y="9120"/>
                  </a:lnTo>
                  <a:lnTo>
                    <a:pt x="1807845" y="0"/>
                  </a:lnTo>
                  <a:close/>
                </a:path>
              </a:pathLst>
            </a:custGeom>
            <a:solidFill>
              <a:srgbClr val="3C67B0"/>
            </a:solidFill>
          </p:spPr>
          <p:txBody>
            <a:bodyPr wrap="square" lIns="0" tIns="0" rIns="0" bIns="0" rtlCol="0"/>
            <a:lstStyle/>
            <a:p>
              <a:endParaRPr/>
            </a:p>
          </p:txBody>
        </p:sp>
        <p:sp>
          <p:nvSpPr>
            <p:cNvPr id="6" name="object 6"/>
            <p:cNvSpPr/>
            <p:nvPr/>
          </p:nvSpPr>
          <p:spPr>
            <a:xfrm>
              <a:off x="3529076" y="1614550"/>
              <a:ext cx="1924050" cy="1162050"/>
            </a:xfrm>
            <a:custGeom>
              <a:avLst/>
              <a:gdLst/>
              <a:ahLst/>
              <a:cxnLst/>
              <a:rect l="l" t="t" r="r" b="b"/>
              <a:pathLst>
                <a:path w="1924050" h="1162050">
                  <a:moveTo>
                    <a:pt x="0" y="116204"/>
                  </a:moveTo>
                  <a:lnTo>
                    <a:pt x="9118" y="70937"/>
                  </a:lnTo>
                  <a:lnTo>
                    <a:pt x="33988" y="34004"/>
                  </a:lnTo>
                  <a:lnTo>
                    <a:pt x="70883" y="9120"/>
                  </a:lnTo>
                  <a:lnTo>
                    <a:pt x="116077" y="0"/>
                  </a:lnTo>
                  <a:lnTo>
                    <a:pt x="1807845" y="0"/>
                  </a:lnTo>
                  <a:lnTo>
                    <a:pt x="1853058" y="9120"/>
                  </a:lnTo>
                  <a:lnTo>
                    <a:pt x="1889998" y="34004"/>
                  </a:lnTo>
                  <a:lnTo>
                    <a:pt x="1914911" y="70937"/>
                  </a:lnTo>
                  <a:lnTo>
                    <a:pt x="1924050" y="116204"/>
                  </a:lnTo>
                  <a:lnTo>
                    <a:pt x="1924050" y="1045845"/>
                  </a:lnTo>
                  <a:lnTo>
                    <a:pt x="1914911" y="1091058"/>
                  </a:lnTo>
                  <a:lnTo>
                    <a:pt x="1889998" y="1127998"/>
                  </a:lnTo>
                  <a:lnTo>
                    <a:pt x="1853058" y="1152911"/>
                  </a:lnTo>
                  <a:lnTo>
                    <a:pt x="1807845" y="1162050"/>
                  </a:lnTo>
                  <a:lnTo>
                    <a:pt x="116077" y="1162050"/>
                  </a:lnTo>
                  <a:lnTo>
                    <a:pt x="70883" y="1152911"/>
                  </a:lnTo>
                  <a:lnTo>
                    <a:pt x="33988" y="1127998"/>
                  </a:lnTo>
                  <a:lnTo>
                    <a:pt x="9118" y="1091058"/>
                  </a:lnTo>
                  <a:lnTo>
                    <a:pt x="0" y="1045845"/>
                  </a:lnTo>
                  <a:lnTo>
                    <a:pt x="0" y="116204"/>
                  </a:lnTo>
                  <a:close/>
                </a:path>
              </a:pathLst>
            </a:custGeom>
            <a:ln w="12700">
              <a:solidFill>
                <a:srgbClr val="FFFFFF"/>
              </a:solidFill>
            </a:ln>
          </p:spPr>
          <p:txBody>
            <a:bodyPr wrap="square" lIns="0" tIns="0" rIns="0" bIns="0" rtlCol="0"/>
            <a:lstStyle/>
            <a:p>
              <a:endParaRPr/>
            </a:p>
          </p:txBody>
        </p:sp>
      </p:grpSp>
      <p:sp>
        <p:nvSpPr>
          <p:cNvPr id="7" name="object 7"/>
          <p:cNvSpPr txBox="1"/>
          <p:nvPr/>
        </p:nvSpPr>
        <p:spPr>
          <a:xfrm>
            <a:off x="3757295" y="1851977"/>
            <a:ext cx="1461135" cy="611505"/>
          </a:xfrm>
          <a:prstGeom prst="rect">
            <a:avLst/>
          </a:prstGeom>
        </p:spPr>
        <p:txBody>
          <a:bodyPr vert="horz" wrap="square" lIns="0" tIns="48260" rIns="0" bIns="0" rtlCol="0">
            <a:spAutoFit/>
          </a:bodyPr>
          <a:lstStyle/>
          <a:p>
            <a:pPr marL="12700" marR="5080" indent="479425">
              <a:lnSpc>
                <a:spcPts val="2180"/>
              </a:lnSpc>
              <a:spcBef>
                <a:spcPts val="380"/>
              </a:spcBef>
            </a:pPr>
            <a:r>
              <a:rPr sz="2000" spc="-20" dirty="0">
                <a:solidFill>
                  <a:srgbClr val="FFFFFF"/>
                </a:solidFill>
                <a:latin typeface="Calibri"/>
                <a:cs typeface="Calibri"/>
              </a:rPr>
              <a:t>Data Preprocessing</a:t>
            </a:r>
            <a:endParaRPr sz="2000">
              <a:latin typeface="Calibri"/>
              <a:cs typeface="Calibri"/>
            </a:endParaRPr>
          </a:p>
        </p:txBody>
      </p:sp>
      <p:grpSp>
        <p:nvGrpSpPr>
          <p:cNvPr id="8" name="object 8"/>
          <p:cNvGrpSpPr/>
          <p:nvPr/>
        </p:nvGrpSpPr>
        <p:grpSpPr>
          <a:xfrm>
            <a:off x="3522726" y="3056001"/>
            <a:ext cx="1936750" cy="1725930"/>
            <a:chOff x="3522726" y="3056001"/>
            <a:chExt cx="1936750" cy="1725930"/>
          </a:xfrm>
        </p:grpSpPr>
        <p:sp>
          <p:nvSpPr>
            <p:cNvPr id="9" name="object 9"/>
            <p:cNvSpPr/>
            <p:nvPr/>
          </p:nvSpPr>
          <p:spPr>
            <a:xfrm>
              <a:off x="3829050" y="3352800"/>
              <a:ext cx="171450" cy="1428750"/>
            </a:xfrm>
            <a:custGeom>
              <a:avLst/>
              <a:gdLst/>
              <a:ahLst/>
              <a:cxnLst/>
              <a:rect l="l" t="t" r="r" b="b"/>
              <a:pathLst>
                <a:path w="171450" h="1428750">
                  <a:moveTo>
                    <a:pt x="171450" y="0"/>
                  </a:moveTo>
                  <a:lnTo>
                    <a:pt x="0" y="0"/>
                  </a:lnTo>
                  <a:lnTo>
                    <a:pt x="0" y="1428750"/>
                  </a:lnTo>
                  <a:lnTo>
                    <a:pt x="171450" y="1428750"/>
                  </a:lnTo>
                  <a:lnTo>
                    <a:pt x="171450" y="0"/>
                  </a:lnTo>
                  <a:close/>
                </a:path>
              </a:pathLst>
            </a:custGeom>
            <a:solidFill>
              <a:srgbClr val="567AC3"/>
            </a:solidFill>
          </p:spPr>
          <p:txBody>
            <a:bodyPr wrap="square" lIns="0" tIns="0" rIns="0" bIns="0" rtlCol="0"/>
            <a:lstStyle/>
            <a:p>
              <a:endParaRPr/>
            </a:p>
          </p:txBody>
        </p:sp>
        <p:sp>
          <p:nvSpPr>
            <p:cNvPr id="10" name="object 10"/>
            <p:cNvSpPr/>
            <p:nvPr/>
          </p:nvSpPr>
          <p:spPr>
            <a:xfrm>
              <a:off x="3529076" y="3062351"/>
              <a:ext cx="1924050" cy="1152525"/>
            </a:xfrm>
            <a:custGeom>
              <a:avLst/>
              <a:gdLst/>
              <a:ahLst/>
              <a:cxnLst/>
              <a:rect l="l" t="t" r="r" b="b"/>
              <a:pathLst>
                <a:path w="1924050" h="1152525">
                  <a:moveTo>
                    <a:pt x="1808734" y="0"/>
                  </a:moveTo>
                  <a:lnTo>
                    <a:pt x="115188" y="0"/>
                  </a:lnTo>
                  <a:lnTo>
                    <a:pt x="70348" y="9050"/>
                  </a:lnTo>
                  <a:lnTo>
                    <a:pt x="33734" y="33734"/>
                  </a:lnTo>
                  <a:lnTo>
                    <a:pt x="9050" y="70348"/>
                  </a:lnTo>
                  <a:lnTo>
                    <a:pt x="0" y="115188"/>
                  </a:lnTo>
                  <a:lnTo>
                    <a:pt x="0" y="1037209"/>
                  </a:lnTo>
                  <a:lnTo>
                    <a:pt x="9050" y="1082069"/>
                  </a:lnTo>
                  <a:lnTo>
                    <a:pt x="33734" y="1118727"/>
                  </a:lnTo>
                  <a:lnTo>
                    <a:pt x="70348" y="1143454"/>
                  </a:lnTo>
                  <a:lnTo>
                    <a:pt x="115188" y="1152525"/>
                  </a:lnTo>
                  <a:lnTo>
                    <a:pt x="1808734" y="1152525"/>
                  </a:lnTo>
                  <a:lnTo>
                    <a:pt x="1853594" y="1143454"/>
                  </a:lnTo>
                  <a:lnTo>
                    <a:pt x="1890252" y="1118727"/>
                  </a:lnTo>
                  <a:lnTo>
                    <a:pt x="1914979" y="1082069"/>
                  </a:lnTo>
                  <a:lnTo>
                    <a:pt x="1924050" y="1037209"/>
                  </a:lnTo>
                  <a:lnTo>
                    <a:pt x="1924050" y="115188"/>
                  </a:lnTo>
                  <a:lnTo>
                    <a:pt x="1914979" y="70348"/>
                  </a:lnTo>
                  <a:lnTo>
                    <a:pt x="1890252" y="33734"/>
                  </a:lnTo>
                  <a:lnTo>
                    <a:pt x="1853594" y="9050"/>
                  </a:lnTo>
                  <a:lnTo>
                    <a:pt x="1808734" y="0"/>
                  </a:lnTo>
                  <a:close/>
                </a:path>
              </a:pathLst>
            </a:custGeom>
            <a:solidFill>
              <a:srgbClr val="4971BE"/>
            </a:solidFill>
          </p:spPr>
          <p:txBody>
            <a:bodyPr wrap="square" lIns="0" tIns="0" rIns="0" bIns="0" rtlCol="0"/>
            <a:lstStyle/>
            <a:p>
              <a:endParaRPr/>
            </a:p>
          </p:txBody>
        </p:sp>
        <p:sp>
          <p:nvSpPr>
            <p:cNvPr id="11" name="object 11"/>
            <p:cNvSpPr/>
            <p:nvPr/>
          </p:nvSpPr>
          <p:spPr>
            <a:xfrm>
              <a:off x="3529076" y="3062351"/>
              <a:ext cx="1924050" cy="1152525"/>
            </a:xfrm>
            <a:custGeom>
              <a:avLst/>
              <a:gdLst/>
              <a:ahLst/>
              <a:cxnLst/>
              <a:rect l="l" t="t" r="r" b="b"/>
              <a:pathLst>
                <a:path w="1924050" h="1152525">
                  <a:moveTo>
                    <a:pt x="0" y="115188"/>
                  </a:moveTo>
                  <a:lnTo>
                    <a:pt x="9050" y="70348"/>
                  </a:lnTo>
                  <a:lnTo>
                    <a:pt x="33734" y="33734"/>
                  </a:lnTo>
                  <a:lnTo>
                    <a:pt x="70348" y="9050"/>
                  </a:lnTo>
                  <a:lnTo>
                    <a:pt x="115188" y="0"/>
                  </a:lnTo>
                  <a:lnTo>
                    <a:pt x="1808734" y="0"/>
                  </a:lnTo>
                  <a:lnTo>
                    <a:pt x="1853594" y="9050"/>
                  </a:lnTo>
                  <a:lnTo>
                    <a:pt x="1890252" y="33734"/>
                  </a:lnTo>
                  <a:lnTo>
                    <a:pt x="1914979" y="70348"/>
                  </a:lnTo>
                  <a:lnTo>
                    <a:pt x="1924050" y="115188"/>
                  </a:lnTo>
                  <a:lnTo>
                    <a:pt x="1924050" y="1037209"/>
                  </a:lnTo>
                  <a:lnTo>
                    <a:pt x="1914979" y="1082069"/>
                  </a:lnTo>
                  <a:lnTo>
                    <a:pt x="1890252" y="1118727"/>
                  </a:lnTo>
                  <a:lnTo>
                    <a:pt x="1853594" y="1143454"/>
                  </a:lnTo>
                  <a:lnTo>
                    <a:pt x="1808734" y="1152525"/>
                  </a:lnTo>
                  <a:lnTo>
                    <a:pt x="115188" y="1152525"/>
                  </a:lnTo>
                  <a:lnTo>
                    <a:pt x="70348" y="1143454"/>
                  </a:lnTo>
                  <a:lnTo>
                    <a:pt x="33734" y="1118727"/>
                  </a:lnTo>
                  <a:lnTo>
                    <a:pt x="9050" y="1082069"/>
                  </a:lnTo>
                  <a:lnTo>
                    <a:pt x="0" y="1037209"/>
                  </a:lnTo>
                  <a:lnTo>
                    <a:pt x="0" y="115188"/>
                  </a:lnTo>
                  <a:close/>
                </a:path>
              </a:pathLst>
            </a:custGeom>
            <a:ln w="12700">
              <a:solidFill>
                <a:srgbClr val="FFFFFF"/>
              </a:solidFill>
            </a:ln>
          </p:spPr>
          <p:txBody>
            <a:bodyPr wrap="square" lIns="0" tIns="0" rIns="0" bIns="0" rtlCol="0"/>
            <a:lstStyle/>
            <a:p>
              <a:endParaRPr/>
            </a:p>
          </p:txBody>
        </p:sp>
      </p:grpSp>
      <p:sp>
        <p:nvSpPr>
          <p:cNvPr id="12" name="object 12"/>
          <p:cNvSpPr txBox="1"/>
          <p:nvPr/>
        </p:nvSpPr>
        <p:spPr>
          <a:xfrm>
            <a:off x="3974846" y="3300730"/>
            <a:ext cx="972185" cy="612140"/>
          </a:xfrm>
          <a:prstGeom prst="rect">
            <a:avLst/>
          </a:prstGeom>
        </p:spPr>
        <p:txBody>
          <a:bodyPr vert="horz" wrap="square" lIns="0" tIns="16510" rIns="0" bIns="0" rtlCol="0">
            <a:spAutoFit/>
          </a:bodyPr>
          <a:lstStyle/>
          <a:p>
            <a:pPr marL="56515" algn="ctr">
              <a:lnSpc>
                <a:spcPts val="2290"/>
              </a:lnSpc>
              <a:spcBef>
                <a:spcPts val="130"/>
              </a:spcBef>
            </a:pPr>
            <a:r>
              <a:rPr sz="2000" spc="-10" dirty="0">
                <a:solidFill>
                  <a:srgbClr val="FFFFFF"/>
                </a:solidFill>
                <a:latin typeface="Calibri"/>
                <a:cs typeface="Calibri"/>
              </a:rPr>
              <a:t>Model</a:t>
            </a:r>
            <a:endParaRPr sz="2000">
              <a:latin typeface="Calibri"/>
              <a:cs typeface="Calibri"/>
            </a:endParaRPr>
          </a:p>
          <a:p>
            <a:pPr algn="ctr">
              <a:lnSpc>
                <a:spcPts val="2290"/>
              </a:lnSpc>
            </a:pPr>
            <a:r>
              <a:rPr sz="2000" spc="-10" dirty="0">
                <a:solidFill>
                  <a:srgbClr val="FFFFFF"/>
                </a:solidFill>
                <a:latin typeface="Calibri"/>
                <a:cs typeface="Calibri"/>
              </a:rPr>
              <a:t>Selection</a:t>
            </a:r>
            <a:endParaRPr sz="2000">
              <a:latin typeface="Calibri"/>
              <a:cs typeface="Calibri"/>
            </a:endParaRPr>
          </a:p>
        </p:txBody>
      </p:sp>
      <p:grpSp>
        <p:nvGrpSpPr>
          <p:cNvPr id="13" name="object 13"/>
          <p:cNvGrpSpPr/>
          <p:nvPr/>
        </p:nvGrpSpPr>
        <p:grpSpPr>
          <a:xfrm>
            <a:off x="3522726" y="4503801"/>
            <a:ext cx="2954655" cy="1165225"/>
            <a:chOff x="3522726" y="4503801"/>
            <a:chExt cx="2954655" cy="1165225"/>
          </a:xfrm>
        </p:grpSpPr>
        <p:sp>
          <p:nvSpPr>
            <p:cNvPr id="14" name="object 14"/>
            <p:cNvSpPr/>
            <p:nvPr/>
          </p:nvSpPr>
          <p:spPr>
            <a:xfrm>
              <a:off x="3914775" y="4705350"/>
              <a:ext cx="2562225" cy="171450"/>
            </a:xfrm>
            <a:custGeom>
              <a:avLst/>
              <a:gdLst/>
              <a:ahLst/>
              <a:cxnLst/>
              <a:rect l="l" t="t" r="r" b="b"/>
              <a:pathLst>
                <a:path w="2562225" h="171450">
                  <a:moveTo>
                    <a:pt x="2562225" y="0"/>
                  </a:moveTo>
                  <a:lnTo>
                    <a:pt x="0" y="0"/>
                  </a:lnTo>
                  <a:lnTo>
                    <a:pt x="0" y="171450"/>
                  </a:lnTo>
                  <a:lnTo>
                    <a:pt x="2562225" y="171450"/>
                  </a:lnTo>
                  <a:lnTo>
                    <a:pt x="2562225" y="0"/>
                  </a:lnTo>
                  <a:close/>
                </a:path>
              </a:pathLst>
            </a:custGeom>
            <a:solidFill>
              <a:srgbClr val="6E8AC8"/>
            </a:solidFill>
          </p:spPr>
          <p:txBody>
            <a:bodyPr wrap="square" lIns="0" tIns="0" rIns="0" bIns="0" rtlCol="0"/>
            <a:lstStyle/>
            <a:p>
              <a:endParaRPr/>
            </a:p>
          </p:txBody>
        </p:sp>
        <p:sp>
          <p:nvSpPr>
            <p:cNvPr id="15" name="object 15"/>
            <p:cNvSpPr/>
            <p:nvPr/>
          </p:nvSpPr>
          <p:spPr>
            <a:xfrm>
              <a:off x="3529076" y="4510151"/>
              <a:ext cx="1924050" cy="1152525"/>
            </a:xfrm>
            <a:custGeom>
              <a:avLst/>
              <a:gdLst/>
              <a:ahLst/>
              <a:cxnLst/>
              <a:rect l="l" t="t" r="r" b="b"/>
              <a:pathLst>
                <a:path w="1924050" h="1152525">
                  <a:moveTo>
                    <a:pt x="1808734" y="0"/>
                  </a:moveTo>
                  <a:lnTo>
                    <a:pt x="115188" y="0"/>
                  </a:lnTo>
                  <a:lnTo>
                    <a:pt x="70348" y="9050"/>
                  </a:lnTo>
                  <a:lnTo>
                    <a:pt x="33734" y="33734"/>
                  </a:lnTo>
                  <a:lnTo>
                    <a:pt x="9050" y="70348"/>
                  </a:lnTo>
                  <a:lnTo>
                    <a:pt x="0" y="115188"/>
                  </a:lnTo>
                  <a:lnTo>
                    <a:pt x="0" y="1037209"/>
                  </a:lnTo>
                  <a:lnTo>
                    <a:pt x="9050" y="1082070"/>
                  </a:lnTo>
                  <a:lnTo>
                    <a:pt x="33734" y="1118704"/>
                  </a:lnTo>
                  <a:lnTo>
                    <a:pt x="70348" y="1143404"/>
                  </a:lnTo>
                  <a:lnTo>
                    <a:pt x="115188" y="1152461"/>
                  </a:lnTo>
                  <a:lnTo>
                    <a:pt x="1808734" y="1152461"/>
                  </a:lnTo>
                  <a:lnTo>
                    <a:pt x="1853594" y="1143404"/>
                  </a:lnTo>
                  <a:lnTo>
                    <a:pt x="1890252" y="1118704"/>
                  </a:lnTo>
                  <a:lnTo>
                    <a:pt x="1914979" y="1082070"/>
                  </a:lnTo>
                  <a:lnTo>
                    <a:pt x="1924050" y="1037209"/>
                  </a:lnTo>
                  <a:lnTo>
                    <a:pt x="1924050" y="115188"/>
                  </a:lnTo>
                  <a:lnTo>
                    <a:pt x="1914979" y="70348"/>
                  </a:lnTo>
                  <a:lnTo>
                    <a:pt x="1890252" y="33734"/>
                  </a:lnTo>
                  <a:lnTo>
                    <a:pt x="1853594" y="9050"/>
                  </a:lnTo>
                  <a:lnTo>
                    <a:pt x="1808734" y="0"/>
                  </a:lnTo>
                  <a:close/>
                </a:path>
              </a:pathLst>
            </a:custGeom>
            <a:solidFill>
              <a:srgbClr val="5F80C5"/>
            </a:solidFill>
          </p:spPr>
          <p:txBody>
            <a:bodyPr wrap="square" lIns="0" tIns="0" rIns="0" bIns="0" rtlCol="0"/>
            <a:lstStyle/>
            <a:p>
              <a:endParaRPr/>
            </a:p>
          </p:txBody>
        </p:sp>
        <p:sp>
          <p:nvSpPr>
            <p:cNvPr id="16" name="object 16"/>
            <p:cNvSpPr/>
            <p:nvPr/>
          </p:nvSpPr>
          <p:spPr>
            <a:xfrm>
              <a:off x="3529076" y="4510151"/>
              <a:ext cx="1924050" cy="1152525"/>
            </a:xfrm>
            <a:custGeom>
              <a:avLst/>
              <a:gdLst/>
              <a:ahLst/>
              <a:cxnLst/>
              <a:rect l="l" t="t" r="r" b="b"/>
              <a:pathLst>
                <a:path w="1924050" h="1152525">
                  <a:moveTo>
                    <a:pt x="0" y="115188"/>
                  </a:moveTo>
                  <a:lnTo>
                    <a:pt x="9050" y="70348"/>
                  </a:lnTo>
                  <a:lnTo>
                    <a:pt x="33734" y="33734"/>
                  </a:lnTo>
                  <a:lnTo>
                    <a:pt x="70348" y="9050"/>
                  </a:lnTo>
                  <a:lnTo>
                    <a:pt x="115188" y="0"/>
                  </a:lnTo>
                  <a:lnTo>
                    <a:pt x="1808734" y="0"/>
                  </a:lnTo>
                  <a:lnTo>
                    <a:pt x="1853594" y="9050"/>
                  </a:lnTo>
                  <a:lnTo>
                    <a:pt x="1890252" y="33734"/>
                  </a:lnTo>
                  <a:lnTo>
                    <a:pt x="1914979" y="70348"/>
                  </a:lnTo>
                  <a:lnTo>
                    <a:pt x="1924050" y="115188"/>
                  </a:lnTo>
                  <a:lnTo>
                    <a:pt x="1924050" y="1037209"/>
                  </a:lnTo>
                  <a:lnTo>
                    <a:pt x="1914979" y="1082070"/>
                  </a:lnTo>
                  <a:lnTo>
                    <a:pt x="1890252" y="1118704"/>
                  </a:lnTo>
                  <a:lnTo>
                    <a:pt x="1853594" y="1143404"/>
                  </a:lnTo>
                  <a:lnTo>
                    <a:pt x="1808734" y="1152461"/>
                  </a:lnTo>
                  <a:lnTo>
                    <a:pt x="115188" y="1152461"/>
                  </a:lnTo>
                  <a:lnTo>
                    <a:pt x="70348" y="1143404"/>
                  </a:lnTo>
                  <a:lnTo>
                    <a:pt x="33734" y="1118704"/>
                  </a:lnTo>
                  <a:lnTo>
                    <a:pt x="9050" y="1082070"/>
                  </a:lnTo>
                  <a:lnTo>
                    <a:pt x="0" y="1037209"/>
                  </a:lnTo>
                  <a:lnTo>
                    <a:pt x="0" y="115188"/>
                  </a:lnTo>
                  <a:close/>
                </a:path>
              </a:pathLst>
            </a:custGeom>
            <a:ln w="12700">
              <a:solidFill>
                <a:srgbClr val="FFFFFF"/>
              </a:solidFill>
            </a:ln>
          </p:spPr>
          <p:txBody>
            <a:bodyPr wrap="square" lIns="0" tIns="0" rIns="0" bIns="0" rtlCol="0"/>
            <a:lstStyle/>
            <a:p>
              <a:endParaRPr/>
            </a:p>
          </p:txBody>
        </p:sp>
      </p:grpSp>
      <p:sp>
        <p:nvSpPr>
          <p:cNvPr id="17" name="object 17"/>
          <p:cNvSpPr txBox="1"/>
          <p:nvPr/>
        </p:nvSpPr>
        <p:spPr>
          <a:xfrm>
            <a:off x="3622675" y="4749800"/>
            <a:ext cx="1735455" cy="612140"/>
          </a:xfrm>
          <a:prstGeom prst="rect">
            <a:avLst/>
          </a:prstGeom>
        </p:spPr>
        <p:txBody>
          <a:bodyPr vert="horz" wrap="square" lIns="0" tIns="16510" rIns="0" bIns="0" rtlCol="0">
            <a:spAutoFit/>
          </a:bodyPr>
          <a:lstStyle/>
          <a:p>
            <a:pPr algn="ctr">
              <a:lnSpc>
                <a:spcPts val="2290"/>
              </a:lnSpc>
              <a:spcBef>
                <a:spcPts val="130"/>
              </a:spcBef>
            </a:pPr>
            <a:r>
              <a:rPr sz="2000" spc="-10" dirty="0">
                <a:solidFill>
                  <a:srgbClr val="FFFFFF"/>
                </a:solidFill>
                <a:latin typeface="Calibri"/>
                <a:cs typeface="Calibri"/>
              </a:rPr>
              <a:t>Hyperparameter</a:t>
            </a:r>
            <a:endParaRPr sz="2000">
              <a:latin typeface="Calibri"/>
              <a:cs typeface="Calibri"/>
            </a:endParaRPr>
          </a:p>
          <a:p>
            <a:pPr marL="4445" algn="ctr">
              <a:lnSpc>
                <a:spcPts val="2290"/>
              </a:lnSpc>
            </a:pPr>
            <a:r>
              <a:rPr sz="2000" spc="-10" dirty="0">
                <a:solidFill>
                  <a:srgbClr val="FFFFFF"/>
                </a:solidFill>
                <a:latin typeface="Calibri"/>
                <a:cs typeface="Calibri"/>
              </a:rPr>
              <a:t>Tuning</a:t>
            </a:r>
            <a:endParaRPr sz="2000">
              <a:latin typeface="Calibri"/>
              <a:cs typeface="Calibri"/>
            </a:endParaRPr>
          </a:p>
        </p:txBody>
      </p:sp>
      <p:grpSp>
        <p:nvGrpSpPr>
          <p:cNvPr id="18" name="object 18"/>
          <p:cNvGrpSpPr/>
          <p:nvPr/>
        </p:nvGrpSpPr>
        <p:grpSpPr>
          <a:xfrm>
            <a:off x="6084951" y="3352800"/>
            <a:ext cx="1946275" cy="2316480"/>
            <a:chOff x="6084951" y="3352800"/>
            <a:chExt cx="1946275" cy="2316480"/>
          </a:xfrm>
        </p:grpSpPr>
        <p:sp>
          <p:nvSpPr>
            <p:cNvPr id="19" name="object 19"/>
            <p:cNvSpPr/>
            <p:nvPr/>
          </p:nvSpPr>
          <p:spPr>
            <a:xfrm>
              <a:off x="6391275" y="3352800"/>
              <a:ext cx="171450" cy="1428750"/>
            </a:xfrm>
            <a:custGeom>
              <a:avLst/>
              <a:gdLst/>
              <a:ahLst/>
              <a:cxnLst/>
              <a:rect l="l" t="t" r="r" b="b"/>
              <a:pathLst>
                <a:path w="171450" h="1428750">
                  <a:moveTo>
                    <a:pt x="171450" y="0"/>
                  </a:moveTo>
                  <a:lnTo>
                    <a:pt x="0" y="0"/>
                  </a:lnTo>
                  <a:lnTo>
                    <a:pt x="0" y="1428750"/>
                  </a:lnTo>
                  <a:lnTo>
                    <a:pt x="171450" y="1428750"/>
                  </a:lnTo>
                  <a:lnTo>
                    <a:pt x="171450" y="0"/>
                  </a:lnTo>
                  <a:close/>
                </a:path>
              </a:pathLst>
            </a:custGeom>
            <a:solidFill>
              <a:srgbClr val="869CD0"/>
            </a:solidFill>
          </p:spPr>
          <p:txBody>
            <a:bodyPr wrap="square" lIns="0" tIns="0" rIns="0" bIns="0" rtlCol="0"/>
            <a:lstStyle/>
            <a:p>
              <a:endParaRPr/>
            </a:p>
          </p:txBody>
        </p:sp>
        <p:sp>
          <p:nvSpPr>
            <p:cNvPr id="20" name="object 20"/>
            <p:cNvSpPr/>
            <p:nvPr/>
          </p:nvSpPr>
          <p:spPr>
            <a:xfrm>
              <a:off x="6091301" y="4510150"/>
              <a:ext cx="1933575" cy="1152525"/>
            </a:xfrm>
            <a:custGeom>
              <a:avLst/>
              <a:gdLst/>
              <a:ahLst/>
              <a:cxnLst/>
              <a:rect l="l" t="t" r="r" b="b"/>
              <a:pathLst>
                <a:path w="1933575" h="1152525">
                  <a:moveTo>
                    <a:pt x="1818258" y="0"/>
                  </a:moveTo>
                  <a:lnTo>
                    <a:pt x="115188" y="0"/>
                  </a:lnTo>
                  <a:lnTo>
                    <a:pt x="70348" y="9050"/>
                  </a:lnTo>
                  <a:lnTo>
                    <a:pt x="33734" y="33734"/>
                  </a:lnTo>
                  <a:lnTo>
                    <a:pt x="9050" y="70348"/>
                  </a:lnTo>
                  <a:lnTo>
                    <a:pt x="0" y="115188"/>
                  </a:lnTo>
                  <a:lnTo>
                    <a:pt x="0" y="1037209"/>
                  </a:lnTo>
                  <a:lnTo>
                    <a:pt x="9050" y="1082070"/>
                  </a:lnTo>
                  <a:lnTo>
                    <a:pt x="33734" y="1118704"/>
                  </a:lnTo>
                  <a:lnTo>
                    <a:pt x="70348" y="1143404"/>
                  </a:lnTo>
                  <a:lnTo>
                    <a:pt x="115188" y="1152461"/>
                  </a:lnTo>
                  <a:lnTo>
                    <a:pt x="1818258" y="1152461"/>
                  </a:lnTo>
                  <a:lnTo>
                    <a:pt x="1863119" y="1143404"/>
                  </a:lnTo>
                  <a:lnTo>
                    <a:pt x="1899777" y="1118704"/>
                  </a:lnTo>
                  <a:lnTo>
                    <a:pt x="1924504" y="1082070"/>
                  </a:lnTo>
                  <a:lnTo>
                    <a:pt x="1933575" y="1037209"/>
                  </a:lnTo>
                  <a:lnTo>
                    <a:pt x="1933575" y="115188"/>
                  </a:lnTo>
                  <a:lnTo>
                    <a:pt x="1924504" y="70348"/>
                  </a:lnTo>
                  <a:lnTo>
                    <a:pt x="1899777" y="33734"/>
                  </a:lnTo>
                  <a:lnTo>
                    <a:pt x="1863119" y="9050"/>
                  </a:lnTo>
                  <a:lnTo>
                    <a:pt x="1818258" y="0"/>
                  </a:lnTo>
                  <a:close/>
                </a:path>
              </a:pathLst>
            </a:custGeom>
            <a:solidFill>
              <a:srgbClr val="758FCA"/>
            </a:solidFill>
          </p:spPr>
          <p:txBody>
            <a:bodyPr wrap="square" lIns="0" tIns="0" rIns="0" bIns="0" rtlCol="0"/>
            <a:lstStyle/>
            <a:p>
              <a:endParaRPr/>
            </a:p>
          </p:txBody>
        </p:sp>
        <p:sp>
          <p:nvSpPr>
            <p:cNvPr id="21" name="object 21"/>
            <p:cNvSpPr/>
            <p:nvPr/>
          </p:nvSpPr>
          <p:spPr>
            <a:xfrm>
              <a:off x="6091301" y="4510150"/>
              <a:ext cx="1933575" cy="1152525"/>
            </a:xfrm>
            <a:custGeom>
              <a:avLst/>
              <a:gdLst/>
              <a:ahLst/>
              <a:cxnLst/>
              <a:rect l="l" t="t" r="r" b="b"/>
              <a:pathLst>
                <a:path w="1933575" h="1152525">
                  <a:moveTo>
                    <a:pt x="0" y="115188"/>
                  </a:moveTo>
                  <a:lnTo>
                    <a:pt x="9050" y="70348"/>
                  </a:lnTo>
                  <a:lnTo>
                    <a:pt x="33734" y="33734"/>
                  </a:lnTo>
                  <a:lnTo>
                    <a:pt x="70348" y="9050"/>
                  </a:lnTo>
                  <a:lnTo>
                    <a:pt x="115188" y="0"/>
                  </a:lnTo>
                  <a:lnTo>
                    <a:pt x="1818258" y="0"/>
                  </a:lnTo>
                  <a:lnTo>
                    <a:pt x="1863119" y="9050"/>
                  </a:lnTo>
                  <a:lnTo>
                    <a:pt x="1899777" y="33734"/>
                  </a:lnTo>
                  <a:lnTo>
                    <a:pt x="1924504" y="70348"/>
                  </a:lnTo>
                  <a:lnTo>
                    <a:pt x="1933575" y="115188"/>
                  </a:lnTo>
                  <a:lnTo>
                    <a:pt x="1933575" y="1037209"/>
                  </a:lnTo>
                  <a:lnTo>
                    <a:pt x="1924504" y="1082070"/>
                  </a:lnTo>
                  <a:lnTo>
                    <a:pt x="1899777" y="1118704"/>
                  </a:lnTo>
                  <a:lnTo>
                    <a:pt x="1863119" y="1143404"/>
                  </a:lnTo>
                  <a:lnTo>
                    <a:pt x="1818258" y="1152461"/>
                  </a:lnTo>
                  <a:lnTo>
                    <a:pt x="115188" y="1152461"/>
                  </a:lnTo>
                  <a:lnTo>
                    <a:pt x="70348" y="1143404"/>
                  </a:lnTo>
                  <a:lnTo>
                    <a:pt x="33734" y="1118704"/>
                  </a:lnTo>
                  <a:lnTo>
                    <a:pt x="9050" y="1082070"/>
                  </a:lnTo>
                  <a:lnTo>
                    <a:pt x="0" y="1037209"/>
                  </a:lnTo>
                  <a:lnTo>
                    <a:pt x="0" y="115188"/>
                  </a:lnTo>
                  <a:close/>
                </a:path>
              </a:pathLst>
            </a:custGeom>
            <a:ln w="12700">
              <a:solidFill>
                <a:srgbClr val="FFFFFF"/>
              </a:solidFill>
            </a:ln>
          </p:spPr>
          <p:txBody>
            <a:bodyPr wrap="square" lIns="0" tIns="0" rIns="0" bIns="0" rtlCol="0"/>
            <a:lstStyle/>
            <a:p>
              <a:endParaRPr/>
            </a:p>
          </p:txBody>
        </p:sp>
      </p:grpSp>
      <p:sp>
        <p:nvSpPr>
          <p:cNvPr id="22" name="object 22"/>
          <p:cNvSpPr txBox="1"/>
          <p:nvPr/>
        </p:nvSpPr>
        <p:spPr>
          <a:xfrm>
            <a:off x="6479540" y="4749800"/>
            <a:ext cx="1105535" cy="612140"/>
          </a:xfrm>
          <a:prstGeom prst="rect">
            <a:avLst/>
          </a:prstGeom>
        </p:spPr>
        <p:txBody>
          <a:bodyPr vert="horz" wrap="square" lIns="0" tIns="16510" rIns="0" bIns="0" rtlCol="0">
            <a:spAutoFit/>
          </a:bodyPr>
          <a:lstStyle/>
          <a:p>
            <a:pPr marL="50800" algn="ctr">
              <a:lnSpc>
                <a:spcPts val="2290"/>
              </a:lnSpc>
              <a:spcBef>
                <a:spcPts val="130"/>
              </a:spcBef>
            </a:pPr>
            <a:r>
              <a:rPr sz="2000" spc="-10" dirty="0">
                <a:solidFill>
                  <a:srgbClr val="FFFFFF"/>
                </a:solidFill>
                <a:latin typeface="Calibri"/>
                <a:cs typeface="Calibri"/>
              </a:rPr>
              <a:t>Model</a:t>
            </a:r>
            <a:endParaRPr sz="2000">
              <a:latin typeface="Calibri"/>
              <a:cs typeface="Calibri"/>
            </a:endParaRPr>
          </a:p>
          <a:p>
            <a:pPr algn="ctr">
              <a:lnSpc>
                <a:spcPts val="2290"/>
              </a:lnSpc>
            </a:pPr>
            <a:r>
              <a:rPr sz="2000" spc="-10" dirty="0">
                <a:solidFill>
                  <a:srgbClr val="FFFFFF"/>
                </a:solidFill>
                <a:latin typeface="Calibri"/>
                <a:cs typeface="Calibri"/>
              </a:rPr>
              <a:t>Evaluation</a:t>
            </a:r>
            <a:endParaRPr sz="2000">
              <a:latin typeface="Calibri"/>
              <a:cs typeface="Calibri"/>
            </a:endParaRPr>
          </a:p>
        </p:txBody>
      </p:sp>
      <p:grpSp>
        <p:nvGrpSpPr>
          <p:cNvPr id="23" name="object 23"/>
          <p:cNvGrpSpPr/>
          <p:nvPr/>
        </p:nvGrpSpPr>
        <p:grpSpPr>
          <a:xfrm>
            <a:off x="6084951" y="1905000"/>
            <a:ext cx="1946275" cy="2316480"/>
            <a:chOff x="6084951" y="1905000"/>
            <a:chExt cx="1946275" cy="2316480"/>
          </a:xfrm>
        </p:grpSpPr>
        <p:sp>
          <p:nvSpPr>
            <p:cNvPr id="24" name="object 24"/>
            <p:cNvSpPr/>
            <p:nvPr/>
          </p:nvSpPr>
          <p:spPr>
            <a:xfrm>
              <a:off x="6391275" y="1905000"/>
              <a:ext cx="171450" cy="1428750"/>
            </a:xfrm>
            <a:custGeom>
              <a:avLst/>
              <a:gdLst/>
              <a:ahLst/>
              <a:cxnLst/>
              <a:rect l="l" t="t" r="r" b="b"/>
              <a:pathLst>
                <a:path w="171450" h="1428750">
                  <a:moveTo>
                    <a:pt x="171450" y="0"/>
                  </a:moveTo>
                  <a:lnTo>
                    <a:pt x="0" y="0"/>
                  </a:lnTo>
                  <a:lnTo>
                    <a:pt x="0" y="1428750"/>
                  </a:lnTo>
                  <a:lnTo>
                    <a:pt x="171450" y="1428750"/>
                  </a:lnTo>
                  <a:lnTo>
                    <a:pt x="171450" y="0"/>
                  </a:lnTo>
                  <a:close/>
                </a:path>
              </a:pathLst>
            </a:custGeom>
            <a:solidFill>
              <a:srgbClr val="9EACD7"/>
            </a:solidFill>
          </p:spPr>
          <p:txBody>
            <a:bodyPr wrap="square" lIns="0" tIns="0" rIns="0" bIns="0" rtlCol="0"/>
            <a:lstStyle/>
            <a:p>
              <a:endParaRPr/>
            </a:p>
          </p:txBody>
        </p:sp>
        <p:sp>
          <p:nvSpPr>
            <p:cNvPr id="25" name="object 25"/>
            <p:cNvSpPr/>
            <p:nvPr/>
          </p:nvSpPr>
          <p:spPr>
            <a:xfrm>
              <a:off x="6091301" y="3062350"/>
              <a:ext cx="1933575" cy="1152525"/>
            </a:xfrm>
            <a:custGeom>
              <a:avLst/>
              <a:gdLst/>
              <a:ahLst/>
              <a:cxnLst/>
              <a:rect l="l" t="t" r="r" b="b"/>
              <a:pathLst>
                <a:path w="1933575" h="1152525">
                  <a:moveTo>
                    <a:pt x="1818258" y="0"/>
                  </a:moveTo>
                  <a:lnTo>
                    <a:pt x="115188" y="0"/>
                  </a:lnTo>
                  <a:lnTo>
                    <a:pt x="70348" y="9050"/>
                  </a:lnTo>
                  <a:lnTo>
                    <a:pt x="33734" y="33734"/>
                  </a:lnTo>
                  <a:lnTo>
                    <a:pt x="9050" y="70348"/>
                  </a:lnTo>
                  <a:lnTo>
                    <a:pt x="0" y="115188"/>
                  </a:lnTo>
                  <a:lnTo>
                    <a:pt x="0" y="1037209"/>
                  </a:lnTo>
                  <a:lnTo>
                    <a:pt x="9050" y="1082069"/>
                  </a:lnTo>
                  <a:lnTo>
                    <a:pt x="33734" y="1118727"/>
                  </a:lnTo>
                  <a:lnTo>
                    <a:pt x="70348" y="1143454"/>
                  </a:lnTo>
                  <a:lnTo>
                    <a:pt x="115188" y="1152525"/>
                  </a:lnTo>
                  <a:lnTo>
                    <a:pt x="1818258" y="1152525"/>
                  </a:lnTo>
                  <a:lnTo>
                    <a:pt x="1863119" y="1143454"/>
                  </a:lnTo>
                  <a:lnTo>
                    <a:pt x="1899777" y="1118727"/>
                  </a:lnTo>
                  <a:lnTo>
                    <a:pt x="1924504" y="1082069"/>
                  </a:lnTo>
                  <a:lnTo>
                    <a:pt x="1933575" y="1037209"/>
                  </a:lnTo>
                  <a:lnTo>
                    <a:pt x="1933575" y="115188"/>
                  </a:lnTo>
                  <a:lnTo>
                    <a:pt x="1924504" y="70348"/>
                  </a:lnTo>
                  <a:lnTo>
                    <a:pt x="1899777" y="33734"/>
                  </a:lnTo>
                  <a:lnTo>
                    <a:pt x="1863119" y="9050"/>
                  </a:lnTo>
                  <a:lnTo>
                    <a:pt x="1818258" y="0"/>
                  </a:lnTo>
                  <a:close/>
                </a:path>
              </a:pathLst>
            </a:custGeom>
            <a:solidFill>
              <a:srgbClr val="889ED1"/>
            </a:solidFill>
          </p:spPr>
          <p:txBody>
            <a:bodyPr wrap="square" lIns="0" tIns="0" rIns="0" bIns="0" rtlCol="0"/>
            <a:lstStyle/>
            <a:p>
              <a:endParaRPr/>
            </a:p>
          </p:txBody>
        </p:sp>
        <p:sp>
          <p:nvSpPr>
            <p:cNvPr id="26" name="object 26"/>
            <p:cNvSpPr/>
            <p:nvPr/>
          </p:nvSpPr>
          <p:spPr>
            <a:xfrm>
              <a:off x="6091301" y="3062350"/>
              <a:ext cx="1933575" cy="1152525"/>
            </a:xfrm>
            <a:custGeom>
              <a:avLst/>
              <a:gdLst/>
              <a:ahLst/>
              <a:cxnLst/>
              <a:rect l="l" t="t" r="r" b="b"/>
              <a:pathLst>
                <a:path w="1933575" h="1152525">
                  <a:moveTo>
                    <a:pt x="0" y="115188"/>
                  </a:moveTo>
                  <a:lnTo>
                    <a:pt x="9050" y="70348"/>
                  </a:lnTo>
                  <a:lnTo>
                    <a:pt x="33734" y="33734"/>
                  </a:lnTo>
                  <a:lnTo>
                    <a:pt x="70348" y="9050"/>
                  </a:lnTo>
                  <a:lnTo>
                    <a:pt x="115188" y="0"/>
                  </a:lnTo>
                  <a:lnTo>
                    <a:pt x="1818258" y="0"/>
                  </a:lnTo>
                  <a:lnTo>
                    <a:pt x="1863119" y="9050"/>
                  </a:lnTo>
                  <a:lnTo>
                    <a:pt x="1899777" y="33734"/>
                  </a:lnTo>
                  <a:lnTo>
                    <a:pt x="1924504" y="70348"/>
                  </a:lnTo>
                  <a:lnTo>
                    <a:pt x="1933575" y="115188"/>
                  </a:lnTo>
                  <a:lnTo>
                    <a:pt x="1933575" y="1037209"/>
                  </a:lnTo>
                  <a:lnTo>
                    <a:pt x="1924504" y="1082069"/>
                  </a:lnTo>
                  <a:lnTo>
                    <a:pt x="1899777" y="1118727"/>
                  </a:lnTo>
                  <a:lnTo>
                    <a:pt x="1863119" y="1143454"/>
                  </a:lnTo>
                  <a:lnTo>
                    <a:pt x="1818258" y="1152525"/>
                  </a:lnTo>
                  <a:lnTo>
                    <a:pt x="115188" y="1152525"/>
                  </a:lnTo>
                  <a:lnTo>
                    <a:pt x="70348" y="1143454"/>
                  </a:lnTo>
                  <a:lnTo>
                    <a:pt x="33734" y="1118727"/>
                  </a:lnTo>
                  <a:lnTo>
                    <a:pt x="9050" y="1082069"/>
                  </a:lnTo>
                  <a:lnTo>
                    <a:pt x="0" y="1037209"/>
                  </a:lnTo>
                  <a:lnTo>
                    <a:pt x="0" y="115188"/>
                  </a:lnTo>
                  <a:close/>
                </a:path>
              </a:pathLst>
            </a:custGeom>
            <a:ln w="12700">
              <a:solidFill>
                <a:srgbClr val="FFFFFF"/>
              </a:solidFill>
            </a:ln>
          </p:spPr>
          <p:txBody>
            <a:bodyPr wrap="square" lIns="0" tIns="0" rIns="0" bIns="0" rtlCol="0"/>
            <a:lstStyle/>
            <a:p>
              <a:endParaRPr/>
            </a:p>
          </p:txBody>
        </p:sp>
      </p:grpSp>
      <p:sp>
        <p:nvSpPr>
          <p:cNvPr id="27" name="object 27"/>
          <p:cNvSpPr txBox="1"/>
          <p:nvPr/>
        </p:nvSpPr>
        <p:spPr>
          <a:xfrm>
            <a:off x="6343650" y="3300730"/>
            <a:ext cx="1426210" cy="612140"/>
          </a:xfrm>
          <a:prstGeom prst="rect">
            <a:avLst/>
          </a:prstGeom>
        </p:spPr>
        <p:txBody>
          <a:bodyPr vert="horz" wrap="square" lIns="0" tIns="16510" rIns="0" bIns="0" rtlCol="0">
            <a:spAutoFit/>
          </a:bodyPr>
          <a:lstStyle/>
          <a:p>
            <a:pPr algn="ctr">
              <a:lnSpc>
                <a:spcPts val="2290"/>
              </a:lnSpc>
              <a:spcBef>
                <a:spcPts val="130"/>
              </a:spcBef>
            </a:pPr>
            <a:r>
              <a:rPr sz="2000" spc="-10" dirty="0">
                <a:solidFill>
                  <a:srgbClr val="FFFFFF"/>
                </a:solidFill>
                <a:latin typeface="Calibri"/>
                <a:cs typeface="Calibri"/>
              </a:rPr>
              <a:t>Improvement</a:t>
            </a:r>
            <a:endParaRPr sz="2000">
              <a:latin typeface="Calibri"/>
              <a:cs typeface="Calibri"/>
            </a:endParaRPr>
          </a:p>
          <a:p>
            <a:pPr marL="2540" algn="ctr">
              <a:lnSpc>
                <a:spcPts val="2290"/>
              </a:lnSpc>
            </a:pPr>
            <a:r>
              <a:rPr sz="2000" spc="-10" dirty="0">
                <a:solidFill>
                  <a:srgbClr val="FFFFFF"/>
                </a:solidFill>
                <a:latin typeface="Calibri"/>
                <a:cs typeface="Calibri"/>
              </a:rPr>
              <a:t>Iterations</a:t>
            </a:r>
            <a:endParaRPr sz="2000">
              <a:latin typeface="Calibri"/>
              <a:cs typeface="Calibri"/>
            </a:endParaRPr>
          </a:p>
        </p:txBody>
      </p:sp>
      <p:grpSp>
        <p:nvGrpSpPr>
          <p:cNvPr id="28" name="object 28"/>
          <p:cNvGrpSpPr/>
          <p:nvPr/>
        </p:nvGrpSpPr>
        <p:grpSpPr>
          <a:xfrm>
            <a:off x="6084951" y="1608200"/>
            <a:ext cx="1946275" cy="1174750"/>
            <a:chOff x="6084951" y="1608200"/>
            <a:chExt cx="1946275" cy="1174750"/>
          </a:xfrm>
        </p:grpSpPr>
        <p:sp>
          <p:nvSpPr>
            <p:cNvPr id="29" name="object 29"/>
            <p:cNvSpPr/>
            <p:nvPr/>
          </p:nvSpPr>
          <p:spPr>
            <a:xfrm>
              <a:off x="6091301" y="1614550"/>
              <a:ext cx="1933575" cy="1162050"/>
            </a:xfrm>
            <a:custGeom>
              <a:avLst/>
              <a:gdLst/>
              <a:ahLst/>
              <a:cxnLst/>
              <a:rect l="l" t="t" r="r" b="b"/>
              <a:pathLst>
                <a:path w="1933575" h="1162050">
                  <a:moveTo>
                    <a:pt x="1817370" y="0"/>
                  </a:moveTo>
                  <a:lnTo>
                    <a:pt x="116204" y="0"/>
                  </a:lnTo>
                  <a:lnTo>
                    <a:pt x="70937" y="9120"/>
                  </a:lnTo>
                  <a:lnTo>
                    <a:pt x="34004" y="34004"/>
                  </a:lnTo>
                  <a:lnTo>
                    <a:pt x="9120" y="70937"/>
                  </a:lnTo>
                  <a:lnTo>
                    <a:pt x="0" y="116204"/>
                  </a:lnTo>
                  <a:lnTo>
                    <a:pt x="0" y="1045845"/>
                  </a:lnTo>
                  <a:lnTo>
                    <a:pt x="9120" y="1091058"/>
                  </a:lnTo>
                  <a:lnTo>
                    <a:pt x="34004" y="1127998"/>
                  </a:lnTo>
                  <a:lnTo>
                    <a:pt x="70937" y="1152911"/>
                  </a:lnTo>
                  <a:lnTo>
                    <a:pt x="116204" y="1162050"/>
                  </a:lnTo>
                  <a:lnTo>
                    <a:pt x="1817370" y="1162050"/>
                  </a:lnTo>
                  <a:lnTo>
                    <a:pt x="1862583" y="1152911"/>
                  </a:lnTo>
                  <a:lnTo>
                    <a:pt x="1899523" y="1127998"/>
                  </a:lnTo>
                  <a:lnTo>
                    <a:pt x="1924436" y="1091058"/>
                  </a:lnTo>
                  <a:lnTo>
                    <a:pt x="1933575" y="1045845"/>
                  </a:lnTo>
                  <a:lnTo>
                    <a:pt x="1933575" y="116204"/>
                  </a:lnTo>
                  <a:lnTo>
                    <a:pt x="1924436" y="70937"/>
                  </a:lnTo>
                  <a:lnTo>
                    <a:pt x="1899523" y="34004"/>
                  </a:lnTo>
                  <a:lnTo>
                    <a:pt x="1862583" y="9120"/>
                  </a:lnTo>
                  <a:lnTo>
                    <a:pt x="1817370" y="0"/>
                  </a:lnTo>
                  <a:close/>
                </a:path>
              </a:pathLst>
            </a:custGeom>
            <a:solidFill>
              <a:srgbClr val="9EACD7"/>
            </a:solidFill>
          </p:spPr>
          <p:txBody>
            <a:bodyPr wrap="square" lIns="0" tIns="0" rIns="0" bIns="0" rtlCol="0"/>
            <a:lstStyle/>
            <a:p>
              <a:endParaRPr/>
            </a:p>
          </p:txBody>
        </p:sp>
        <p:sp>
          <p:nvSpPr>
            <p:cNvPr id="30" name="object 30"/>
            <p:cNvSpPr/>
            <p:nvPr/>
          </p:nvSpPr>
          <p:spPr>
            <a:xfrm>
              <a:off x="6091301" y="1614550"/>
              <a:ext cx="1933575" cy="1162050"/>
            </a:xfrm>
            <a:custGeom>
              <a:avLst/>
              <a:gdLst/>
              <a:ahLst/>
              <a:cxnLst/>
              <a:rect l="l" t="t" r="r" b="b"/>
              <a:pathLst>
                <a:path w="1933575" h="1162050">
                  <a:moveTo>
                    <a:pt x="0" y="116204"/>
                  </a:moveTo>
                  <a:lnTo>
                    <a:pt x="9120" y="70937"/>
                  </a:lnTo>
                  <a:lnTo>
                    <a:pt x="34004" y="34004"/>
                  </a:lnTo>
                  <a:lnTo>
                    <a:pt x="70937" y="9120"/>
                  </a:lnTo>
                  <a:lnTo>
                    <a:pt x="116204" y="0"/>
                  </a:lnTo>
                  <a:lnTo>
                    <a:pt x="1817370" y="0"/>
                  </a:lnTo>
                  <a:lnTo>
                    <a:pt x="1862583" y="9120"/>
                  </a:lnTo>
                  <a:lnTo>
                    <a:pt x="1899523" y="34004"/>
                  </a:lnTo>
                  <a:lnTo>
                    <a:pt x="1924436" y="70937"/>
                  </a:lnTo>
                  <a:lnTo>
                    <a:pt x="1933575" y="116204"/>
                  </a:lnTo>
                  <a:lnTo>
                    <a:pt x="1933575" y="1045845"/>
                  </a:lnTo>
                  <a:lnTo>
                    <a:pt x="1924436" y="1091058"/>
                  </a:lnTo>
                  <a:lnTo>
                    <a:pt x="1899523" y="1127998"/>
                  </a:lnTo>
                  <a:lnTo>
                    <a:pt x="1862583" y="1152911"/>
                  </a:lnTo>
                  <a:lnTo>
                    <a:pt x="1817370" y="1162050"/>
                  </a:lnTo>
                  <a:lnTo>
                    <a:pt x="116204" y="1162050"/>
                  </a:lnTo>
                  <a:lnTo>
                    <a:pt x="70937" y="1152911"/>
                  </a:lnTo>
                  <a:lnTo>
                    <a:pt x="34004" y="1127998"/>
                  </a:lnTo>
                  <a:lnTo>
                    <a:pt x="9120" y="1091058"/>
                  </a:lnTo>
                  <a:lnTo>
                    <a:pt x="0" y="1045845"/>
                  </a:lnTo>
                  <a:lnTo>
                    <a:pt x="0" y="116204"/>
                  </a:lnTo>
                  <a:close/>
                </a:path>
              </a:pathLst>
            </a:custGeom>
            <a:ln w="12700">
              <a:solidFill>
                <a:srgbClr val="FFFFFF"/>
              </a:solidFill>
            </a:ln>
          </p:spPr>
          <p:txBody>
            <a:bodyPr wrap="square" lIns="0" tIns="0" rIns="0" bIns="0" rtlCol="0"/>
            <a:lstStyle/>
            <a:p>
              <a:endParaRPr/>
            </a:p>
          </p:txBody>
        </p:sp>
      </p:grpSp>
      <p:sp>
        <p:nvSpPr>
          <p:cNvPr id="31" name="object 31"/>
          <p:cNvSpPr txBox="1"/>
          <p:nvPr/>
        </p:nvSpPr>
        <p:spPr>
          <a:xfrm>
            <a:off x="6217665" y="1851977"/>
            <a:ext cx="1682750" cy="611505"/>
          </a:xfrm>
          <a:prstGeom prst="rect">
            <a:avLst/>
          </a:prstGeom>
        </p:spPr>
        <p:txBody>
          <a:bodyPr vert="horz" wrap="square" lIns="0" tIns="48260" rIns="0" bIns="0" rtlCol="0">
            <a:spAutoFit/>
          </a:bodyPr>
          <a:lstStyle/>
          <a:p>
            <a:pPr marL="504825" marR="5080" indent="-492759">
              <a:lnSpc>
                <a:spcPts val="2180"/>
              </a:lnSpc>
              <a:spcBef>
                <a:spcPts val="380"/>
              </a:spcBef>
            </a:pPr>
            <a:r>
              <a:rPr sz="2000" dirty="0">
                <a:solidFill>
                  <a:srgbClr val="FFFFFF"/>
                </a:solidFill>
                <a:latin typeface="Calibri"/>
                <a:cs typeface="Calibri"/>
              </a:rPr>
              <a:t>Best</a:t>
            </a:r>
            <a:r>
              <a:rPr sz="2000" spc="-60" dirty="0">
                <a:solidFill>
                  <a:srgbClr val="FFFFFF"/>
                </a:solidFill>
                <a:latin typeface="Calibri"/>
                <a:cs typeface="Calibri"/>
              </a:rPr>
              <a:t> </a:t>
            </a:r>
            <a:r>
              <a:rPr sz="2000" spc="-10" dirty="0">
                <a:solidFill>
                  <a:srgbClr val="FFFFFF"/>
                </a:solidFill>
                <a:latin typeface="Calibri"/>
                <a:cs typeface="Calibri"/>
              </a:rPr>
              <a:t>Performing </a:t>
            </a:r>
            <a:r>
              <a:rPr sz="2000" spc="-20" dirty="0">
                <a:solidFill>
                  <a:srgbClr val="FFFFFF"/>
                </a:solidFill>
                <a:latin typeface="Calibri"/>
                <a:cs typeface="Calibri"/>
              </a:rPr>
              <a:t>Model</a:t>
            </a:r>
            <a:endParaRPr sz="2000">
              <a:latin typeface="Calibri"/>
              <a:cs typeface="Calibri"/>
            </a:endParaRPr>
          </a:p>
        </p:txBody>
      </p:sp>
      <p:sp>
        <p:nvSpPr>
          <p:cNvPr id="32" name="object 32"/>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21</a:t>
            </a:fld>
            <a:endParaRPr spc="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33392" y="4200421"/>
            <a:ext cx="11273155" cy="2186305"/>
            <a:chOff x="533392" y="4200421"/>
            <a:chExt cx="11273155" cy="2186305"/>
          </a:xfrm>
        </p:grpSpPr>
        <p:pic>
          <p:nvPicPr>
            <p:cNvPr id="3" name="object 3"/>
            <p:cNvPicPr/>
            <p:nvPr/>
          </p:nvPicPr>
          <p:blipFill>
            <a:blip r:embed="rId2" cstate="print"/>
            <a:stretch>
              <a:fillRect/>
            </a:stretch>
          </p:blipFill>
          <p:spPr>
            <a:xfrm>
              <a:off x="533392" y="4200421"/>
              <a:ext cx="11272916" cy="2186131"/>
            </a:xfrm>
            <a:prstGeom prst="rect">
              <a:avLst/>
            </a:prstGeom>
          </p:spPr>
        </p:pic>
        <p:sp>
          <p:nvSpPr>
            <p:cNvPr id="4" name="object 4"/>
            <p:cNvSpPr/>
            <p:nvPr/>
          </p:nvSpPr>
          <p:spPr>
            <a:xfrm>
              <a:off x="557212" y="4224337"/>
              <a:ext cx="11172825" cy="2085975"/>
            </a:xfrm>
            <a:custGeom>
              <a:avLst/>
              <a:gdLst/>
              <a:ahLst/>
              <a:cxnLst/>
              <a:rect l="l" t="t" r="r" b="b"/>
              <a:pathLst>
                <a:path w="11172825" h="2085975">
                  <a:moveTo>
                    <a:pt x="11172825" y="0"/>
                  </a:moveTo>
                  <a:lnTo>
                    <a:pt x="0" y="0"/>
                  </a:lnTo>
                  <a:lnTo>
                    <a:pt x="0" y="2085975"/>
                  </a:lnTo>
                  <a:lnTo>
                    <a:pt x="11172825" y="2085975"/>
                  </a:lnTo>
                  <a:lnTo>
                    <a:pt x="11172825" y="0"/>
                  </a:lnTo>
                  <a:close/>
                </a:path>
              </a:pathLst>
            </a:custGeom>
            <a:solidFill>
              <a:srgbClr val="FFFFFF"/>
            </a:solidFill>
          </p:spPr>
          <p:txBody>
            <a:bodyPr wrap="square" lIns="0" tIns="0" rIns="0" bIns="0" rtlCol="0"/>
            <a:lstStyle/>
            <a:p>
              <a:endParaRPr/>
            </a:p>
          </p:txBody>
        </p:sp>
        <p:sp>
          <p:nvSpPr>
            <p:cNvPr id="5" name="object 5"/>
            <p:cNvSpPr/>
            <p:nvPr/>
          </p:nvSpPr>
          <p:spPr>
            <a:xfrm>
              <a:off x="557212" y="4224337"/>
              <a:ext cx="11172825" cy="2085975"/>
            </a:xfrm>
            <a:custGeom>
              <a:avLst/>
              <a:gdLst/>
              <a:ahLst/>
              <a:cxnLst/>
              <a:rect l="l" t="t" r="r" b="b"/>
              <a:pathLst>
                <a:path w="11172825" h="2085975">
                  <a:moveTo>
                    <a:pt x="0" y="2085975"/>
                  </a:moveTo>
                  <a:lnTo>
                    <a:pt x="11172825" y="2085975"/>
                  </a:lnTo>
                  <a:lnTo>
                    <a:pt x="11172825" y="0"/>
                  </a:lnTo>
                  <a:lnTo>
                    <a:pt x="0" y="0"/>
                  </a:lnTo>
                  <a:lnTo>
                    <a:pt x="0" y="2085975"/>
                  </a:lnTo>
                  <a:close/>
                </a:path>
              </a:pathLst>
            </a:custGeom>
            <a:ln w="12700">
              <a:solidFill>
                <a:srgbClr val="DEDEDE"/>
              </a:solidFill>
            </a:ln>
          </p:spPr>
          <p:txBody>
            <a:bodyPr wrap="square" lIns="0" tIns="0" rIns="0" bIns="0" rtlCol="0"/>
            <a:lstStyle/>
            <a:p>
              <a:endParaRPr/>
            </a:p>
          </p:txBody>
        </p:sp>
      </p:grpSp>
      <p:sp>
        <p:nvSpPr>
          <p:cNvPr id="6" name="object 6"/>
          <p:cNvSpPr txBox="1"/>
          <p:nvPr/>
        </p:nvSpPr>
        <p:spPr>
          <a:xfrm>
            <a:off x="917575" y="4999291"/>
            <a:ext cx="1039494" cy="448945"/>
          </a:xfrm>
          <a:prstGeom prst="rect">
            <a:avLst/>
          </a:prstGeom>
        </p:spPr>
        <p:txBody>
          <a:bodyPr vert="horz" wrap="square" lIns="0" tIns="15875" rIns="0" bIns="0" rtlCol="0">
            <a:spAutoFit/>
          </a:bodyPr>
          <a:lstStyle/>
          <a:p>
            <a:pPr marL="12700">
              <a:lnSpc>
                <a:spcPct val="100000"/>
              </a:lnSpc>
              <a:spcBef>
                <a:spcPts val="125"/>
              </a:spcBef>
            </a:pPr>
            <a:r>
              <a:rPr sz="2750" spc="-10" dirty="0">
                <a:latin typeface="Calibri Light"/>
                <a:cs typeface="Calibri Light"/>
              </a:rPr>
              <a:t>Results</a:t>
            </a:r>
            <a:endParaRPr sz="2750">
              <a:latin typeface="Calibri Light"/>
              <a:cs typeface="Calibri Light"/>
            </a:endParaRPr>
          </a:p>
        </p:txBody>
      </p:sp>
      <p:grpSp>
        <p:nvGrpSpPr>
          <p:cNvPr id="7" name="object 7"/>
          <p:cNvGrpSpPr/>
          <p:nvPr/>
        </p:nvGrpSpPr>
        <p:grpSpPr>
          <a:xfrm>
            <a:off x="152400" y="0"/>
            <a:ext cx="11906250" cy="5991225"/>
            <a:chOff x="152400" y="0"/>
            <a:chExt cx="11906250" cy="5991225"/>
          </a:xfrm>
        </p:grpSpPr>
        <p:pic>
          <p:nvPicPr>
            <p:cNvPr id="8" name="object 8"/>
            <p:cNvPicPr/>
            <p:nvPr/>
          </p:nvPicPr>
          <p:blipFill>
            <a:blip r:embed="rId3" cstate="print"/>
            <a:stretch>
              <a:fillRect/>
            </a:stretch>
          </p:blipFill>
          <p:spPr>
            <a:xfrm>
              <a:off x="152400" y="0"/>
              <a:ext cx="5438775" cy="4533900"/>
            </a:xfrm>
            <a:prstGeom prst="rect">
              <a:avLst/>
            </a:prstGeom>
          </p:spPr>
        </p:pic>
        <p:pic>
          <p:nvPicPr>
            <p:cNvPr id="9" name="object 9"/>
            <p:cNvPicPr/>
            <p:nvPr/>
          </p:nvPicPr>
          <p:blipFill>
            <a:blip r:embed="rId4" cstate="print"/>
            <a:stretch>
              <a:fillRect/>
            </a:stretch>
          </p:blipFill>
          <p:spPr>
            <a:xfrm>
              <a:off x="5600700" y="0"/>
              <a:ext cx="6457950" cy="4533900"/>
            </a:xfrm>
            <a:prstGeom prst="rect">
              <a:avLst/>
            </a:prstGeom>
          </p:spPr>
        </p:pic>
        <p:sp>
          <p:nvSpPr>
            <p:cNvPr id="10" name="object 10"/>
            <p:cNvSpPr/>
            <p:nvPr/>
          </p:nvSpPr>
          <p:spPr>
            <a:xfrm>
              <a:off x="485775" y="4914900"/>
              <a:ext cx="133350" cy="704850"/>
            </a:xfrm>
            <a:custGeom>
              <a:avLst/>
              <a:gdLst/>
              <a:ahLst/>
              <a:cxnLst/>
              <a:rect l="l" t="t" r="r" b="b"/>
              <a:pathLst>
                <a:path w="133350" h="704850">
                  <a:moveTo>
                    <a:pt x="133350" y="0"/>
                  </a:moveTo>
                  <a:lnTo>
                    <a:pt x="0" y="0"/>
                  </a:lnTo>
                  <a:lnTo>
                    <a:pt x="0" y="704850"/>
                  </a:lnTo>
                  <a:lnTo>
                    <a:pt x="133350" y="704850"/>
                  </a:lnTo>
                  <a:lnTo>
                    <a:pt x="133350" y="0"/>
                  </a:lnTo>
                  <a:close/>
                </a:path>
              </a:pathLst>
            </a:custGeom>
            <a:solidFill>
              <a:srgbClr val="EC7C30"/>
            </a:solidFill>
          </p:spPr>
          <p:txBody>
            <a:bodyPr wrap="square" lIns="0" tIns="0" rIns="0" bIns="0" rtlCol="0"/>
            <a:lstStyle/>
            <a:p>
              <a:endParaRPr/>
            </a:p>
          </p:txBody>
        </p:sp>
        <p:sp>
          <p:nvSpPr>
            <p:cNvPr id="11" name="object 11"/>
            <p:cNvSpPr/>
            <p:nvPr/>
          </p:nvSpPr>
          <p:spPr>
            <a:xfrm>
              <a:off x="4333875" y="4533900"/>
              <a:ext cx="19050" cy="1457325"/>
            </a:xfrm>
            <a:custGeom>
              <a:avLst/>
              <a:gdLst/>
              <a:ahLst/>
              <a:cxnLst/>
              <a:rect l="l" t="t" r="r" b="b"/>
              <a:pathLst>
                <a:path w="19050" h="1457325">
                  <a:moveTo>
                    <a:pt x="19050" y="0"/>
                  </a:moveTo>
                  <a:lnTo>
                    <a:pt x="0" y="0"/>
                  </a:lnTo>
                  <a:lnTo>
                    <a:pt x="0" y="1457325"/>
                  </a:lnTo>
                  <a:lnTo>
                    <a:pt x="19050" y="1457325"/>
                  </a:lnTo>
                  <a:lnTo>
                    <a:pt x="19050" y="0"/>
                  </a:lnTo>
                  <a:close/>
                </a:path>
              </a:pathLst>
            </a:custGeom>
            <a:solidFill>
              <a:srgbClr val="D4D4D4"/>
            </a:solidFill>
          </p:spPr>
          <p:txBody>
            <a:bodyPr wrap="square" lIns="0" tIns="0" rIns="0" bIns="0" rtlCol="0"/>
            <a:lstStyle/>
            <a:p>
              <a:endParaRPr/>
            </a:p>
          </p:txBody>
        </p:sp>
      </p:grpSp>
      <p:sp>
        <p:nvSpPr>
          <p:cNvPr id="12" name="object 12"/>
          <p:cNvSpPr txBox="1"/>
          <p:nvPr/>
        </p:nvSpPr>
        <p:spPr>
          <a:xfrm>
            <a:off x="4661153" y="4451159"/>
            <a:ext cx="4086860" cy="1294130"/>
          </a:xfrm>
          <a:prstGeom prst="rect">
            <a:avLst/>
          </a:prstGeom>
        </p:spPr>
        <p:txBody>
          <a:bodyPr vert="horz" wrap="square" lIns="0" tIns="158115" rIns="0" bIns="0" rtlCol="0">
            <a:spAutoFit/>
          </a:bodyPr>
          <a:lstStyle/>
          <a:p>
            <a:pPr marL="240665" indent="-227965">
              <a:lnSpc>
                <a:spcPct val="100000"/>
              </a:lnSpc>
              <a:spcBef>
                <a:spcPts val="1245"/>
              </a:spcBef>
              <a:buFont typeface="Arial MT"/>
              <a:buChar char="•"/>
              <a:tabLst>
                <a:tab pos="240665" algn="l"/>
              </a:tabLst>
            </a:pPr>
            <a:r>
              <a:rPr sz="1800" spc="-10" dirty="0">
                <a:latin typeface="Calibri"/>
                <a:cs typeface="Calibri"/>
              </a:rPr>
              <a:t>Exploratory</a:t>
            </a:r>
            <a:r>
              <a:rPr sz="1800" spc="-60" dirty="0">
                <a:latin typeface="Calibri"/>
                <a:cs typeface="Calibri"/>
              </a:rPr>
              <a:t> </a:t>
            </a:r>
            <a:r>
              <a:rPr sz="1800" dirty="0">
                <a:latin typeface="Calibri"/>
                <a:cs typeface="Calibri"/>
              </a:rPr>
              <a:t>data</a:t>
            </a:r>
            <a:r>
              <a:rPr sz="1800" spc="-30" dirty="0">
                <a:latin typeface="Calibri"/>
                <a:cs typeface="Calibri"/>
              </a:rPr>
              <a:t> </a:t>
            </a:r>
            <a:r>
              <a:rPr sz="1800" dirty="0">
                <a:latin typeface="Calibri"/>
                <a:cs typeface="Calibri"/>
              </a:rPr>
              <a:t>analysis</a:t>
            </a:r>
            <a:r>
              <a:rPr sz="1800" spc="-25" dirty="0">
                <a:latin typeface="Calibri"/>
                <a:cs typeface="Calibri"/>
              </a:rPr>
              <a:t> </a:t>
            </a:r>
            <a:r>
              <a:rPr sz="1800" spc="-10" dirty="0">
                <a:latin typeface="Calibri"/>
                <a:cs typeface="Calibri"/>
              </a:rPr>
              <a:t>results</a:t>
            </a:r>
            <a:endParaRPr sz="1800">
              <a:latin typeface="Calibri"/>
              <a:cs typeface="Calibri"/>
            </a:endParaRPr>
          </a:p>
          <a:p>
            <a:pPr marL="240665" indent="-227965">
              <a:lnSpc>
                <a:spcPct val="100000"/>
              </a:lnSpc>
              <a:spcBef>
                <a:spcPts val="1145"/>
              </a:spcBef>
              <a:buFont typeface="Arial MT"/>
              <a:buChar char="•"/>
              <a:tabLst>
                <a:tab pos="240665" algn="l"/>
              </a:tabLst>
            </a:pPr>
            <a:r>
              <a:rPr sz="1800" spc="-10" dirty="0">
                <a:latin typeface="Calibri"/>
                <a:cs typeface="Calibri"/>
              </a:rPr>
              <a:t>Interactive</a:t>
            </a:r>
            <a:r>
              <a:rPr sz="1800" spc="-45" dirty="0">
                <a:latin typeface="Calibri"/>
                <a:cs typeface="Calibri"/>
              </a:rPr>
              <a:t> </a:t>
            </a:r>
            <a:r>
              <a:rPr sz="1800" dirty="0">
                <a:latin typeface="Calibri"/>
                <a:cs typeface="Calibri"/>
              </a:rPr>
              <a:t>analytics demo</a:t>
            </a:r>
            <a:r>
              <a:rPr sz="1800" spc="-25" dirty="0">
                <a:latin typeface="Calibri"/>
                <a:cs typeface="Calibri"/>
              </a:rPr>
              <a:t> </a:t>
            </a:r>
            <a:r>
              <a:rPr sz="1800" dirty="0">
                <a:latin typeface="Calibri"/>
                <a:cs typeface="Calibri"/>
              </a:rPr>
              <a:t>in</a:t>
            </a:r>
            <a:r>
              <a:rPr sz="1800" spc="50" dirty="0">
                <a:latin typeface="Calibri"/>
                <a:cs typeface="Calibri"/>
              </a:rPr>
              <a:t> </a:t>
            </a:r>
            <a:r>
              <a:rPr sz="1800" spc="-10" dirty="0">
                <a:latin typeface="Calibri"/>
                <a:cs typeface="Calibri"/>
              </a:rPr>
              <a:t>screenshots</a:t>
            </a:r>
            <a:endParaRPr sz="1800">
              <a:latin typeface="Calibri"/>
              <a:cs typeface="Calibri"/>
            </a:endParaRPr>
          </a:p>
          <a:p>
            <a:pPr marL="240665" indent="-227965">
              <a:lnSpc>
                <a:spcPct val="100000"/>
              </a:lnSpc>
              <a:spcBef>
                <a:spcPts val="1220"/>
              </a:spcBef>
              <a:buFont typeface="Arial MT"/>
              <a:buChar char="•"/>
              <a:tabLst>
                <a:tab pos="240665" algn="l"/>
              </a:tabLst>
            </a:pPr>
            <a:r>
              <a:rPr sz="1800" spc="-10" dirty="0">
                <a:latin typeface="Calibri"/>
                <a:cs typeface="Calibri"/>
              </a:rPr>
              <a:t>Predictive</a:t>
            </a:r>
            <a:r>
              <a:rPr sz="1800" spc="-25" dirty="0">
                <a:latin typeface="Calibri"/>
                <a:cs typeface="Calibri"/>
              </a:rPr>
              <a:t> </a:t>
            </a:r>
            <a:r>
              <a:rPr sz="1800" dirty="0">
                <a:latin typeface="Calibri"/>
                <a:cs typeface="Calibri"/>
              </a:rPr>
              <a:t>analysis</a:t>
            </a:r>
            <a:r>
              <a:rPr sz="1800" spc="20" dirty="0">
                <a:latin typeface="Calibri"/>
                <a:cs typeface="Calibri"/>
              </a:rPr>
              <a:t> </a:t>
            </a:r>
            <a:r>
              <a:rPr sz="1800" spc="-10" dirty="0">
                <a:latin typeface="Calibri"/>
                <a:cs typeface="Calibri"/>
              </a:rPr>
              <a:t>results</a:t>
            </a:r>
            <a:endParaRPr sz="1800">
              <a:latin typeface="Calibri"/>
              <a:cs typeface="Calibri"/>
            </a:endParaRPr>
          </a:p>
        </p:txBody>
      </p:sp>
      <p:sp>
        <p:nvSpPr>
          <p:cNvPr id="13" name="object 13"/>
          <p:cNvSpPr txBox="1"/>
          <p:nvPr/>
        </p:nvSpPr>
        <p:spPr>
          <a:xfrm>
            <a:off x="11187176" y="6472554"/>
            <a:ext cx="177800" cy="177800"/>
          </a:xfrm>
          <a:prstGeom prst="rect">
            <a:avLst/>
          </a:prstGeom>
        </p:spPr>
        <p:txBody>
          <a:bodyPr vert="horz" wrap="square" lIns="0" tIns="0" rIns="0" bIns="0" rtlCol="0">
            <a:spAutoFit/>
          </a:bodyPr>
          <a:lstStyle/>
          <a:p>
            <a:pPr marL="12700">
              <a:lnSpc>
                <a:spcPts val="1240"/>
              </a:lnSpc>
            </a:pPr>
            <a:r>
              <a:rPr sz="1200" spc="-25" dirty="0">
                <a:solidFill>
                  <a:srgbClr val="7E7E7E"/>
                </a:solidFill>
                <a:latin typeface="Calibri"/>
                <a:cs typeface="Calibri"/>
              </a:rPr>
              <a:t>22</a:t>
            </a:r>
            <a:endParaRPr sz="120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7555" cy="6858000"/>
            <a:chOff x="0" y="0"/>
            <a:chExt cx="12187555" cy="6858000"/>
          </a:xfrm>
        </p:grpSpPr>
        <p:pic>
          <p:nvPicPr>
            <p:cNvPr id="3" name="object 3"/>
            <p:cNvPicPr/>
            <p:nvPr/>
          </p:nvPicPr>
          <p:blipFill>
            <a:blip r:embed="rId2" cstate="print"/>
            <a:stretch>
              <a:fillRect/>
            </a:stretch>
          </p:blipFill>
          <p:spPr>
            <a:xfrm>
              <a:off x="0" y="0"/>
              <a:ext cx="12187239" cy="6858000"/>
            </a:xfrm>
            <a:prstGeom prst="rect">
              <a:avLst/>
            </a:prstGeom>
          </p:spPr>
        </p:pic>
        <p:sp>
          <p:nvSpPr>
            <p:cNvPr id="4" name="object 4"/>
            <p:cNvSpPr/>
            <p:nvPr/>
          </p:nvSpPr>
          <p:spPr>
            <a:xfrm>
              <a:off x="800100" y="2533650"/>
              <a:ext cx="1057275" cy="361950"/>
            </a:xfrm>
            <a:custGeom>
              <a:avLst/>
              <a:gdLst/>
              <a:ahLst/>
              <a:cxnLst/>
              <a:rect l="l" t="t" r="r" b="b"/>
              <a:pathLst>
                <a:path w="1057275" h="361950">
                  <a:moveTo>
                    <a:pt x="1057275" y="0"/>
                  </a:moveTo>
                  <a:lnTo>
                    <a:pt x="0" y="0"/>
                  </a:lnTo>
                  <a:lnTo>
                    <a:pt x="0" y="361950"/>
                  </a:lnTo>
                  <a:lnTo>
                    <a:pt x="1057275" y="361950"/>
                  </a:lnTo>
                  <a:lnTo>
                    <a:pt x="1057275" y="0"/>
                  </a:lnTo>
                  <a:close/>
                </a:path>
              </a:pathLst>
            </a:custGeom>
            <a:solidFill>
              <a:srgbClr val="0947CA"/>
            </a:solidFill>
          </p:spPr>
          <p:txBody>
            <a:bodyPr wrap="square" lIns="0" tIns="0" rIns="0" bIns="0" rtlCol="0"/>
            <a:lstStyle/>
            <a:p>
              <a:endParaRPr/>
            </a:p>
          </p:txBody>
        </p:sp>
      </p:grpSp>
      <p:sp>
        <p:nvSpPr>
          <p:cNvPr id="5" name="object 5"/>
          <p:cNvSpPr txBox="1"/>
          <p:nvPr/>
        </p:nvSpPr>
        <p:spPr>
          <a:xfrm>
            <a:off x="877252" y="2547302"/>
            <a:ext cx="88646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Section</a:t>
            </a:r>
            <a:r>
              <a:rPr sz="1800" spc="35" dirty="0">
                <a:solidFill>
                  <a:srgbClr val="FFFFFF"/>
                </a:solidFill>
                <a:latin typeface="Calibri"/>
                <a:cs typeface="Calibri"/>
              </a:rPr>
              <a:t> </a:t>
            </a:r>
            <a:r>
              <a:rPr sz="1800" spc="-50" dirty="0">
                <a:solidFill>
                  <a:srgbClr val="FFFFFF"/>
                </a:solidFill>
                <a:latin typeface="Calibri"/>
                <a:cs typeface="Calibri"/>
              </a:rPr>
              <a:t>2</a:t>
            </a:r>
            <a:endParaRPr sz="180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0247" y="588263"/>
            <a:ext cx="3010535" cy="1176020"/>
          </a:xfrm>
          <a:prstGeom prst="rect">
            <a:avLst/>
          </a:prstGeom>
        </p:spPr>
        <p:txBody>
          <a:bodyPr vert="horz" wrap="square" lIns="0" tIns="83185" rIns="0" bIns="0" rtlCol="0">
            <a:spAutoFit/>
          </a:bodyPr>
          <a:lstStyle/>
          <a:p>
            <a:pPr marL="12700" marR="5080">
              <a:lnSpc>
                <a:spcPts val="4280"/>
              </a:lnSpc>
              <a:spcBef>
                <a:spcPts val="655"/>
              </a:spcBef>
            </a:pPr>
            <a:r>
              <a:rPr sz="3950" dirty="0">
                <a:latin typeface="Calibri Light"/>
                <a:cs typeface="Calibri Light"/>
              </a:rPr>
              <a:t>Flight</a:t>
            </a:r>
            <a:r>
              <a:rPr sz="3950" spc="20" dirty="0">
                <a:latin typeface="Calibri Light"/>
                <a:cs typeface="Calibri Light"/>
              </a:rPr>
              <a:t> </a:t>
            </a:r>
            <a:r>
              <a:rPr sz="3950" spc="-10" dirty="0">
                <a:latin typeface="Calibri Light"/>
                <a:cs typeface="Calibri Light"/>
              </a:rPr>
              <a:t>Number </a:t>
            </a:r>
            <a:r>
              <a:rPr sz="3950" dirty="0">
                <a:latin typeface="Calibri Light"/>
                <a:cs typeface="Calibri Light"/>
              </a:rPr>
              <a:t>vs.</a:t>
            </a:r>
            <a:r>
              <a:rPr sz="3950" spc="10" dirty="0">
                <a:latin typeface="Calibri Light"/>
                <a:cs typeface="Calibri Light"/>
              </a:rPr>
              <a:t> </a:t>
            </a:r>
            <a:r>
              <a:rPr sz="3950" dirty="0">
                <a:latin typeface="Calibri Light"/>
                <a:cs typeface="Calibri Light"/>
              </a:rPr>
              <a:t>Launch</a:t>
            </a:r>
            <a:r>
              <a:rPr sz="3950" spc="80" dirty="0">
                <a:latin typeface="Calibri Light"/>
                <a:cs typeface="Calibri Light"/>
              </a:rPr>
              <a:t> </a:t>
            </a:r>
            <a:r>
              <a:rPr sz="3950" spc="-20" dirty="0">
                <a:latin typeface="Calibri Light"/>
                <a:cs typeface="Calibri Light"/>
              </a:rPr>
              <a:t>Site</a:t>
            </a:r>
            <a:endParaRPr sz="3950">
              <a:latin typeface="Calibri Light"/>
              <a:cs typeface="Calibri Light"/>
            </a:endParaRPr>
          </a:p>
        </p:txBody>
      </p:sp>
      <p:grpSp>
        <p:nvGrpSpPr>
          <p:cNvPr id="3" name="object 3"/>
          <p:cNvGrpSpPr/>
          <p:nvPr/>
        </p:nvGrpSpPr>
        <p:grpSpPr>
          <a:xfrm>
            <a:off x="4305038" y="435927"/>
            <a:ext cx="78740" cy="1595120"/>
            <a:chOff x="4305038" y="435927"/>
            <a:chExt cx="78740" cy="1595120"/>
          </a:xfrm>
        </p:grpSpPr>
        <p:sp>
          <p:nvSpPr>
            <p:cNvPr id="4" name="object 4"/>
            <p:cNvSpPr/>
            <p:nvPr/>
          </p:nvSpPr>
          <p:spPr>
            <a:xfrm>
              <a:off x="4326741" y="456565"/>
              <a:ext cx="43815" cy="1554480"/>
            </a:xfrm>
            <a:custGeom>
              <a:avLst/>
              <a:gdLst/>
              <a:ahLst/>
              <a:cxnLst/>
              <a:rect l="l" t="t" r="r" b="b"/>
              <a:pathLst>
                <a:path w="43814" h="1554480">
                  <a:moveTo>
                    <a:pt x="16277" y="0"/>
                  </a:moveTo>
                  <a:lnTo>
                    <a:pt x="7133" y="635"/>
                  </a:lnTo>
                  <a:lnTo>
                    <a:pt x="12424" y="79658"/>
                  </a:lnTo>
                  <a:lnTo>
                    <a:pt x="14550" y="120149"/>
                  </a:lnTo>
                  <a:lnTo>
                    <a:pt x="16149" y="162668"/>
                  </a:lnTo>
                  <a:lnTo>
                    <a:pt x="17086" y="208248"/>
                  </a:lnTo>
                  <a:lnTo>
                    <a:pt x="17228" y="257919"/>
                  </a:lnTo>
                  <a:lnTo>
                    <a:pt x="16438" y="312714"/>
                  </a:lnTo>
                  <a:lnTo>
                    <a:pt x="14582" y="373665"/>
                  </a:lnTo>
                  <a:lnTo>
                    <a:pt x="11525" y="441803"/>
                  </a:lnTo>
                  <a:lnTo>
                    <a:pt x="3331" y="586187"/>
                  </a:lnTo>
                  <a:lnTo>
                    <a:pt x="1043" y="644658"/>
                  </a:lnTo>
                  <a:lnTo>
                    <a:pt x="16" y="695548"/>
                  </a:lnTo>
                  <a:lnTo>
                    <a:pt x="0" y="740830"/>
                  </a:lnTo>
                  <a:lnTo>
                    <a:pt x="744" y="782480"/>
                  </a:lnTo>
                  <a:lnTo>
                    <a:pt x="1998" y="822472"/>
                  </a:lnTo>
                  <a:lnTo>
                    <a:pt x="5031" y="905381"/>
                  </a:lnTo>
                  <a:lnTo>
                    <a:pt x="6308" y="952246"/>
                  </a:lnTo>
                  <a:lnTo>
                    <a:pt x="7093" y="1005352"/>
                  </a:lnTo>
                  <a:lnTo>
                    <a:pt x="6934" y="1133318"/>
                  </a:lnTo>
                  <a:lnTo>
                    <a:pt x="7157" y="1189425"/>
                  </a:lnTo>
                  <a:lnTo>
                    <a:pt x="7661" y="1237445"/>
                  </a:lnTo>
                  <a:lnTo>
                    <a:pt x="9437" y="1357516"/>
                  </a:lnTo>
                  <a:lnTo>
                    <a:pt x="9645" y="1397719"/>
                  </a:lnTo>
                  <a:lnTo>
                    <a:pt x="9425" y="1442101"/>
                  </a:lnTo>
                  <a:lnTo>
                    <a:pt x="8635" y="1493113"/>
                  </a:lnTo>
                  <a:lnTo>
                    <a:pt x="7133" y="1553210"/>
                  </a:lnTo>
                  <a:lnTo>
                    <a:pt x="12340" y="1554099"/>
                  </a:lnTo>
                  <a:lnTo>
                    <a:pt x="26183" y="1553210"/>
                  </a:lnTo>
                  <a:lnTo>
                    <a:pt x="24216" y="1479001"/>
                  </a:lnTo>
                  <a:lnTo>
                    <a:pt x="16333" y="1241217"/>
                  </a:lnTo>
                  <a:lnTo>
                    <a:pt x="15345" y="1192528"/>
                  </a:lnTo>
                  <a:lnTo>
                    <a:pt x="15146" y="1146540"/>
                  </a:lnTo>
                  <a:lnTo>
                    <a:pt x="15933" y="1102453"/>
                  </a:lnTo>
                  <a:lnTo>
                    <a:pt x="17903" y="1059464"/>
                  </a:lnTo>
                  <a:lnTo>
                    <a:pt x="21254" y="1016774"/>
                  </a:lnTo>
                  <a:lnTo>
                    <a:pt x="32572" y="919669"/>
                  </a:lnTo>
                  <a:lnTo>
                    <a:pt x="37546" y="865085"/>
                  </a:lnTo>
                  <a:lnTo>
                    <a:pt x="41028" y="810288"/>
                  </a:lnTo>
                  <a:lnTo>
                    <a:pt x="42939" y="755735"/>
                  </a:lnTo>
                  <a:lnTo>
                    <a:pt x="43200" y="701885"/>
                  </a:lnTo>
                  <a:lnTo>
                    <a:pt x="41733" y="649195"/>
                  </a:lnTo>
                  <a:lnTo>
                    <a:pt x="38461" y="598124"/>
                  </a:lnTo>
                  <a:lnTo>
                    <a:pt x="33303" y="549128"/>
                  </a:lnTo>
                  <a:lnTo>
                    <a:pt x="20258" y="462514"/>
                  </a:lnTo>
                  <a:lnTo>
                    <a:pt x="16819" y="422535"/>
                  </a:lnTo>
                  <a:lnTo>
                    <a:pt x="15430" y="381825"/>
                  </a:lnTo>
                  <a:lnTo>
                    <a:pt x="15649" y="339484"/>
                  </a:lnTo>
                  <a:lnTo>
                    <a:pt x="17039" y="294608"/>
                  </a:lnTo>
                  <a:lnTo>
                    <a:pt x="21574" y="193644"/>
                  </a:lnTo>
                  <a:lnTo>
                    <a:pt x="23842" y="135751"/>
                  </a:lnTo>
                  <a:lnTo>
                    <a:pt x="25525" y="71716"/>
                  </a:lnTo>
                  <a:lnTo>
                    <a:pt x="26183" y="635"/>
                  </a:lnTo>
                  <a:lnTo>
                    <a:pt x="16277" y="0"/>
                  </a:lnTo>
                  <a:close/>
                </a:path>
              </a:pathLst>
            </a:custGeom>
            <a:solidFill>
              <a:srgbClr val="EC7C30"/>
            </a:solidFill>
          </p:spPr>
          <p:txBody>
            <a:bodyPr wrap="square" lIns="0" tIns="0" rIns="0" bIns="0" rtlCol="0"/>
            <a:lstStyle/>
            <a:p>
              <a:endParaRPr/>
            </a:p>
          </p:txBody>
        </p:sp>
        <p:sp>
          <p:nvSpPr>
            <p:cNvPr id="5" name="object 5"/>
            <p:cNvSpPr/>
            <p:nvPr/>
          </p:nvSpPr>
          <p:spPr>
            <a:xfrm>
              <a:off x="4325675" y="456565"/>
              <a:ext cx="37465" cy="1553845"/>
            </a:xfrm>
            <a:custGeom>
              <a:avLst/>
              <a:gdLst/>
              <a:ahLst/>
              <a:cxnLst/>
              <a:rect l="l" t="t" r="r" b="b"/>
              <a:pathLst>
                <a:path w="37464" h="1553845">
                  <a:moveTo>
                    <a:pt x="27249" y="635"/>
                  </a:moveTo>
                  <a:lnTo>
                    <a:pt x="31955" y="34521"/>
                  </a:lnTo>
                  <a:lnTo>
                    <a:pt x="34952" y="73542"/>
                  </a:lnTo>
                  <a:lnTo>
                    <a:pt x="36496" y="117051"/>
                  </a:lnTo>
                  <a:lnTo>
                    <a:pt x="36843" y="164403"/>
                  </a:lnTo>
                  <a:lnTo>
                    <a:pt x="36249" y="214950"/>
                  </a:lnTo>
                  <a:lnTo>
                    <a:pt x="34969" y="268047"/>
                  </a:lnTo>
                  <a:lnTo>
                    <a:pt x="33260" y="323046"/>
                  </a:lnTo>
                  <a:lnTo>
                    <a:pt x="31378" y="379303"/>
                  </a:lnTo>
                  <a:lnTo>
                    <a:pt x="29578" y="436169"/>
                  </a:lnTo>
                  <a:lnTo>
                    <a:pt x="28116" y="492999"/>
                  </a:lnTo>
                  <a:lnTo>
                    <a:pt x="27249" y="549148"/>
                  </a:lnTo>
                  <a:lnTo>
                    <a:pt x="26983" y="602567"/>
                  </a:lnTo>
                  <a:lnTo>
                    <a:pt x="27084" y="652197"/>
                  </a:lnTo>
                  <a:lnTo>
                    <a:pt x="27448" y="698971"/>
                  </a:lnTo>
                  <a:lnTo>
                    <a:pt x="27970" y="743820"/>
                  </a:lnTo>
                  <a:lnTo>
                    <a:pt x="28546" y="787679"/>
                  </a:lnTo>
                  <a:lnTo>
                    <a:pt x="29069" y="831481"/>
                  </a:lnTo>
                  <a:lnTo>
                    <a:pt x="29437" y="876159"/>
                  </a:lnTo>
                  <a:lnTo>
                    <a:pt x="29543" y="922646"/>
                  </a:lnTo>
                  <a:lnTo>
                    <a:pt x="29284" y="971875"/>
                  </a:lnTo>
                  <a:lnTo>
                    <a:pt x="28554" y="1024780"/>
                  </a:lnTo>
                  <a:lnTo>
                    <a:pt x="27249" y="1082294"/>
                  </a:lnTo>
                  <a:lnTo>
                    <a:pt x="25522" y="1150196"/>
                  </a:lnTo>
                  <a:lnTo>
                    <a:pt x="24300" y="1208607"/>
                  </a:lnTo>
                  <a:lnTo>
                    <a:pt x="23552" y="1259924"/>
                  </a:lnTo>
                  <a:lnTo>
                    <a:pt x="23245" y="1306547"/>
                  </a:lnTo>
                  <a:lnTo>
                    <a:pt x="23350" y="1350875"/>
                  </a:lnTo>
                  <a:lnTo>
                    <a:pt x="23834" y="1395306"/>
                  </a:lnTo>
                  <a:lnTo>
                    <a:pt x="24666" y="1442240"/>
                  </a:lnTo>
                  <a:lnTo>
                    <a:pt x="25815" y="1494075"/>
                  </a:lnTo>
                  <a:lnTo>
                    <a:pt x="27249" y="1553210"/>
                  </a:lnTo>
                  <a:lnTo>
                    <a:pt x="19756" y="1553718"/>
                  </a:lnTo>
                  <a:lnTo>
                    <a:pt x="13025" y="1552702"/>
                  </a:lnTo>
                  <a:lnTo>
                    <a:pt x="8199" y="1553210"/>
                  </a:lnTo>
                  <a:lnTo>
                    <a:pt x="10736" y="1491231"/>
                  </a:lnTo>
                  <a:lnTo>
                    <a:pt x="11125" y="1434066"/>
                  </a:lnTo>
                  <a:lnTo>
                    <a:pt x="9959" y="1381021"/>
                  </a:lnTo>
                  <a:lnTo>
                    <a:pt x="7833" y="1331400"/>
                  </a:lnTo>
                  <a:lnTo>
                    <a:pt x="5341" y="1284509"/>
                  </a:lnTo>
                  <a:lnTo>
                    <a:pt x="3078" y="1239653"/>
                  </a:lnTo>
                  <a:lnTo>
                    <a:pt x="1638" y="1196136"/>
                  </a:lnTo>
                  <a:lnTo>
                    <a:pt x="1615" y="1153263"/>
                  </a:lnTo>
                  <a:lnTo>
                    <a:pt x="3604" y="1110340"/>
                  </a:lnTo>
                  <a:lnTo>
                    <a:pt x="8199" y="1066673"/>
                  </a:lnTo>
                  <a:lnTo>
                    <a:pt x="13565" y="1023128"/>
                  </a:lnTo>
                  <a:lnTo>
                    <a:pt x="17526" y="980322"/>
                  </a:lnTo>
                  <a:lnTo>
                    <a:pt x="20160" y="937293"/>
                  </a:lnTo>
                  <a:lnTo>
                    <a:pt x="21549" y="893081"/>
                  </a:lnTo>
                  <a:lnTo>
                    <a:pt x="21772" y="846724"/>
                  </a:lnTo>
                  <a:lnTo>
                    <a:pt x="20909" y="797263"/>
                  </a:lnTo>
                  <a:lnTo>
                    <a:pt x="19040" y="743735"/>
                  </a:lnTo>
                  <a:lnTo>
                    <a:pt x="16246" y="685181"/>
                  </a:lnTo>
                  <a:lnTo>
                    <a:pt x="12605" y="620638"/>
                  </a:lnTo>
                  <a:lnTo>
                    <a:pt x="8199" y="549148"/>
                  </a:lnTo>
                  <a:lnTo>
                    <a:pt x="4515" y="483413"/>
                  </a:lnTo>
                  <a:lnTo>
                    <a:pt x="2021" y="422628"/>
                  </a:lnTo>
                  <a:lnTo>
                    <a:pt x="566" y="366201"/>
                  </a:lnTo>
                  <a:lnTo>
                    <a:pt x="0" y="313540"/>
                  </a:lnTo>
                  <a:lnTo>
                    <a:pt x="170" y="264053"/>
                  </a:lnTo>
                  <a:lnTo>
                    <a:pt x="925" y="217149"/>
                  </a:lnTo>
                  <a:lnTo>
                    <a:pt x="2115" y="172234"/>
                  </a:lnTo>
                  <a:lnTo>
                    <a:pt x="3589" y="128717"/>
                  </a:lnTo>
                  <a:lnTo>
                    <a:pt x="5195" y="86006"/>
                  </a:lnTo>
                  <a:lnTo>
                    <a:pt x="6782" y="43509"/>
                  </a:lnTo>
                  <a:lnTo>
                    <a:pt x="8199" y="635"/>
                  </a:lnTo>
                  <a:lnTo>
                    <a:pt x="13406" y="0"/>
                  </a:lnTo>
                  <a:lnTo>
                    <a:pt x="22423" y="1397"/>
                  </a:lnTo>
                  <a:lnTo>
                    <a:pt x="27249" y="635"/>
                  </a:lnTo>
                  <a:close/>
                </a:path>
              </a:pathLst>
            </a:custGeom>
            <a:ln w="41275">
              <a:solidFill>
                <a:srgbClr val="EC7C30"/>
              </a:solidFill>
            </a:ln>
          </p:spPr>
          <p:txBody>
            <a:bodyPr wrap="square" lIns="0" tIns="0" rIns="0" bIns="0" rtlCol="0"/>
            <a:lstStyle/>
            <a:p>
              <a:endParaRPr/>
            </a:p>
          </p:txBody>
        </p:sp>
      </p:grpSp>
      <p:sp>
        <p:nvSpPr>
          <p:cNvPr id="6" name="object 6"/>
          <p:cNvSpPr txBox="1"/>
          <p:nvPr/>
        </p:nvSpPr>
        <p:spPr>
          <a:xfrm>
            <a:off x="4736719" y="275106"/>
            <a:ext cx="6720840" cy="902335"/>
          </a:xfrm>
          <a:prstGeom prst="rect">
            <a:avLst/>
          </a:prstGeom>
        </p:spPr>
        <p:txBody>
          <a:bodyPr vert="horz" wrap="square" lIns="0" tIns="16510" rIns="0" bIns="0" rtlCol="0">
            <a:spAutoFit/>
          </a:bodyPr>
          <a:lstStyle/>
          <a:p>
            <a:pPr marL="241300" marR="5080" indent="-228600">
              <a:lnSpc>
                <a:spcPct val="123100"/>
              </a:lnSpc>
              <a:spcBef>
                <a:spcPts val="130"/>
              </a:spcBef>
              <a:buChar char="•"/>
              <a:tabLst>
                <a:tab pos="241300" algn="l"/>
                <a:tab pos="287020" algn="l"/>
              </a:tabLst>
            </a:pPr>
            <a:r>
              <a:rPr sz="1550" dirty="0">
                <a:latin typeface="Arial MT"/>
                <a:cs typeface="Arial MT"/>
              </a:rPr>
              <a:t>	</a:t>
            </a:r>
            <a:r>
              <a:rPr sz="1550" b="1" dirty="0">
                <a:latin typeface="Calibri"/>
                <a:cs typeface="Calibri"/>
              </a:rPr>
              <a:t>Mixed</a:t>
            </a:r>
            <a:r>
              <a:rPr sz="1550" b="1" spc="50" dirty="0">
                <a:latin typeface="Calibri"/>
                <a:cs typeface="Calibri"/>
              </a:rPr>
              <a:t> </a:t>
            </a:r>
            <a:r>
              <a:rPr sz="1550" b="1" dirty="0">
                <a:latin typeface="Calibri"/>
                <a:cs typeface="Calibri"/>
              </a:rPr>
              <a:t>Outcomes</a:t>
            </a:r>
            <a:r>
              <a:rPr sz="1550" b="1" spc="50" dirty="0">
                <a:latin typeface="Calibri"/>
                <a:cs typeface="Calibri"/>
              </a:rPr>
              <a:t> </a:t>
            </a:r>
            <a:r>
              <a:rPr sz="1550" b="1" dirty="0">
                <a:latin typeface="Calibri"/>
                <a:cs typeface="Calibri"/>
              </a:rPr>
              <a:t>at</a:t>
            </a:r>
            <a:r>
              <a:rPr sz="1550" b="1" spc="50" dirty="0">
                <a:latin typeface="Calibri"/>
                <a:cs typeface="Calibri"/>
              </a:rPr>
              <a:t> </a:t>
            </a:r>
            <a:r>
              <a:rPr sz="1550" b="1" dirty="0">
                <a:latin typeface="Calibri"/>
                <a:cs typeface="Calibri"/>
              </a:rPr>
              <a:t>Major</a:t>
            </a:r>
            <a:r>
              <a:rPr sz="1550" b="1" spc="40" dirty="0">
                <a:latin typeface="Calibri"/>
                <a:cs typeface="Calibri"/>
              </a:rPr>
              <a:t> </a:t>
            </a:r>
            <a:r>
              <a:rPr sz="1550" b="1" dirty="0">
                <a:latin typeface="Calibri"/>
                <a:cs typeface="Calibri"/>
              </a:rPr>
              <a:t>Launch</a:t>
            </a:r>
            <a:r>
              <a:rPr sz="1550" b="1" spc="50" dirty="0">
                <a:latin typeface="Calibri"/>
                <a:cs typeface="Calibri"/>
              </a:rPr>
              <a:t> </a:t>
            </a:r>
            <a:r>
              <a:rPr sz="1550" b="1" dirty="0">
                <a:latin typeface="Calibri"/>
                <a:cs typeface="Calibri"/>
              </a:rPr>
              <a:t>Sites</a:t>
            </a:r>
            <a:r>
              <a:rPr sz="1550" dirty="0">
                <a:latin typeface="Calibri"/>
                <a:cs typeface="Calibri"/>
              </a:rPr>
              <a:t>:</a:t>
            </a:r>
            <a:r>
              <a:rPr sz="1550" spc="110" dirty="0">
                <a:latin typeface="Calibri"/>
                <a:cs typeface="Calibri"/>
              </a:rPr>
              <a:t> </a:t>
            </a:r>
            <a:r>
              <a:rPr sz="1550" dirty="0">
                <a:latin typeface="Calibri"/>
                <a:cs typeface="Calibri"/>
              </a:rPr>
              <a:t>Both</a:t>
            </a:r>
            <a:r>
              <a:rPr sz="1550" spc="65" dirty="0">
                <a:latin typeface="Calibri"/>
                <a:cs typeface="Calibri"/>
              </a:rPr>
              <a:t> </a:t>
            </a:r>
            <a:r>
              <a:rPr sz="1550" dirty="0">
                <a:latin typeface="Calibri"/>
                <a:cs typeface="Calibri"/>
              </a:rPr>
              <a:t>CCAFS</a:t>
            </a:r>
            <a:r>
              <a:rPr sz="1550" spc="100" dirty="0">
                <a:latin typeface="Calibri"/>
                <a:cs typeface="Calibri"/>
              </a:rPr>
              <a:t> </a:t>
            </a:r>
            <a:r>
              <a:rPr sz="1550" dirty="0">
                <a:latin typeface="Calibri"/>
                <a:cs typeface="Calibri"/>
              </a:rPr>
              <a:t>SLC</a:t>
            </a:r>
            <a:r>
              <a:rPr sz="1550" spc="140" dirty="0">
                <a:latin typeface="Calibri"/>
                <a:cs typeface="Calibri"/>
              </a:rPr>
              <a:t> </a:t>
            </a:r>
            <a:r>
              <a:rPr sz="1550" dirty="0">
                <a:latin typeface="Calibri"/>
                <a:cs typeface="Calibri"/>
              </a:rPr>
              <a:t>40</a:t>
            </a:r>
            <a:r>
              <a:rPr sz="1550" spc="100" dirty="0">
                <a:latin typeface="Calibri"/>
                <a:cs typeface="Calibri"/>
              </a:rPr>
              <a:t> </a:t>
            </a:r>
            <a:r>
              <a:rPr sz="1550" dirty="0">
                <a:latin typeface="Calibri"/>
                <a:cs typeface="Calibri"/>
              </a:rPr>
              <a:t>and</a:t>
            </a:r>
            <a:r>
              <a:rPr sz="1550" spc="65" dirty="0">
                <a:latin typeface="Calibri"/>
                <a:cs typeface="Calibri"/>
              </a:rPr>
              <a:t> </a:t>
            </a:r>
            <a:r>
              <a:rPr sz="1550" dirty="0">
                <a:latin typeface="Calibri"/>
                <a:cs typeface="Calibri"/>
              </a:rPr>
              <a:t>KSC</a:t>
            </a:r>
            <a:r>
              <a:rPr sz="1550" spc="55" dirty="0">
                <a:latin typeface="Calibri"/>
                <a:cs typeface="Calibri"/>
              </a:rPr>
              <a:t> </a:t>
            </a:r>
            <a:r>
              <a:rPr sz="1550" dirty="0">
                <a:latin typeface="Calibri"/>
                <a:cs typeface="Calibri"/>
              </a:rPr>
              <a:t>LC</a:t>
            </a:r>
            <a:r>
              <a:rPr sz="1550" spc="55" dirty="0">
                <a:latin typeface="Calibri"/>
                <a:cs typeface="Calibri"/>
              </a:rPr>
              <a:t> </a:t>
            </a:r>
            <a:r>
              <a:rPr sz="1550" spc="-25" dirty="0">
                <a:latin typeface="Calibri"/>
                <a:cs typeface="Calibri"/>
              </a:rPr>
              <a:t>39A </a:t>
            </a:r>
            <a:r>
              <a:rPr sz="1550" dirty="0">
                <a:latin typeface="Calibri"/>
                <a:cs typeface="Calibri"/>
              </a:rPr>
              <a:t>have</a:t>
            </a:r>
            <a:r>
              <a:rPr sz="1550" spc="160" dirty="0">
                <a:latin typeface="Calibri"/>
                <a:cs typeface="Calibri"/>
              </a:rPr>
              <a:t> </a:t>
            </a:r>
            <a:r>
              <a:rPr sz="1550" dirty="0">
                <a:latin typeface="Calibri"/>
                <a:cs typeface="Calibri"/>
              </a:rPr>
              <a:t>a</a:t>
            </a:r>
            <a:r>
              <a:rPr sz="1550" spc="110" dirty="0">
                <a:latin typeface="Calibri"/>
                <a:cs typeface="Calibri"/>
              </a:rPr>
              <a:t> </a:t>
            </a:r>
            <a:r>
              <a:rPr sz="1550" dirty="0">
                <a:latin typeface="Calibri"/>
                <a:cs typeface="Calibri"/>
              </a:rPr>
              <a:t>mix</a:t>
            </a:r>
            <a:r>
              <a:rPr sz="1550" spc="100" dirty="0">
                <a:latin typeface="Calibri"/>
                <a:cs typeface="Calibri"/>
              </a:rPr>
              <a:t> </a:t>
            </a:r>
            <a:r>
              <a:rPr sz="1550" dirty="0">
                <a:latin typeface="Calibri"/>
                <a:cs typeface="Calibri"/>
              </a:rPr>
              <a:t>of</a:t>
            </a:r>
            <a:r>
              <a:rPr sz="1550" spc="65" dirty="0">
                <a:latin typeface="Calibri"/>
                <a:cs typeface="Calibri"/>
              </a:rPr>
              <a:t> </a:t>
            </a:r>
            <a:r>
              <a:rPr sz="1550" dirty="0">
                <a:latin typeface="Calibri"/>
                <a:cs typeface="Calibri"/>
              </a:rPr>
              <a:t>successful</a:t>
            </a:r>
            <a:r>
              <a:rPr sz="1550" spc="30" dirty="0">
                <a:latin typeface="Calibri"/>
                <a:cs typeface="Calibri"/>
              </a:rPr>
              <a:t> </a:t>
            </a:r>
            <a:r>
              <a:rPr sz="1550" dirty="0">
                <a:latin typeface="Calibri"/>
                <a:cs typeface="Calibri"/>
              </a:rPr>
              <a:t>(orange)</a:t>
            </a:r>
            <a:r>
              <a:rPr sz="1550" spc="70" dirty="0">
                <a:latin typeface="Calibri"/>
                <a:cs typeface="Calibri"/>
              </a:rPr>
              <a:t> </a:t>
            </a:r>
            <a:r>
              <a:rPr sz="1550" dirty="0">
                <a:latin typeface="Calibri"/>
                <a:cs typeface="Calibri"/>
              </a:rPr>
              <a:t>and</a:t>
            </a:r>
            <a:r>
              <a:rPr sz="1550" spc="110" dirty="0">
                <a:latin typeface="Calibri"/>
                <a:cs typeface="Calibri"/>
              </a:rPr>
              <a:t> </a:t>
            </a:r>
            <a:r>
              <a:rPr sz="1550" dirty="0">
                <a:latin typeface="Calibri"/>
                <a:cs typeface="Calibri"/>
              </a:rPr>
              <a:t>unsuccessful</a:t>
            </a:r>
            <a:r>
              <a:rPr sz="1550" spc="120" dirty="0">
                <a:latin typeface="Calibri"/>
                <a:cs typeface="Calibri"/>
              </a:rPr>
              <a:t> </a:t>
            </a:r>
            <a:r>
              <a:rPr sz="1550" dirty="0">
                <a:latin typeface="Calibri"/>
                <a:cs typeface="Calibri"/>
              </a:rPr>
              <a:t>(blue)</a:t>
            </a:r>
            <a:r>
              <a:rPr sz="1550" spc="165" dirty="0">
                <a:latin typeface="Calibri"/>
                <a:cs typeface="Calibri"/>
              </a:rPr>
              <a:t> </a:t>
            </a:r>
            <a:r>
              <a:rPr sz="1550" dirty="0">
                <a:latin typeface="Calibri"/>
                <a:cs typeface="Calibri"/>
              </a:rPr>
              <a:t>landings,</a:t>
            </a:r>
            <a:r>
              <a:rPr sz="1550" spc="175" dirty="0">
                <a:latin typeface="Calibri"/>
                <a:cs typeface="Calibri"/>
              </a:rPr>
              <a:t> </a:t>
            </a:r>
            <a:r>
              <a:rPr sz="1550" spc="-10" dirty="0">
                <a:latin typeface="Calibri"/>
                <a:cs typeface="Calibri"/>
              </a:rPr>
              <a:t>indicating </a:t>
            </a:r>
            <a:r>
              <a:rPr sz="1550" dirty="0">
                <a:latin typeface="Calibri"/>
                <a:cs typeface="Calibri"/>
              </a:rPr>
              <a:t>that</a:t>
            </a:r>
            <a:r>
              <a:rPr sz="1550" spc="90" dirty="0">
                <a:latin typeface="Calibri"/>
                <a:cs typeface="Calibri"/>
              </a:rPr>
              <a:t> </a:t>
            </a:r>
            <a:r>
              <a:rPr sz="1550" dirty="0">
                <a:latin typeface="Calibri"/>
                <a:cs typeface="Calibri"/>
              </a:rPr>
              <a:t>factors</a:t>
            </a:r>
            <a:r>
              <a:rPr sz="1550" spc="75" dirty="0">
                <a:latin typeface="Calibri"/>
                <a:cs typeface="Calibri"/>
              </a:rPr>
              <a:t> </a:t>
            </a:r>
            <a:r>
              <a:rPr sz="1550" dirty="0">
                <a:latin typeface="Calibri"/>
                <a:cs typeface="Calibri"/>
              </a:rPr>
              <a:t>other</a:t>
            </a:r>
            <a:r>
              <a:rPr sz="1550" spc="155" dirty="0">
                <a:latin typeface="Calibri"/>
                <a:cs typeface="Calibri"/>
              </a:rPr>
              <a:t> </a:t>
            </a:r>
            <a:r>
              <a:rPr sz="1550" dirty="0">
                <a:latin typeface="Calibri"/>
                <a:cs typeface="Calibri"/>
              </a:rPr>
              <a:t>than</a:t>
            </a:r>
            <a:r>
              <a:rPr sz="1550" spc="95" dirty="0">
                <a:latin typeface="Calibri"/>
                <a:cs typeface="Calibri"/>
              </a:rPr>
              <a:t> </a:t>
            </a:r>
            <a:r>
              <a:rPr sz="1550" dirty="0">
                <a:latin typeface="Calibri"/>
                <a:cs typeface="Calibri"/>
              </a:rPr>
              <a:t>the</a:t>
            </a:r>
            <a:r>
              <a:rPr sz="1550" spc="55" dirty="0">
                <a:latin typeface="Calibri"/>
                <a:cs typeface="Calibri"/>
              </a:rPr>
              <a:t> </a:t>
            </a:r>
            <a:r>
              <a:rPr sz="1550" dirty="0">
                <a:latin typeface="Calibri"/>
                <a:cs typeface="Calibri"/>
              </a:rPr>
              <a:t>launch</a:t>
            </a:r>
            <a:r>
              <a:rPr sz="1550" spc="95" dirty="0">
                <a:latin typeface="Calibri"/>
                <a:cs typeface="Calibri"/>
              </a:rPr>
              <a:t> </a:t>
            </a:r>
            <a:r>
              <a:rPr sz="1550" dirty="0">
                <a:latin typeface="Calibri"/>
                <a:cs typeface="Calibri"/>
              </a:rPr>
              <a:t>site</a:t>
            </a:r>
            <a:r>
              <a:rPr sz="1550" spc="50" dirty="0">
                <a:latin typeface="Calibri"/>
                <a:cs typeface="Calibri"/>
              </a:rPr>
              <a:t> </a:t>
            </a:r>
            <a:r>
              <a:rPr sz="1550" dirty="0">
                <a:latin typeface="Calibri"/>
                <a:cs typeface="Calibri"/>
              </a:rPr>
              <a:t>itself</a:t>
            </a:r>
            <a:r>
              <a:rPr sz="1550" spc="60" dirty="0">
                <a:latin typeface="Calibri"/>
                <a:cs typeface="Calibri"/>
              </a:rPr>
              <a:t> </a:t>
            </a:r>
            <a:r>
              <a:rPr sz="1550" dirty="0">
                <a:latin typeface="Calibri"/>
                <a:cs typeface="Calibri"/>
              </a:rPr>
              <a:t>may</a:t>
            </a:r>
            <a:r>
              <a:rPr sz="1550" spc="135" dirty="0">
                <a:latin typeface="Calibri"/>
                <a:cs typeface="Calibri"/>
              </a:rPr>
              <a:t> </a:t>
            </a:r>
            <a:r>
              <a:rPr sz="1550" dirty="0">
                <a:latin typeface="Calibri"/>
                <a:cs typeface="Calibri"/>
              </a:rPr>
              <a:t>influence</a:t>
            </a:r>
            <a:r>
              <a:rPr sz="1550" spc="60" dirty="0">
                <a:latin typeface="Calibri"/>
                <a:cs typeface="Calibri"/>
              </a:rPr>
              <a:t> </a:t>
            </a:r>
            <a:r>
              <a:rPr sz="1550" dirty="0">
                <a:latin typeface="Calibri"/>
                <a:cs typeface="Calibri"/>
              </a:rPr>
              <a:t>the</a:t>
            </a:r>
            <a:r>
              <a:rPr sz="1550" spc="55" dirty="0">
                <a:latin typeface="Calibri"/>
                <a:cs typeface="Calibri"/>
              </a:rPr>
              <a:t> </a:t>
            </a:r>
            <a:r>
              <a:rPr sz="1550" dirty="0">
                <a:latin typeface="Calibri"/>
                <a:cs typeface="Calibri"/>
              </a:rPr>
              <a:t>landing</a:t>
            </a:r>
            <a:r>
              <a:rPr sz="1550" spc="105" dirty="0">
                <a:latin typeface="Calibri"/>
                <a:cs typeface="Calibri"/>
              </a:rPr>
              <a:t> </a:t>
            </a:r>
            <a:r>
              <a:rPr sz="1550" spc="-10" dirty="0">
                <a:latin typeface="Calibri"/>
                <a:cs typeface="Calibri"/>
              </a:rPr>
              <a:t>success.</a:t>
            </a:r>
            <a:endParaRPr sz="1550">
              <a:latin typeface="Calibri"/>
              <a:cs typeface="Calibri"/>
            </a:endParaRPr>
          </a:p>
        </p:txBody>
      </p:sp>
      <p:sp>
        <p:nvSpPr>
          <p:cNvPr id="7" name="object 7"/>
          <p:cNvSpPr txBox="1"/>
          <p:nvPr/>
        </p:nvSpPr>
        <p:spPr>
          <a:xfrm>
            <a:off x="4736719" y="1295209"/>
            <a:ext cx="6689090" cy="893444"/>
          </a:xfrm>
          <a:prstGeom prst="rect">
            <a:avLst/>
          </a:prstGeom>
        </p:spPr>
        <p:txBody>
          <a:bodyPr vert="horz" wrap="square" lIns="0" tIns="6985" rIns="0" bIns="0" rtlCol="0">
            <a:spAutoFit/>
          </a:bodyPr>
          <a:lstStyle/>
          <a:p>
            <a:pPr marL="241300" marR="5080" indent="-228600">
              <a:lnSpc>
                <a:spcPct val="123100"/>
              </a:lnSpc>
              <a:spcBef>
                <a:spcPts val="55"/>
              </a:spcBef>
              <a:buFont typeface="Arial MT"/>
              <a:buChar char="•"/>
              <a:tabLst>
                <a:tab pos="241300" algn="l"/>
              </a:tabLst>
            </a:pPr>
            <a:r>
              <a:rPr sz="1550" b="1" dirty="0">
                <a:latin typeface="Calibri"/>
                <a:cs typeface="Calibri"/>
              </a:rPr>
              <a:t>Consistent</a:t>
            </a:r>
            <a:r>
              <a:rPr sz="1550" b="1" spc="80" dirty="0">
                <a:latin typeface="Calibri"/>
                <a:cs typeface="Calibri"/>
              </a:rPr>
              <a:t> </a:t>
            </a:r>
            <a:r>
              <a:rPr sz="1550" b="1" dirty="0">
                <a:latin typeface="Calibri"/>
                <a:cs typeface="Calibri"/>
              </a:rPr>
              <a:t>Activity</a:t>
            </a:r>
            <a:r>
              <a:rPr sz="1550" b="1" spc="110" dirty="0">
                <a:latin typeface="Calibri"/>
                <a:cs typeface="Calibri"/>
              </a:rPr>
              <a:t> </a:t>
            </a:r>
            <a:r>
              <a:rPr sz="1550" b="1" dirty="0">
                <a:latin typeface="Calibri"/>
                <a:cs typeface="Calibri"/>
              </a:rPr>
              <a:t>Across</a:t>
            </a:r>
            <a:r>
              <a:rPr sz="1550" b="1" spc="70" dirty="0">
                <a:latin typeface="Calibri"/>
                <a:cs typeface="Calibri"/>
              </a:rPr>
              <a:t> </a:t>
            </a:r>
            <a:r>
              <a:rPr sz="1550" b="1" dirty="0">
                <a:latin typeface="Calibri"/>
                <a:cs typeface="Calibri"/>
              </a:rPr>
              <a:t>Flight</a:t>
            </a:r>
            <a:r>
              <a:rPr sz="1550" b="1" spc="80" dirty="0">
                <a:latin typeface="Calibri"/>
                <a:cs typeface="Calibri"/>
              </a:rPr>
              <a:t> </a:t>
            </a:r>
            <a:r>
              <a:rPr sz="1550" b="1" dirty="0">
                <a:latin typeface="Calibri"/>
                <a:cs typeface="Calibri"/>
              </a:rPr>
              <a:t>Numbers</a:t>
            </a:r>
            <a:r>
              <a:rPr sz="1550" dirty="0">
                <a:latin typeface="Calibri"/>
                <a:cs typeface="Calibri"/>
              </a:rPr>
              <a:t>:</a:t>
            </a:r>
            <a:r>
              <a:rPr sz="1550" spc="135" dirty="0">
                <a:latin typeface="Calibri"/>
                <a:cs typeface="Calibri"/>
              </a:rPr>
              <a:t> </a:t>
            </a:r>
            <a:r>
              <a:rPr sz="1550" dirty="0">
                <a:latin typeface="Calibri"/>
                <a:cs typeface="Calibri"/>
              </a:rPr>
              <a:t>Launches</a:t>
            </a:r>
            <a:r>
              <a:rPr sz="1550" spc="85" dirty="0">
                <a:latin typeface="Calibri"/>
                <a:cs typeface="Calibri"/>
              </a:rPr>
              <a:t> </a:t>
            </a:r>
            <a:r>
              <a:rPr sz="1550" dirty="0">
                <a:latin typeface="Calibri"/>
                <a:cs typeface="Calibri"/>
              </a:rPr>
              <a:t>are</a:t>
            </a:r>
            <a:r>
              <a:rPr sz="1550" spc="155" dirty="0">
                <a:latin typeface="Calibri"/>
                <a:cs typeface="Calibri"/>
              </a:rPr>
              <a:t> </a:t>
            </a:r>
            <a:r>
              <a:rPr sz="1550" dirty="0">
                <a:latin typeface="Calibri"/>
                <a:cs typeface="Calibri"/>
              </a:rPr>
              <a:t>spread</a:t>
            </a:r>
            <a:r>
              <a:rPr sz="1550" spc="100" dirty="0">
                <a:latin typeface="Calibri"/>
                <a:cs typeface="Calibri"/>
              </a:rPr>
              <a:t> </a:t>
            </a:r>
            <a:r>
              <a:rPr sz="1550" dirty="0">
                <a:latin typeface="Calibri"/>
                <a:cs typeface="Calibri"/>
              </a:rPr>
              <a:t>across</a:t>
            </a:r>
            <a:r>
              <a:rPr sz="1550" spc="180" dirty="0">
                <a:latin typeface="Calibri"/>
                <a:cs typeface="Calibri"/>
              </a:rPr>
              <a:t> </a:t>
            </a:r>
            <a:r>
              <a:rPr sz="1550" dirty="0">
                <a:latin typeface="Calibri"/>
                <a:cs typeface="Calibri"/>
              </a:rPr>
              <a:t>a</a:t>
            </a:r>
            <a:r>
              <a:rPr sz="1550" spc="100" dirty="0">
                <a:latin typeface="Calibri"/>
                <a:cs typeface="Calibri"/>
              </a:rPr>
              <a:t> </a:t>
            </a:r>
            <a:r>
              <a:rPr sz="1550" spc="-20" dirty="0">
                <a:latin typeface="Calibri"/>
                <a:cs typeface="Calibri"/>
              </a:rPr>
              <a:t>wide </a:t>
            </a:r>
            <a:r>
              <a:rPr sz="1550" dirty="0">
                <a:latin typeface="Calibri"/>
                <a:cs typeface="Calibri"/>
              </a:rPr>
              <a:t>range</a:t>
            </a:r>
            <a:r>
              <a:rPr sz="1550" spc="145" dirty="0">
                <a:latin typeface="Calibri"/>
                <a:cs typeface="Calibri"/>
              </a:rPr>
              <a:t> </a:t>
            </a:r>
            <a:r>
              <a:rPr sz="1550" dirty="0">
                <a:latin typeface="Calibri"/>
                <a:cs typeface="Calibri"/>
              </a:rPr>
              <a:t>of</a:t>
            </a:r>
            <a:r>
              <a:rPr sz="1550" spc="50" dirty="0">
                <a:latin typeface="Calibri"/>
                <a:cs typeface="Calibri"/>
              </a:rPr>
              <a:t> </a:t>
            </a:r>
            <a:r>
              <a:rPr sz="1550" dirty="0">
                <a:latin typeface="Calibri"/>
                <a:cs typeface="Calibri"/>
              </a:rPr>
              <a:t>flight</a:t>
            </a:r>
            <a:r>
              <a:rPr sz="1550" spc="85" dirty="0">
                <a:latin typeface="Calibri"/>
                <a:cs typeface="Calibri"/>
              </a:rPr>
              <a:t> </a:t>
            </a:r>
            <a:r>
              <a:rPr sz="1550" dirty="0">
                <a:latin typeface="Calibri"/>
                <a:cs typeface="Calibri"/>
              </a:rPr>
              <a:t>numbers</a:t>
            </a:r>
            <a:r>
              <a:rPr sz="1550" spc="70" dirty="0">
                <a:latin typeface="Calibri"/>
                <a:cs typeface="Calibri"/>
              </a:rPr>
              <a:t> </a:t>
            </a:r>
            <a:r>
              <a:rPr sz="1550" dirty="0">
                <a:latin typeface="Calibri"/>
                <a:cs typeface="Calibri"/>
              </a:rPr>
              <a:t>at</a:t>
            </a:r>
            <a:r>
              <a:rPr sz="1550" spc="85" dirty="0">
                <a:latin typeface="Calibri"/>
                <a:cs typeface="Calibri"/>
              </a:rPr>
              <a:t> </a:t>
            </a:r>
            <a:r>
              <a:rPr sz="1550" dirty="0">
                <a:latin typeface="Calibri"/>
                <a:cs typeface="Calibri"/>
              </a:rPr>
              <a:t>all</a:t>
            </a:r>
            <a:r>
              <a:rPr sz="1550" spc="110" dirty="0">
                <a:latin typeface="Calibri"/>
                <a:cs typeface="Calibri"/>
              </a:rPr>
              <a:t> </a:t>
            </a:r>
            <a:r>
              <a:rPr sz="1550" dirty="0">
                <a:latin typeface="Calibri"/>
                <a:cs typeface="Calibri"/>
              </a:rPr>
              <a:t>sites,</a:t>
            </a:r>
            <a:r>
              <a:rPr sz="1550" spc="75" dirty="0">
                <a:latin typeface="Calibri"/>
                <a:cs typeface="Calibri"/>
              </a:rPr>
              <a:t> </a:t>
            </a:r>
            <a:r>
              <a:rPr sz="1550" dirty="0">
                <a:latin typeface="Calibri"/>
                <a:cs typeface="Calibri"/>
              </a:rPr>
              <a:t>suggesting</a:t>
            </a:r>
            <a:r>
              <a:rPr sz="1550" spc="105" dirty="0">
                <a:latin typeface="Calibri"/>
                <a:cs typeface="Calibri"/>
              </a:rPr>
              <a:t> </a:t>
            </a:r>
            <a:r>
              <a:rPr sz="1550" dirty="0">
                <a:latin typeface="Calibri"/>
                <a:cs typeface="Calibri"/>
              </a:rPr>
              <a:t>consistent</a:t>
            </a:r>
            <a:r>
              <a:rPr sz="1550" spc="85" dirty="0">
                <a:latin typeface="Calibri"/>
                <a:cs typeface="Calibri"/>
              </a:rPr>
              <a:t> </a:t>
            </a:r>
            <a:r>
              <a:rPr sz="1550" dirty="0">
                <a:latin typeface="Calibri"/>
                <a:cs typeface="Calibri"/>
              </a:rPr>
              <a:t>activity</a:t>
            </a:r>
            <a:r>
              <a:rPr sz="1550" spc="135" dirty="0">
                <a:latin typeface="Calibri"/>
                <a:cs typeface="Calibri"/>
              </a:rPr>
              <a:t> </a:t>
            </a:r>
            <a:r>
              <a:rPr sz="1550" dirty="0">
                <a:latin typeface="Calibri"/>
                <a:cs typeface="Calibri"/>
              </a:rPr>
              <a:t>over</a:t>
            </a:r>
            <a:r>
              <a:rPr sz="1550" spc="60" dirty="0">
                <a:latin typeface="Calibri"/>
                <a:cs typeface="Calibri"/>
              </a:rPr>
              <a:t> </a:t>
            </a:r>
            <a:r>
              <a:rPr sz="1550" spc="-20" dirty="0">
                <a:latin typeface="Calibri"/>
                <a:cs typeface="Calibri"/>
              </a:rPr>
              <a:t>time </a:t>
            </a:r>
            <a:r>
              <a:rPr sz="1550" dirty="0">
                <a:latin typeface="Calibri"/>
                <a:cs typeface="Calibri"/>
              </a:rPr>
              <a:t>without</a:t>
            </a:r>
            <a:r>
              <a:rPr sz="1550" spc="100" dirty="0">
                <a:latin typeface="Calibri"/>
                <a:cs typeface="Calibri"/>
              </a:rPr>
              <a:t> </a:t>
            </a:r>
            <a:r>
              <a:rPr sz="1550" dirty="0">
                <a:latin typeface="Calibri"/>
                <a:cs typeface="Calibri"/>
              </a:rPr>
              <a:t>a</a:t>
            </a:r>
            <a:r>
              <a:rPr sz="1550" spc="114" dirty="0">
                <a:latin typeface="Calibri"/>
                <a:cs typeface="Calibri"/>
              </a:rPr>
              <a:t> </a:t>
            </a:r>
            <a:r>
              <a:rPr sz="1550" dirty="0">
                <a:latin typeface="Calibri"/>
                <a:cs typeface="Calibri"/>
              </a:rPr>
              <a:t>clear</a:t>
            </a:r>
            <a:r>
              <a:rPr sz="1550" spc="80" dirty="0">
                <a:latin typeface="Calibri"/>
                <a:cs typeface="Calibri"/>
              </a:rPr>
              <a:t> </a:t>
            </a:r>
            <a:r>
              <a:rPr sz="1550" dirty="0">
                <a:latin typeface="Calibri"/>
                <a:cs typeface="Calibri"/>
              </a:rPr>
              <a:t>trend</a:t>
            </a:r>
            <a:r>
              <a:rPr sz="1550" spc="110" dirty="0">
                <a:latin typeface="Calibri"/>
                <a:cs typeface="Calibri"/>
              </a:rPr>
              <a:t> </a:t>
            </a:r>
            <a:r>
              <a:rPr sz="1550" dirty="0">
                <a:latin typeface="Calibri"/>
                <a:cs typeface="Calibri"/>
              </a:rPr>
              <a:t>of</a:t>
            </a:r>
            <a:r>
              <a:rPr sz="1550" spc="70" dirty="0">
                <a:latin typeface="Calibri"/>
                <a:cs typeface="Calibri"/>
              </a:rPr>
              <a:t> </a:t>
            </a:r>
            <a:r>
              <a:rPr sz="1550" dirty="0">
                <a:latin typeface="Calibri"/>
                <a:cs typeface="Calibri"/>
              </a:rPr>
              <a:t>increasing</a:t>
            </a:r>
            <a:r>
              <a:rPr sz="1550" spc="125" dirty="0">
                <a:latin typeface="Calibri"/>
                <a:cs typeface="Calibri"/>
              </a:rPr>
              <a:t> </a:t>
            </a:r>
            <a:r>
              <a:rPr sz="1550" dirty="0">
                <a:latin typeface="Calibri"/>
                <a:cs typeface="Calibri"/>
              </a:rPr>
              <a:t>or</a:t>
            </a:r>
            <a:r>
              <a:rPr sz="1550" spc="170" dirty="0">
                <a:latin typeface="Calibri"/>
                <a:cs typeface="Calibri"/>
              </a:rPr>
              <a:t> </a:t>
            </a:r>
            <a:r>
              <a:rPr sz="1550" dirty="0">
                <a:latin typeface="Calibri"/>
                <a:cs typeface="Calibri"/>
              </a:rPr>
              <a:t>decreasing</a:t>
            </a:r>
            <a:r>
              <a:rPr sz="1550" spc="120" dirty="0">
                <a:latin typeface="Calibri"/>
                <a:cs typeface="Calibri"/>
              </a:rPr>
              <a:t> </a:t>
            </a:r>
            <a:r>
              <a:rPr sz="1550" dirty="0">
                <a:latin typeface="Calibri"/>
                <a:cs typeface="Calibri"/>
              </a:rPr>
              <a:t>landing</a:t>
            </a:r>
            <a:r>
              <a:rPr sz="1550" spc="125" dirty="0">
                <a:latin typeface="Calibri"/>
                <a:cs typeface="Calibri"/>
              </a:rPr>
              <a:t> </a:t>
            </a:r>
            <a:r>
              <a:rPr sz="1550" spc="-10" dirty="0">
                <a:latin typeface="Calibri"/>
                <a:cs typeface="Calibri"/>
              </a:rPr>
              <a:t>success.</a:t>
            </a:r>
            <a:endParaRPr sz="1550">
              <a:latin typeface="Calibri"/>
              <a:cs typeface="Calibri"/>
            </a:endParaRPr>
          </a:p>
        </p:txBody>
      </p:sp>
      <p:pic>
        <p:nvPicPr>
          <p:cNvPr id="8" name="object 8"/>
          <p:cNvPicPr/>
          <p:nvPr/>
        </p:nvPicPr>
        <p:blipFill>
          <a:blip r:embed="rId2" cstate="print"/>
          <a:stretch>
            <a:fillRect/>
          </a:stretch>
        </p:blipFill>
        <p:spPr>
          <a:xfrm>
            <a:off x="628650" y="2409825"/>
            <a:ext cx="10915650" cy="3714750"/>
          </a:xfrm>
          <a:prstGeom prst="rect">
            <a:avLst/>
          </a:prstGeom>
        </p:spPr>
      </p:pic>
      <p:sp>
        <p:nvSpPr>
          <p:cNvPr id="9" name="object 9"/>
          <p:cNvSpPr txBox="1"/>
          <p:nvPr/>
        </p:nvSpPr>
        <p:spPr>
          <a:xfrm>
            <a:off x="11076051" y="6472554"/>
            <a:ext cx="241300" cy="177800"/>
          </a:xfrm>
          <a:prstGeom prst="rect">
            <a:avLst/>
          </a:prstGeom>
        </p:spPr>
        <p:txBody>
          <a:bodyPr vert="horz" wrap="square" lIns="0" tIns="0" rIns="0" bIns="0" rtlCol="0">
            <a:spAutoFit/>
          </a:bodyPr>
          <a:lstStyle/>
          <a:p>
            <a:pPr marL="38100">
              <a:lnSpc>
                <a:spcPts val="1240"/>
              </a:lnSpc>
            </a:pPr>
            <a:fld id="{81D60167-4931-47E6-BA6A-407CBD079E47}" type="slidenum">
              <a:rPr sz="1200" spc="-25" dirty="0">
                <a:solidFill>
                  <a:srgbClr val="888888"/>
                </a:solidFill>
                <a:latin typeface="Calibri"/>
                <a:cs typeface="Calibri"/>
              </a:rPr>
              <a:t>24</a:t>
            </a:fld>
            <a:endParaRPr sz="120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0247" y="588263"/>
            <a:ext cx="2350770" cy="1176020"/>
          </a:xfrm>
          <a:prstGeom prst="rect">
            <a:avLst/>
          </a:prstGeom>
        </p:spPr>
        <p:txBody>
          <a:bodyPr vert="horz" wrap="square" lIns="0" tIns="83185" rIns="0" bIns="0" rtlCol="0">
            <a:spAutoFit/>
          </a:bodyPr>
          <a:lstStyle/>
          <a:p>
            <a:pPr marL="12700" marR="5080">
              <a:lnSpc>
                <a:spcPts val="4280"/>
              </a:lnSpc>
              <a:spcBef>
                <a:spcPts val="655"/>
              </a:spcBef>
            </a:pPr>
            <a:r>
              <a:rPr sz="3950" dirty="0">
                <a:latin typeface="Calibri Light"/>
                <a:cs typeface="Calibri Light"/>
              </a:rPr>
              <a:t>Payload</a:t>
            </a:r>
            <a:r>
              <a:rPr sz="3950" spc="-80" dirty="0">
                <a:latin typeface="Calibri Light"/>
                <a:cs typeface="Calibri Light"/>
              </a:rPr>
              <a:t> </a:t>
            </a:r>
            <a:r>
              <a:rPr sz="3950" spc="-25" dirty="0">
                <a:latin typeface="Calibri Light"/>
                <a:cs typeface="Calibri Light"/>
              </a:rPr>
              <a:t>vs. </a:t>
            </a:r>
            <a:r>
              <a:rPr sz="3950" dirty="0">
                <a:latin typeface="Calibri Light"/>
                <a:cs typeface="Calibri Light"/>
              </a:rPr>
              <a:t>Launch</a:t>
            </a:r>
            <a:r>
              <a:rPr sz="3950" spc="45" dirty="0">
                <a:latin typeface="Calibri Light"/>
                <a:cs typeface="Calibri Light"/>
              </a:rPr>
              <a:t> </a:t>
            </a:r>
            <a:r>
              <a:rPr sz="3950" spc="-20" dirty="0">
                <a:latin typeface="Calibri Light"/>
                <a:cs typeface="Calibri Light"/>
              </a:rPr>
              <a:t>Site</a:t>
            </a:r>
            <a:endParaRPr sz="3950">
              <a:latin typeface="Calibri Light"/>
              <a:cs typeface="Calibri Light"/>
            </a:endParaRPr>
          </a:p>
        </p:txBody>
      </p:sp>
      <p:grpSp>
        <p:nvGrpSpPr>
          <p:cNvPr id="3" name="object 3"/>
          <p:cNvGrpSpPr/>
          <p:nvPr/>
        </p:nvGrpSpPr>
        <p:grpSpPr>
          <a:xfrm>
            <a:off x="4305038" y="435927"/>
            <a:ext cx="78740" cy="1595120"/>
            <a:chOff x="4305038" y="435927"/>
            <a:chExt cx="78740" cy="1595120"/>
          </a:xfrm>
        </p:grpSpPr>
        <p:sp>
          <p:nvSpPr>
            <p:cNvPr id="4" name="object 4"/>
            <p:cNvSpPr/>
            <p:nvPr/>
          </p:nvSpPr>
          <p:spPr>
            <a:xfrm>
              <a:off x="4326741" y="456565"/>
              <a:ext cx="43815" cy="1554480"/>
            </a:xfrm>
            <a:custGeom>
              <a:avLst/>
              <a:gdLst/>
              <a:ahLst/>
              <a:cxnLst/>
              <a:rect l="l" t="t" r="r" b="b"/>
              <a:pathLst>
                <a:path w="43814" h="1554480">
                  <a:moveTo>
                    <a:pt x="16277" y="0"/>
                  </a:moveTo>
                  <a:lnTo>
                    <a:pt x="7133" y="635"/>
                  </a:lnTo>
                  <a:lnTo>
                    <a:pt x="12424" y="79658"/>
                  </a:lnTo>
                  <a:lnTo>
                    <a:pt x="14550" y="120149"/>
                  </a:lnTo>
                  <a:lnTo>
                    <a:pt x="16149" y="162668"/>
                  </a:lnTo>
                  <a:lnTo>
                    <a:pt x="17086" y="208248"/>
                  </a:lnTo>
                  <a:lnTo>
                    <a:pt x="17228" y="257919"/>
                  </a:lnTo>
                  <a:lnTo>
                    <a:pt x="16438" y="312714"/>
                  </a:lnTo>
                  <a:lnTo>
                    <a:pt x="14582" y="373665"/>
                  </a:lnTo>
                  <a:lnTo>
                    <a:pt x="11525" y="441803"/>
                  </a:lnTo>
                  <a:lnTo>
                    <a:pt x="3331" y="586187"/>
                  </a:lnTo>
                  <a:lnTo>
                    <a:pt x="1043" y="644658"/>
                  </a:lnTo>
                  <a:lnTo>
                    <a:pt x="16" y="695548"/>
                  </a:lnTo>
                  <a:lnTo>
                    <a:pt x="0" y="740830"/>
                  </a:lnTo>
                  <a:lnTo>
                    <a:pt x="744" y="782480"/>
                  </a:lnTo>
                  <a:lnTo>
                    <a:pt x="1998" y="822472"/>
                  </a:lnTo>
                  <a:lnTo>
                    <a:pt x="5031" y="905381"/>
                  </a:lnTo>
                  <a:lnTo>
                    <a:pt x="6308" y="952246"/>
                  </a:lnTo>
                  <a:lnTo>
                    <a:pt x="7093" y="1005352"/>
                  </a:lnTo>
                  <a:lnTo>
                    <a:pt x="6934" y="1133318"/>
                  </a:lnTo>
                  <a:lnTo>
                    <a:pt x="7157" y="1189425"/>
                  </a:lnTo>
                  <a:lnTo>
                    <a:pt x="7661" y="1237445"/>
                  </a:lnTo>
                  <a:lnTo>
                    <a:pt x="9437" y="1357516"/>
                  </a:lnTo>
                  <a:lnTo>
                    <a:pt x="9645" y="1397719"/>
                  </a:lnTo>
                  <a:lnTo>
                    <a:pt x="9425" y="1442101"/>
                  </a:lnTo>
                  <a:lnTo>
                    <a:pt x="8635" y="1493113"/>
                  </a:lnTo>
                  <a:lnTo>
                    <a:pt x="7133" y="1553210"/>
                  </a:lnTo>
                  <a:lnTo>
                    <a:pt x="12340" y="1554099"/>
                  </a:lnTo>
                  <a:lnTo>
                    <a:pt x="26183" y="1553210"/>
                  </a:lnTo>
                  <a:lnTo>
                    <a:pt x="24216" y="1479001"/>
                  </a:lnTo>
                  <a:lnTo>
                    <a:pt x="16333" y="1241217"/>
                  </a:lnTo>
                  <a:lnTo>
                    <a:pt x="15345" y="1192528"/>
                  </a:lnTo>
                  <a:lnTo>
                    <a:pt x="15146" y="1146540"/>
                  </a:lnTo>
                  <a:lnTo>
                    <a:pt x="15933" y="1102453"/>
                  </a:lnTo>
                  <a:lnTo>
                    <a:pt x="17903" y="1059464"/>
                  </a:lnTo>
                  <a:lnTo>
                    <a:pt x="21254" y="1016774"/>
                  </a:lnTo>
                  <a:lnTo>
                    <a:pt x="32572" y="919669"/>
                  </a:lnTo>
                  <a:lnTo>
                    <a:pt x="37546" y="865085"/>
                  </a:lnTo>
                  <a:lnTo>
                    <a:pt x="41028" y="810288"/>
                  </a:lnTo>
                  <a:lnTo>
                    <a:pt x="42939" y="755735"/>
                  </a:lnTo>
                  <a:lnTo>
                    <a:pt x="43200" y="701885"/>
                  </a:lnTo>
                  <a:lnTo>
                    <a:pt x="41733" y="649195"/>
                  </a:lnTo>
                  <a:lnTo>
                    <a:pt x="38461" y="598124"/>
                  </a:lnTo>
                  <a:lnTo>
                    <a:pt x="33303" y="549128"/>
                  </a:lnTo>
                  <a:lnTo>
                    <a:pt x="20258" y="462514"/>
                  </a:lnTo>
                  <a:lnTo>
                    <a:pt x="16819" y="422535"/>
                  </a:lnTo>
                  <a:lnTo>
                    <a:pt x="15430" y="381825"/>
                  </a:lnTo>
                  <a:lnTo>
                    <a:pt x="15649" y="339484"/>
                  </a:lnTo>
                  <a:lnTo>
                    <a:pt x="17039" y="294608"/>
                  </a:lnTo>
                  <a:lnTo>
                    <a:pt x="21574" y="193644"/>
                  </a:lnTo>
                  <a:lnTo>
                    <a:pt x="23842" y="135751"/>
                  </a:lnTo>
                  <a:lnTo>
                    <a:pt x="25525" y="71716"/>
                  </a:lnTo>
                  <a:lnTo>
                    <a:pt x="26183" y="635"/>
                  </a:lnTo>
                  <a:lnTo>
                    <a:pt x="16277" y="0"/>
                  </a:lnTo>
                  <a:close/>
                </a:path>
              </a:pathLst>
            </a:custGeom>
            <a:solidFill>
              <a:srgbClr val="EC7C30"/>
            </a:solidFill>
          </p:spPr>
          <p:txBody>
            <a:bodyPr wrap="square" lIns="0" tIns="0" rIns="0" bIns="0" rtlCol="0"/>
            <a:lstStyle/>
            <a:p>
              <a:endParaRPr/>
            </a:p>
          </p:txBody>
        </p:sp>
        <p:sp>
          <p:nvSpPr>
            <p:cNvPr id="5" name="object 5"/>
            <p:cNvSpPr/>
            <p:nvPr/>
          </p:nvSpPr>
          <p:spPr>
            <a:xfrm>
              <a:off x="4325675" y="456565"/>
              <a:ext cx="37465" cy="1553845"/>
            </a:xfrm>
            <a:custGeom>
              <a:avLst/>
              <a:gdLst/>
              <a:ahLst/>
              <a:cxnLst/>
              <a:rect l="l" t="t" r="r" b="b"/>
              <a:pathLst>
                <a:path w="37464" h="1553845">
                  <a:moveTo>
                    <a:pt x="27249" y="635"/>
                  </a:moveTo>
                  <a:lnTo>
                    <a:pt x="31955" y="34521"/>
                  </a:lnTo>
                  <a:lnTo>
                    <a:pt x="34952" y="73542"/>
                  </a:lnTo>
                  <a:lnTo>
                    <a:pt x="36496" y="117051"/>
                  </a:lnTo>
                  <a:lnTo>
                    <a:pt x="36843" y="164403"/>
                  </a:lnTo>
                  <a:lnTo>
                    <a:pt x="36249" y="214950"/>
                  </a:lnTo>
                  <a:lnTo>
                    <a:pt x="34969" y="268047"/>
                  </a:lnTo>
                  <a:lnTo>
                    <a:pt x="33260" y="323046"/>
                  </a:lnTo>
                  <a:lnTo>
                    <a:pt x="31378" y="379303"/>
                  </a:lnTo>
                  <a:lnTo>
                    <a:pt x="29578" y="436169"/>
                  </a:lnTo>
                  <a:lnTo>
                    <a:pt x="28116" y="492999"/>
                  </a:lnTo>
                  <a:lnTo>
                    <a:pt x="27249" y="549148"/>
                  </a:lnTo>
                  <a:lnTo>
                    <a:pt x="26983" y="602567"/>
                  </a:lnTo>
                  <a:lnTo>
                    <a:pt x="27084" y="652197"/>
                  </a:lnTo>
                  <a:lnTo>
                    <a:pt x="27448" y="698971"/>
                  </a:lnTo>
                  <a:lnTo>
                    <a:pt x="27970" y="743820"/>
                  </a:lnTo>
                  <a:lnTo>
                    <a:pt x="28546" y="787679"/>
                  </a:lnTo>
                  <a:lnTo>
                    <a:pt x="29069" y="831481"/>
                  </a:lnTo>
                  <a:lnTo>
                    <a:pt x="29437" y="876159"/>
                  </a:lnTo>
                  <a:lnTo>
                    <a:pt x="29543" y="922646"/>
                  </a:lnTo>
                  <a:lnTo>
                    <a:pt x="29284" y="971875"/>
                  </a:lnTo>
                  <a:lnTo>
                    <a:pt x="28554" y="1024780"/>
                  </a:lnTo>
                  <a:lnTo>
                    <a:pt x="27249" y="1082294"/>
                  </a:lnTo>
                  <a:lnTo>
                    <a:pt x="25522" y="1150196"/>
                  </a:lnTo>
                  <a:lnTo>
                    <a:pt x="24300" y="1208607"/>
                  </a:lnTo>
                  <a:lnTo>
                    <a:pt x="23552" y="1259924"/>
                  </a:lnTo>
                  <a:lnTo>
                    <a:pt x="23245" y="1306547"/>
                  </a:lnTo>
                  <a:lnTo>
                    <a:pt x="23350" y="1350875"/>
                  </a:lnTo>
                  <a:lnTo>
                    <a:pt x="23834" y="1395306"/>
                  </a:lnTo>
                  <a:lnTo>
                    <a:pt x="24666" y="1442240"/>
                  </a:lnTo>
                  <a:lnTo>
                    <a:pt x="25815" y="1494075"/>
                  </a:lnTo>
                  <a:lnTo>
                    <a:pt x="27249" y="1553210"/>
                  </a:lnTo>
                  <a:lnTo>
                    <a:pt x="19756" y="1553718"/>
                  </a:lnTo>
                  <a:lnTo>
                    <a:pt x="13025" y="1552702"/>
                  </a:lnTo>
                  <a:lnTo>
                    <a:pt x="8199" y="1553210"/>
                  </a:lnTo>
                  <a:lnTo>
                    <a:pt x="10736" y="1491231"/>
                  </a:lnTo>
                  <a:lnTo>
                    <a:pt x="11125" y="1434066"/>
                  </a:lnTo>
                  <a:lnTo>
                    <a:pt x="9959" y="1381021"/>
                  </a:lnTo>
                  <a:lnTo>
                    <a:pt x="7833" y="1331400"/>
                  </a:lnTo>
                  <a:lnTo>
                    <a:pt x="5341" y="1284509"/>
                  </a:lnTo>
                  <a:lnTo>
                    <a:pt x="3078" y="1239653"/>
                  </a:lnTo>
                  <a:lnTo>
                    <a:pt x="1638" y="1196136"/>
                  </a:lnTo>
                  <a:lnTo>
                    <a:pt x="1615" y="1153263"/>
                  </a:lnTo>
                  <a:lnTo>
                    <a:pt x="3604" y="1110340"/>
                  </a:lnTo>
                  <a:lnTo>
                    <a:pt x="8199" y="1066673"/>
                  </a:lnTo>
                  <a:lnTo>
                    <a:pt x="13565" y="1023128"/>
                  </a:lnTo>
                  <a:lnTo>
                    <a:pt x="17526" y="980322"/>
                  </a:lnTo>
                  <a:lnTo>
                    <a:pt x="20160" y="937293"/>
                  </a:lnTo>
                  <a:lnTo>
                    <a:pt x="21549" y="893081"/>
                  </a:lnTo>
                  <a:lnTo>
                    <a:pt x="21772" y="846724"/>
                  </a:lnTo>
                  <a:lnTo>
                    <a:pt x="20909" y="797263"/>
                  </a:lnTo>
                  <a:lnTo>
                    <a:pt x="19040" y="743735"/>
                  </a:lnTo>
                  <a:lnTo>
                    <a:pt x="16246" y="685181"/>
                  </a:lnTo>
                  <a:lnTo>
                    <a:pt x="12605" y="620638"/>
                  </a:lnTo>
                  <a:lnTo>
                    <a:pt x="8199" y="549148"/>
                  </a:lnTo>
                  <a:lnTo>
                    <a:pt x="4515" y="483413"/>
                  </a:lnTo>
                  <a:lnTo>
                    <a:pt x="2021" y="422628"/>
                  </a:lnTo>
                  <a:lnTo>
                    <a:pt x="566" y="366201"/>
                  </a:lnTo>
                  <a:lnTo>
                    <a:pt x="0" y="313540"/>
                  </a:lnTo>
                  <a:lnTo>
                    <a:pt x="170" y="264053"/>
                  </a:lnTo>
                  <a:lnTo>
                    <a:pt x="925" y="217149"/>
                  </a:lnTo>
                  <a:lnTo>
                    <a:pt x="2115" y="172234"/>
                  </a:lnTo>
                  <a:lnTo>
                    <a:pt x="3589" y="128717"/>
                  </a:lnTo>
                  <a:lnTo>
                    <a:pt x="5195" y="86006"/>
                  </a:lnTo>
                  <a:lnTo>
                    <a:pt x="6782" y="43509"/>
                  </a:lnTo>
                  <a:lnTo>
                    <a:pt x="8199" y="635"/>
                  </a:lnTo>
                  <a:lnTo>
                    <a:pt x="13406" y="0"/>
                  </a:lnTo>
                  <a:lnTo>
                    <a:pt x="22423" y="1397"/>
                  </a:lnTo>
                  <a:lnTo>
                    <a:pt x="27249" y="635"/>
                  </a:lnTo>
                  <a:close/>
                </a:path>
              </a:pathLst>
            </a:custGeom>
            <a:ln w="41275">
              <a:solidFill>
                <a:srgbClr val="EC7C30"/>
              </a:solidFill>
            </a:ln>
          </p:spPr>
          <p:txBody>
            <a:bodyPr wrap="square" lIns="0" tIns="0" rIns="0" bIns="0" rtlCol="0"/>
            <a:lstStyle/>
            <a:p>
              <a:endParaRPr/>
            </a:p>
          </p:txBody>
        </p:sp>
      </p:grpSp>
      <p:sp>
        <p:nvSpPr>
          <p:cNvPr id="6" name="object 6"/>
          <p:cNvSpPr txBox="1"/>
          <p:nvPr/>
        </p:nvSpPr>
        <p:spPr>
          <a:xfrm>
            <a:off x="4736719" y="518731"/>
            <a:ext cx="6626859" cy="1496695"/>
          </a:xfrm>
          <a:prstGeom prst="rect">
            <a:avLst/>
          </a:prstGeom>
        </p:spPr>
        <p:txBody>
          <a:bodyPr vert="horz" wrap="square" lIns="0" tIns="36830" rIns="0" bIns="0" rtlCol="0">
            <a:spAutoFit/>
          </a:bodyPr>
          <a:lstStyle/>
          <a:p>
            <a:pPr marL="241300" marR="5080" indent="-228600">
              <a:lnSpc>
                <a:spcPts val="1730"/>
              </a:lnSpc>
              <a:spcBef>
                <a:spcPts val="290"/>
              </a:spcBef>
              <a:buFont typeface="Arial MT"/>
              <a:buChar char="•"/>
              <a:tabLst>
                <a:tab pos="241300" algn="l"/>
              </a:tabLst>
            </a:pPr>
            <a:r>
              <a:rPr sz="1550" b="1" dirty="0">
                <a:latin typeface="Calibri"/>
                <a:cs typeface="Calibri"/>
              </a:rPr>
              <a:t>Payload</a:t>
            </a:r>
            <a:r>
              <a:rPr sz="1550" b="1" spc="125" dirty="0">
                <a:latin typeface="Calibri"/>
                <a:cs typeface="Calibri"/>
              </a:rPr>
              <a:t> </a:t>
            </a:r>
            <a:r>
              <a:rPr sz="1550" b="1" dirty="0">
                <a:latin typeface="Calibri"/>
                <a:cs typeface="Calibri"/>
              </a:rPr>
              <a:t>Distribution:</a:t>
            </a:r>
            <a:r>
              <a:rPr sz="1550" b="1" spc="75" dirty="0">
                <a:latin typeface="Calibri"/>
                <a:cs typeface="Calibri"/>
              </a:rPr>
              <a:t> </a:t>
            </a:r>
            <a:r>
              <a:rPr sz="1550" dirty="0">
                <a:latin typeface="Calibri"/>
                <a:cs typeface="Calibri"/>
              </a:rPr>
              <a:t>Most</a:t>
            </a:r>
            <a:r>
              <a:rPr sz="1550" spc="65" dirty="0">
                <a:latin typeface="Calibri"/>
                <a:cs typeface="Calibri"/>
              </a:rPr>
              <a:t> </a:t>
            </a:r>
            <a:r>
              <a:rPr sz="1550" dirty="0">
                <a:latin typeface="Calibri"/>
                <a:cs typeface="Calibri"/>
              </a:rPr>
              <a:t>launches</a:t>
            </a:r>
            <a:r>
              <a:rPr sz="1550" spc="50" dirty="0">
                <a:latin typeface="Calibri"/>
                <a:cs typeface="Calibri"/>
              </a:rPr>
              <a:t> </a:t>
            </a:r>
            <a:r>
              <a:rPr sz="1550" dirty="0">
                <a:latin typeface="Calibri"/>
                <a:cs typeface="Calibri"/>
              </a:rPr>
              <a:t>from</a:t>
            </a:r>
            <a:r>
              <a:rPr sz="1550" spc="80" dirty="0">
                <a:latin typeface="Calibri"/>
                <a:cs typeface="Calibri"/>
              </a:rPr>
              <a:t> </a:t>
            </a:r>
            <a:r>
              <a:rPr sz="1550" dirty="0">
                <a:latin typeface="Calibri"/>
                <a:cs typeface="Calibri"/>
              </a:rPr>
              <a:t>the</a:t>
            </a:r>
            <a:r>
              <a:rPr sz="1550" spc="114" dirty="0">
                <a:latin typeface="Calibri"/>
                <a:cs typeface="Calibri"/>
              </a:rPr>
              <a:t> </a:t>
            </a:r>
            <a:r>
              <a:rPr sz="1550" dirty="0">
                <a:latin typeface="Calibri"/>
                <a:cs typeface="Calibri"/>
              </a:rPr>
              <a:t>CCAFS</a:t>
            </a:r>
            <a:r>
              <a:rPr sz="1550" spc="95" dirty="0">
                <a:latin typeface="Calibri"/>
                <a:cs typeface="Calibri"/>
              </a:rPr>
              <a:t> </a:t>
            </a:r>
            <a:r>
              <a:rPr sz="1550" dirty="0">
                <a:latin typeface="Calibri"/>
                <a:cs typeface="Calibri"/>
              </a:rPr>
              <a:t>SLC</a:t>
            </a:r>
            <a:r>
              <a:rPr sz="1550" spc="135" dirty="0">
                <a:latin typeface="Calibri"/>
                <a:cs typeface="Calibri"/>
              </a:rPr>
              <a:t> </a:t>
            </a:r>
            <a:r>
              <a:rPr sz="1550" dirty="0">
                <a:latin typeface="Calibri"/>
                <a:cs typeface="Calibri"/>
              </a:rPr>
              <a:t>40</a:t>
            </a:r>
            <a:r>
              <a:rPr sz="1550" spc="100" dirty="0">
                <a:latin typeface="Calibri"/>
                <a:cs typeface="Calibri"/>
              </a:rPr>
              <a:t> </a:t>
            </a:r>
            <a:r>
              <a:rPr sz="1550" dirty="0">
                <a:latin typeface="Calibri"/>
                <a:cs typeface="Calibri"/>
              </a:rPr>
              <a:t>site</a:t>
            </a:r>
            <a:r>
              <a:rPr sz="1550" spc="110" dirty="0">
                <a:latin typeface="Calibri"/>
                <a:cs typeface="Calibri"/>
              </a:rPr>
              <a:t> </a:t>
            </a:r>
            <a:r>
              <a:rPr sz="1550" spc="-10" dirty="0">
                <a:latin typeface="Calibri"/>
                <a:cs typeface="Calibri"/>
              </a:rPr>
              <a:t>handle </a:t>
            </a:r>
            <a:r>
              <a:rPr sz="1550" dirty="0">
                <a:latin typeface="Calibri"/>
                <a:cs typeface="Calibri"/>
              </a:rPr>
              <a:t>payloads</a:t>
            </a:r>
            <a:r>
              <a:rPr sz="1550" spc="70" dirty="0">
                <a:latin typeface="Calibri"/>
                <a:cs typeface="Calibri"/>
              </a:rPr>
              <a:t> </a:t>
            </a:r>
            <a:r>
              <a:rPr sz="1550" dirty="0">
                <a:latin typeface="Calibri"/>
                <a:cs typeface="Calibri"/>
              </a:rPr>
              <a:t>below</a:t>
            </a:r>
            <a:r>
              <a:rPr sz="1550" spc="90" dirty="0">
                <a:latin typeface="Calibri"/>
                <a:cs typeface="Calibri"/>
              </a:rPr>
              <a:t> </a:t>
            </a:r>
            <a:r>
              <a:rPr sz="1550" dirty="0">
                <a:latin typeface="Calibri"/>
                <a:cs typeface="Calibri"/>
              </a:rPr>
              <a:t>10,000</a:t>
            </a:r>
            <a:r>
              <a:rPr sz="1550" spc="130" dirty="0">
                <a:latin typeface="Calibri"/>
                <a:cs typeface="Calibri"/>
              </a:rPr>
              <a:t> </a:t>
            </a:r>
            <a:r>
              <a:rPr sz="1550" dirty="0">
                <a:latin typeface="Calibri"/>
                <a:cs typeface="Calibri"/>
              </a:rPr>
              <a:t>kg,</a:t>
            </a:r>
            <a:r>
              <a:rPr sz="1550" spc="80" dirty="0">
                <a:latin typeface="Calibri"/>
                <a:cs typeface="Calibri"/>
              </a:rPr>
              <a:t> </a:t>
            </a:r>
            <a:r>
              <a:rPr sz="1550" dirty="0">
                <a:latin typeface="Calibri"/>
                <a:cs typeface="Calibri"/>
              </a:rPr>
              <a:t>while</a:t>
            </a:r>
            <a:r>
              <a:rPr sz="1550" spc="60" dirty="0">
                <a:latin typeface="Calibri"/>
                <a:cs typeface="Calibri"/>
              </a:rPr>
              <a:t> </a:t>
            </a:r>
            <a:r>
              <a:rPr sz="1550" dirty="0">
                <a:latin typeface="Calibri"/>
                <a:cs typeface="Calibri"/>
              </a:rPr>
              <a:t>the</a:t>
            </a:r>
            <a:r>
              <a:rPr sz="1550" spc="60" dirty="0">
                <a:latin typeface="Calibri"/>
                <a:cs typeface="Calibri"/>
              </a:rPr>
              <a:t> </a:t>
            </a:r>
            <a:r>
              <a:rPr sz="1550" dirty="0">
                <a:latin typeface="Calibri"/>
                <a:cs typeface="Calibri"/>
              </a:rPr>
              <a:t>VAFB</a:t>
            </a:r>
            <a:r>
              <a:rPr sz="1550" spc="60" dirty="0">
                <a:latin typeface="Calibri"/>
                <a:cs typeface="Calibri"/>
              </a:rPr>
              <a:t> </a:t>
            </a:r>
            <a:r>
              <a:rPr sz="1550" dirty="0">
                <a:latin typeface="Calibri"/>
                <a:cs typeface="Calibri"/>
              </a:rPr>
              <a:t>SLC</a:t>
            </a:r>
            <a:r>
              <a:rPr sz="1550" spc="85" dirty="0">
                <a:latin typeface="Calibri"/>
                <a:cs typeface="Calibri"/>
              </a:rPr>
              <a:t> </a:t>
            </a:r>
            <a:r>
              <a:rPr sz="1550" dirty="0">
                <a:latin typeface="Calibri"/>
                <a:cs typeface="Calibri"/>
              </a:rPr>
              <a:t>4E</a:t>
            </a:r>
            <a:r>
              <a:rPr sz="1550" spc="75" dirty="0">
                <a:latin typeface="Calibri"/>
                <a:cs typeface="Calibri"/>
              </a:rPr>
              <a:t> </a:t>
            </a:r>
            <a:r>
              <a:rPr sz="1550" dirty="0">
                <a:latin typeface="Calibri"/>
                <a:cs typeface="Calibri"/>
              </a:rPr>
              <a:t>and</a:t>
            </a:r>
            <a:r>
              <a:rPr sz="1550" spc="90" dirty="0">
                <a:latin typeface="Calibri"/>
                <a:cs typeface="Calibri"/>
              </a:rPr>
              <a:t> </a:t>
            </a:r>
            <a:r>
              <a:rPr sz="1550" dirty="0">
                <a:latin typeface="Calibri"/>
                <a:cs typeface="Calibri"/>
              </a:rPr>
              <a:t>KSC</a:t>
            </a:r>
            <a:r>
              <a:rPr sz="1550" spc="80" dirty="0">
                <a:latin typeface="Calibri"/>
                <a:cs typeface="Calibri"/>
              </a:rPr>
              <a:t> </a:t>
            </a:r>
            <a:r>
              <a:rPr sz="1550" dirty="0">
                <a:latin typeface="Calibri"/>
                <a:cs typeface="Calibri"/>
              </a:rPr>
              <a:t>LC</a:t>
            </a:r>
            <a:r>
              <a:rPr sz="1550" spc="85" dirty="0">
                <a:latin typeface="Calibri"/>
                <a:cs typeface="Calibri"/>
              </a:rPr>
              <a:t> </a:t>
            </a:r>
            <a:r>
              <a:rPr sz="1550" dirty="0">
                <a:latin typeface="Calibri"/>
                <a:cs typeface="Calibri"/>
              </a:rPr>
              <a:t>39A</a:t>
            </a:r>
            <a:r>
              <a:rPr sz="1550" spc="80" dirty="0">
                <a:latin typeface="Calibri"/>
                <a:cs typeface="Calibri"/>
              </a:rPr>
              <a:t> </a:t>
            </a:r>
            <a:r>
              <a:rPr sz="1550" dirty="0">
                <a:latin typeface="Calibri"/>
                <a:cs typeface="Calibri"/>
              </a:rPr>
              <a:t>sites</a:t>
            </a:r>
            <a:r>
              <a:rPr sz="1550" spc="80" dirty="0">
                <a:latin typeface="Calibri"/>
                <a:cs typeface="Calibri"/>
              </a:rPr>
              <a:t> </a:t>
            </a:r>
            <a:r>
              <a:rPr sz="1550" dirty="0">
                <a:latin typeface="Calibri"/>
                <a:cs typeface="Calibri"/>
              </a:rPr>
              <a:t>have</a:t>
            </a:r>
            <a:r>
              <a:rPr sz="1550" spc="60" dirty="0">
                <a:latin typeface="Calibri"/>
                <a:cs typeface="Calibri"/>
              </a:rPr>
              <a:t> </a:t>
            </a:r>
            <a:r>
              <a:rPr sz="1550" spc="-50" dirty="0">
                <a:latin typeface="Calibri"/>
                <a:cs typeface="Calibri"/>
              </a:rPr>
              <a:t>a </a:t>
            </a:r>
            <a:r>
              <a:rPr sz="1550" dirty="0">
                <a:latin typeface="Calibri"/>
                <a:cs typeface="Calibri"/>
              </a:rPr>
              <a:t>wider</a:t>
            </a:r>
            <a:r>
              <a:rPr sz="1550" spc="90" dirty="0">
                <a:latin typeface="Calibri"/>
                <a:cs typeface="Calibri"/>
              </a:rPr>
              <a:t> </a:t>
            </a:r>
            <a:r>
              <a:rPr sz="1550" dirty="0">
                <a:latin typeface="Calibri"/>
                <a:cs typeface="Calibri"/>
              </a:rPr>
              <a:t>range</a:t>
            </a:r>
            <a:r>
              <a:rPr sz="1550" spc="85" dirty="0">
                <a:latin typeface="Calibri"/>
                <a:cs typeface="Calibri"/>
              </a:rPr>
              <a:t> </a:t>
            </a:r>
            <a:r>
              <a:rPr sz="1550" dirty="0">
                <a:latin typeface="Calibri"/>
                <a:cs typeface="Calibri"/>
              </a:rPr>
              <a:t>of</a:t>
            </a:r>
            <a:r>
              <a:rPr sz="1550" spc="175" dirty="0">
                <a:latin typeface="Calibri"/>
                <a:cs typeface="Calibri"/>
              </a:rPr>
              <a:t> </a:t>
            </a:r>
            <a:r>
              <a:rPr sz="1550" dirty="0">
                <a:latin typeface="Calibri"/>
                <a:cs typeface="Calibri"/>
              </a:rPr>
              <a:t>payload</a:t>
            </a:r>
            <a:r>
              <a:rPr sz="1550" spc="125" dirty="0">
                <a:latin typeface="Calibri"/>
                <a:cs typeface="Calibri"/>
              </a:rPr>
              <a:t> </a:t>
            </a:r>
            <a:r>
              <a:rPr sz="1550" dirty="0">
                <a:latin typeface="Calibri"/>
                <a:cs typeface="Calibri"/>
              </a:rPr>
              <a:t>masses,</a:t>
            </a:r>
            <a:r>
              <a:rPr sz="1550" spc="190" dirty="0">
                <a:latin typeface="Calibri"/>
                <a:cs typeface="Calibri"/>
              </a:rPr>
              <a:t> </a:t>
            </a:r>
            <a:r>
              <a:rPr sz="1550" dirty="0">
                <a:latin typeface="Calibri"/>
                <a:cs typeface="Calibri"/>
              </a:rPr>
              <a:t>indicating</a:t>
            </a:r>
            <a:r>
              <a:rPr sz="1550" spc="40" dirty="0">
                <a:latin typeface="Calibri"/>
                <a:cs typeface="Calibri"/>
              </a:rPr>
              <a:t> </a:t>
            </a:r>
            <a:r>
              <a:rPr sz="1550" dirty="0">
                <a:latin typeface="Calibri"/>
                <a:cs typeface="Calibri"/>
              </a:rPr>
              <a:t>varied</a:t>
            </a:r>
            <a:r>
              <a:rPr sz="1550" spc="125" dirty="0">
                <a:latin typeface="Calibri"/>
                <a:cs typeface="Calibri"/>
              </a:rPr>
              <a:t> </a:t>
            </a:r>
            <a:r>
              <a:rPr sz="1550" dirty="0">
                <a:latin typeface="Calibri"/>
                <a:cs typeface="Calibri"/>
              </a:rPr>
              <a:t>mission</a:t>
            </a:r>
            <a:r>
              <a:rPr sz="1550" spc="125" dirty="0">
                <a:latin typeface="Calibri"/>
                <a:cs typeface="Calibri"/>
              </a:rPr>
              <a:t> </a:t>
            </a:r>
            <a:r>
              <a:rPr sz="1550" spc="-10" dirty="0">
                <a:latin typeface="Calibri"/>
                <a:cs typeface="Calibri"/>
              </a:rPr>
              <a:t>profiles.</a:t>
            </a:r>
            <a:endParaRPr sz="1550">
              <a:latin typeface="Calibri"/>
              <a:cs typeface="Calibri"/>
            </a:endParaRPr>
          </a:p>
          <a:p>
            <a:pPr marL="238760" marR="25400" indent="-226060" algn="just">
              <a:lnSpc>
                <a:spcPts val="1730"/>
              </a:lnSpc>
              <a:spcBef>
                <a:spcPts val="1050"/>
              </a:spcBef>
              <a:buFont typeface="Arial MT"/>
              <a:buChar char="•"/>
              <a:tabLst>
                <a:tab pos="241300" algn="l"/>
              </a:tabLst>
            </a:pPr>
            <a:r>
              <a:rPr sz="1550" b="1" dirty="0">
                <a:latin typeface="Calibri"/>
                <a:cs typeface="Calibri"/>
              </a:rPr>
              <a:t>High-Capacity</a:t>
            </a:r>
            <a:r>
              <a:rPr sz="1550" b="1" spc="130" dirty="0">
                <a:latin typeface="Calibri"/>
                <a:cs typeface="Calibri"/>
              </a:rPr>
              <a:t> </a:t>
            </a:r>
            <a:r>
              <a:rPr sz="1550" b="1" dirty="0">
                <a:latin typeface="Calibri"/>
                <a:cs typeface="Calibri"/>
              </a:rPr>
              <a:t>Launches:</a:t>
            </a:r>
            <a:r>
              <a:rPr sz="1550" b="1" spc="45" dirty="0">
                <a:latin typeface="Calibri"/>
                <a:cs typeface="Calibri"/>
              </a:rPr>
              <a:t> </a:t>
            </a:r>
            <a:r>
              <a:rPr sz="1550" dirty="0">
                <a:latin typeface="Calibri"/>
                <a:cs typeface="Calibri"/>
              </a:rPr>
              <a:t>The</a:t>
            </a:r>
            <a:r>
              <a:rPr sz="1550" spc="90" dirty="0">
                <a:latin typeface="Calibri"/>
                <a:cs typeface="Calibri"/>
              </a:rPr>
              <a:t> </a:t>
            </a:r>
            <a:r>
              <a:rPr sz="1550" dirty="0">
                <a:latin typeface="Calibri"/>
                <a:cs typeface="Calibri"/>
              </a:rPr>
              <a:t>KSC</a:t>
            </a:r>
            <a:r>
              <a:rPr sz="1550" spc="110" dirty="0">
                <a:latin typeface="Calibri"/>
                <a:cs typeface="Calibri"/>
              </a:rPr>
              <a:t> </a:t>
            </a:r>
            <a:r>
              <a:rPr sz="1550" dirty="0">
                <a:latin typeface="Calibri"/>
                <a:cs typeface="Calibri"/>
              </a:rPr>
              <a:t>LC</a:t>
            </a:r>
            <a:r>
              <a:rPr sz="1550" spc="110" dirty="0">
                <a:latin typeface="Calibri"/>
                <a:cs typeface="Calibri"/>
              </a:rPr>
              <a:t> </a:t>
            </a:r>
            <a:r>
              <a:rPr sz="1550" dirty="0">
                <a:latin typeface="Calibri"/>
                <a:cs typeface="Calibri"/>
              </a:rPr>
              <a:t>39A</a:t>
            </a:r>
            <a:r>
              <a:rPr sz="1550" spc="114" dirty="0">
                <a:latin typeface="Calibri"/>
                <a:cs typeface="Calibri"/>
              </a:rPr>
              <a:t> </a:t>
            </a:r>
            <a:r>
              <a:rPr sz="1550" dirty="0">
                <a:latin typeface="Calibri"/>
                <a:cs typeface="Calibri"/>
              </a:rPr>
              <a:t>site</a:t>
            </a:r>
            <a:r>
              <a:rPr sz="1550" spc="80" dirty="0">
                <a:latin typeface="Calibri"/>
                <a:cs typeface="Calibri"/>
              </a:rPr>
              <a:t> </a:t>
            </a:r>
            <a:r>
              <a:rPr sz="1550" dirty="0">
                <a:latin typeface="Calibri"/>
                <a:cs typeface="Calibri"/>
              </a:rPr>
              <a:t>is</a:t>
            </a:r>
            <a:r>
              <a:rPr sz="1550" spc="105" dirty="0">
                <a:latin typeface="Calibri"/>
                <a:cs typeface="Calibri"/>
              </a:rPr>
              <a:t> </a:t>
            </a:r>
            <a:r>
              <a:rPr sz="1550" dirty="0">
                <a:latin typeface="Calibri"/>
                <a:cs typeface="Calibri"/>
              </a:rPr>
              <a:t>frequently</a:t>
            </a:r>
            <a:r>
              <a:rPr sz="1550" spc="80" dirty="0">
                <a:latin typeface="Calibri"/>
                <a:cs typeface="Calibri"/>
              </a:rPr>
              <a:t> </a:t>
            </a:r>
            <a:r>
              <a:rPr sz="1550" dirty="0">
                <a:latin typeface="Calibri"/>
                <a:cs typeface="Calibri"/>
              </a:rPr>
              <a:t>used</a:t>
            </a:r>
            <a:r>
              <a:rPr sz="1550" spc="125" dirty="0">
                <a:latin typeface="Calibri"/>
                <a:cs typeface="Calibri"/>
              </a:rPr>
              <a:t> </a:t>
            </a:r>
            <a:r>
              <a:rPr sz="1550" dirty="0">
                <a:latin typeface="Calibri"/>
                <a:cs typeface="Calibri"/>
              </a:rPr>
              <a:t>for</a:t>
            </a:r>
            <a:r>
              <a:rPr sz="1550" spc="100" dirty="0">
                <a:latin typeface="Calibri"/>
                <a:cs typeface="Calibri"/>
              </a:rPr>
              <a:t> </a:t>
            </a:r>
            <a:r>
              <a:rPr sz="1550" spc="-10" dirty="0">
                <a:latin typeface="Calibri"/>
                <a:cs typeface="Calibri"/>
              </a:rPr>
              <a:t>launching 	</a:t>
            </a:r>
            <a:r>
              <a:rPr sz="1550" dirty="0">
                <a:latin typeface="Calibri"/>
                <a:cs typeface="Calibri"/>
              </a:rPr>
              <a:t>heavier</a:t>
            </a:r>
            <a:r>
              <a:rPr sz="1550" spc="90" dirty="0">
                <a:latin typeface="Calibri"/>
                <a:cs typeface="Calibri"/>
              </a:rPr>
              <a:t> </a:t>
            </a:r>
            <a:r>
              <a:rPr sz="1550" dirty="0">
                <a:latin typeface="Calibri"/>
                <a:cs typeface="Calibri"/>
              </a:rPr>
              <a:t>payloads,</a:t>
            </a:r>
            <a:r>
              <a:rPr sz="1550" spc="105" dirty="0">
                <a:latin typeface="Calibri"/>
                <a:cs typeface="Calibri"/>
              </a:rPr>
              <a:t> </a:t>
            </a:r>
            <a:r>
              <a:rPr sz="1550" dirty="0">
                <a:latin typeface="Calibri"/>
                <a:cs typeface="Calibri"/>
              </a:rPr>
              <a:t>with</a:t>
            </a:r>
            <a:r>
              <a:rPr sz="1550" spc="114" dirty="0">
                <a:latin typeface="Calibri"/>
                <a:cs typeface="Calibri"/>
              </a:rPr>
              <a:t> </a:t>
            </a:r>
            <a:r>
              <a:rPr sz="1550" dirty="0">
                <a:latin typeface="Calibri"/>
                <a:cs typeface="Calibri"/>
              </a:rPr>
              <a:t>multiple</a:t>
            </a:r>
            <a:r>
              <a:rPr sz="1550" spc="180" dirty="0">
                <a:latin typeface="Calibri"/>
                <a:cs typeface="Calibri"/>
              </a:rPr>
              <a:t> </a:t>
            </a:r>
            <a:r>
              <a:rPr sz="1550" dirty="0">
                <a:latin typeface="Calibri"/>
                <a:cs typeface="Calibri"/>
              </a:rPr>
              <a:t>launches</a:t>
            </a:r>
            <a:r>
              <a:rPr sz="1550" spc="105" dirty="0">
                <a:latin typeface="Calibri"/>
                <a:cs typeface="Calibri"/>
              </a:rPr>
              <a:t> </a:t>
            </a:r>
            <a:r>
              <a:rPr sz="1550" dirty="0">
                <a:latin typeface="Calibri"/>
                <a:cs typeface="Calibri"/>
              </a:rPr>
              <a:t>carrying</a:t>
            </a:r>
            <a:r>
              <a:rPr sz="1550" spc="135" dirty="0">
                <a:latin typeface="Calibri"/>
                <a:cs typeface="Calibri"/>
              </a:rPr>
              <a:t> </a:t>
            </a:r>
            <a:r>
              <a:rPr sz="1550" dirty="0">
                <a:latin typeface="Calibri"/>
                <a:cs typeface="Calibri"/>
              </a:rPr>
              <a:t>over</a:t>
            </a:r>
            <a:r>
              <a:rPr sz="1550" spc="90" dirty="0">
                <a:latin typeface="Calibri"/>
                <a:cs typeface="Calibri"/>
              </a:rPr>
              <a:t> </a:t>
            </a:r>
            <a:r>
              <a:rPr sz="1550" dirty="0">
                <a:latin typeface="Calibri"/>
                <a:cs typeface="Calibri"/>
              </a:rPr>
              <a:t>15,000</a:t>
            </a:r>
            <a:r>
              <a:rPr sz="1550" spc="160" dirty="0">
                <a:latin typeface="Calibri"/>
                <a:cs typeface="Calibri"/>
              </a:rPr>
              <a:t> </a:t>
            </a:r>
            <a:r>
              <a:rPr sz="1550" dirty="0">
                <a:latin typeface="Calibri"/>
                <a:cs typeface="Calibri"/>
              </a:rPr>
              <a:t>kg,</a:t>
            </a:r>
            <a:r>
              <a:rPr sz="1550" spc="195" dirty="0">
                <a:latin typeface="Calibri"/>
                <a:cs typeface="Calibri"/>
              </a:rPr>
              <a:t> </a:t>
            </a:r>
            <a:r>
              <a:rPr sz="1550" spc="-10" dirty="0">
                <a:latin typeface="Calibri"/>
                <a:cs typeface="Calibri"/>
              </a:rPr>
              <a:t>suggesting 	</a:t>
            </a:r>
            <a:r>
              <a:rPr sz="1550" dirty="0">
                <a:latin typeface="Calibri"/>
                <a:cs typeface="Calibri"/>
              </a:rPr>
              <a:t>its</a:t>
            </a:r>
            <a:r>
              <a:rPr sz="1550" spc="65" dirty="0">
                <a:latin typeface="Calibri"/>
                <a:cs typeface="Calibri"/>
              </a:rPr>
              <a:t> </a:t>
            </a:r>
            <a:r>
              <a:rPr sz="1550" dirty="0">
                <a:latin typeface="Calibri"/>
                <a:cs typeface="Calibri"/>
              </a:rPr>
              <a:t>suitability</a:t>
            </a:r>
            <a:r>
              <a:rPr sz="1550" spc="135" dirty="0">
                <a:latin typeface="Calibri"/>
                <a:cs typeface="Calibri"/>
              </a:rPr>
              <a:t> </a:t>
            </a:r>
            <a:r>
              <a:rPr sz="1550" dirty="0">
                <a:latin typeface="Calibri"/>
                <a:cs typeface="Calibri"/>
              </a:rPr>
              <a:t>for</a:t>
            </a:r>
            <a:r>
              <a:rPr sz="1550" spc="145" dirty="0">
                <a:latin typeface="Calibri"/>
                <a:cs typeface="Calibri"/>
              </a:rPr>
              <a:t> </a:t>
            </a:r>
            <a:r>
              <a:rPr sz="1550" dirty="0">
                <a:latin typeface="Calibri"/>
                <a:cs typeface="Calibri"/>
              </a:rPr>
              <a:t>high-capacity</a:t>
            </a:r>
            <a:r>
              <a:rPr sz="1550" spc="140" dirty="0">
                <a:latin typeface="Calibri"/>
                <a:cs typeface="Calibri"/>
              </a:rPr>
              <a:t> </a:t>
            </a:r>
            <a:r>
              <a:rPr sz="1550" spc="-10" dirty="0">
                <a:latin typeface="Calibri"/>
                <a:cs typeface="Calibri"/>
              </a:rPr>
              <a:t>missions.</a:t>
            </a:r>
            <a:endParaRPr sz="1550">
              <a:latin typeface="Calibri"/>
              <a:cs typeface="Calibri"/>
            </a:endParaRPr>
          </a:p>
        </p:txBody>
      </p:sp>
      <p:pic>
        <p:nvPicPr>
          <p:cNvPr id="7" name="object 7"/>
          <p:cNvPicPr/>
          <p:nvPr/>
        </p:nvPicPr>
        <p:blipFill>
          <a:blip r:embed="rId2" cstate="print"/>
          <a:stretch>
            <a:fillRect/>
          </a:stretch>
        </p:blipFill>
        <p:spPr>
          <a:xfrm>
            <a:off x="652535" y="2438601"/>
            <a:ext cx="10732528" cy="3666721"/>
          </a:xfrm>
          <a:prstGeom prst="rect">
            <a:avLst/>
          </a:prstGeom>
        </p:spPr>
      </p:pic>
      <p:sp>
        <p:nvSpPr>
          <p:cNvPr id="8" name="object 8"/>
          <p:cNvSpPr txBox="1"/>
          <p:nvPr/>
        </p:nvSpPr>
        <p:spPr>
          <a:xfrm>
            <a:off x="11076051" y="6472554"/>
            <a:ext cx="241300" cy="177800"/>
          </a:xfrm>
          <a:prstGeom prst="rect">
            <a:avLst/>
          </a:prstGeom>
        </p:spPr>
        <p:txBody>
          <a:bodyPr vert="horz" wrap="square" lIns="0" tIns="0" rIns="0" bIns="0" rtlCol="0">
            <a:spAutoFit/>
          </a:bodyPr>
          <a:lstStyle/>
          <a:p>
            <a:pPr marL="38100">
              <a:lnSpc>
                <a:spcPts val="1240"/>
              </a:lnSpc>
            </a:pPr>
            <a:fld id="{81D60167-4931-47E6-BA6A-407CBD079E47}" type="slidenum">
              <a:rPr sz="1200" spc="-25" dirty="0">
                <a:solidFill>
                  <a:srgbClr val="888888"/>
                </a:solidFill>
                <a:latin typeface="Calibri"/>
                <a:cs typeface="Calibri"/>
              </a:rPr>
              <a:t>25</a:t>
            </a:fld>
            <a:endParaRPr sz="12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0247" y="934974"/>
            <a:ext cx="3218180" cy="1353185"/>
          </a:xfrm>
          <a:prstGeom prst="rect">
            <a:avLst/>
          </a:prstGeom>
        </p:spPr>
        <p:txBody>
          <a:bodyPr vert="horz" wrap="square" lIns="0" tIns="90170" rIns="0" bIns="0" rtlCol="0">
            <a:spAutoFit/>
          </a:bodyPr>
          <a:lstStyle/>
          <a:p>
            <a:pPr marL="12700" marR="5080">
              <a:lnSpc>
                <a:spcPts val="4960"/>
              </a:lnSpc>
              <a:spcBef>
                <a:spcPts val="710"/>
              </a:spcBef>
            </a:pPr>
            <a:r>
              <a:rPr sz="4550" dirty="0">
                <a:solidFill>
                  <a:srgbClr val="000000"/>
                </a:solidFill>
                <a:latin typeface="Calibri Light"/>
                <a:cs typeface="Calibri Light"/>
              </a:rPr>
              <a:t>Success</a:t>
            </a:r>
            <a:r>
              <a:rPr sz="4550" spc="105" dirty="0">
                <a:solidFill>
                  <a:srgbClr val="000000"/>
                </a:solidFill>
                <a:latin typeface="Calibri Light"/>
                <a:cs typeface="Calibri Light"/>
              </a:rPr>
              <a:t> </a:t>
            </a:r>
            <a:r>
              <a:rPr sz="4550" spc="-20" dirty="0">
                <a:solidFill>
                  <a:srgbClr val="000000"/>
                </a:solidFill>
                <a:latin typeface="Calibri Light"/>
                <a:cs typeface="Calibri Light"/>
              </a:rPr>
              <a:t>Rate </a:t>
            </a:r>
            <a:r>
              <a:rPr sz="4550" dirty="0">
                <a:solidFill>
                  <a:srgbClr val="000000"/>
                </a:solidFill>
                <a:latin typeface="Calibri Light"/>
                <a:cs typeface="Calibri Light"/>
              </a:rPr>
              <a:t>vs.</a:t>
            </a:r>
            <a:r>
              <a:rPr sz="4550" spc="30" dirty="0">
                <a:solidFill>
                  <a:srgbClr val="000000"/>
                </a:solidFill>
                <a:latin typeface="Calibri Light"/>
                <a:cs typeface="Calibri Light"/>
              </a:rPr>
              <a:t> </a:t>
            </a:r>
            <a:r>
              <a:rPr sz="4550" dirty="0">
                <a:solidFill>
                  <a:srgbClr val="000000"/>
                </a:solidFill>
                <a:latin typeface="Calibri Light"/>
                <a:cs typeface="Calibri Light"/>
              </a:rPr>
              <a:t>Orbit</a:t>
            </a:r>
            <a:r>
              <a:rPr sz="4550" spc="10" dirty="0">
                <a:solidFill>
                  <a:srgbClr val="000000"/>
                </a:solidFill>
                <a:latin typeface="Calibri Light"/>
                <a:cs typeface="Calibri Light"/>
              </a:rPr>
              <a:t> </a:t>
            </a:r>
            <a:r>
              <a:rPr sz="4550" spc="-25" dirty="0">
                <a:solidFill>
                  <a:srgbClr val="000000"/>
                </a:solidFill>
                <a:latin typeface="Calibri Light"/>
                <a:cs typeface="Calibri Light"/>
              </a:rPr>
              <a:t>Type</a:t>
            </a:r>
            <a:endParaRPr sz="4550">
              <a:latin typeface="Calibri Light"/>
              <a:cs typeface="Calibri Light"/>
            </a:endParaRPr>
          </a:p>
        </p:txBody>
      </p:sp>
      <p:grpSp>
        <p:nvGrpSpPr>
          <p:cNvPr id="3" name="object 3"/>
          <p:cNvGrpSpPr/>
          <p:nvPr/>
        </p:nvGrpSpPr>
        <p:grpSpPr>
          <a:xfrm>
            <a:off x="628446" y="2536412"/>
            <a:ext cx="3286760" cy="86995"/>
            <a:chOff x="628446" y="2536412"/>
            <a:chExt cx="3286760" cy="86995"/>
          </a:xfrm>
        </p:grpSpPr>
        <p:sp>
          <p:nvSpPr>
            <p:cNvPr id="4" name="object 4"/>
            <p:cNvSpPr/>
            <p:nvPr/>
          </p:nvSpPr>
          <p:spPr>
            <a:xfrm>
              <a:off x="647700" y="2560500"/>
              <a:ext cx="3248660" cy="41275"/>
            </a:xfrm>
            <a:custGeom>
              <a:avLst/>
              <a:gdLst/>
              <a:ahLst/>
              <a:cxnLst/>
              <a:rect l="l" t="t" r="r" b="b"/>
              <a:pathLst>
                <a:path w="3248660" h="41275">
                  <a:moveTo>
                    <a:pt x="949776" y="28"/>
                  </a:moveTo>
                  <a:lnTo>
                    <a:pt x="908617" y="0"/>
                  </a:lnTo>
                  <a:lnTo>
                    <a:pt x="868796" y="772"/>
                  </a:lnTo>
                  <a:lnTo>
                    <a:pt x="828237" y="2192"/>
                  </a:lnTo>
                  <a:lnTo>
                    <a:pt x="681380" y="8787"/>
                  </a:lnTo>
                  <a:lnTo>
                    <a:pt x="557024" y="13502"/>
                  </a:lnTo>
                  <a:lnTo>
                    <a:pt x="408641" y="19688"/>
                  </a:lnTo>
                  <a:lnTo>
                    <a:pt x="365138" y="21166"/>
                  </a:lnTo>
                  <a:lnTo>
                    <a:pt x="322275" y="22155"/>
                  </a:lnTo>
                  <a:lnTo>
                    <a:pt x="278650" y="22539"/>
                  </a:lnTo>
                  <a:lnTo>
                    <a:pt x="232860" y="22199"/>
                  </a:lnTo>
                  <a:lnTo>
                    <a:pt x="183503" y="21018"/>
                  </a:lnTo>
                  <a:lnTo>
                    <a:pt x="129176" y="18878"/>
                  </a:lnTo>
                  <a:lnTo>
                    <a:pt x="68475" y="15661"/>
                  </a:lnTo>
                  <a:lnTo>
                    <a:pt x="0" y="11249"/>
                  </a:lnTo>
                  <a:lnTo>
                    <a:pt x="368" y="18488"/>
                  </a:lnTo>
                  <a:lnTo>
                    <a:pt x="838" y="21282"/>
                  </a:lnTo>
                  <a:lnTo>
                    <a:pt x="0" y="30299"/>
                  </a:lnTo>
                  <a:lnTo>
                    <a:pt x="45362" y="30022"/>
                  </a:lnTo>
                  <a:lnTo>
                    <a:pt x="90248" y="30127"/>
                  </a:lnTo>
                  <a:lnTo>
                    <a:pt x="135110" y="30523"/>
                  </a:lnTo>
                  <a:lnTo>
                    <a:pt x="274084" y="32535"/>
                  </a:lnTo>
                  <a:lnTo>
                    <a:pt x="374923" y="33650"/>
                  </a:lnTo>
                  <a:lnTo>
                    <a:pt x="429158" y="33864"/>
                  </a:lnTo>
                  <a:lnTo>
                    <a:pt x="486542" y="33728"/>
                  </a:lnTo>
                  <a:lnTo>
                    <a:pt x="547528" y="33149"/>
                  </a:lnTo>
                  <a:lnTo>
                    <a:pt x="612568" y="32037"/>
                  </a:lnTo>
                  <a:lnTo>
                    <a:pt x="750859" y="28722"/>
                  </a:lnTo>
                  <a:lnTo>
                    <a:pt x="813691" y="28037"/>
                  </a:lnTo>
                  <a:lnTo>
                    <a:pt x="871372" y="28072"/>
                  </a:lnTo>
                  <a:lnTo>
                    <a:pt x="924660" y="28657"/>
                  </a:lnTo>
                  <a:lnTo>
                    <a:pt x="974313" y="29619"/>
                  </a:lnTo>
                  <a:lnTo>
                    <a:pt x="1109052" y="33053"/>
                  </a:lnTo>
                  <a:lnTo>
                    <a:pt x="1151752" y="33808"/>
                  </a:lnTo>
                  <a:lnTo>
                    <a:pt x="1194611" y="34081"/>
                  </a:lnTo>
                  <a:lnTo>
                    <a:pt x="1238386" y="33702"/>
                  </a:lnTo>
                  <a:lnTo>
                    <a:pt x="1283837" y="32499"/>
                  </a:lnTo>
                  <a:lnTo>
                    <a:pt x="1386092" y="27577"/>
                  </a:lnTo>
                  <a:lnTo>
                    <a:pt x="1433891" y="25827"/>
                  </a:lnTo>
                  <a:lnTo>
                    <a:pt x="1477030" y="24906"/>
                  </a:lnTo>
                  <a:lnTo>
                    <a:pt x="1517422" y="24673"/>
                  </a:lnTo>
                  <a:lnTo>
                    <a:pt x="1556977" y="24983"/>
                  </a:lnTo>
                  <a:lnTo>
                    <a:pt x="1745064" y="28820"/>
                  </a:lnTo>
                  <a:lnTo>
                    <a:pt x="1809111" y="29715"/>
                  </a:lnTo>
                  <a:lnTo>
                    <a:pt x="1883791" y="30299"/>
                  </a:lnTo>
                  <a:lnTo>
                    <a:pt x="1946653" y="30200"/>
                  </a:lnTo>
                  <a:lnTo>
                    <a:pt x="2008365" y="29419"/>
                  </a:lnTo>
                  <a:lnTo>
                    <a:pt x="2068759" y="28132"/>
                  </a:lnTo>
                  <a:lnTo>
                    <a:pt x="2127670" y="26511"/>
                  </a:lnTo>
                  <a:lnTo>
                    <a:pt x="2293826" y="21393"/>
                  </a:lnTo>
                  <a:lnTo>
                    <a:pt x="2345130" y="20182"/>
                  </a:lnTo>
                  <a:lnTo>
                    <a:pt x="2394115" y="19509"/>
                  </a:lnTo>
                  <a:lnTo>
                    <a:pt x="2440615" y="19547"/>
                  </a:lnTo>
                  <a:lnTo>
                    <a:pt x="2484462" y="20471"/>
                  </a:lnTo>
                  <a:lnTo>
                    <a:pt x="2525490" y="22455"/>
                  </a:lnTo>
                  <a:lnTo>
                    <a:pt x="2563531" y="25673"/>
                  </a:lnTo>
                  <a:lnTo>
                    <a:pt x="2598420" y="30299"/>
                  </a:lnTo>
                  <a:lnTo>
                    <a:pt x="2637678" y="35217"/>
                  </a:lnTo>
                  <a:lnTo>
                    <a:pt x="2683041" y="38509"/>
                  </a:lnTo>
                  <a:lnTo>
                    <a:pt x="2733329" y="40397"/>
                  </a:lnTo>
                  <a:lnTo>
                    <a:pt x="2787366" y="41100"/>
                  </a:lnTo>
                  <a:lnTo>
                    <a:pt x="2843974" y="40836"/>
                  </a:lnTo>
                  <a:lnTo>
                    <a:pt x="2901974" y="39826"/>
                  </a:lnTo>
                  <a:lnTo>
                    <a:pt x="2960188" y="38289"/>
                  </a:lnTo>
                  <a:lnTo>
                    <a:pt x="3171637" y="31264"/>
                  </a:lnTo>
                  <a:lnTo>
                    <a:pt x="3213257" y="30387"/>
                  </a:lnTo>
                  <a:lnTo>
                    <a:pt x="3248025" y="30299"/>
                  </a:lnTo>
                  <a:lnTo>
                    <a:pt x="3248405" y="21155"/>
                  </a:lnTo>
                  <a:lnTo>
                    <a:pt x="3247771" y="15948"/>
                  </a:lnTo>
                  <a:lnTo>
                    <a:pt x="3248025" y="11249"/>
                  </a:lnTo>
                  <a:lnTo>
                    <a:pt x="3194449" y="16484"/>
                  </a:lnTo>
                  <a:lnTo>
                    <a:pt x="3139700" y="19729"/>
                  </a:lnTo>
                  <a:lnTo>
                    <a:pt x="3084174" y="21271"/>
                  </a:lnTo>
                  <a:lnTo>
                    <a:pt x="3028265" y="21397"/>
                  </a:lnTo>
                  <a:lnTo>
                    <a:pt x="2972369" y="20393"/>
                  </a:lnTo>
                  <a:lnTo>
                    <a:pt x="2916880" y="18546"/>
                  </a:lnTo>
                  <a:lnTo>
                    <a:pt x="2862193" y="16142"/>
                  </a:lnTo>
                  <a:lnTo>
                    <a:pt x="2706901" y="8455"/>
                  </a:lnTo>
                  <a:lnTo>
                    <a:pt x="2659376" y="6689"/>
                  </a:lnTo>
                  <a:lnTo>
                    <a:pt x="2614630" y="5799"/>
                  </a:lnTo>
                  <a:lnTo>
                    <a:pt x="2573057" y="6072"/>
                  </a:lnTo>
                  <a:lnTo>
                    <a:pt x="2535052" y="7793"/>
                  </a:lnTo>
                  <a:lnTo>
                    <a:pt x="2458042" y="15697"/>
                  </a:lnTo>
                  <a:lnTo>
                    <a:pt x="2409773" y="18217"/>
                  </a:lnTo>
                  <a:lnTo>
                    <a:pt x="2357332" y="19143"/>
                  </a:lnTo>
                  <a:lnTo>
                    <a:pt x="2301846" y="18813"/>
                  </a:lnTo>
                  <a:lnTo>
                    <a:pt x="2244445" y="17562"/>
                  </a:lnTo>
                  <a:lnTo>
                    <a:pt x="2186257" y="15726"/>
                  </a:lnTo>
                  <a:lnTo>
                    <a:pt x="2072033" y="11644"/>
                  </a:lnTo>
                  <a:lnTo>
                    <a:pt x="2018254" y="10070"/>
                  </a:lnTo>
                  <a:lnTo>
                    <a:pt x="1968201" y="9256"/>
                  </a:lnTo>
                  <a:lnTo>
                    <a:pt x="1923004" y="9537"/>
                  </a:lnTo>
                  <a:lnTo>
                    <a:pt x="1883791" y="11249"/>
                  </a:lnTo>
                  <a:lnTo>
                    <a:pt x="1850698" y="13415"/>
                  </a:lnTo>
                  <a:lnTo>
                    <a:pt x="1813107" y="15515"/>
                  </a:lnTo>
                  <a:lnTo>
                    <a:pt x="1771452" y="17481"/>
                  </a:lnTo>
                  <a:lnTo>
                    <a:pt x="1726167" y="19247"/>
                  </a:lnTo>
                  <a:lnTo>
                    <a:pt x="1677686" y="20746"/>
                  </a:lnTo>
                  <a:lnTo>
                    <a:pt x="1626446" y="21913"/>
                  </a:lnTo>
                  <a:lnTo>
                    <a:pt x="1572879" y="22679"/>
                  </a:lnTo>
                  <a:lnTo>
                    <a:pt x="1517420" y="22979"/>
                  </a:lnTo>
                  <a:lnTo>
                    <a:pt x="1460505" y="22746"/>
                  </a:lnTo>
                  <a:lnTo>
                    <a:pt x="1402568" y="21913"/>
                  </a:lnTo>
                  <a:lnTo>
                    <a:pt x="1344043" y="20413"/>
                  </a:lnTo>
                  <a:lnTo>
                    <a:pt x="1285365" y="18180"/>
                  </a:lnTo>
                  <a:lnTo>
                    <a:pt x="1226969" y="15148"/>
                  </a:lnTo>
                  <a:lnTo>
                    <a:pt x="1102028" y="6469"/>
                  </a:lnTo>
                  <a:lnTo>
                    <a:pt x="1044406" y="3108"/>
                  </a:lnTo>
                  <a:lnTo>
                    <a:pt x="994347" y="1013"/>
                  </a:lnTo>
                  <a:lnTo>
                    <a:pt x="949776" y="28"/>
                  </a:lnTo>
                  <a:close/>
                </a:path>
              </a:pathLst>
            </a:custGeom>
            <a:solidFill>
              <a:srgbClr val="EC7C30"/>
            </a:solidFill>
          </p:spPr>
          <p:txBody>
            <a:bodyPr wrap="square" lIns="0" tIns="0" rIns="0" bIns="0" rtlCol="0"/>
            <a:lstStyle/>
            <a:p>
              <a:endParaRPr/>
            </a:p>
          </p:txBody>
        </p:sp>
        <p:sp>
          <p:nvSpPr>
            <p:cNvPr id="5" name="object 5"/>
            <p:cNvSpPr/>
            <p:nvPr/>
          </p:nvSpPr>
          <p:spPr>
            <a:xfrm>
              <a:off x="647496" y="2555462"/>
              <a:ext cx="3248660" cy="48895"/>
            </a:xfrm>
            <a:custGeom>
              <a:avLst/>
              <a:gdLst/>
              <a:ahLst/>
              <a:cxnLst/>
              <a:rect l="l" t="t" r="r" b="b"/>
              <a:pathLst>
                <a:path w="3248660" h="48894">
                  <a:moveTo>
                    <a:pt x="203" y="16287"/>
                  </a:moveTo>
                  <a:lnTo>
                    <a:pt x="59712" y="11068"/>
                  </a:lnTo>
                  <a:lnTo>
                    <a:pt x="118295" y="6886"/>
                  </a:lnTo>
                  <a:lnTo>
                    <a:pt x="175789" y="3714"/>
                  </a:lnTo>
                  <a:lnTo>
                    <a:pt x="232030" y="1527"/>
                  </a:lnTo>
                  <a:lnTo>
                    <a:pt x="286856" y="298"/>
                  </a:lnTo>
                  <a:lnTo>
                    <a:pt x="340104" y="0"/>
                  </a:lnTo>
                  <a:lnTo>
                    <a:pt x="391610" y="606"/>
                  </a:lnTo>
                  <a:lnTo>
                    <a:pt x="441213" y="2091"/>
                  </a:lnTo>
                  <a:lnTo>
                    <a:pt x="488748" y="4429"/>
                  </a:lnTo>
                  <a:lnTo>
                    <a:pt x="534053" y="7591"/>
                  </a:lnTo>
                  <a:lnTo>
                    <a:pt x="576965" y="11553"/>
                  </a:lnTo>
                  <a:lnTo>
                    <a:pt x="617321" y="16287"/>
                  </a:lnTo>
                  <a:lnTo>
                    <a:pt x="654127" y="20343"/>
                  </a:lnTo>
                  <a:lnTo>
                    <a:pt x="692612" y="23174"/>
                  </a:lnTo>
                  <a:lnTo>
                    <a:pt x="732916" y="24929"/>
                  </a:lnTo>
                  <a:lnTo>
                    <a:pt x="775179" y="25758"/>
                  </a:lnTo>
                  <a:lnTo>
                    <a:pt x="819543" y="25811"/>
                  </a:lnTo>
                  <a:lnTo>
                    <a:pt x="866147" y="25239"/>
                  </a:lnTo>
                  <a:lnTo>
                    <a:pt x="915132" y="24190"/>
                  </a:lnTo>
                  <a:lnTo>
                    <a:pt x="966638" y="22815"/>
                  </a:lnTo>
                  <a:lnTo>
                    <a:pt x="1020806" y="21263"/>
                  </a:lnTo>
                  <a:lnTo>
                    <a:pt x="1077775" y="19685"/>
                  </a:lnTo>
                  <a:lnTo>
                    <a:pt x="1137688" y="18229"/>
                  </a:lnTo>
                  <a:lnTo>
                    <a:pt x="1200682" y="17047"/>
                  </a:lnTo>
                  <a:lnTo>
                    <a:pt x="1266901" y="16287"/>
                  </a:lnTo>
                  <a:lnTo>
                    <a:pt x="1332636" y="16044"/>
                  </a:lnTo>
                  <a:lnTo>
                    <a:pt x="1394409" y="16238"/>
                  </a:lnTo>
                  <a:lnTo>
                    <a:pt x="1452696" y="16761"/>
                  </a:lnTo>
                  <a:lnTo>
                    <a:pt x="1507975" y="17505"/>
                  </a:lnTo>
                  <a:lnTo>
                    <a:pt x="1560725" y="18361"/>
                  </a:lnTo>
                  <a:lnTo>
                    <a:pt x="1611424" y="19223"/>
                  </a:lnTo>
                  <a:lnTo>
                    <a:pt x="1660549" y="19980"/>
                  </a:lnTo>
                  <a:lnTo>
                    <a:pt x="1708578" y="20526"/>
                  </a:lnTo>
                  <a:lnTo>
                    <a:pt x="1755990" y="20751"/>
                  </a:lnTo>
                  <a:lnTo>
                    <a:pt x="1803262" y="20548"/>
                  </a:lnTo>
                  <a:lnTo>
                    <a:pt x="1850871" y="19809"/>
                  </a:lnTo>
                  <a:lnTo>
                    <a:pt x="1899298" y="18424"/>
                  </a:lnTo>
                  <a:lnTo>
                    <a:pt x="1949018" y="16287"/>
                  </a:lnTo>
                  <a:lnTo>
                    <a:pt x="2000571" y="14354"/>
                  </a:lnTo>
                  <a:lnTo>
                    <a:pt x="2053886" y="13514"/>
                  </a:lnTo>
                  <a:lnTo>
                    <a:pt x="2108524" y="13556"/>
                  </a:lnTo>
                  <a:lnTo>
                    <a:pt x="2164046" y="14271"/>
                  </a:lnTo>
                  <a:lnTo>
                    <a:pt x="2220014" y="15448"/>
                  </a:lnTo>
                  <a:lnTo>
                    <a:pt x="2275987" y="16877"/>
                  </a:lnTo>
                  <a:lnTo>
                    <a:pt x="2331529" y="18348"/>
                  </a:lnTo>
                  <a:lnTo>
                    <a:pt x="2386200" y="19652"/>
                  </a:lnTo>
                  <a:lnTo>
                    <a:pt x="2439561" y="20576"/>
                  </a:lnTo>
                  <a:lnTo>
                    <a:pt x="2491174" y="20912"/>
                  </a:lnTo>
                  <a:lnTo>
                    <a:pt x="2540600" y="20450"/>
                  </a:lnTo>
                  <a:lnTo>
                    <a:pt x="2587400" y="18978"/>
                  </a:lnTo>
                  <a:lnTo>
                    <a:pt x="2631135" y="16287"/>
                  </a:lnTo>
                  <a:lnTo>
                    <a:pt x="2679012" y="13326"/>
                  </a:lnTo>
                  <a:lnTo>
                    <a:pt x="2730856" y="11604"/>
                  </a:lnTo>
                  <a:lnTo>
                    <a:pt x="2785670" y="10912"/>
                  </a:lnTo>
                  <a:lnTo>
                    <a:pt x="2842458" y="11038"/>
                  </a:lnTo>
                  <a:lnTo>
                    <a:pt x="2900223" y="11773"/>
                  </a:lnTo>
                  <a:lnTo>
                    <a:pt x="2957969" y="12906"/>
                  </a:lnTo>
                  <a:lnTo>
                    <a:pt x="3014699" y="14227"/>
                  </a:lnTo>
                  <a:lnTo>
                    <a:pt x="3069416" y="15525"/>
                  </a:lnTo>
                  <a:lnTo>
                    <a:pt x="3121125" y="16591"/>
                  </a:lnTo>
                  <a:lnTo>
                    <a:pt x="3168827" y="17213"/>
                  </a:lnTo>
                  <a:lnTo>
                    <a:pt x="3211527" y="17182"/>
                  </a:lnTo>
                  <a:lnTo>
                    <a:pt x="3248228" y="16287"/>
                  </a:lnTo>
                  <a:lnTo>
                    <a:pt x="3247466" y="24796"/>
                  </a:lnTo>
                  <a:lnTo>
                    <a:pt x="3247847" y="28860"/>
                  </a:lnTo>
                  <a:lnTo>
                    <a:pt x="3248228" y="35337"/>
                  </a:lnTo>
                  <a:lnTo>
                    <a:pt x="3209201" y="36115"/>
                  </a:lnTo>
                  <a:lnTo>
                    <a:pt x="3164075" y="36344"/>
                  </a:lnTo>
                  <a:lnTo>
                    <a:pt x="3113913" y="36130"/>
                  </a:lnTo>
                  <a:lnTo>
                    <a:pt x="3059777" y="35582"/>
                  </a:lnTo>
                  <a:lnTo>
                    <a:pt x="3002729" y="34806"/>
                  </a:lnTo>
                  <a:lnTo>
                    <a:pt x="2943833" y="33911"/>
                  </a:lnTo>
                  <a:lnTo>
                    <a:pt x="2884150" y="33004"/>
                  </a:lnTo>
                  <a:lnTo>
                    <a:pt x="2824744" y="32192"/>
                  </a:lnTo>
                  <a:lnTo>
                    <a:pt x="2766676" y="31582"/>
                  </a:lnTo>
                  <a:lnTo>
                    <a:pt x="2711008" y="31283"/>
                  </a:lnTo>
                  <a:lnTo>
                    <a:pt x="2658805" y="31401"/>
                  </a:lnTo>
                  <a:lnTo>
                    <a:pt x="2611127" y="32045"/>
                  </a:lnTo>
                  <a:lnTo>
                    <a:pt x="2569037" y="33321"/>
                  </a:lnTo>
                  <a:lnTo>
                    <a:pt x="2533599" y="35337"/>
                  </a:lnTo>
                  <a:lnTo>
                    <a:pt x="2500283" y="37023"/>
                  </a:lnTo>
                  <a:lnTo>
                    <a:pt x="2424431" y="36758"/>
                  </a:lnTo>
                  <a:lnTo>
                    <a:pt x="2382084" y="35326"/>
                  </a:lnTo>
                  <a:lnTo>
                    <a:pt x="2336917" y="33375"/>
                  </a:lnTo>
                  <a:lnTo>
                    <a:pt x="2289023" y="31165"/>
                  </a:lnTo>
                  <a:lnTo>
                    <a:pt x="2238498" y="28955"/>
                  </a:lnTo>
                  <a:lnTo>
                    <a:pt x="2185437" y="27006"/>
                  </a:lnTo>
                  <a:lnTo>
                    <a:pt x="2129933" y="25578"/>
                  </a:lnTo>
                  <a:lnTo>
                    <a:pt x="2072081" y="24929"/>
                  </a:lnTo>
                  <a:lnTo>
                    <a:pt x="2011978" y="25321"/>
                  </a:lnTo>
                  <a:lnTo>
                    <a:pt x="1949716" y="27013"/>
                  </a:lnTo>
                  <a:lnTo>
                    <a:pt x="1885390" y="30265"/>
                  </a:lnTo>
                  <a:lnTo>
                    <a:pt x="1819097" y="35337"/>
                  </a:lnTo>
                  <a:lnTo>
                    <a:pt x="1751268" y="40941"/>
                  </a:lnTo>
                  <a:lnTo>
                    <a:pt x="1691665" y="44826"/>
                  </a:lnTo>
                  <a:lnTo>
                    <a:pt x="1638857" y="47204"/>
                  </a:lnTo>
                  <a:lnTo>
                    <a:pt x="1591412" y="48292"/>
                  </a:lnTo>
                  <a:lnTo>
                    <a:pt x="1547897" y="48302"/>
                  </a:lnTo>
                  <a:lnTo>
                    <a:pt x="1506882" y="47450"/>
                  </a:lnTo>
                  <a:lnTo>
                    <a:pt x="1466935" y="45949"/>
                  </a:lnTo>
                  <a:lnTo>
                    <a:pt x="1426623" y="44015"/>
                  </a:lnTo>
                  <a:lnTo>
                    <a:pt x="1384516" y="41861"/>
                  </a:lnTo>
                  <a:lnTo>
                    <a:pt x="1339181" y="39702"/>
                  </a:lnTo>
                  <a:lnTo>
                    <a:pt x="1289186" y="37752"/>
                  </a:lnTo>
                  <a:lnTo>
                    <a:pt x="1233100" y="36226"/>
                  </a:lnTo>
                  <a:lnTo>
                    <a:pt x="1169492" y="35337"/>
                  </a:lnTo>
                  <a:lnTo>
                    <a:pt x="1131004" y="35189"/>
                  </a:lnTo>
                  <a:lnTo>
                    <a:pt x="1092163" y="35286"/>
                  </a:lnTo>
                  <a:lnTo>
                    <a:pt x="1052859" y="35595"/>
                  </a:lnTo>
                  <a:lnTo>
                    <a:pt x="1012983" y="36082"/>
                  </a:lnTo>
                  <a:lnTo>
                    <a:pt x="972424" y="36715"/>
                  </a:lnTo>
                  <a:lnTo>
                    <a:pt x="931072" y="37461"/>
                  </a:lnTo>
                  <a:lnTo>
                    <a:pt x="888817" y="38287"/>
                  </a:lnTo>
                  <a:lnTo>
                    <a:pt x="845550" y="39159"/>
                  </a:lnTo>
                  <a:lnTo>
                    <a:pt x="801160" y="40044"/>
                  </a:lnTo>
                  <a:lnTo>
                    <a:pt x="755537" y="40910"/>
                  </a:lnTo>
                  <a:lnTo>
                    <a:pt x="708571" y="41723"/>
                  </a:lnTo>
                  <a:lnTo>
                    <a:pt x="660152" y="42451"/>
                  </a:lnTo>
                  <a:lnTo>
                    <a:pt x="610171" y="43060"/>
                  </a:lnTo>
                  <a:lnTo>
                    <a:pt x="558517" y="43516"/>
                  </a:lnTo>
                  <a:lnTo>
                    <a:pt x="505080" y="43788"/>
                  </a:lnTo>
                  <a:lnTo>
                    <a:pt x="449750" y="43842"/>
                  </a:lnTo>
                  <a:lnTo>
                    <a:pt x="392418" y="43645"/>
                  </a:lnTo>
                  <a:lnTo>
                    <a:pt x="332972" y="43164"/>
                  </a:lnTo>
                  <a:lnTo>
                    <a:pt x="271304" y="42365"/>
                  </a:lnTo>
                  <a:lnTo>
                    <a:pt x="207303" y="41216"/>
                  </a:lnTo>
                  <a:lnTo>
                    <a:pt x="140859" y="39684"/>
                  </a:lnTo>
                  <a:lnTo>
                    <a:pt x="71862" y="37735"/>
                  </a:lnTo>
                  <a:lnTo>
                    <a:pt x="203" y="35337"/>
                  </a:lnTo>
                  <a:lnTo>
                    <a:pt x="152" y="29241"/>
                  </a:lnTo>
                  <a:lnTo>
                    <a:pt x="0" y="23018"/>
                  </a:lnTo>
                  <a:lnTo>
                    <a:pt x="203" y="16287"/>
                  </a:lnTo>
                  <a:close/>
                </a:path>
              </a:pathLst>
            </a:custGeom>
            <a:ln w="38100">
              <a:solidFill>
                <a:srgbClr val="EC7C30"/>
              </a:solidFill>
            </a:ln>
          </p:spPr>
          <p:txBody>
            <a:bodyPr wrap="square" lIns="0" tIns="0" rIns="0" bIns="0" rtlCol="0"/>
            <a:lstStyle/>
            <a:p>
              <a:endParaRPr/>
            </a:p>
          </p:txBody>
        </p:sp>
      </p:grpSp>
      <p:sp>
        <p:nvSpPr>
          <p:cNvPr id="6" name="object 6"/>
          <p:cNvSpPr txBox="1"/>
          <p:nvPr/>
        </p:nvSpPr>
        <p:spPr>
          <a:xfrm>
            <a:off x="710247" y="2806128"/>
            <a:ext cx="3241675" cy="2812415"/>
          </a:xfrm>
          <a:prstGeom prst="rect">
            <a:avLst/>
          </a:prstGeom>
        </p:spPr>
        <p:txBody>
          <a:bodyPr vert="horz" wrap="square" lIns="0" tIns="36830" rIns="0" bIns="0" rtlCol="0">
            <a:spAutoFit/>
          </a:bodyPr>
          <a:lstStyle/>
          <a:p>
            <a:pPr marL="241300" marR="347345" indent="-229235">
              <a:lnSpc>
                <a:spcPts val="1730"/>
              </a:lnSpc>
              <a:spcBef>
                <a:spcPts val="290"/>
              </a:spcBef>
              <a:buFont typeface="Arial MT"/>
              <a:buChar char="•"/>
              <a:tabLst>
                <a:tab pos="241300" algn="l"/>
              </a:tabLst>
            </a:pPr>
            <a:r>
              <a:rPr sz="1550" b="1" dirty="0">
                <a:latin typeface="Calibri"/>
                <a:cs typeface="Calibri"/>
              </a:rPr>
              <a:t>High</a:t>
            </a:r>
            <a:r>
              <a:rPr sz="1550" b="1" spc="110" dirty="0">
                <a:latin typeface="Calibri"/>
                <a:cs typeface="Calibri"/>
              </a:rPr>
              <a:t> </a:t>
            </a:r>
            <a:r>
              <a:rPr sz="1550" b="1" dirty="0">
                <a:latin typeface="Calibri"/>
                <a:cs typeface="Calibri"/>
              </a:rPr>
              <a:t>Success</a:t>
            </a:r>
            <a:r>
              <a:rPr sz="1550" b="1" spc="100" dirty="0">
                <a:latin typeface="Calibri"/>
                <a:cs typeface="Calibri"/>
              </a:rPr>
              <a:t> </a:t>
            </a:r>
            <a:r>
              <a:rPr sz="1550" b="1" dirty="0">
                <a:latin typeface="Calibri"/>
                <a:cs typeface="Calibri"/>
              </a:rPr>
              <a:t>Rates:</a:t>
            </a:r>
            <a:r>
              <a:rPr sz="1550" b="1" spc="150" dirty="0">
                <a:latin typeface="Calibri"/>
                <a:cs typeface="Calibri"/>
              </a:rPr>
              <a:t> </a:t>
            </a:r>
            <a:r>
              <a:rPr sz="1550" dirty="0">
                <a:latin typeface="Calibri"/>
                <a:cs typeface="Calibri"/>
              </a:rPr>
              <a:t>Missions</a:t>
            </a:r>
            <a:r>
              <a:rPr sz="1550" spc="110" dirty="0">
                <a:latin typeface="Calibri"/>
                <a:cs typeface="Calibri"/>
              </a:rPr>
              <a:t> </a:t>
            </a:r>
            <a:r>
              <a:rPr sz="1550" spc="-25" dirty="0">
                <a:latin typeface="Calibri"/>
                <a:cs typeface="Calibri"/>
              </a:rPr>
              <a:t>to </a:t>
            </a:r>
            <a:r>
              <a:rPr sz="1550" dirty="0">
                <a:latin typeface="Calibri"/>
                <a:cs typeface="Calibri"/>
              </a:rPr>
              <a:t>VLEO,</a:t>
            </a:r>
            <a:r>
              <a:rPr sz="1550" spc="40" dirty="0">
                <a:latin typeface="Calibri"/>
                <a:cs typeface="Calibri"/>
              </a:rPr>
              <a:t> </a:t>
            </a:r>
            <a:r>
              <a:rPr sz="1550" dirty="0">
                <a:latin typeface="Calibri"/>
                <a:cs typeface="Calibri"/>
              </a:rPr>
              <a:t>ES-L1,</a:t>
            </a:r>
            <a:r>
              <a:rPr sz="1550" spc="45" dirty="0">
                <a:latin typeface="Calibri"/>
                <a:cs typeface="Calibri"/>
              </a:rPr>
              <a:t> </a:t>
            </a:r>
            <a:r>
              <a:rPr sz="1550" dirty="0">
                <a:latin typeface="Calibri"/>
                <a:cs typeface="Calibri"/>
              </a:rPr>
              <a:t>GEO,</a:t>
            </a:r>
            <a:r>
              <a:rPr sz="1550" spc="114" dirty="0">
                <a:latin typeface="Calibri"/>
                <a:cs typeface="Calibri"/>
              </a:rPr>
              <a:t> </a:t>
            </a:r>
            <a:r>
              <a:rPr sz="1550" dirty="0">
                <a:latin typeface="Calibri"/>
                <a:cs typeface="Calibri"/>
              </a:rPr>
              <a:t>HEO,</a:t>
            </a:r>
            <a:r>
              <a:rPr sz="1550" spc="45" dirty="0">
                <a:latin typeface="Calibri"/>
                <a:cs typeface="Calibri"/>
              </a:rPr>
              <a:t> </a:t>
            </a:r>
            <a:r>
              <a:rPr sz="1550" dirty="0">
                <a:latin typeface="Calibri"/>
                <a:cs typeface="Calibri"/>
              </a:rPr>
              <a:t>and</a:t>
            </a:r>
            <a:r>
              <a:rPr sz="1550" spc="55" dirty="0">
                <a:latin typeface="Calibri"/>
                <a:cs typeface="Calibri"/>
              </a:rPr>
              <a:t> </a:t>
            </a:r>
            <a:r>
              <a:rPr sz="1550" spc="-25" dirty="0">
                <a:latin typeface="Calibri"/>
                <a:cs typeface="Calibri"/>
              </a:rPr>
              <a:t>SSO</a:t>
            </a:r>
            <a:endParaRPr sz="1550">
              <a:latin typeface="Calibri"/>
              <a:cs typeface="Calibri"/>
            </a:endParaRPr>
          </a:p>
          <a:p>
            <a:pPr marL="241300">
              <a:lnSpc>
                <a:spcPts val="1660"/>
              </a:lnSpc>
            </a:pPr>
            <a:r>
              <a:rPr sz="1550" dirty="0">
                <a:latin typeface="Calibri"/>
                <a:cs typeface="Calibri"/>
              </a:rPr>
              <a:t>orbits</a:t>
            </a:r>
            <a:r>
              <a:rPr sz="1550" spc="70" dirty="0">
                <a:latin typeface="Calibri"/>
                <a:cs typeface="Calibri"/>
              </a:rPr>
              <a:t> </a:t>
            </a:r>
            <a:r>
              <a:rPr sz="1550" dirty="0">
                <a:latin typeface="Calibri"/>
                <a:cs typeface="Calibri"/>
              </a:rPr>
              <a:t>have</a:t>
            </a:r>
            <a:r>
              <a:rPr sz="1550" spc="60" dirty="0">
                <a:latin typeface="Calibri"/>
                <a:cs typeface="Calibri"/>
              </a:rPr>
              <a:t> </a:t>
            </a:r>
            <a:r>
              <a:rPr sz="1550" dirty="0">
                <a:latin typeface="Calibri"/>
                <a:cs typeface="Calibri"/>
              </a:rPr>
              <a:t>achieved</a:t>
            </a:r>
            <a:r>
              <a:rPr sz="1550" spc="90" dirty="0">
                <a:latin typeface="Calibri"/>
                <a:cs typeface="Calibri"/>
              </a:rPr>
              <a:t> </a:t>
            </a:r>
            <a:r>
              <a:rPr sz="1550" dirty="0">
                <a:latin typeface="Calibri"/>
                <a:cs typeface="Calibri"/>
              </a:rPr>
              <a:t>a</a:t>
            </a:r>
            <a:r>
              <a:rPr sz="1550" spc="95" dirty="0">
                <a:latin typeface="Calibri"/>
                <a:cs typeface="Calibri"/>
              </a:rPr>
              <a:t> </a:t>
            </a:r>
            <a:r>
              <a:rPr sz="1550" spc="-10" dirty="0">
                <a:latin typeface="Calibri"/>
                <a:cs typeface="Calibri"/>
              </a:rPr>
              <a:t>perfect</a:t>
            </a:r>
            <a:endParaRPr sz="1550">
              <a:latin typeface="Calibri"/>
              <a:cs typeface="Calibri"/>
            </a:endParaRPr>
          </a:p>
          <a:p>
            <a:pPr marL="241300" marR="5080">
              <a:lnSpc>
                <a:spcPts val="1730"/>
              </a:lnSpc>
              <a:spcBef>
                <a:spcPts val="140"/>
              </a:spcBef>
            </a:pPr>
            <a:r>
              <a:rPr sz="1550" dirty="0">
                <a:latin typeface="Calibri"/>
                <a:cs typeface="Calibri"/>
              </a:rPr>
              <a:t>success</a:t>
            </a:r>
            <a:r>
              <a:rPr sz="1550" spc="85" dirty="0">
                <a:latin typeface="Calibri"/>
                <a:cs typeface="Calibri"/>
              </a:rPr>
              <a:t> </a:t>
            </a:r>
            <a:r>
              <a:rPr sz="1550" dirty="0">
                <a:latin typeface="Calibri"/>
                <a:cs typeface="Calibri"/>
              </a:rPr>
              <a:t>rate,</a:t>
            </a:r>
            <a:r>
              <a:rPr sz="1550" spc="90" dirty="0">
                <a:latin typeface="Calibri"/>
                <a:cs typeface="Calibri"/>
              </a:rPr>
              <a:t> </a:t>
            </a:r>
            <a:r>
              <a:rPr sz="1550" dirty="0">
                <a:latin typeface="Calibri"/>
                <a:cs typeface="Calibri"/>
              </a:rPr>
              <a:t>indicating</a:t>
            </a:r>
            <a:r>
              <a:rPr sz="1550" spc="125" dirty="0">
                <a:latin typeface="Calibri"/>
                <a:cs typeface="Calibri"/>
              </a:rPr>
              <a:t> </a:t>
            </a:r>
            <a:r>
              <a:rPr sz="1550" dirty="0">
                <a:latin typeface="Calibri"/>
                <a:cs typeface="Calibri"/>
              </a:rPr>
              <a:t>these</a:t>
            </a:r>
            <a:r>
              <a:rPr sz="1550" spc="75" dirty="0">
                <a:latin typeface="Calibri"/>
                <a:cs typeface="Calibri"/>
              </a:rPr>
              <a:t> </a:t>
            </a:r>
            <a:r>
              <a:rPr sz="1550" spc="-10" dirty="0">
                <a:latin typeface="Calibri"/>
                <a:cs typeface="Calibri"/>
              </a:rPr>
              <a:t>orbits </a:t>
            </a:r>
            <a:r>
              <a:rPr sz="1550" dirty="0">
                <a:latin typeface="Calibri"/>
                <a:cs typeface="Calibri"/>
              </a:rPr>
              <a:t>are</a:t>
            </a:r>
            <a:r>
              <a:rPr sz="1550" spc="150" dirty="0">
                <a:latin typeface="Calibri"/>
                <a:cs typeface="Calibri"/>
              </a:rPr>
              <a:t> </a:t>
            </a:r>
            <a:r>
              <a:rPr sz="1550" dirty="0">
                <a:latin typeface="Calibri"/>
                <a:cs typeface="Calibri"/>
              </a:rPr>
              <a:t>highly</a:t>
            </a:r>
            <a:r>
              <a:rPr sz="1550" spc="55" dirty="0">
                <a:latin typeface="Calibri"/>
                <a:cs typeface="Calibri"/>
              </a:rPr>
              <a:t> </a:t>
            </a:r>
            <a:r>
              <a:rPr sz="1550" dirty="0">
                <a:latin typeface="Calibri"/>
                <a:cs typeface="Calibri"/>
              </a:rPr>
              <a:t>reliable</a:t>
            </a:r>
            <a:r>
              <a:rPr sz="1550" spc="150" dirty="0">
                <a:latin typeface="Calibri"/>
                <a:cs typeface="Calibri"/>
              </a:rPr>
              <a:t> </a:t>
            </a:r>
            <a:r>
              <a:rPr sz="1550" dirty="0">
                <a:latin typeface="Calibri"/>
                <a:cs typeface="Calibri"/>
              </a:rPr>
              <a:t>for</a:t>
            </a:r>
            <a:r>
              <a:rPr sz="1550" spc="75" dirty="0">
                <a:latin typeface="Calibri"/>
                <a:cs typeface="Calibri"/>
              </a:rPr>
              <a:t> </a:t>
            </a:r>
            <a:r>
              <a:rPr sz="1550" dirty="0">
                <a:latin typeface="Calibri"/>
                <a:cs typeface="Calibri"/>
              </a:rPr>
              <a:t>successful</a:t>
            </a:r>
            <a:r>
              <a:rPr sz="1550" spc="30" dirty="0">
                <a:latin typeface="Calibri"/>
                <a:cs typeface="Calibri"/>
              </a:rPr>
              <a:t> </a:t>
            </a:r>
            <a:r>
              <a:rPr sz="1550" spc="-20" dirty="0">
                <a:latin typeface="Calibri"/>
                <a:cs typeface="Calibri"/>
              </a:rPr>
              <a:t>first </a:t>
            </a:r>
            <a:r>
              <a:rPr sz="1550" dirty="0">
                <a:latin typeface="Calibri"/>
                <a:cs typeface="Calibri"/>
              </a:rPr>
              <a:t>stage</a:t>
            </a:r>
            <a:r>
              <a:rPr sz="1550" spc="5" dirty="0">
                <a:latin typeface="Calibri"/>
                <a:cs typeface="Calibri"/>
              </a:rPr>
              <a:t> </a:t>
            </a:r>
            <a:r>
              <a:rPr sz="1550" spc="-10" dirty="0">
                <a:latin typeface="Calibri"/>
                <a:cs typeface="Calibri"/>
              </a:rPr>
              <a:t>landings.</a:t>
            </a:r>
            <a:endParaRPr sz="1550">
              <a:latin typeface="Calibri"/>
              <a:cs typeface="Calibri"/>
            </a:endParaRPr>
          </a:p>
          <a:p>
            <a:pPr marL="241300" marR="55880" indent="-229235">
              <a:lnSpc>
                <a:spcPts val="1730"/>
              </a:lnSpc>
              <a:spcBef>
                <a:spcPts val="965"/>
              </a:spcBef>
              <a:buFont typeface="Arial MT"/>
              <a:buChar char="•"/>
              <a:tabLst>
                <a:tab pos="241300" algn="l"/>
              </a:tabLst>
            </a:pPr>
            <a:r>
              <a:rPr sz="1550" b="1" dirty="0">
                <a:latin typeface="Calibri"/>
                <a:cs typeface="Calibri"/>
              </a:rPr>
              <a:t>Lower</a:t>
            </a:r>
            <a:r>
              <a:rPr sz="1550" b="1" spc="45" dirty="0">
                <a:latin typeface="Calibri"/>
                <a:cs typeface="Calibri"/>
              </a:rPr>
              <a:t> </a:t>
            </a:r>
            <a:r>
              <a:rPr sz="1550" b="1" dirty="0">
                <a:latin typeface="Calibri"/>
                <a:cs typeface="Calibri"/>
              </a:rPr>
              <a:t>Success</a:t>
            </a:r>
            <a:r>
              <a:rPr sz="1550" b="1" spc="60" dirty="0">
                <a:latin typeface="Calibri"/>
                <a:cs typeface="Calibri"/>
              </a:rPr>
              <a:t> </a:t>
            </a:r>
            <a:r>
              <a:rPr sz="1550" b="1" dirty="0">
                <a:latin typeface="Calibri"/>
                <a:cs typeface="Calibri"/>
              </a:rPr>
              <a:t>Rate</a:t>
            </a:r>
            <a:r>
              <a:rPr sz="1550" b="1" spc="35" dirty="0">
                <a:latin typeface="Calibri"/>
                <a:cs typeface="Calibri"/>
              </a:rPr>
              <a:t> </a:t>
            </a:r>
            <a:r>
              <a:rPr sz="1550" b="1" dirty="0">
                <a:latin typeface="Calibri"/>
                <a:cs typeface="Calibri"/>
              </a:rPr>
              <a:t>for</a:t>
            </a:r>
            <a:r>
              <a:rPr sz="1550" b="1" spc="140" dirty="0">
                <a:latin typeface="Calibri"/>
                <a:cs typeface="Calibri"/>
              </a:rPr>
              <a:t> </a:t>
            </a:r>
            <a:r>
              <a:rPr sz="1550" b="1" dirty="0">
                <a:latin typeface="Calibri"/>
                <a:cs typeface="Calibri"/>
              </a:rPr>
              <a:t>GTO:</a:t>
            </a:r>
            <a:r>
              <a:rPr sz="1550" b="1" spc="110" dirty="0">
                <a:latin typeface="Calibri"/>
                <a:cs typeface="Calibri"/>
              </a:rPr>
              <a:t> </a:t>
            </a:r>
            <a:r>
              <a:rPr sz="1550" spc="-25" dirty="0">
                <a:latin typeface="Calibri"/>
                <a:cs typeface="Calibri"/>
              </a:rPr>
              <a:t>The </a:t>
            </a:r>
            <a:r>
              <a:rPr sz="1550" dirty="0">
                <a:latin typeface="Calibri"/>
                <a:cs typeface="Calibri"/>
              </a:rPr>
              <a:t>GTO</a:t>
            </a:r>
            <a:r>
              <a:rPr sz="1550" spc="75" dirty="0">
                <a:latin typeface="Calibri"/>
                <a:cs typeface="Calibri"/>
              </a:rPr>
              <a:t> </a:t>
            </a:r>
            <a:r>
              <a:rPr sz="1550" dirty="0">
                <a:latin typeface="Calibri"/>
                <a:cs typeface="Calibri"/>
              </a:rPr>
              <a:t>orbit</a:t>
            </a:r>
            <a:r>
              <a:rPr sz="1550" spc="70" dirty="0">
                <a:latin typeface="Calibri"/>
                <a:cs typeface="Calibri"/>
              </a:rPr>
              <a:t> </a:t>
            </a:r>
            <a:r>
              <a:rPr sz="1550" dirty="0">
                <a:latin typeface="Calibri"/>
                <a:cs typeface="Calibri"/>
              </a:rPr>
              <a:t>type</a:t>
            </a:r>
            <a:r>
              <a:rPr sz="1550" spc="25" dirty="0">
                <a:latin typeface="Calibri"/>
                <a:cs typeface="Calibri"/>
              </a:rPr>
              <a:t> </a:t>
            </a:r>
            <a:r>
              <a:rPr sz="1550" dirty="0">
                <a:latin typeface="Calibri"/>
                <a:cs typeface="Calibri"/>
              </a:rPr>
              <a:t>shows</a:t>
            </a:r>
            <a:r>
              <a:rPr sz="1550" spc="135" dirty="0">
                <a:latin typeface="Calibri"/>
                <a:cs typeface="Calibri"/>
              </a:rPr>
              <a:t> </a:t>
            </a:r>
            <a:r>
              <a:rPr sz="1550" dirty="0">
                <a:latin typeface="Calibri"/>
                <a:cs typeface="Calibri"/>
              </a:rPr>
              <a:t>a</a:t>
            </a:r>
            <a:r>
              <a:rPr sz="1550" spc="65" dirty="0">
                <a:latin typeface="Calibri"/>
                <a:cs typeface="Calibri"/>
              </a:rPr>
              <a:t> </a:t>
            </a:r>
            <a:r>
              <a:rPr sz="1550" spc="-10" dirty="0">
                <a:latin typeface="Calibri"/>
                <a:cs typeface="Calibri"/>
              </a:rPr>
              <a:t>significantly </a:t>
            </a:r>
            <a:r>
              <a:rPr sz="1550" dirty="0">
                <a:latin typeface="Calibri"/>
                <a:cs typeface="Calibri"/>
              </a:rPr>
              <a:t>lower</a:t>
            </a:r>
            <a:r>
              <a:rPr sz="1550" spc="105" dirty="0">
                <a:latin typeface="Calibri"/>
                <a:cs typeface="Calibri"/>
              </a:rPr>
              <a:t> </a:t>
            </a:r>
            <a:r>
              <a:rPr sz="1550" dirty="0">
                <a:latin typeface="Calibri"/>
                <a:cs typeface="Calibri"/>
              </a:rPr>
              <a:t>success</a:t>
            </a:r>
            <a:r>
              <a:rPr sz="1550" spc="114" dirty="0">
                <a:latin typeface="Calibri"/>
                <a:cs typeface="Calibri"/>
              </a:rPr>
              <a:t> </a:t>
            </a:r>
            <a:r>
              <a:rPr sz="1550" dirty="0">
                <a:latin typeface="Calibri"/>
                <a:cs typeface="Calibri"/>
              </a:rPr>
              <a:t>rate</a:t>
            </a:r>
            <a:r>
              <a:rPr sz="1550" spc="90" dirty="0">
                <a:latin typeface="Calibri"/>
                <a:cs typeface="Calibri"/>
              </a:rPr>
              <a:t> </a:t>
            </a:r>
            <a:r>
              <a:rPr sz="1550" dirty="0">
                <a:latin typeface="Calibri"/>
                <a:cs typeface="Calibri"/>
              </a:rPr>
              <a:t>compared</a:t>
            </a:r>
            <a:r>
              <a:rPr sz="1550" spc="130" dirty="0">
                <a:latin typeface="Calibri"/>
                <a:cs typeface="Calibri"/>
              </a:rPr>
              <a:t> </a:t>
            </a:r>
            <a:r>
              <a:rPr sz="1550" spc="-25" dirty="0">
                <a:latin typeface="Calibri"/>
                <a:cs typeface="Calibri"/>
              </a:rPr>
              <a:t>to </a:t>
            </a:r>
            <a:r>
              <a:rPr sz="1550" dirty="0">
                <a:latin typeface="Calibri"/>
                <a:cs typeface="Calibri"/>
              </a:rPr>
              <a:t>other</a:t>
            </a:r>
            <a:r>
              <a:rPr sz="1550" spc="170" dirty="0">
                <a:latin typeface="Calibri"/>
                <a:cs typeface="Calibri"/>
              </a:rPr>
              <a:t> </a:t>
            </a:r>
            <a:r>
              <a:rPr sz="1550" dirty="0">
                <a:latin typeface="Calibri"/>
                <a:cs typeface="Calibri"/>
              </a:rPr>
              <a:t>orbit</a:t>
            </a:r>
            <a:r>
              <a:rPr sz="1550" spc="105" dirty="0">
                <a:latin typeface="Calibri"/>
                <a:cs typeface="Calibri"/>
              </a:rPr>
              <a:t> </a:t>
            </a:r>
            <a:r>
              <a:rPr sz="1550" dirty="0">
                <a:latin typeface="Calibri"/>
                <a:cs typeface="Calibri"/>
              </a:rPr>
              <a:t>types,</a:t>
            </a:r>
            <a:r>
              <a:rPr sz="1550" spc="90" dirty="0">
                <a:latin typeface="Calibri"/>
                <a:cs typeface="Calibri"/>
              </a:rPr>
              <a:t> </a:t>
            </a:r>
            <a:r>
              <a:rPr sz="1550" dirty="0">
                <a:latin typeface="Calibri"/>
                <a:cs typeface="Calibri"/>
              </a:rPr>
              <a:t>suggesting</a:t>
            </a:r>
            <a:r>
              <a:rPr sz="1550" spc="114" dirty="0">
                <a:latin typeface="Calibri"/>
                <a:cs typeface="Calibri"/>
              </a:rPr>
              <a:t> </a:t>
            </a:r>
            <a:r>
              <a:rPr sz="1550" spc="-20" dirty="0">
                <a:latin typeface="Calibri"/>
                <a:cs typeface="Calibri"/>
              </a:rPr>
              <a:t>that </a:t>
            </a:r>
            <a:r>
              <a:rPr sz="1550" dirty="0">
                <a:latin typeface="Calibri"/>
                <a:cs typeface="Calibri"/>
              </a:rPr>
              <a:t>missions</a:t>
            </a:r>
            <a:r>
              <a:rPr sz="1550" spc="60" dirty="0">
                <a:latin typeface="Calibri"/>
                <a:cs typeface="Calibri"/>
              </a:rPr>
              <a:t> </a:t>
            </a:r>
            <a:r>
              <a:rPr sz="1550" dirty="0">
                <a:latin typeface="Calibri"/>
                <a:cs typeface="Calibri"/>
              </a:rPr>
              <a:t>to</a:t>
            </a:r>
            <a:r>
              <a:rPr sz="1550" spc="75" dirty="0">
                <a:latin typeface="Calibri"/>
                <a:cs typeface="Calibri"/>
              </a:rPr>
              <a:t> </a:t>
            </a:r>
            <a:r>
              <a:rPr sz="1550" dirty="0">
                <a:latin typeface="Calibri"/>
                <a:cs typeface="Calibri"/>
              </a:rPr>
              <a:t>this</a:t>
            </a:r>
            <a:r>
              <a:rPr sz="1550" spc="65" dirty="0">
                <a:latin typeface="Calibri"/>
                <a:cs typeface="Calibri"/>
              </a:rPr>
              <a:t> </a:t>
            </a:r>
            <a:r>
              <a:rPr sz="1550" dirty="0">
                <a:latin typeface="Calibri"/>
                <a:cs typeface="Calibri"/>
              </a:rPr>
              <a:t>orbit</a:t>
            </a:r>
            <a:r>
              <a:rPr sz="1550" spc="90" dirty="0">
                <a:latin typeface="Calibri"/>
                <a:cs typeface="Calibri"/>
              </a:rPr>
              <a:t> </a:t>
            </a:r>
            <a:r>
              <a:rPr sz="1550" dirty="0">
                <a:latin typeface="Calibri"/>
                <a:cs typeface="Calibri"/>
              </a:rPr>
              <a:t>may</a:t>
            </a:r>
            <a:r>
              <a:rPr sz="1550" spc="125" dirty="0">
                <a:latin typeface="Calibri"/>
                <a:cs typeface="Calibri"/>
              </a:rPr>
              <a:t> </a:t>
            </a:r>
            <a:r>
              <a:rPr sz="1550" spc="-10" dirty="0">
                <a:latin typeface="Calibri"/>
                <a:cs typeface="Calibri"/>
              </a:rPr>
              <a:t>involve </a:t>
            </a:r>
            <a:r>
              <a:rPr sz="1550" dirty="0">
                <a:latin typeface="Calibri"/>
                <a:cs typeface="Calibri"/>
              </a:rPr>
              <a:t>greater</a:t>
            </a:r>
            <a:r>
              <a:rPr sz="1550" spc="165" dirty="0">
                <a:latin typeface="Calibri"/>
                <a:cs typeface="Calibri"/>
              </a:rPr>
              <a:t> </a:t>
            </a:r>
            <a:r>
              <a:rPr sz="1550" dirty="0">
                <a:latin typeface="Calibri"/>
                <a:cs typeface="Calibri"/>
              </a:rPr>
              <a:t>challenges</a:t>
            </a:r>
            <a:r>
              <a:rPr sz="1550" spc="90" dirty="0">
                <a:latin typeface="Calibri"/>
                <a:cs typeface="Calibri"/>
              </a:rPr>
              <a:t> </a:t>
            </a:r>
            <a:r>
              <a:rPr sz="1550" dirty="0">
                <a:latin typeface="Calibri"/>
                <a:cs typeface="Calibri"/>
              </a:rPr>
              <a:t>or</a:t>
            </a:r>
            <a:r>
              <a:rPr sz="1550" spc="75" dirty="0">
                <a:latin typeface="Calibri"/>
                <a:cs typeface="Calibri"/>
              </a:rPr>
              <a:t> </a:t>
            </a:r>
            <a:r>
              <a:rPr sz="1550" spc="-10" dirty="0">
                <a:latin typeface="Calibri"/>
                <a:cs typeface="Calibri"/>
              </a:rPr>
              <a:t>complexities.</a:t>
            </a:r>
            <a:endParaRPr sz="1550">
              <a:latin typeface="Calibri"/>
              <a:cs typeface="Calibri"/>
            </a:endParaRPr>
          </a:p>
        </p:txBody>
      </p:sp>
      <p:pic>
        <p:nvPicPr>
          <p:cNvPr id="7" name="object 7"/>
          <p:cNvPicPr/>
          <p:nvPr/>
        </p:nvPicPr>
        <p:blipFill>
          <a:blip r:embed="rId2" cstate="print"/>
          <a:stretch>
            <a:fillRect/>
          </a:stretch>
        </p:blipFill>
        <p:spPr>
          <a:xfrm>
            <a:off x="4708307" y="1458313"/>
            <a:ext cx="6834276" cy="4009036"/>
          </a:xfrm>
          <a:prstGeom prst="rect">
            <a:avLst/>
          </a:prstGeom>
        </p:spPr>
      </p:pic>
      <p:sp>
        <p:nvSpPr>
          <p:cNvPr id="8" name="object 8"/>
          <p:cNvSpPr txBox="1"/>
          <p:nvPr/>
        </p:nvSpPr>
        <p:spPr>
          <a:xfrm>
            <a:off x="11076051" y="6472554"/>
            <a:ext cx="241300" cy="177800"/>
          </a:xfrm>
          <a:prstGeom prst="rect">
            <a:avLst/>
          </a:prstGeom>
        </p:spPr>
        <p:txBody>
          <a:bodyPr vert="horz" wrap="square" lIns="0" tIns="0" rIns="0" bIns="0" rtlCol="0">
            <a:spAutoFit/>
          </a:bodyPr>
          <a:lstStyle/>
          <a:p>
            <a:pPr marL="38100">
              <a:lnSpc>
                <a:spcPts val="1240"/>
              </a:lnSpc>
            </a:pPr>
            <a:fld id="{81D60167-4931-47E6-BA6A-407CBD079E47}" type="slidenum">
              <a:rPr sz="1200" spc="-25" dirty="0">
                <a:solidFill>
                  <a:srgbClr val="888888"/>
                </a:solidFill>
                <a:latin typeface="Calibri"/>
                <a:cs typeface="Calibri"/>
              </a:rPr>
              <a:t>26</a:t>
            </a:fld>
            <a:endParaRPr sz="1200">
              <a:latin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0247" y="1054480"/>
            <a:ext cx="3085465" cy="1238885"/>
          </a:xfrm>
          <a:prstGeom prst="rect">
            <a:avLst/>
          </a:prstGeom>
        </p:spPr>
        <p:txBody>
          <a:bodyPr vert="horz" wrap="square" lIns="0" tIns="89535" rIns="0" bIns="0" rtlCol="0">
            <a:spAutoFit/>
          </a:bodyPr>
          <a:lstStyle/>
          <a:p>
            <a:pPr marL="12700" marR="5080">
              <a:lnSpc>
                <a:spcPts val="4500"/>
              </a:lnSpc>
              <a:spcBef>
                <a:spcPts val="705"/>
              </a:spcBef>
            </a:pPr>
            <a:r>
              <a:rPr sz="4200" dirty="0">
                <a:solidFill>
                  <a:srgbClr val="000000"/>
                </a:solidFill>
                <a:latin typeface="Calibri Light"/>
                <a:cs typeface="Calibri Light"/>
              </a:rPr>
              <a:t>Flight</a:t>
            </a:r>
            <a:r>
              <a:rPr sz="4200" spc="-165" dirty="0">
                <a:solidFill>
                  <a:srgbClr val="000000"/>
                </a:solidFill>
                <a:latin typeface="Calibri Light"/>
                <a:cs typeface="Calibri Light"/>
              </a:rPr>
              <a:t> </a:t>
            </a:r>
            <a:r>
              <a:rPr sz="4200" spc="-10" dirty="0">
                <a:solidFill>
                  <a:srgbClr val="000000"/>
                </a:solidFill>
                <a:latin typeface="Calibri Light"/>
                <a:cs typeface="Calibri Light"/>
              </a:rPr>
              <a:t>Number </a:t>
            </a:r>
            <a:r>
              <a:rPr sz="4200" dirty="0">
                <a:solidFill>
                  <a:srgbClr val="000000"/>
                </a:solidFill>
                <a:latin typeface="Calibri Light"/>
                <a:cs typeface="Calibri Light"/>
              </a:rPr>
              <a:t>vs.</a:t>
            </a:r>
            <a:r>
              <a:rPr sz="4200" spc="-60" dirty="0">
                <a:solidFill>
                  <a:srgbClr val="000000"/>
                </a:solidFill>
                <a:latin typeface="Calibri Light"/>
                <a:cs typeface="Calibri Light"/>
              </a:rPr>
              <a:t> </a:t>
            </a:r>
            <a:r>
              <a:rPr sz="4200" dirty="0">
                <a:solidFill>
                  <a:srgbClr val="000000"/>
                </a:solidFill>
                <a:latin typeface="Calibri Light"/>
                <a:cs typeface="Calibri Light"/>
              </a:rPr>
              <a:t>Orbit</a:t>
            </a:r>
            <a:r>
              <a:rPr sz="4200" spc="-30" dirty="0">
                <a:solidFill>
                  <a:srgbClr val="000000"/>
                </a:solidFill>
                <a:latin typeface="Calibri Light"/>
                <a:cs typeface="Calibri Light"/>
              </a:rPr>
              <a:t> </a:t>
            </a:r>
            <a:r>
              <a:rPr sz="4200" spc="-20" dirty="0">
                <a:solidFill>
                  <a:srgbClr val="000000"/>
                </a:solidFill>
                <a:latin typeface="Calibri Light"/>
                <a:cs typeface="Calibri Light"/>
              </a:rPr>
              <a:t>Type</a:t>
            </a:r>
            <a:endParaRPr sz="4200">
              <a:latin typeface="Calibri Light"/>
              <a:cs typeface="Calibri Light"/>
            </a:endParaRPr>
          </a:p>
        </p:txBody>
      </p:sp>
      <p:grpSp>
        <p:nvGrpSpPr>
          <p:cNvPr id="3" name="object 3"/>
          <p:cNvGrpSpPr/>
          <p:nvPr/>
        </p:nvGrpSpPr>
        <p:grpSpPr>
          <a:xfrm>
            <a:off x="628446" y="2536412"/>
            <a:ext cx="3286760" cy="86995"/>
            <a:chOff x="628446" y="2536412"/>
            <a:chExt cx="3286760" cy="86995"/>
          </a:xfrm>
        </p:grpSpPr>
        <p:sp>
          <p:nvSpPr>
            <p:cNvPr id="4" name="object 4"/>
            <p:cNvSpPr/>
            <p:nvPr/>
          </p:nvSpPr>
          <p:spPr>
            <a:xfrm>
              <a:off x="647700" y="2560500"/>
              <a:ext cx="3248660" cy="41275"/>
            </a:xfrm>
            <a:custGeom>
              <a:avLst/>
              <a:gdLst/>
              <a:ahLst/>
              <a:cxnLst/>
              <a:rect l="l" t="t" r="r" b="b"/>
              <a:pathLst>
                <a:path w="3248660" h="41275">
                  <a:moveTo>
                    <a:pt x="949776" y="28"/>
                  </a:moveTo>
                  <a:lnTo>
                    <a:pt x="908617" y="0"/>
                  </a:lnTo>
                  <a:lnTo>
                    <a:pt x="868796" y="772"/>
                  </a:lnTo>
                  <a:lnTo>
                    <a:pt x="828237" y="2192"/>
                  </a:lnTo>
                  <a:lnTo>
                    <a:pt x="681380" y="8787"/>
                  </a:lnTo>
                  <a:lnTo>
                    <a:pt x="557024" y="13502"/>
                  </a:lnTo>
                  <a:lnTo>
                    <a:pt x="408641" y="19688"/>
                  </a:lnTo>
                  <a:lnTo>
                    <a:pt x="365138" y="21166"/>
                  </a:lnTo>
                  <a:lnTo>
                    <a:pt x="322275" y="22155"/>
                  </a:lnTo>
                  <a:lnTo>
                    <a:pt x="278650" y="22539"/>
                  </a:lnTo>
                  <a:lnTo>
                    <a:pt x="232860" y="22199"/>
                  </a:lnTo>
                  <a:lnTo>
                    <a:pt x="183503" y="21018"/>
                  </a:lnTo>
                  <a:lnTo>
                    <a:pt x="129176" y="18878"/>
                  </a:lnTo>
                  <a:lnTo>
                    <a:pt x="68475" y="15661"/>
                  </a:lnTo>
                  <a:lnTo>
                    <a:pt x="0" y="11249"/>
                  </a:lnTo>
                  <a:lnTo>
                    <a:pt x="368" y="18488"/>
                  </a:lnTo>
                  <a:lnTo>
                    <a:pt x="838" y="21282"/>
                  </a:lnTo>
                  <a:lnTo>
                    <a:pt x="0" y="30299"/>
                  </a:lnTo>
                  <a:lnTo>
                    <a:pt x="45362" y="30022"/>
                  </a:lnTo>
                  <a:lnTo>
                    <a:pt x="90248" y="30127"/>
                  </a:lnTo>
                  <a:lnTo>
                    <a:pt x="135110" y="30523"/>
                  </a:lnTo>
                  <a:lnTo>
                    <a:pt x="274084" y="32535"/>
                  </a:lnTo>
                  <a:lnTo>
                    <a:pt x="374923" y="33650"/>
                  </a:lnTo>
                  <a:lnTo>
                    <a:pt x="429158" y="33864"/>
                  </a:lnTo>
                  <a:lnTo>
                    <a:pt x="486542" y="33728"/>
                  </a:lnTo>
                  <a:lnTo>
                    <a:pt x="547528" y="33149"/>
                  </a:lnTo>
                  <a:lnTo>
                    <a:pt x="612568" y="32037"/>
                  </a:lnTo>
                  <a:lnTo>
                    <a:pt x="750859" y="28722"/>
                  </a:lnTo>
                  <a:lnTo>
                    <a:pt x="813691" y="28037"/>
                  </a:lnTo>
                  <a:lnTo>
                    <a:pt x="871372" y="28072"/>
                  </a:lnTo>
                  <a:lnTo>
                    <a:pt x="924660" y="28657"/>
                  </a:lnTo>
                  <a:lnTo>
                    <a:pt x="974313" y="29619"/>
                  </a:lnTo>
                  <a:lnTo>
                    <a:pt x="1109052" y="33053"/>
                  </a:lnTo>
                  <a:lnTo>
                    <a:pt x="1151752" y="33808"/>
                  </a:lnTo>
                  <a:lnTo>
                    <a:pt x="1194611" y="34081"/>
                  </a:lnTo>
                  <a:lnTo>
                    <a:pt x="1238386" y="33702"/>
                  </a:lnTo>
                  <a:lnTo>
                    <a:pt x="1283837" y="32499"/>
                  </a:lnTo>
                  <a:lnTo>
                    <a:pt x="1386092" y="27577"/>
                  </a:lnTo>
                  <a:lnTo>
                    <a:pt x="1433891" y="25827"/>
                  </a:lnTo>
                  <a:lnTo>
                    <a:pt x="1477030" y="24906"/>
                  </a:lnTo>
                  <a:lnTo>
                    <a:pt x="1517422" y="24673"/>
                  </a:lnTo>
                  <a:lnTo>
                    <a:pt x="1556977" y="24983"/>
                  </a:lnTo>
                  <a:lnTo>
                    <a:pt x="1745064" y="28820"/>
                  </a:lnTo>
                  <a:lnTo>
                    <a:pt x="1809111" y="29715"/>
                  </a:lnTo>
                  <a:lnTo>
                    <a:pt x="1883791" y="30299"/>
                  </a:lnTo>
                  <a:lnTo>
                    <a:pt x="1946653" y="30200"/>
                  </a:lnTo>
                  <a:lnTo>
                    <a:pt x="2008365" y="29419"/>
                  </a:lnTo>
                  <a:lnTo>
                    <a:pt x="2068759" y="28132"/>
                  </a:lnTo>
                  <a:lnTo>
                    <a:pt x="2127670" y="26511"/>
                  </a:lnTo>
                  <a:lnTo>
                    <a:pt x="2293826" y="21393"/>
                  </a:lnTo>
                  <a:lnTo>
                    <a:pt x="2345130" y="20182"/>
                  </a:lnTo>
                  <a:lnTo>
                    <a:pt x="2394115" y="19509"/>
                  </a:lnTo>
                  <a:lnTo>
                    <a:pt x="2440615" y="19547"/>
                  </a:lnTo>
                  <a:lnTo>
                    <a:pt x="2484462" y="20471"/>
                  </a:lnTo>
                  <a:lnTo>
                    <a:pt x="2525490" y="22455"/>
                  </a:lnTo>
                  <a:lnTo>
                    <a:pt x="2563531" y="25673"/>
                  </a:lnTo>
                  <a:lnTo>
                    <a:pt x="2598420" y="30299"/>
                  </a:lnTo>
                  <a:lnTo>
                    <a:pt x="2637678" y="35217"/>
                  </a:lnTo>
                  <a:lnTo>
                    <a:pt x="2683041" y="38509"/>
                  </a:lnTo>
                  <a:lnTo>
                    <a:pt x="2733329" y="40397"/>
                  </a:lnTo>
                  <a:lnTo>
                    <a:pt x="2787366" y="41100"/>
                  </a:lnTo>
                  <a:lnTo>
                    <a:pt x="2843974" y="40836"/>
                  </a:lnTo>
                  <a:lnTo>
                    <a:pt x="2901974" y="39826"/>
                  </a:lnTo>
                  <a:lnTo>
                    <a:pt x="2960188" y="38289"/>
                  </a:lnTo>
                  <a:lnTo>
                    <a:pt x="3171637" y="31264"/>
                  </a:lnTo>
                  <a:lnTo>
                    <a:pt x="3213257" y="30387"/>
                  </a:lnTo>
                  <a:lnTo>
                    <a:pt x="3248025" y="30299"/>
                  </a:lnTo>
                  <a:lnTo>
                    <a:pt x="3248405" y="21155"/>
                  </a:lnTo>
                  <a:lnTo>
                    <a:pt x="3247771" y="15948"/>
                  </a:lnTo>
                  <a:lnTo>
                    <a:pt x="3248025" y="11249"/>
                  </a:lnTo>
                  <a:lnTo>
                    <a:pt x="3194449" y="16484"/>
                  </a:lnTo>
                  <a:lnTo>
                    <a:pt x="3139700" y="19729"/>
                  </a:lnTo>
                  <a:lnTo>
                    <a:pt x="3084174" y="21271"/>
                  </a:lnTo>
                  <a:lnTo>
                    <a:pt x="3028265" y="21397"/>
                  </a:lnTo>
                  <a:lnTo>
                    <a:pt x="2972369" y="20393"/>
                  </a:lnTo>
                  <a:lnTo>
                    <a:pt x="2916880" y="18546"/>
                  </a:lnTo>
                  <a:lnTo>
                    <a:pt x="2862193" y="16142"/>
                  </a:lnTo>
                  <a:lnTo>
                    <a:pt x="2706901" y="8455"/>
                  </a:lnTo>
                  <a:lnTo>
                    <a:pt x="2659376" y="6689"/>
                  </a:lnTo>
                  <a:lnTo>
                    <a:pt x="2614630" y="5799"/>
                  </a:lnTo>
                  <a:lnTo>
                    <a:pt x="2573057" y="6072"/>
                  </a:lnTo>
                  <a:lnTo>
                    <a:pt x="2535052" y="7793"/>
                  </a:lnTo>
                  <a:lnTo>
                    <a:pt x="2458042" y="15697"/>
                  </a:lnTo>
                  <a:lnTo>
                    <a:pt x="2409773" y="18217"/>
                  </a:lnTo>
                  <a:lnTo>
                    <a:pt x="2357332" y="19143"/>
                  </a:lnTo>
                  <a:lnTo>
                    <a:pt x="2301846" y="18813"/>
                  </a:lnTo>
                  <a:lnTo>
                    <a:pt x="2244445" y="17562"/>
                  </a:lnTo>
                  <a:lnTo>
                    <a:pt x="2186257" y="15726"/>
                  </a:lnTo>
                  <a:lnTo>
                    <a:pt x="2072033" y="11644"/>
                  </a:lnTo>
                  <a:lnTo>
                    <a:pt x="2018254" y="10070"/>
                  </a:lnTo>
                  <a:lnTo>
                    <a:pt x="1968201" y="9256"/>
                  </a:lnTo>
                  <a:lnTo>
                    <a:pt x="1923004" y="9537"/>
                  </a:lnTo>
                  <a:lnTo>
                    <a:pt x="1883791" y="11249"/>
                  </a:lnTo>
                  <a:lnTo>
                    <a:pt x="1850698" y="13415"/>
                  </a:lnTo>
                  <a:lnTo>
                    <a:pt x="1813107" y="15515"/>
                  </a:lnTo>
                  <a:lnTo>
                    <a:pt x="1771452" y="17481"/>
                  </a:lnTo>
                  <a:lnTo>
                    <a:pt x="1726167" y="19247"/>
                  </a:lnTo>
                  <a:lnTo>
                    <a:pt x="1677686" y="20746"/>
                  </a:lnTo>
                  <a:lnTo>
                    <a:pt x="1626446" y="21913"/>
                  </a:lnTo>
                  <a:lnTo>
                    <a:pt x="1572879" y="22679"/>
                  </a:lnTo>
                  <a:lnTo>
                    <a:pt x="1517420" y="22979"/>
                  </a:lnTo>
                  <a:lnTo>
                    <a:pt x="1460505" y="22746"/>
                  </a:lnTo>
                  <a:lnTo>
                    <a:pt x="1402568" y="21913"/>
                  </a:lnTo>
                  <a:lnTo>
                    <a:pt x="1344043" y="20413"/>
                  </a:lnTo>
                  <a:lnTo>
                    <a:pt x="1285365" y="18180"/>
                  </a:lnTo>
                  <a:lnTo>
                    <a:pt x="1226969" y="15148"/>
                  </a:lnTo>
                  <a:lnTo>
                    <a:pt x="1102028" y="6469"/>
                  </a:lnTo>
                  <a:lnTo>
                    <a:pt x="1044406" y="3108"/>
                  </a:lnTo>
                  <a:lnTo>
                    <a:pt x="994347" y="1013"/>
                  </a:lnTo>
                  <a:lnTo>
                    <a:pt x="949776" y="28"/>
                  </a:lnTo>
                  <a:close/>
                </a:path>
              </a:pathLst>
            </a:custGeom>
            <a:solidFill>
              <a:srgbClr val="EC7C30"/>
            </a:solidFill>
          </p:spPr>
          <p:txBody>
            <a:bodyPr wrap="square" lIns="0" tIns="0" rIns="0" bIns="0" rtlCol="0"/>
            <a:lstStyle/>
            <a:p>
              <a:endParaRPr/>
            </a:p>
          </p:txBody>
        </p:sp>
        <p:sp>
          <p:nvSpPr>
            <p:cNvPr id="5" name="object 5"/>
            <p:cNvSpPr/>
            <p:nvPr/>
          </p:nvSpPr>
          <p:spPr>
            <a:xfrm>
              <a:off x="647496" y="2555462"/>
              <a:ext cx="3248660" cy="48895"/>
            </a:xfrm>
            <a:custGeom>
              <a:avLst/>
              <a:gdLst/>
              <a:ahLst/>
              <a:cxnLst/>
              <a:rect l="l" t="t" r="r" b="b"/>
              <a:pathLst>
                <a:path w="3248660" h="48894">
                  <a:moveTo>
                    <a:pt x="203" y="16287"/>
                  </a:moveTo>
                  <a:lnTo>
                    <a:pt x="59712" y="11068"/>
                  </a:lnTo>
                  <a:lnTo>
                    <a:pt x="118295" y="6886"/>
                  </a:lnTo>
                  <a:lnTo>
                    <a:pt x="175789" y="3714"/>
                  </a:lnTo>
                  <a:lnTo>
                    <a:pt x="232030" y="1527"/>
                  </a:lnTo>
                  <a:lnTo>
                    <a:pt x="286856" y="298"/>
                  </a:lnTo>
                  <a:lnTo>
                    <a:pt x="340104" y="0"/>
                  </a:lnTo>
                  <a:lnTo>
                    <a:pt x="391610" y="606"/>
                  </a:lnTo>
                  <a:lnTo>
                    <a:pt x="441213" y="2091"/>
                  </a:lnTo>
                  <a:lnTo>
                    <a:pt x="488748" y="4429"/>
                  </a:lnTo>
                  <a:lnTo>
                    <a:pt x="534053" y="7591"/>
                  </a:lnTo>
                  <a:lnTo>
                    <a:pt x="576965" y="11553"/>
                  </a:lnTo>
                  <a:lnTo>
                    <a:pt x="617321" y="16287"/>
                  </a:lnTo>
                  <a:lnTo>
                    <a:pt x="654127" y="20343"/>
                  </a:lnTo>
                  <a:lnTo>
                    <a:pt x="692612" y="23174"/>
                  </a:lnTo>
                  <a:lnTo>
                    <a:pt x="732916" y="24929"/>
                  </a:lnTo>
                  <a:lnTo>
                    <a:pt x="775179" y="25758"/>
                  </a:lnTo>
                  <a:lnTo>
                    <a:pt x="819543" y="25811"/>
                  </a:lnTo>
                  <a:lnTo>
                    <a:pt x="866147" y="25239"/>
                  </a:lnTo>
                  <a:lnTo>
                    <a:pt x="915132" y="24190"/>
                  </a:lnTo>
                  <a:lnTo>
                    <a:pt x="966638" y="22815"/>
                  </a:lnTo>
                  <a:lnTo>
                    <a:pt x="1020806" y="21263"/>
                  </a:lnTo>
                  <a:lnTo>
                    <a:pt x="1077775" y="19685"/>
                  </a:lnTo>
                  <a:lnTo>
                    <a:pt x="1137688" y="18229"/>
                  </a:lnTo>
                  <a:lnTo>
                    <a:pt x="1200682" y="17047"/>
                  </a:lnTo>
                  <a:lnTo>
                    <a:pt x="1266901" y="16287"/>
                  </a:lnTo>
                  <a:lnTo>
                    <a:pt x="1332636" y="16044"/>
                  </a:lnTo>
                  <a:lnTo>
                    <a:pt x="1394409" y="16238"/>
                  </a:lnTo>
                  <a:lnTo>
                    <a:pt x="1452696" y="16761"/>
                  </a:lnTo>
                  <a:lnTo>
                    <a:pt x="1507975" y="17505"/>
                  </a:lnTo>
                  <a:lnTo>
                    <a:pt x="1560725" y="18361"/>
                  </a:lnTo>
                  <a:lnTo>
                    <a:pt x="1611424" y="19223"/>
                  </a:lnTo>
                  <a:lnTo>
                    <a:pt x="1660549" y="19980"/>
                  </a:lnTo>
                  <a:lnTo>
                    <a:pt x="1708578" y="20526"/>
                  </a:lnTo>
                  <a:lnTo>
                    <a:pt x="1755990" y="20751"/>
                  </a:lnTo>
                  <a:lnTo>
                    <a:pt x="1803262" y="20548"/>
                  </a:lnTo>
                  <a:lnTo>
                    <a:pt x="1850871" y="19809"/>
                  </a:lnTo>
                  <a:lnTo>
                    <a:pt x="1899298" y="18424"/>
                  </a:lnTo>
                  <a:lnTo>
                    <a:pt x="1949018" y="16287"/>
                  </a:lnTo>
                  <a:lnTo>
                    <a:pt x="2000571" y="14354"/>
                  </a:lnTo>
                  <a:lnTo>
                    <a:pt x="2053886" y="13514"/>
                  </a:lnTo>
                  <a:lnTo>
                    <a:pt x="2108524" y="13556"/>
                  </a:lnTo>
                  <a:lnTo>
                    <a:pt x="2164046" y="14271"/>
                  </a:lnTo>
                  <a:lnTo>
                    <a:pt x="2220014" y="15448"/>
                  </a:lnTo>
                  <a:lnTo>
                    <a:pt x="2275987" y="16877"/>
                  </a:lnTo>
                  <a:lnTo>
                    <a:pt x="2331529" y="18348"/>
                  </a:lnTo>
                  <a:lnTo>
                    <a:pt x="2386200" y="19652"/>
                  </a:lnTo>
                  <a:lnTo>
                    <a:pt x="2439561" y="20576"/>
                  </a:lnTo>
                  <a:lnTo>
                    <a:pt x="2491174" y="20912"/>
                  </a:lnTo>
                  <a:lnTo>
                    <a:pt x="2540600" y="20450"/>
                  </a:lnTo>
                  <a:lnTo>
                    <a:pt x="2587400" y="18978"/>
                  </a:lnTo>
                  <a:lnTo>
                    <a:pt x="2631135" y="16287"/>
                  </a:lnTo>
                  <a:lnTo>
                    <a:pt x="2679012" y="13326"/>
                  </a:lnTo>
                  <a:lnTo>
                    <a:pt x="2730856" y="11604"/>
                  </a:lnTo>
                  <a:lnTo>
                    <a:pt x="2785670" y="10912"/>
                  </a:lnTo>
                  <a:lnTo>
                    <a:pt x="2842458" y="11038"/>
                  </a:lnTo>
                  <a:lnTo>
                    <a:pt x="2900223" y="11773"/>
                  </a:lnTo>
                  <a:lnTo>
                    <a:pt x="2957969" y="12906"/>
                  </a:lnTo>
                  <a:lnTo>
                    <a:pt x="3014699" y="14227"/>
                  </a:lnTo>
                  <a:lnTo>
                    <a:pt x="3069416" y="15525"/>
                  </a:lnTo>
                  <a:lnTo>
                    <a:pt x="3121125" y="16591"/>
                  </a:lnTo>
                  <a:lnTo>
                    <a:pt x="3168827" y="17213"/>
                  </a:lnTo>
                  <a:lnTo>
                    <a:pt x="3211527" y="17182"/>
                  </a:lnTo>
                  <a:lnTo>
                    <a:pt x="3248228" y="16287"/>
                  </a:lnTo>
                  <a:lnTo>
                    <a:pt x="3247466" y="24796"/>
                  </a:lnTo>
                  <a:lnTo>
                    <a:pt x="3247847" y="28860"/>
                  </a:lnTo>
                  <a:lnTo>
                    <a:pt x="3248228" y="35337"/>
                  </a:lnTo>
                  <a:lnTo>
                    <a:pt x="3209201" y="36115"/>
                  </a:lnTo>
                  <a:lnTo>
                    <a:pt x="3164075" y="36344"/>
                  </a:lnTo>
                  <a:lnTo>
                    <a:pt x="3113913" y="36130"/>
                  </a:lnTo>
                  <a:lnTo>
                    <a:pt x="3059777" y="35582"/>
                  </a:lnTo>
                  <a:lnTo>
                    <a:pt x="3002729" y="34806"/>
                  </a:lnTo>
                  <a:lnTo>
                    <a:pt x="2943833" y="33911"/>
                  </a:lnTo>
                  <a:lnTo>
                    <a:pt x="2884150" y="33004"/>
                  </a:lnTo>
                  <a:lnTo>
                    <a:pt x="2824744" y="32192"/>
                  </a:lnTo>
                  <a:lnTo>
                    <a:pt x="2766676" y="31582"/>
                  </a:lnTo>
                  <a:lnTo>
                    <a:pt x="2711008" y="31283"/>
                  </a:lnTo>
                  <a:lnTo>
                    <a:pt x="2658805" y="31401"/>
                  </a:lnTo>
                  <a:lnTo>
                    <a:pt x="2611127" y="32045"/>
                  </a:lnTo>
                  <a:lnTo>
                    <a:pt x="2569037" y="33321"/>
                  </a:lnTo>
                  <a:lnTo>
                    <a:pt x="2533599" y="35337"/>
                  </a:lnTo>
                  <a:lnTo>
                    <a:pt x="2500283" y="37023"/>
                  </a:lnTo>
                  <a:lnTo>
                    <a:pt x="2424431" y="36758"/>
                  </a:lnTo>
                  <a:lnTo>
                    <a:pt x="2382084" y="35326"/>
                  </a:lnTo>
                  <a:lnTo>
                    <a:pt x="2336917" y="33375"/>
                  </a:lnTo>
                  <a:lnTo>
                    <a:pt x="2289023" y="31165"/>
                  </a:lnTo>
                  <a:lnTo>
                    <a:pt x="2238498" y="28955"/>
                  </a:lnTo>
                  <a:lnTo>
                    <a:pt x="2185437" y="27006"/>
                  </a:lnTo>
                  <a:lnTo>
                    <a:pt x="2129933" y="25578"/>
                  </a:lnTo>
                  <a:lnTo>
                    <a:pt x="2072081" y="24929"/>
                  </a:lnTo>
                  <a:lnTo>
                    <a:pt x="2011978" y="25321"/>
                  </a:lnTo>
                  <a:lnTo>
                    <a:pt x="1949716" y="27013"/>
                  </a:lnTo>
                  <a:lnTo>
                    <a:pt x="1885390" y="30265"/>
                  </a:lnTo>
                  <a:lnTo>
                    <a:pt x="1819097" y="35337"/>
                  </a:lnTo>
                  <a:lnTo>
                    <a:pt x="1751268" y="40941"/>
                  </a:lnTo>
                  <a:lnTo>
                    <a:pt x="1691665" y="44826"/>
                  </a:lnTo>
                  <a:lnTo>
                    <a:pt x="1638857" y="47204"/>
                  </a:lnTo>
                  <a:lnTo>
                    <a:pt x="1591412" y="48292"/>
                  </a:lnTo>
                  <a:lnTo>
                    <a:pt x="1547897" y="48302"/>
                  </a:lnTo>
                  <a:lnTo>
                    <a:pt x="1506882" y="47450"/>
                  </a:lnTo>
                  <a:lnTo>
                    <a:pt x="1466935" y="45949"/>
                  </a:lnTo>
                  <a:lnTo>
                    <a:pt x="1426623" y="44015"/>
                  </a:lnTo>
                  <a:lnTo>
                    <a:pt x="1384516" y="41861"/>
                  </a:lnTo>
                  <a:lnTo>
                    <a:pt x="1339181" y="39702"/>
                  </a:lnTo>
                  <a:lnTo>
                    <a:pt x="1289186" y="37752"/>
                  </a:lnTo>
                  <a:lnTo>
                    <a:pt x="1233100" y="36226"/>
                  </a:lnTo>
                  <a:lnTo>
                    <a:pt x="1169492" y="35337"/>
                  </a:lnTo>
                  <a:lnTo>
                    <a:pt x="1131004" y="35189"/>
                  </a:lnTo>
                  <a:lnTo>
                    <a:pt x="1092163" y="35286"/>
                  </a:lnTo>
                  <a:lnTo>
                    <a:pt x="1052859" y="35595"/>
                  </a:lnTo>
                  <a:lnTo>
                    <a:pt x="1012983" y="36082"/>
                  </a:lnTo>
                  <a:lnTo>
                    <a:pt x="972424" y="36715"/>
                  </a:lnTo>
                  <a:lnTo>
                    <a:pt x="931072" y="37461"/>
                  </a:lnTo>
                  <a:lnTo>
                    <a:pt x="888817" y="38287"/>
                  </a:lnTo>
                  <a:lnTo>
                    <a:pt x="845550" y="39159"/>
                  </a:lnTo>
                  <a:lnTo>
                    <a:pt x="801160" y="40044"/>
                  </a:lnTo>
                  <a:lnTo>
                    <a:pt x="755537" y="40910"/>
                  </a:lnTo>
                  <a:lnTo>
                    <a:pt x="708571" y="41723"/>
                  </a:lnTo>
                  <a:lnTo>
                    <a:pt x="660152" y="42451"/>
                  </a:lnTo>
                  <a:lnTo>
                    <a:pt x="610171" y="43060"/>
                  </a:lnTo>
                  <a:lnTo>
                    <a:pt x="558517" y="43516"/>
                  </a:lnTo>
                  <a:lnTo>
                    <a:pt x="505080" y="43788"/>
                  </a:lnTo>
                  <a:lnTo>
                    <a:pt x="449750" y="43842"/>
                  </a:lnTo>
                  <a:lnTo>
                    <a:pt x="392418" y="43645"/>
                  </a:lnTo>
                  <a:lnTo>
                    <a:pt x="332972" y="43164"/>
                  </a:lnTo>
                  <a:lnTo>
                    <a:pt x="271304" y="42365"/>
                  </a:lnTo>
                  <a:lnTo>
                    <a:pt x="207303" y="41216"/>
                  </a:lnTo>
                  <a:lnTo>
                    <a:pt x="140859" y="39684"/>
                  </a:lnTo>
                  <a:lnTo>
                    <a:pt x="71862" y="37735"/>
                  </a:lnTo>
                  <a:lnTo>
                    <a:pt x="203" y="35337"/>
                  </a:lnTo>
                  <a:lnTo>
                    <a:pt x="152" y="29241"/>
                  </a:lnTo>
                  <a:lnTo>
                    <a:pt x="0" y="23018"/>
                  </a:lnTo>
                  <a:lnTo>
                    <a:pt x="203" y="16287"/>
                  </a:lnTo>
                  <a:close/>
                </a:path>
              </a:pathLst>
            </a:custGeom>
            <a:ln w="38100">
              <a:solidFill>
                <a:srgbClr val="EC7C30"/>
              </a:solidFill>
            </a:ln>
          </p:spPr>
          <p:txBody>
            <a:bodyPr wrap="square" lIns="0" tIns="0" rIns="0" bIns="0" rtlCol="0"/>
            <a:lstStyle/>
            <a:p>
              <a:endParaRPr/>
            </a:p>
          </p:txBody>
        </p:sp>
      </p:grpSp>
      <p:sp>
        <p:nvSpPr>
          <p:cNvPr id="6" name="object 6"/>
          <p:cNvSpPr txBox="1"/>
          <p:nvPr/>
        </p:nvSpPr>
        <p:spPr>
          <a:xfrm>
            <a:off x="710247" y="2806128"/>
            <a:ext cx="3132455" cy="3251200"/>
          </a:xfrm>
          <a:prstGeom prst="rect">
            <a:avLst/>
          </a:prstGeom>
        </p:spPr>
        <p:txBody>
          <a:bodyPr vert="horz" wrap="square" lIns="0" tIns="31115" rIns="0" bIns="0" rtlCol="0">
            <a:spAutoFit/>
          </a:bodyPr>
          <a:lstStyle/>
          <a:p>
            <a:pPr marL="241300" marR="5080" indent="-229235">
              <a:lnSpc>
                <a:spcPct val="93500"/>
              </a:lnSpc>
              <a:spcBef>
                <a:spcPts val="245"/>
              </a:spcBef>
              <a:buFont typeface="Arial MT"/>
              <a:buChar char="•"/>
              <a:tabLst>
                <a:tab pos="241300" algn="l"/>
              </a:tabLst>
            </a:pPr>
            <a:r>
              <a:rPr sz="1550" b="1" dirty="0">
                <a:latin typeface="Calibri"/>
                <a:cs typeface="Calibri"/>
              </a:rPr>
              <a:t>Increased</a:t>
            </a:r>
            <a:r>
              <a:rPr sz="1550" b="1" spc="114" dirty="0">
                <a:latin typeface="Calibri"/>
                <a:cs typeface="Calibri"/>
              </a:rPr>
              <a:t> </a:t>
            </a:r>
            <a:r>
              <a:rPr sz="1550" b="1" dirty="0">
                <a:latin typeface="Calibri"/>
                <a:cs typeface="Calibri"/>
              </a:rPr>
              <a:t>Success</a:t>
            </a:r>
            <a:r>
              <a:rPr sz="1550" b="1" spc="110" dirty="0">
                <a:latin typeface="Calibri"/>
                <a:cs typeface="Calibri"/>
              </a:rPr>
              <a:t> </a:t>
            </a:r>
            <a:r>
              <a:rPr sz="1550" b="1" dirty="0">
                <a:latin typeface="Calibri"/>
                <a:cs typeface="Calibri"/>
              </a:rPr>
              <a:t>Over</a:t>
            </a:r>
            <a:r>
              <a:rPr sz="1550" b="1" spc="95" dirty="0">
                <a:latin typeface="Calibri"/>
                <a:cs typeface="Calibri"/>
              </a:rPr>
              <a:t> </a:t>
            </a:r>
            <a:r>
              <a:rPr sz="1550" b="1" dirty="0">
                <a:latin typeface="Calibri"/>
                <a:cs typeface="Calibri"/>
              </a:rPr>
              <a:t>Time:</a:t>
            </a:r>
            <a:r>
              <a:rPr sz="1550" b="1" spc="160" dirty="0">
                <a:latin typeface="Calibri"/>
                <a:cs typeface="Calibri"/>
              </a:rPr>
              <a:t> </a:t>
            </a:r>
            <a:r>
              <a:rPr sz="1550" spc="-25" dirty="0">
                <a:latin typeface="Calibri"/>
                <a:cs typeface="Calibri"/>
              </a:rPr>
              <a:t>The </a:t>
            </a:r>
            <a:r>
              <a:rPr sz="1550" dirty="0">
                <a:latin typeface="Calibri"/>
                <a:cs typeface="Calibri"/>
              </a:rPr>
              <a:t>success</a:t>
            </a:r>
            <a:r>
              <a:rPr sz="1550" spc="40" dirty="0">
                <a:latin typeface="Calibri"/>
                <a:cs typeface="Calibri"/>
              </a:rPr>
              <a:t> </a:t>
            </a:r>
            <a:r>
              <a:rPr sz="1550" dirty="0">
                <a:latin typeface="Calibri"/>
                <a:cs typeface="Calibri"/>
              </a:rPr>
              <a:t>rate</a:t>
            </a:r>
            <a:r>
              <a:rPr sz="1550" spc="20" dirty="0">
                <a:latin typeface="Calibri"/>
                <a:cs typeface="Calibri"/>
              </a:rPr>
              <a:t> </a:t>
            </a:r>
            <a:r>
              <a:rPr sz="1550" dirty="0">
                <a:latin typeface="Calibri"/>
                <a:cs typeface="Calibri"/>
              </a:rPr>
              <a:t>of</a:t>
            </a:r>
            <a:r>
              <a:rPr sz="1550" spc="110" dirty="0">
                <a:latin typeface="Calibri"/>
                <a:cs typeface="Calibri"/>
              </a:rPr>
              <a:t> </a:t>
            </a:r>
            <a:r>
              <a:rPr sz="1550" dirty="0">
                <a:latin typeface="Calibri"/>
                <a:cs typeface="Calibri"/>
              </a:rPr>
              <a:t>Falcon</a:t>
            </a:r>
            <a:r>
              <a:rPr sz="1550" spc="55" dirty="0">
                <a:latin typeface="Calibri"/>
                <a:cs typeface="Calibri"/>
              </a:rPr>
              <a:t> </a:t>
            </a:r>
            <a:r>
              <a:rPr sz="1550" dirty="0">
                <a:latin typeface="Calibri"/>
                <a:cs typeface="Calibri"/>
              </a:rPr>
              <a:t>9</a:t>
            </a:r>
            <a:r>
              <a:rPr sz="1550" spc="90" dirty="0">
                <a:latin typeface="Calibri"/>
                <a:cs typeface="Calibri"/>
              </a:rPr>
              <a:t> </a:t>
            </a:r>
            <a:r>
              <a:rPr sz="1550" spc="-10" dirty="0">
                <a:latin typeface="Calibri"/>
                <a:cs typeface="Calibri"/>
              </a:rPr>
              <a:t>launches </a:t>
            </a:r>
            <a:r>
              <a:rPr sz="1550" dirty="0">
                <a:latin typeface="Calibri"/>
                <a:cs typeface="Calibri"/>
              </a:rPr>
              <a:t>improves</a:t>
            </a:r>
            <a:r>
              <a:rPr sz="1550" spc="90" dirty="0">
                <a:latin typeface="Calibri"/>
                <a:cs typeface="Calibri"/>
              </a:rPr>
              <a:t> </a:t>
            </a:r>
            <a:r>
              <a:rPr sz="1550" dirty="0">
                <a:latin typeface="Calibri"/>
                <a:cs typeface="Calibri"/>
              </a:rPr>
              <a:t>significantly</a:t>
            </a:r>
            <a:r>
              <a:rPr sz="1550" spc="160" dirty="0">
                <a:latin typeface="Calibri"/>
                <a:cs typeface="Calibri"/>
              </a:rPr>
              <a:t> </a:t>
            </a:r>
            <a:r>
              <a:rPr sz="1550" dirty="0">
                <a:latin typeface="Calibri"/>
                <a:cs typeface="Calibri"/>
              </a:rPr>
              <a:t>with</a:t>
            </a:r>
            <a:r>
              <a:rPr sz="1550" spc="105" dirty="0">
                <a:latin typeface="Calibri"/>
                <a:cs typeface="Calibri"/>
              </a:rPr>
              <a:t> </a:t>
            </a:r>
            <a:r>
              <a:rPr sz="1550" spc="-10" dirty="0">
                <a:latin typeface="Calibri"/>
                <a:cs typeface="Calibri"/>
              </a:rPr>
              <a:t>higher </a:t>
            </a:r>
            <a:r>
              <a:rPr sz="1550" dirty="0">
                <a:latin typeface="Calibri"/>
                <a:cs typeface="Calibri"/>
              </a:rPr>
              <a:t>flight</a:t>
            </a:r>
            <a:r>
              <a:rPr sz="1550" spc="120" dirty="0">
                <a:latin typeface="Calibri"/>
                <a:cs typeface="Calibri"/>
              </a:rPr>
              <a:t> </a:t>
            </a:r>
            <a:r>
              <a:rPr sz="1550" dirty="0">
                <a:latin typeface="Calibri"/>
                <a:cs typeface="Calibri"/>
              </a:rPr>
              <a:t>numbers,</a:t>
            </a:r>
            <a:r>
              <a:rPr sz="1550" spc="110" dirty="0">
                <a:latin typeface="Calibri"/>
                <a:cs typeface="Calibri"/>
              </a:rPr>
              <a:t> </a:t>
            </a:r>
            <a:r>
              <a:rPr sz="1550" dirty="0">
                <a:latin typeface="Calibri"/>
                <a:cs typeface="Calibri"/>
              </a:rPr>
              <a:t>indicating</a:t>
            </a:r>
            <a:r>
              <a:rPr sz="1550" spc="130" dirty="0">
                <a:latin typeface="Calibri"/>
                <a:cs typeface="Calibri"/>
              </a:rPr>
              <a:t> </a:t>
            </a:r>
            <a:r>
              <a:rPr sz="1550" spc="-20" dirty="0">
                <a:latin typeface="Calibri"/>
                <a:cs typeface="Calibri"/>
              </a:rPr>
              <a:t>that </a:t>
            </a:r>
            <a:r>
              <a:rPr sz="1550" dirty="0">
                <a:latin typeface="Calibri"/>
                <a:cs typeface="Calibri"/>
              </a:rPr>
              <a:t>experience</a:t>
            </a:r>
            <a:r>
              <a:rPr sz="1550" spc="75" dirty="0">
                <a:latin typeface="Calibri"/>
                <a:cs typeface="Calibri"/>
              </a:rPr>
              <a:t> </a:t>
            </a:r>
            <a:r>
              <a:rPr sz="1550" dirty="0">
                <a:latin typeface="Calibri"/>
                <a:cs typeface="Calibri"/>
              </a:rPr>
              <a:t>and</a:t>
            </a:r>
            <a:r>
              <a:rPr sz="1550" spc="120" dirty="0">
                <a:latin typeface="Calibri"/>
                <a:cs typeface="Calibri"/>
              </a:rPr>
              <a:t> </a:t>
            </a:r>
            <a:r>
              <a:rPr sz="1550" spc="-10" dirty="0">
                <a:latin typeface="Calibri"/>
                <a:cs typeface="Calibri"/>
              </a:rPr>
              <a:t>iterative </a:t>
            </a:r>
            <a:r>
              <a:rPr sz="1550" dirty="0">
                <a:latin typeface="Calibri"/>
                <a:cs typeface="Calibri"/>
              </a:rPr>
              <a:t>improvements</a:t>
            </a:r>
            <a:r>
              <a:rPr sz="1550" spc="85" dirty="0">
                <a:latin typeface="Calibri"/>
                <a:cs typeface="Calibri"/>
              </a:rPr>
              <a:t> </a:t>
            </a:r>
            <a:r>
              <a:rPr sz="1550" dirty="0">
                <a:latin typeface="Calibri"/>
                <a:cs typeface="Calibri"/>
              </a:rPr>
              <a:t>contribute</a:t>
            </a:r>
            <a:r>
              <a:rPr sz="1550" spc="160" dirty="0">
                <a:latin typeface="Calibri"/>
                <a:cs typeface="Calibri"/>
              </a:rPr>
              <a:t> </a:t>
            </a:r>
            <a:r>
              <a:rPr sz="1550" dirty="0">
                <a:latin typeface="Calibri"/>
                <a:cs typeface="Calibri"/>
              </a:rPr>
              <a:t>to</a:t>
            </a:r>
            <a:r>
              <a:rPr sz="1550" spc="95" dirty="0">
                <a:latin typeface="Calibri"/>
                <a:cs typeface="Calibri"/>
              </a:rPr>
              <a:t> </a:t>
            </a:r>
            <a:r>
              <a:rPr sz="1550" spc="-10" dirty="0">
                <a:latin typeface="Calibri"/>
                <a:cs typeface="Calibri"/>
              </a:rPr>
              <a:t>better outcomes.</a:t>
            </a:r>
            <a:endParaRPr sz="1550">
              <a:latin typeface="Calibri"/>
              <a:cs typeface="Calibri"/>
            </a:endParaRPr>
          </a:p>
          <a:p>
            <a:pPr marL="241300" marR="56515" indent="-229235">
              <a:lnSpc>
                <a:spcPts val="1730"/>
              </a:lnSpc>
              <a:spcBef>
                <a:spcPts val="1010"/>
              </a:spcBef>
              <a:buFont typeface="Arial MT"/>
              <a:buChar char="•"/>
              <a:tabLst>
                <a:tab pos="241300" algn="l"/>
              </a:tabLst>
            </a:pPr>
            <a:r>
              <a:rPr sz="1550" b="1" dirty="0">
                <a:latin typeface="Calibri"/>
                <a:cs typeface="Calibri"/>
              </a:rPr>
              <a:t>Orbit-Specific</a:t>
            </a:r>
            <a:r>
              <a:rPr sz="1550" b="1" spc="140" dirty="0">
                <a:latin typeface="Calibri"/>
                <a:cs typeface="Calibri"/>
              </a:rPr>
              <a:t> </a:t>
            </a:r>
            <a:r>
              <a:rPr sz="1550" b="1" dirty="0">
                <a:latin typeface="Calibri"/>
                <a:cs typeface="Calibri"/>
              </a:rPr>
              <a:t>Performance:</a:t>
            </a:r>
            <a:r>
              <a:rPr sz="1550" b="1" spc="315" dirty="0">
                <a:latin typeface="Calibri"/>
                <a:cs typeface="Calibri"/>
              </a:rPr>
              <a:t> </a:t>
            </a:r>
            <a:r>
              <a:rPr sz="1550" spc="-20" dirty="0">
                <a:latin typeface="Calibri"/>
                <a:cs typeface="Calibri"/>
              </a:rPr>
              <a:t>Early </a:t>
            </a:r>
            <a:r>
              <a:rPr sz="1550" dirty="0">
                <a:latin typeface="Calibri"/>
                <a:cs typeface="Calibri"/>
              </a:rPr>
              <a:t>flights</a:t>
            </a:r>
            <a:r>
              <a:rPr sz="1550" spc="35" dirty="0">
                <a:latin typeface="Calibri"/>
                <a:cs typeface="Calibri"/>
              </a:rPr>
              <a:t> </a:t>
            </a:r>
            <a:r>
              <a:rPr sz="1550" dirty="0">
                <a:latin typeface="Calibri"/>
                <a:cs typeface="Calibri"/>
              </a:rPr>
              <a:t>to</a:t>
            </a:r>
            <a:r>
              <a:rPr sz="1550" spc="120" dirty="0">
                <a:latin typeface="Calibri"/>
                <a:cs typeface="Calibri"/>
              </a:rPr>
              <a:t> </a:t>
            </a:r>
            <a:r>
              <a:rPr sz="1550" dirty="0">
                <a:latin typeface="Calibri"/>
                <a:cs typeface="Calibri"/>
              </a:rPr>
              <a:t>GTO</a:t>
            </a:r>
            <a:r>
              <a:rPr sz="1550" spc="60" dirty="0">
                <a:latin typeface="Calibri"/>
                <a:cs typeface="Calibri"/>
              </a:rPr>
              <a:t> </a:t>
            </a:r>
            <a:r>
              <a:rPr sz="1550" dirty="0">
                <a:latin typeface="Calibri"/>
                <a:cs typeface="Calibri"/>
              </a:rPr>
              <a:t>and</a:t>
            </a:r>
            <a:r>
              <a:rPr sz="1550" spc="45" dirty="0">
                <a:latin typeface="Calibri"/>
                <a:cs typeface="Calibri"/>
              </a:rPr>
              <a:t> </a:t>
            </a:r>
            <a:r>
              <a:rPr sz="1550" dirty="0">
                <a:latin typeface="Calibri"/>
                <a:cs typeface="Calibri"/>
              </a:rPr>
              <a:t>ISS</a:t>
            </a:r>
            <a:r>
              <a:rPr sz="1550" spc="80" dirty="0">
                <a:latin typeface="Calibri"/>
                <a:cs typeface="Calibri"/>
              </a:rPr>
              <a:t> </a:t>
            </a:r>
            <a:r>
              <a:rPr sz="1550" dirty="0">
                <a:latin typeface="Calibri"/>
                <a:cs typeface="Calibri"/>
              </a:rPr>
              <a:t>orbits</a:t>
            </a:r>
            <a:r>
              <a:rPr sz="1550" spc="30" dirty="0">
                <a:latin typeface="Calibri"/>
                <a:cs typeface="Calibri"/>
              </a:rPr>
              <a:t> </a:t>
            </a:r>
            <a:r>
              <a:rPr sz="1550" spc="-25" dirty="0">
                <a:latin typeface="Calibri"/>
                <a:cs typeface="Calibri"/>
              </a:rPr>
              <a:t>had </a:t>
            </a:r>
            <a:r>
              <a:rPr sz="1550" dirty="0">
                <a:latin typeface="Calibri"/>
                <a:cs typeface="Calibri"/>
              </a:rPr>
              <a:t>mixed</a:t>
            </a:r>
            <a:r>
              <a:rPr sz="1550" spc="85" dirty="0">
                <a:latin typeface="Calibri"/>
                <a:cs typeface="Calibri"/>
              </a:rPr>
              <a:t> </a:t>
            </a:r>
            <a:r>
              <a:rPr sz="1550" dirty="0">
                <a:latin typeface="Calibri"/>
                <a:cs typeface="Calibri"/>
              </a:rPr>
              <a:t>outcomes,</a:t>
            </a:r>
            <a:r>
              <a:rPr sz="1550" spc="75" dirty="0">
                <a:latin typeface="Calibri"/>
                <a:cs typeface="Calibri"/>
              </a:rPr>
              <a:t> </a:t>
            </a:r>
            <a:r>
              <a:rPr sz="1550" dirty="0">
                <a:latin typeface="Calibri"/>
                <a:cs typeface="Calibri"/>
              </a:rPr>
              <a:t>but</a:t>
            </a:r>
            <a:r>
              <a:rPr sz="1550" spc="90" dirty="0">
                <a:latin typeface="Calibri"/>
                <a:cs typeface="Calibri"/>
              </a:rPr>
              <a:t> </a:t>
            </a:r>
            <a:r>
              <a:rPr sz="1550" spc="-10" dirty="0">
                <a:latin typeface="Calibri"/>
                <a:cs typeface="Calibri"/>
              </a:rPr>
              <a:t>recent </a:t>
            </a:r>
            <a:r>
              <a:rPr sz="1550" dirty="0">
                <a:latin typeface="Calibri"/>
                <a:cs typeface="Calibri"/>
              </a:rPr>
              <a:t>missions</a:t>
            </a:r>
            <a:r>
              <a:rPr sz="1550" spc="70" dirty="0">
                <a:latin typeface="Calibri"/>
                <a:cs typeface="Calibri"/>
              </a:rPr>
              <a:t> </a:t>
            </a:r>
            <a:r>
              <a:rPr sz="1550" dirty="0">
                <a:latin typeface="Calibri"/>
                <a:cs typeface="Calibri"/>
              </a:rPr>
              <a:t>to</a:t>
            </a:r>
            <a:r>
              <a:rPr sz="1550" spc="90" dirty="0">
                <a:latin typeface="Calibri"/>
                <a:cs typeface="Calibri"/>
              </a:rPr>
              <a:t> </a:t>
            </a:r>
            <a:r>
              <a:rPr sz="1550" dirty="0">
                <a:latin typeface="Calibri"/>
                <a:cs typeface="Calibri"/>
              </a:rPr>
              <a:t>these</a:t>
            </a:r>
            <a:r>
              <a:rPr sz="1550" spc="145" dirty="0">
                <a:latin typeface="Calibri"/>
                <a:cs typeface="Calibri"/>
              </a:rPr>
              <a:t> </a:t>
            </a:r>
            <a:r>
              <a:rPr sz="1550" dirty="0">
                <a:latin typeface="Calibri"/>
                <a:cs typeface="Calibri"/>
              </a:rPr>
              <a:t>orbits</a:t>
            </a:r>
            <a:r>
              <a:rPr sz="1550" spc="75" dirty="0">
                <a:latin typeface="Calibri"/>
                <a:cs typeface="Calibri"/>
              </a:rPr>
              <a:t> </a:t>
            </a:r>
            <a:r>
              <a:rPr sz="1550" dirty="0">
                <a:latin typeface="Calibri"/>
                <a:cs typeface="Calibri"/>
              </a:rPr>
              <a:t>show</a:t>
            </a:r>
            <a:r>
              <a:rPr sz="1550" spc="100" dirty="0">
                <a:latin typeface="Calibri"/>
                <a:cs typeface="Calibri"/>
              </a:rPr>
              <a:t> </a:t>
            </a:r>
            <a:r>
              <a:rPr sz="1550" spc="-50" dirty="0">
                <a:latin typeface="Calibri"/>
                <a:cs typeface="Calibri"/>
              </a:rPr>
              <a:t>a </a:t>
            </a:r>
            <a:r>
              <a:rPr sz="1550" dirty="0">
                <a:latin typeface="Calibri"/>
                <a:cs typeface="Calibri"/>
              </a:rPr>
              <a:t>higher</a:t>
            </a:r>
            <a:r>
              <a:rPr sz="1550" spc="65" dirty="0">
                <a:latin typeface="Calibri"/>
                <a:cs typeface="Calibri"/>
              </a:rPr>
              <a:t> </a:t>
            </a:r>
            <a:r>
              <a:rPr sz="1550" dirty="0">
                <a:latin typeface="Calibri"/>
                <a:cs typeface="Calibri"/>
              </a:rPr>
              <a:t>success</a:t>
            </a:r>
            <a:r>
              <a:rPr sz="1550" spc="85" dirty="0">
                <a:latin typeface="Calibri"/>
                <a:cs typeface="Calibri"/>
              </a:rPr>
              <a:t> </a:t>
            </a:r>
            <a:r>
              <a:rPr sz="1550" dirty="0">
                <a:latin typeface="Calibri"/>
                <a:cs typeface="Calibri"/>
              </a:rPr>
              <a:t>rate,</a:t>
            </a:r>
            <a:r>
              <a:rPr sz="1550" spc="165" dirty="0">
                <a:latin typeface="Calibri"/>
                <a:cs typeface="Calibri"/>
              </a:rPr>
              <a:t> </a:t>
            </a:r>
            <a:r>
              <a:rPr sz="1550" spc="-10" dirty="0">
                <a:latin typeface="Calibri"/>
                <a:cs typeface="Calibri"/>
              </a:rPr>
              <a:t>reflecting </a:t>
            </a:r>
            <a:r>
              <a:rPr sz="1550" dirty="0">
                <a:latin typeface="Calibri"/>
                <a:cs typeface="Calibri"/>
              </a:rPr>
              <a:t>advancements</a:t>
            </a:r>
            <a:r>
              <a:rPr sz="1550" spc="160" dirty="0">
                <a:latin typeface="Calibri"/>
                <a:cs typeface="Calibri"/>
              </a:rPr>
              <a:t> </a:t>
            </a:r>
            <a:r>
              <a:rPr sz="1550" dirty="0">
                <a:latin typeface="Calibri"/>
                <a:cs typeface="Calibri"/>
              </a:rPr>
              <a:t>in</a:t>
            </a:r>
            <a:r>
              <a:rPr sz="1550" spc="90" dirty="0">
                <a:latin typeface="Calibri"/>
                <a:cs typeface="Calibri"/>
              </a:rPr>
              <a:t> </a:t>
            </a:r>
            <a:r>
              <a:rPr sz="1550" dirty="0">
                <a:latin typeface="Calibri"/>
                <a:cs typeface="Calibri"/>
              </a:rPr>
              <a:t>mission</a:t>
            </a:r>
            <a:r>
              <a:rPr sz="1550" spc="85" dirty="0">
                <a:latin typeface="Calibri"/>
                <a:cs typeface="Calibri"/>
              </a:rPr>
              <a:t> </a:t>
            </a:r>
            <a:r>
              <a:rPr sz="1550" spc="-10" dirty="0">
                <a:latin typeface="Calibri"/>
                <a:cs typeface="Calibri"/>
              </a:rPr>
              <a:t>planning </a:t>
            </a:r>
            <a:r>
              <a:rPr sz="1550" dirty="0">
                <a:latin typeface="Calibri"/>
                <a:cs typeface="Calibri"/>
              </a:rPr>
              <a:t>and</a:t>
            </a:r>
            <a:r>
              <a:rPr sz="1550" spc="45" dirty="0">
                <a:latin typeface="Calibri"/>
                <a:cs typeface="Calibri"/>
              </a:rPr>
              <a:t> </a:t>
            </a:r>
            <a:r>
              <a:rPr sz="1550" spc="-10" dirty="0">
                <a:latin typeface="Calibri"/>
                <a:cs typeface="Calibri"/>
              </a:rPr>
              <a:t>execution.</a:t>
            </a:r>
            <a:endParaRPr sz="1550">
              <a:latin typeface="Calibri"/>
              <a:cs typeface="Calibri"/>
            </a:endParaRPr>
          </a:p>
        </p:txBody>
      </p:sp>
      <p:pic>
        <p:nvPicPr>
          <p:cNvPr id="7" name="object 7"/>
          <p:cNvPicPr/>
          <p:nvPr/>
        </p:nvPicPr>
        <p:blipFill>
          <a:blip r:embed="rId2" cstate="print"/>
          <a:stretch>
            <a:fillRect/>
          </a:stretch>
        </p:blipFill>
        <p:spPr>
          <a:xfrm>
            <a:off x="4696907" y="1446802"/>
            <a:ext cx="6812137" cy="4003701"/>
          </a:xfrm>
          <a:prstGeom prst="rect">
            <a:avLst/>
          </a:prstGeom>
        </p:spPr>
      </p:pic>
      <p:sp>
        <p:nvSpPr>
          <p:cNvPr id="8" name="object 8"/>
          <p:cNvSpPr txBox="1"/>
          <p:nvPr/>
        </p:nvSpPr>
        <p:spPr>
          <a:xfrm>
            <a:off x="11076051" y="6472554"/>
            <a:ext cx="241300" cy="177800"/>
          </a:xfrm>
          <a:prstGeom prst="rect">
            <a:avLst/>
          </a:prstGeom>
        </p:spPr>
        <p:txBody>
          <a:bodyPr vert="horz" wrap="square" lIns="0" tIns="0" rIns="0" bIns="0" rtlCol="0">
            <a:spAutoFit/>
          </a:bodyPr>
          <a:lstStyle/>
          <a:p>
            <a:pPr marL="38100">
              <a:lnSpc>
                <a:spcPts val="1240"/>
              </a:lnSpc>
            </a:pPr>
            <a:fld id="{81D60167-4931-47E6-BA6A-407CBD079E47}" type="slidenum">
              <a:rPr sz="1200" spc="-25" dirty="0">
                <a:solidFill>
                  <a:srgbClr val="888888"/>
                </a:solidFill>
                <a:latin typeface="Calibri"/>
                <a:cs typeface="Calibri"/>
              </a:rPr>
              <a:t>27</a:t>
            </a:fld>
            <a:endParaRPr sz="120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0247" y="695896"/>
            <a:ext cx="3041650" cy="1593850"/>
          </a:xfrm>
          <a:prstGeom prst="rect">
            <a:avLst/>
          </a:prstGeom>
        </p:spPr>
        <p:txBody>
          <a:bodyPr vert="horz" wrap="square" lIns="0" tIns="104140" rIns="0" bIns="0" rtlCol="0">
            <a:spAutoFit/>
          </a:bodyPr>
          <a:lstStyle/>
          <a:p>
            <a:pPr marL="12700" marR="5080">
              <a:lnSpc>
                <a:spcPts val="5860"/>
              </a:lnSpc>
              <a:spcBef>
                <a:spcPts val="820"/>
              </a:spcBef>
            </a:pPr>
            <a:r>
              <a:rPr sz="5400" dirty="0">
                <a:solidFill>
                  <a:srgbClr val="000000"/>
                </a:solidFill>
                <a:latin typeface="Calibri Light"/>
                <a:cs typeface="Calibri Light"/>
              </a:rPr>
              <a:t>Payload</a:t>
            </a:r>
            <a:r>
              <a:rPr sz="5400" spc="-275" dirty="0">
                <a:solidFill>
                  <a:srgbClr val="000000"/>
                </a:solidFill>
                <a:latin typeface="Calibri Light"/>
                <a:cs typeface="Calibri Light"/>
              </a:rPr>
              <a:t> </a:t>
            </a:r>
            <a:r>
              <a:rPr sz="5400" spc="-25" dirty="0">
                <a:solidFill>
                  <a:srgbClr val="000000"/>
                </a:solidFill>
                <a:latin typeface="Calibri Light"/>
                <a:cs typeface="Calibri Light"/>
              </a:rPr>
              <a:t>vs. </a:t>
            </a:r>
            <a:r>
              <a:rPr sz="5400" dirty="0">
                <a:solidFill>
                  <a:srgbClr val="000000"/>
                </a:solidFill>
                <a:latin typeface="Calibri Light"/>
                <a:cs typeface="Calibri Light"/>
              </a:rPr>
              <a:t>Orbit</a:t>
            </a:r>
            <a:r>
              <a:rPr sz="5400" spc="-15" dirty="0">
                <a:solidFill>
                  <a:srgbClr val="000000"/>
                </a:solidFill>
                <a:latin typeface="Calibri Light"/>
                <a:cs typeface="Calibri Light"/>
              </a:rPr>
              <a:t> </a:t>
            </a:r>
            <a:r>
              <a:rPr sz="5400" spc="-20" dirty="0">
                <a:solidFill>
                  <a:srgbClr val="000000"/>
                </a:solidFill>
                <a:latin typeface="Calibri Light"/>
                <a:cs typeface="Calibri Light"/>
              </a:rPr>
              <a:t>Type</a:t>
            </a:r>
            <a:endParaRPr sz="5400">
              <a:latin typeface="Calibri Light"/>
              <a:cs typeface="Calibri Light"/>
            </a:endParaRPr>
          </a:p>
        </p:txBody>
      </p:sp>
      <p:grpSp>
        <p:nvGrpSpPr>
          <p:cNvPr id="3" name="object 3"/>
          <p:cNvGrpSpPr/>
          <p:nvPr/>
        </p:nvGrpSpPr>
        <p:grpSpPr>
          <a:xfrm>
            <a:off x="628446" y="2536412"/>
            <a:ext cx="3286760" cy="86995"/>
            <a:chOff x="628446" y="2536412"/>
            <a:chExt cx="3286760" cy="86995"/>
          </a:xfrm>
        </p:grpSpPr>
        <p:sp>
          <p:nvSpPr>
            <p:cNvPr id="4" name="object 4"/>
            <p:cNvSpPr/>
            <p:nvPr/>
          </p:nvSpPr>
          <p:spPr>
            <a:xfrm>
              <a:off x="647700" y="2560500"/>
              <a:ext cx="3248660" cy="41275"/>
            </a:xfrm>
            <a:custGeom>
              <a:avLst/>
              <a:gdLst/>
              <a:ahLst/>
              <a:cxnLst/>
              <a:rect l="l" t="t" r="r" b="b"/>
              <a:pathLst>
                <a:path w="3248660" h="41275">
                  <a:moveTo>
                    <a:pt x="949776" y="28"/>
                  </a:moveTo>
                  <a:lnTo>
                    <a:pt x="908617" y="0"/>
                  </a:lnTo>
                  <a:lnTo>
                    <a:pt x="868796" y="772"/>
                  </a:lnTo>
                  <a:lnTo>
                    <a:pt x="828237" y="2192"/>
                  </a:lnTo>
                  <a:lnTo>
                    <a:pt x="681380" y="8787"/>
                  </a:lnTo>
                  <a:lnTo>
                    <a:pt x="557024" y="13502"/>
                  </a:lnTo>
                  <a:lnTo>
                    <a:pt x="408641" y="19688"/>
                  </a:lnTo>
                  <a:lnTo>
                    <a:pt x="365138" y="21166"/>
                  </a:lnTo>
                  <a:lnTo>
                    <a:pt x="322275" y="22155"/>
                  </a:lnTo>
                  <a:lnTo>
                    <a:pt x="278650" y="22539"/>
                  </a:lnTo>
                  <a:lnTo>
                    <a:pt x="232860" y="22199"/>
                  </a:lnTo>
                  <a:lnTo>
                    <a:pt x="183503" y="21018"/>
                  </a:lnTo>
                  <a:lnTo>
                    <a:pt x="129176" y="18878"/>
                  </a:lnTo>
                  <a:lnTo>
                    <a:pt x="68475" y="15661"/>
                  </a:lnTo>
                  <a:lnTo>
                    <a:pt x="0" y="11249"/>
                  </a:lnTo>
                  <a:lnTo>
                    <a:pt x="368" y="18488"/>
                  </a:lnTo>
                  <a:lnTo>
                    <a:pt x="838" y="21282"/>
                  </a:lnTo>
                  <a:lnTo>
                    <a:pt x="0" y="30299"/>
                  </a:lnTo>
                  <a:lnTo>
                    <a:pt x="45362" y="30022"/>
                  </a:lnTo>
                  <a:lnTo>
                    <a:pt x="90248" y="30127"/>
                  </a:lnTo>
                  <a:lnTo>
                    <a:pt x="135110" y="30523"/>
                  </a:lnTo>
                  <a:lnTo>
                    <a:pt x="274084" y="32535"/>
                  </a:lnTo>
                  <a:lnTo>
                    <a:pt x="374923" y="33650"/>
                  </a:lnTo>
                  <a:lnTo>
                    <a:pt x="429158" y="33864"/>
                  </a:lnTo>
                  <a:lnTo>
                    <a:pt x="486542" y="33728"/>
                  </a:lnTo>
                  <a:lnTo>
                    <a:pt x="547528" y="33149"/>
                  </a:lnTo>
                  <a:lnTo>
                    <a:pt x="612568" y="32037"/>
                  </a:lnTo>
                  <a:lnTo>
                    <a:pt x="750859" y="28722"/>
                  </a:lnTo>
                  <a:lnTo>
                    <a:pt x="813691" y="28037"/>
                  </a:lnTo>
                  <a:lnTo>
                    <a:pt x="871372" y="28072"/>
                  </a:lnTo>
                  <a:lnTo>
                    <a:pt x="924660" y="28657"/>
                  </a:lnTo>
                  <a:lnTo>
                    <a:pt x="974313" y="29619"/>
                  </a:lnTo>
                  <a:lnTo>
                    <a:pt x="1109052" y="33053"/>
                  </a:lnTo>
                  <a:lnTo>
                    <a:pt x="1151752" y="33808"/>
                  </a:lnTo>
                  <a:lnTo>
                    <a:pt x="1194611" y="34081"/>
                  </a:lnTo>
                  <a:lnTo>
                    <a:pt x="1238386" y="33702"/>
                  </a:lnTo>
                  <a:lnTo>
                    <a:pt x="1283837" y="32499"/>
                  </a:lnTo>
                  <a:lnTo>
                    <a:pt x="1386092" y="27577"/>
                  </a:lnTo>
                  <a:lnTo>
                    <a:pt x="1433891" y="25827"/>
                  </a:lnTo>
                  <a:lnTo>
                    <a:pt x="1477030" y="24906"/>
                  </a:lnTo>
                  <a:lnTo>
                    <a:pt x="1517422" y="24673"/>
                  </a:lnTo>
                  <a:lnTo>
                    <a:pt x="1556977" y="24983"/>
                  </a:lnTo>
                  <a:lnTo>
                    <a:pt x="1745064" y="28820"/>
                  </a:lnTo>
                  <a:lnTo>
                    <a:pt x="1809111" y="29715"/>
                  </a:lnTo>
                  <a:lnTo>
                    <a:pt x="1883791" y="30299"/>
                  </a:lnTo>
                  <a:lnTo>
                    <a:pt x="1946653" y="30200"/>
                  </a:lnTo>
                  <a:lnTo>
                    <a:pt x="2008365" y="29419"/>
                  </a:lnTo>
                  <a:lnTo>
                    <a:pt x="2068759" y="28132"/>
                  </a:lnTo>
                  <a:lnTo>
                    <a:pt x="2127670" y="26511"/>
                  </a:lnTo>
                  <a:lnTo>
                    <a:pt x="2293826" y="21393"/>
                  </a:lnTo>
                  <a:lnTo>
                    <a:pt x="2345130" y="20182"/>
                  </a:lnTo>
                  <a:lnTo>
                    <a:pt x="2394115" y="19509"/>
                  </a:lnTo>
                  <a:lnTo>
                    <a:pt x="2440615" y="19547"/>
                  </a:lnTo>
                  <a:lnTo>
                    <a:pt x="2484462" y="20471"/>
                  </a:lnTo>
                  <a:lnTo>
                    <a:pt x="2525490" y="22455"/>
                  </a:lnTo>
                  <a:lnTo>
                    <a:pt x="2563531" y="25673"/>
                  </a:lnTo>
                  <a:lnTo>
                    <a:pt x="2598420" y="30299"/>
                  </a:lnTo>
                  <a:lnTo>
                    <a:pt x="2637678" y="35217"/>
                  </a:lnTo>
                  <a:lnTo>
                    <a:pt x="2683041" y="38509"/>
                  </a:lnTo>
                  <a:lnTo>
                    <a:pt x="2733329" y="40397"/>
                  </a:lnTo>
                  <a:lnTo>
                    <a:pt x="2787366" y="41100"/>
                  </a:lnTo>
                  <a:lnTo>
                    <a:pt x="2843974" y="40836"/>
                  </a:lnTo>
                  <a:lnTo>
                    <a:pt x="2901974" y="39826"/>
                  </a:lnTo>
                  <a:lnTo>
                    <a:pt x="2960188" y="38289"/>
                  </a:lnTo>
                  <a:lnTo>
                    <a:pt x="3171637" y="31264"/>
                  </a:lnTo>
                  <a:lnTo>
                    <a:pt x="3213257" y="30387"/>
                  </a:lnTo>
                  <a:lnTo>
                    <a:pt x="3248025" y="30299"/>
                  </a:lnTo>
                  <a:lnTo>
                    <a:pt x="3248405" y="21155"/>
                  </a:lnTo>
                  <a:lnTo>
                    <a:pt x="3247771" y="15948"/>
                  </a:lnTo>
                  <a:lnTo>
                    <a:pt x="3248025" y="11249"/>
                  </a:lnTo>
                  <a:lnTo>
                    <a:pt x="3194449" y="16484"/>
                  </a:lnTo>
                  <a:lnTo>
                    <a:pt x="3139700" y="19729"/>
                  </a:lnTo>
                  <a:lnTo>
                    <a:pt x="3084174" y="21271"/>
                  </a:lnTo>
                  <a:lnTo>
                    <a:pt x="3028265" y="21397"/>
                  </a:lnTo>
                  <a:lnTo>
                    <a:pt x="2972369" y="20393"/>
                  </a:lnTo>
                  <a:lnTo>
                    <a:pt x="2916880" y="18546"/>
                  </a:lnTo>
                  <a:lnTo>
                    <a:pt x="2862193" y="16142"/>
                  </a:lnTo>
                  <a:lnTo>
                    <a:pt x="2706901" y="8455"/>
                  </a:lnTo>
                  <a:lnTo>
                    <a:pt x="2659376" y="6689"/>
                  </a:lnTo>
                  <a:lnTo>
                    <a:pt x="2614630" y="5799"/>
                  </a:lnTo>
                  <a:lnTo>
                    <a:pt x="2573057" y="6072"/>
                  </a:lnTo>
                  <a:lnTo>
                    <a:pt x="2535052" y="7793"/>
                  </a:lnTo>
                  <a:lnTo>
                    <a:pt x="2458042" y="15697"/>
                  </a:lnTo>
                  <a:lnTo>
                    <a:pt x="2409773" y="18217"/>
                  </a:lnTo>
                  <a:lnTo>
                    <a:pt x="2357332" y="19143"/>
                  </a:lnTo>
                  <a:lnTo>
                    <a:pt x="2301846" y="18813"/>
                  </a:lnTo>
                  <a:lnTo>
                    <a:pt x="2244445" y="17562"/>
                  </a:lnTo>
                  <a:lnTo>
                    <a:pt x="2186257" y="15726"/>
                  </a:lnTo>
                  <a:lnTo>
                    <a:pt x="2072033" y="11644"/>
                  </a:lnTo>
                  <a:lnTo>
                    <a:pt x="2018254" y="10070"/>
                  </a:lnTo>
                  <a:lnTo>
                    <a:pt x="1968201" y="9256"/>
                  </a:lnTo>
                  <a:lnTo>
                    <a:pt x="1923004" y="9537"/>
                  </a:lnTo>
                  <a:lnTo>
                    <a:pt x="1883791" y="11249"/>
                  </a:lnTo>
                  <a:lnTo>
                    <a:pt x="1850698" y="13415"/>
                  </a:lnTo>
                  <a:lnTo>
                    <a:pt x="1813107" y="15515"/>
                  </a:lnTo>
                  <a:lnTo>
                    <a:pt x="1771452" y="17481"/>
                  </a:lnTo>
                  <a:lnTo>
                    <a:pt x="1726167" y="19247"/>
                  </a:lnTo>
                  <a:lnTo>
                    <a:pt x="1677686" y="20746"/>
                  </a:lnTo>
                  <a:lnTo>
                    <a:pt x="1626446" y="21913"/>
                  </a:lnTo>
                  <a:lnTo>
                    <a:pt x="1572879" y="22679"/>
                  </a:lnTo>
                  <a:lnTo>
                    <a:pt x="1517420" y="22979"/>
                  </a:lnTo>
                  <a:lnTo>
                    <a:pt x="1460505" y="22746"/>
                  </a:lnTo>
                  <a:lnTo>
                    <a:pt x="1402568" y="21913"/>
                  </a:lnTo>
                  <a:lnTo>
                    <a:pt x="1344043" y="20413"/>
                  </a:lnTo>
                  <a:lnTo>
                    <a:pt x="1285365" y="18180"/>
                  </a:lnTo>
                  <a:lnTo>
                    <a:pt x="1226969" y="15148"/>
                  </a:lnTo>
                  <a:lnTo>
                    <a:pt x="1102028" y="6469"/>
                  </a:lnTo>
                  <a:lnTo>
                    <a:pt x="1044406" y="3108"/>
                  </a:lnTo>
                  <a:lnTo>
                    <a:pt x="994347" y="1013"/>
                  </a:lnTo>
                  <a:lnTo>
                    <a:pt x="949776" y="28"/>
                  </a:lnTo>
                  <a:close/>
                </a:path>
              </a:pathLst>
            </a:custGeom>
            <a:solidFill>
              <a:srgbClr val="EC7C30"/>
            </a:solidFill>
          </p:spPr>
          <p:txBody>
            <a:bodyPr wrap="square" lIns="0" tIns="0" rIns="0" bIns="0" rtlCol="0"/>
            <a:lstStyle/>
            <a:p>
              <a:endParaRPr/>
            </a:p>
          </p:txBody>
        </p:sp>
        <p:sp>
          <p:nvSpPr>
            <p:cNvPr id="5" name="object 5"/>
            <p:cNvSpPr/>
            <p:nvPr/>
          </p:nvSpPr>
          <p:spPr>
            <a:xfrm>
              <a:off x="647496" y="2555462"/>
              <a:ext cx="3248660" cy="48895"/>
            </a:xfrm>
            <a:custGeom>
              <a:avLst/>
              <a:gdLst/>
              <a:ahLst/>
              <a:cxnLst/>
              <a:rect l="l" t="t" r="r" b="b"/>
              <a:pathLst>
                <a:path w="3248660" h="48894">
                  <a:moveTo>
                    <a:pt x="203" y="16287"/>
                  </a:moveTo>
                  <a:lnTo>
                    <a:pt x="59712" y="11068"/>
                  </a:lnTo>
                  <a:lnTo>
                    <a:pt x="118295" y="6886"/>
                  </a:lnTo>
                  <a:lnTo>
                    <a:pt x="175789" y="3714"/>
                  </a:lnTo>
                  <a:lnTo>
                    <a:pt x="232030" y="1527"/>
                  </a:lnTo>
                  <a:lnTo>
                    <a:pt x="286856" y="298"/>
                  </a:lnTo>
                  <a:lnTo>
                    <a:pt x="340104" y="0"/>
                  </a:lnTo>
                  <a:lnTo>
                    <a:pt x="391610" y="606"/>
                  </a:lnTo>
                  <a:lnTo>
                    <a:pt x="441213" y="2091"/>
                  </a:lnTo>
                  <a:lnTo>
                    <a:pt x="488748" y="4429"/>
                  </a:lnTo>
                  <a:lnTo>
                    <a:pt x="534053" y="7591"/>
                  </a:lnTo>
                  <a:lnTo>
                    <a:pt x="576965" y="11553"/>
                  </a:lnTo>
                  <a:lnTo>
                    <a:pt x="617321" y="16287"/>
                  </a:lnTo>
                  <a:lnTo>
                    <a:pt x="654127" y="20343"/>
                  </a:lnTo>
                  <a:lnTo>
                    <a:pt x="692612" y="23174"/>
                  </a:lnTo>
                  <a:lnTo>
                    <a:pt x="732916" y="24929"/>
                  </a:lnTo>
                  <a:lnTo>
                    <a:pt x="775179" y="25758"/>
                  </a:lnTo>
                  <a:lnTo>
                    <a:pt x="819543" y="25811"/>
                  </a:lnTo>
                  <a:lnTo>
                    <a:pt x="866147" y="25239"/>
                  </a:lnTo>
                  <a:lnTo>
                    <a:pt x="915132" y="24190"/>
                  </a:lnTo>
                  <a:lnTo>
                    <a:pt x="966638" y="22815"/>
                  </a:lnTo>
                  <a:lnTo>
                    <a:pt x="1020806" y="21263"/>
                  </a:lnTo>
                  <a:lnTo>
                    <a:pt x="1077775" y="19685"/>
                  </a:lnTo>
                  <a:lnTo>
                    <a:pt x="1137688" y="18229"/>
                  </a:lnTo>
                  <a:lnTo>
                    <a:pt x="1200682" y="17047"/>
                  </a:lnTo>
                  <a:lnTo>
                    <a:pt x="1266901" y="16287"/>
                  </a:lnTo>
                  <a:lnTo>
                    <a:pt x="1332636" y="16044"/>
                  </a:lnTo>
                  <a:lnTo>
                    <a:pt x="1394409" y="16238"/>
                  </a:lnTo>
                  <a:lnTo>
                    <a:pt x="1452696" y="16761"/>
                  </a:lnTo>
                  <a:lnTo>
                    <a:pt x="1507975" y="17505"/>
                  </a:lnTo>
                  <a:lnTo>
                    <a:pt x="1560725" y="18361"/>
                  </a:lnTo>
                  <a:lnTo>
                    <a:pt x="1611424" y="19223"/>
                  </a:lnTo>
                  <a:lnTo>
                    <a:pt x="1660549" y="19980"/>
                  </a:lnTo>
                  <a:lnTo>
                    <a:pt x="1708578" y="20526"/>
                  </a:lnTo>
                  <a:lnTo>
                    <a:pt x="1755990" y="20751"/>
                  </a:lnTo>
                  <a:lnTo>
                    <a:pt x="1803262" y="20548"/>
                  </a:lnTo>
                  <a:lnTo>
                    <a:pt x="1850871" y="19809"/>
                  </a:lnTo>
                  <a:lnTo>
                    <a:pt x="1899298" y="18424"/>
                  </a:lnTo>
                  <a:lnTo>
                    <a:pt x="1949018" y="16287"/>
                  </a:lnTo>
                  <a:lnTo>
                    <a:pt x="2000571" y="14354"/>
                  </a:lnTo>
                  <a:lnTo>
                    <a:pt x="2053886" y="13514"/>
                  </a:lnTo>
                  <a:lnTo>
                    <a:pt x="2108524" y="13556"/>
                  </a:lnTo>
                  <a:lnTo>
                    <a:pt x="2164046" y="14271"/>
                  </a:lnTo>
                  <a:lnTo>
                    <a:pt x="2220014" y="15448"/>
                  </a:lnTo>
                  <a:lnTo>
                    <a:pt x="2275987" y="16877"/>
                  </a:lnTo>
                  <a:lnTo>
                    <a:pt x="2331529" y="18348"/>
                  </a:lnTo>
                  <a:lnTo>
                    <a:pt x="2386200" y="19652"/>
                  </a:lnTo>
                  <a:lnTo>
                    <a:pt x="2439561" y="20576"/>
                  </a:lnTo>
                  <a:lnTo>
                    <a:pt x="2491174" y="20912"/>
                  </a:lnTo>
                  <a:lnTo>
                    <a:pt x="2540600" y="20450"/>
                  </a:lnTo>
                  <a:lnTo>
                    <a:pt x="2587400" y="18978"/>
                  </a:lnTo>
                  <a:lnTo>
                    <a:pt x="2631135" y="16287"/>
                  </a:lnTo>
                  <a:lnTo>
                    <a:pt x="2679012" y="13326"/>
                  </a:lnTo>
                  <a:lnTo>
                    <a:pt x="2730856" y="11604"/>
                  </a:lnTo>
                  <a:lnTo>
                    <a:pt x="2785670" y="10912"/>
                  </a:lnTo>
                  <a:lnTo>
                    <a:pt x="2842458" y="11038"/>
                  </a:lnTo>
                  <a:lnTo>
                    <a:pt x="2900223" y="11773"/>
                  </a:lnTo>
                  <a:lnTo>
                    <a:pt x="2957969" y="12906"/>
                  </a:lnTo>
                  <a:lnTo>
                    <a:pt x="3014699" y="14227"/>
                  </a:lnTo>
                  <a:lnTo>
                    <a:pt x="3069416" y="15525"/>
                  </a:lnTo>
                  <a:lnTo>
                    <a:pt x="3121125" y="16591"/>
                  </a:lnTo>
                  <a:lnTo>
                    <a:pt x="3168827" y="17213"/>
                  </a:lnTo>
                  <a:lnTo>
                    <a:pt x="3211527" y="17182"/>
                  </a:lnTo>
                  <a:lnTo>
                    <a:pt x="3248228" y="16287"/>
                  </a:lnTo>
                  <a:lnTo>
                    <a:pt x="3247466" y="24796"/>
                  </a:lnTo>
                  <a:lnTo>
                    <a:pt x="3247847" y="28860"/>
                  </a:lnTo>
                  <a:lnTo>
                    <a:pt x="3248228" y="35337"/>
                  </a:lnTo>
                  <a:lnTo>
                    <a:pt x="3209201" y="36115"/>
                  </a:lnTo>
                  <a:lnTo>
                    <a:pt x="3164075" y="36344"/>
                  </a:lnTo>
                  <a:lnTo>
                    <a:pt x="3113913" y="36130"/>
                  </a:lnTo>
                  <a:lnTo>
                    <a:pt x="3059777" y="35582"/>
                  </a:lnTo>
                  <a:lnTo>
                    <a:pt x="3002729" y="34806"/>
                  </a:lnTo>
                  <a:lnTo>
                    <a:pt x="2943833" y="33911"/>
                  </a:lnTo>
                  <a:lnTo>
                    <a:pt x="2884150" y="33004"/>
                  </a:lnTo>
                  <a:lnTo>
                    <a:pt x="2824744" y="32192"/>
                  </a:lnTo>
                  <a:lnTo>
                    <a:pt x="2766676" y="31582"/>
                  </a:lnTo>
                  <a:lnTo>
                    <a:pt x="2711008" y="31283"/>
                  </a:lnTo>
                  <a:lnTo>
                    <a:pt x="2658805" y="31401"/>
                  </a:lnTo>
                  <a:lnTo>
                    <a:pt x="2611127" y="32045"/>
                  </a:lnTo>
                  <a:lnTo>
                    <a:pt x="2569037" y="33321"/>
                  </a:lnTo>
                  <a:lnTo>
                    <a:pt x="2533599" y="35337"/>
                  </a:lnTo>
                  <a:lnTo>
                    <a:pt x="2500283" y="37023"/>
                  </a:lnTo>
                  <a:lnTo>
                    <a:pt x="2424431" y="36758"/>
                  </a:lnTo>
                  <a:lnTo>
                    <a:pt x="2382084" y="35326"/>
                  </a:lnTo>
                  <a:lnTo>
                    <a:pt x="2336917" y="33375"/>
                  </a:lnTo>
                  <a:lnTo>
                    <a:pt x="2289023" y="31165"/>
                  </a:lnTo>
                  <a:lnTo>
                    <a:pt x="2238498" y="28955"/>
                  </a:lnTo>
                  <a:lnTo>
                    <a:pt x="2185437" y="27006"/>
                  </a:lnTo>
                  <a:lnTo>
                    <a:pt x="2129933" y="25578"/>
                  </a:lnTo>
                  <a:lnTo>
                    <a:pt x="2072081" y="24929"/>
                  </a:lnTo>
                  <a:lnTo>
                    <a:pt x="2011978" y="25321"/>
                  </a:lnTo>
                  <a:lnTo>
                    <a:pt x="1949716" y="27013"/>
                  </a:lnTo>
                  <a:lnTo>
                    <a:pt x="1885390" y="30265"/>
                  </a:lnTo>
                  <a:lnTo>
                    <a:pt x="1819097" y="35337"/>
                  </a:lnTo>
                  <a:lnTo>
                    <a:pt x="1751268" y="40941"/>
                  </a:lnTo>
                  <a:lnTo>
                    <a:pt x="1691665" y="44826"/>
                  </a:lnTo>
                  <a:lnTo>
                    <a:pt x="1638857" y="47204"/>
                  </a:lnTo>
                  <a:lnTo>
                    <a:pt x="1591412" y="48292"/>
                  </a:lnTo>
                  <a:lnTo>
                    <a:pt x="1547897" y="48302"/>
                  </a:lnTo>
                  <a:lnTo>
                    <a:pt x="1506882" y="47450"/>
                  </a:lnTo>
                  <a:lnTo>
                    <a:pt x="1466935" y="45949"/>
                  </a:lnTo>
                  <a:lnTo>
                    <a:pt x="1426623" y="44015"/>
                  </a:lnTo>
                  <a:lnTo>
                    <a:pt x="1384516" y="41861"/>
                  </a:lnTo>
                  <a:lnTo>
                    <a:pt x="1339181" y="39702"/>
                  </a:lnTo>
                  <a:lnTo>
                    <a:pt x="1289186" y="37752"/>
                  </a:lnTo>
                  <a:lnTo>
                    <a:pt x="1233100" y="36226"/>
                  </a:lnTo>
                  <a:lnTo>
                    <a:pt x="1169492" y="35337"/>
                  </a:lnTo>
                  <a:lnTo>
                    <a:pt x="1131004" y="35189"/>
                  </a:lnTo>
                  <a:lnTo>
                    <a:pt x="1092163" y="35286"/>
                  </a:lnTo>
                  <a:lnTo>
                    <a:pt x="1052859" y="35595"/>
                  </a:lnTo>
                  <a:lnTo>
                    <a:pt x="1012983" y="36082"/>
                  </a:lnTo>
                  <a:lnTo>
                    <a:pt x="972424" y="36715"/>
                  </a:lnTo>
                  <a:lnTo>
                    <a:pt x="931072" y="37461"/>
                  </a:lnTo>
                  <a:lnTo>
                    <a:pt x="888817" y="38287"/>
                  </a:lnTo>
                  <a:lnTo>
                    <a:pt x="845550" y="39159"/>
                  </a:lnTo>
                  <a:lnTo>
                    <a:pt x="801160" y="40044"/>
                  </a:lnTo>
                  <a:lnTo>
                    <a:pt x="755537" y="40910"/>
                  </a:lnTo>
                  <a:lnTo>
                    <a:pt x="708571" y="41723"/>
                  </a:lnTo>
                  <a:lnTo>
                    <a:pt x="660152" y="42451"/>
                  </a:lnTo>
                  <a:lnTo>
                    <a:pt x="610171" y="43060"/>
                  </a:lnTo>
                  <a:lnTo>
                    <a:pt x="558517" y="43516"/>
                  </a:lnTo>
                  <a:lnTo>
                    <a:pt x="505080" y="43788"/>
                  </a:lnTo>
                  <a:lnTo>
                    <a:pt x="449750" y="43842"/>
                  </a:lnTo>
                  <a:lnTo>
                    <a:pt x="392418" y="43645"/>
                  </a:lnTo>
                  <a:lnTo>
                    <a:pt x="332972" y="43164"/>
                  </a:lnTo>
                  <a:lnTo>
                    <a:pt x="271304" y="42365"/>
                  </a:lnTo>
                  <a:lnTo>
                    <a:pt x="207303" y="41216"/>
                  </a:lnTo>
                  <a:lnTo>
                    <a:pt x="140859" y="39684"/>
                  </a:lnTo>
                  <a:lnTo>
                    <a:pt x="71862" y="37735"/>
                  </a:lnTo>
                  <a:lnTo>
                    <a:pt x="203" y="35337"/>
                  </a:lnTo>
                  <a:lnTo>
                    <a:pt x="152" y="29241"/>
                  </a:lnTo>
                  <a:lnTo>
                    <a:pt x="0" y="23018"/>
                  </a:lnTo>
                  <a:lnTo>
                    <a:pt x="203" y="16287"/>
                  </a:lnTo>
                  <a:close/>
                </a:path>
              </a:pathLst>
            </a:custGeom>
            <a:ln w="38100">
              <a:solidFill>
                <a:srgbClr val="EC7C30"/>
              </a:solidFill>
            </a:ln>
          </p:spPr>
          <p:txBody>
            <a:bodyPr wrap="square" lIns="0" tIns="0" rIns="0" bIns="0" rtlCol="0"/>
            <a:lstStyle/>
            <a:p>
              <a:endParaRPr/>
            </a:p>
          </p:txBody>
        </p:sp>
      </p:grpSp>
      <p:sp>
        <p:nvSpPr>
          <p:cNvPr id="6" name="object 6"/>
          <p:cNvSpPr txBox="1"/>
          <p:nvPr/>
        </p:nvSpPr>
        <p:spPr>
          <a:xfrm>
            <a:off x="640080" y="2946336"/>
            <a:ext cx="3144520" cy="1935480"/>
          </a:xfrm>
          <a:prstGeom prst="rect">
            <a:avLst/>
          </a:prstGeom>
        </p:spPr>
        <p:txBody>
          <a:bodyPr vert="horz" wrap="square" lIns="0" tIns="29845" rIns="0" bIns="0" rtlCol="0">
            <a:spAutoFit/>
          </a:bodyPr>
          <a:lstStyle/>
          <a:p>
            <a:pPr marL="241300" marR="263525" indent="-228600">
              <a:lnSpc>
                <a:spcPct val="94200"/>
              </a:lnSpc>
              <a:spcBef>
                <a:spcPts val="235"/>
              </a:spcBef>
              <a:buFont typeface="Arial MT"/>
              <a:buChar char="•"/>
              <a:tabLst>
                <a:tab pos="241300" algn="l"/>
              </a:tabLst>
            </a:pPr>
            <a:r>
              <a:rPr sz="1550" dirty="0">
                <a:latin typeface="Calibri"/>
                <a:cs typeface="Calibri"/>
              </a:rPr>
              <a:t>Successful</a:t>
            </a:r>
            <a:r>
              <a:rPr sz="1550" spc="60" dirty="0">
                <a:latin typeface="Calibri"/>
                <a:cs typeface="Calibri"/>
              </a:rPr>
              <a:t> </a:t>
            </a:r>
            <a:r>
              <a:rPr sz="1550" dirty="0">
                <a:latin typeface="Calibri"/>
                <a:cs typeface="Calibri"/>
              </a:rPr>
              <a:t>landings</a:t>
            </a:r>
            <a:r>
              <a:rPr sz="1550" spc="130" dirty="0">
                <a:latin typeface="Calibri"/>
                <a:cs typeface="Calibri"/>
              </a:rPr>
              <a:t> </a:t>
            </a:r>
            <a:r>
              <a:rPr sz="1550" dirty="0">
                <a:latin typeface="Calibri"/>
                <a:cs typeface="Calibri"/>
              </a:rPr>
              <a:t>are</a:t>
            </a:r>
            <a:r>
              <a:rPr sz="1550" spc="210" dirty="0">
                <a:latin typeface="Calibri"/>
                <a:cs typeface="Calibri"/>
              </a:rPr>
              <a:t> </a:t>
            </a:r>
            <a:r>
              <a:rPr sz="1550" spc="-20" dirty="0">
                <a:latin typeface="Calibri"/>
                <a:cs typeface="Calibri"/>
              </a:rPr>
              <a:t>more </a:t>
            </a:r>
            <a:r>
              <a:rPr sz="1550" dirty="0">
                <a:latin typeface="Calibri"/>
                <a:cs typeface="Calibri"/>
              </a:rPr>
              <a:t>frequent</a:t>
            </a:r>
            <a:r>
              <a:rPr sz="1550" spc="80" dirty="0">
                <a:latin typeface="Calibri"/>
                <a:cs typeface="Calibri"/>
              </a:rPr>
              <a:t> </a:t>
            </a:r>
            <a:r>
              <a:rPr sz="1550" dirty="0">
                <a:latin typeface="Calibri"/>
                <a:cs typeface="Calibri"/>
              </a:rPr>
              <a:t>across</a:t>
            </a:r>
            <a:r>
              <a:rPr sz="1550" spc="175" dirty="0">
                <a:latin typeface="Calibri"/>
                <a:cs typeface="Calibri"/>
              </a:rPr>
              <a:t> </a:t>
            </a:r>
            <a:r>
              <a:rPr sz="1550" dirty="0">
                <a:latin typeface="Calibri"/>
                <a:cs typeface="Calibri"/>
              </a:rPr>
              <a:t>all</a:t>
            </a:r>
            <a:r>
              <a:rPr sz="1550" spc="25" dirty="0">
                <a:latin typeface="Calibri"/>
                <a:cs typeface="Calibri"/>
              </a:rPr>
              <a:t> </a:t>
            </a:r>
            <a:r>
              <a:rPr sz="1550" dirty="0">
                <a:latin typeface="Calibri"/>
                <a:cs typeface="Calibri"/>
              </a:rPr>
              <a:t>orbit</a:t>
            </a:r>
            <a:r>
              <a:rPr sz="1550" spc="105" dirty="0">
                <a:latin typeface="Calibri"/>
                <a:cs typeface="Calibri"/>
              </a:rPr>
              <a:t> </a:t>
            </a:r>
            <a:r>
              <a:rPr sz="1550" spc="-10" dirty="0">
                <a:latin typeface="Calibri"/>
                <a:cs typeface="Calibri"/>
              </a:rPr>
              <a:t>types, </a:t>
            </a:r>
            <a:r>
              <a:rPr sz="1550" dirty="0">
                <a:latin typeface="Calibri"/>
                <a:cs typeface="Calibri"/>
              </a:rPr>
              <a:t>especially</a:t>
            </a:r>
            <a:r>
              <a:rPr sz="1550" spc="70" dirty="0">
                <a:latin typeface="Calibri"/>
                <a:cs typeface="Calibri"/>
              </a:rPr>
              <a:t> </a:t>
            </a:r>
            <a:r>
              <a:rPr sz="1550" dirty="0">
                <a:latin typeface="Calibri"/>
                <a:cs typeface="Calibri"/>
              </a:rPr>
              <a:t>for</a:t>
            </a:r>
            <a:r>
              <a:rPr sz="1550" spc="180" dirty="0">
                <a:latin typeface="Calibri"/>
                <a:cs typeface="Calibri"/>
              </a:rPr>
              <a:t> </a:t>
            </a:r>
            <a:r>
              <a:rPr sz="1550" dirty="0">
                <a:latin typeface="Calibri"/>
                <a:cs typeface="Calibri"/>
              </a:rPr>
              <a:t>payloads</a:t>
            </a:r>
            <a:r>
              <a:rPr sz="1550" spc="105" dirty="0">
                <a:latin typeface="Calibri"/>
                <a:cs typeface="Calibri"/>
              </a:rPr>
              <a:t> </a:t>
            </a:r>
            <a:r>
              <a:rPr sz="1550" dirty="0">
                <a:latin typeface="Calibri"/>
                <a:cs typeface="Calibri"/>
              </a:rPr>
              <a:t>less</a:t>
            </a:r>
            <a:r>
              <a:rPr sz="1550" spc="100" dirty="0">
                <a:latin typeface="Calibri"/>
                <a:cs typeface="Calibri"/>
              </a:rPr>
              <a:t> </a:t>
            </a:r>
            <a:r>
              <a:rPr sz="1550" spc="-20" dirty="0">
                <a:latin typeface="Calibri"/>
                <a:cs typeface="Calibri"/>
              </a:rPr>
              <a:t>than </a:t>
            </a:r>
            <a:r>
              <a:rPr sz="1550" dirty="0">
                <a:latin typeface="Calibri"/>
                <a:cs typeface="Calibri"/>
              </a:rPr>
              <a:t>6000</a:t>
            </a:r>
            <a:r>
              <a:rPr sz="1550" spc="80" dirty="0">
                <a:latin typeface="Calibri"/>
                <a:cs typeface="Calibri"/>
              </a:rPr>
              <a:t> </a:t>
            </a:r>
            <a:r>
              <a:rPr sz="1550" spc="-25" dirty="0">
                <a:latin typeface="Calibri"/>
                <a:cs typeface="Calibri"/>
              </a:rPr>
              <a:t>kg.</a:t>
            </a:r>
            <a:endParaRPr sz="1550">
              <a:latin typeface="Calibri"/>
              <a:cs typeface="Calibri"/>
            </a:endParaRPr>
          </a:p>
          <a:p>
            <a:pPr marL="241300" marR="5080" indent="-228600">
              <a:lnSpc>
                <a:spcPts val="1730"/>
              </a:lnSpc>
              <a:spcBef>
                <a:spcPts val="1010"/>
              </a:spcBef>
              <a:buFont typeface="Arial MT"/>
              <a:buChar char="•"/>
              <a:tabLst>
                <a:tab pos="241300" algn="l"/>
              </a:tabLst>
            </a:pPr>
            <a:r>
              <a:rPr sz="1550" dirty="0">
                <a:latin typeface="Calibri"/>
                <a:cs typeface="Calibri"/>
              </a:rPr>
              <a:t>Higher</a:t>
            </a:r>
            <a:r>
              <a:rPr sz="1550" spc="120" dirty="0">
                <a:latin typeface="Calibri"/>
                <a:cs typeface="Calibri"/>
              </a:rPr>
              <a:t> </a:t>
            </a:r>
            <a:r>
              <a:rPr sz="1550" dirty="0">
                <a:latin typeface="Calibri"/>
                <a:cs typeface="Calibri"/>
              </a:rPr>
              <a:t>payload</a:t>
            </a:r>
            <a:r>
              <a:rPr sz="1550" spc="155" dirty="0">
                <a:latin typeface="Calibri"/>
                <a:cs typeface="Calibri"/>
              </a:rPr>
              <a:t> </a:t>
            </a:r>
            <a:r>
              <a:rPr sz="1550" dirty="0">
                <a:latin typeface="Calibri"/>
                <a:cs typeface="Calibri"/>
              </a:rPr>
              <a:t>masses</a:t>
            </a:r>
            <a:r>
              <a:rPr sz="1550" spc="135" dirty="0">
                <a:latin typeface="Calibri"/>
                <a:cs typeface="Calibri"/>
              </a:rPr>
              <a:t> </a:t>
            </a:r>
            <a:r>
              <a:rPr sz="1550" spc="-10" dirty="0">
                <a:latin typeface="Calibri"/>
                <a:cs typeface="Calibri"/>
              </a:rPr>
              <a:t>(above </a:t>
            </a:r>
            <a:r>
              <a:rPr sz="1550" dirty="0">
                <a:latin typeface="Calibri"/>
                <a:cs typeface="Calibri"/>
              </a:rPr>
              <a:t>10,000</a:t>
            </a:r>
            <a:r>
              <a:rPr sz="1550" spc="30" dirty="0">
                <a:latin typeface="Calibri"/>
                <a:cs typeface="Calibri"/>
              </a:rPr>
              <a:t> </a:t>
            </a:r>
            <a:r>
              <a:rPr sz="1550" dirty="0">
                <a:latin typeface="Calibri"/>
                <a:cs typeface="Calibri"/>
              </a:rPr>
              <a:t>kg)</a:t>
            </a:r>
            <a:r>
              <a:rPr sz="1550" spc="45" dirty="0">
                <a:latin typeface="Calibri"/>
                <a:cs typeface="Calibri"/>
              </a:rPr>
              <a:t> </a:t>
            </a:r>
            <a:r>
              <a:rPr sz="1550" dirty="0">
                <a:latin typeface="Calibri"/>
                <a:cs typeface="Calibri"/>
              </a:rPr>
              <a:t>show</a:t>
            </a:r>
            <a:r>
              <a:rPr sz="1550" spc="80" dirty="0">
                <a:latin typeface="Calibri"/>
                <a:cs typeface="Calibri"/>
              </a:rPr>
              <a:t> </a:t>
            </a:r>
            <a:r>
              <a:rPr sz="1550" dirty="0">
                <a:latin typeface="Calibri"/>
                <a:cs typeface="Calibri"/>
              </a:rPr>
              <a:t>a</a:t>
            </a:r>
            <a:r>
              <a:rPr sz="1550" spc="80" dirty="0">
                <a:latin typeface="Calibri"/>
                <a:cs typeface="Calibri"/>
              </a:rPr>
              <a:t> </a:t>
            </a:r>
            <a:r>
              <a:rPr sz="1550" dirty="0">
                <a:latin typeface="Calibri"/>
                <a:cs typeface="Calibri"/>
              </a:rPr>
              <a:t>mix</a:t>
            </a:r>
            <a:r>
              <a:rPr sz="1550" spc="80" dirty="0">
                <a:latin typeface="Calibri"/>
                <a:cs typeface="Calibri"/>
              </a:rPr>
              <a:t> </a:t>
            </a:r>
            <a:r>
              <a:rPr sz="1550" dirty="0">
                <a:latin typeface="Calibri"/>
                <a:cs typeface="Calibri"/>
              </a:rPr>
              <a:t>of</a:t>
            </a:r>
            <a:r>
              <a:rPr sz="1550" spc="130" dirty="0">
                <a:latin typeface="Calibri"/>
                <a:cs typeface="Calibri"/>
              </a:rPr>
              <a:t> </a:t>
            </a:r>
            <a:r>
              <a:rPr sz="1550" spc="-10" dirty="0">
                <a:latin typeface="Calibri"/>
                <a:cs typeface="Calibri"/>
              </a:rPr>
              <a:t>successes </a:t>
            </a:r>
            <a:r>
              <a:rPr sz="1550" dirty="0">
                <a:latin typeface="Calibri"/>
                <a:cs typeface="Calibri"/>
              </a:rPr>
              <a:t>and</a:t>
            </a:r>
            <a:r>
              <a:rPr sz="1550" spc="114" dirty="0">
                <a:latin typeface="Calibri"/>
                <a:cs typeface="Calibri"/>
              </a:rPr>
              <a:t> </a:t>
            </a:r>
            <a:r>
              <a:rPr sz="1550" dirty="0">
                <a:latin typeface="Calibri"/>
                <a:cs typeface="Calibri"/>
              </a:rPr>
              <a:t>failures,</a:t>
            </a:r>
            <a:r>
              <a:rPr sz="1550" spc="110" dirty="0">
                <a:latin typeface="Calibri"/>
                <a:cs typeface="Calibri"/>
              </a:rPr>
              <a:t> </a:t>
            </a:r>
            <a:r>
              <a:rPr sz="1550" dirty="0">
                <a:latin typeface="Calibri"/>
                <a:cs typeface="Calibri"/>
              </a:rPr>
              <a:t>indicating</a:t>
            </a:r>
            <a:r>
              <a:rPr sz="1550" spc="140" dirty="0">
                <a:latin typeface="Calibri"/>
                <a:cs typeface="Calibri"/>
              </a:rPr>
              <a:t> </a:t>
            </a:r>
            <a:r>
              <a:rPr sz="1550" spc="-10" dirty="0">
                <a:latin typeface="Calibri"/>
                <a:cs typeface="Calibri"/>
              </a:rPr>
              <a:t>increased </a:t>
            </a:r>
            <a:r>
              <a:rPr sz="1550" dirty="0">
                <a:latin typeface="Calibri"/>
                <a:cs typeface="Calibri"/>
              </a:rPr>
              <a:t>difficulty</a:t>
            </a:r>
            <a:r>
              <a:rPr sz="1550" spc="60" dirty="0">
                <a:latin typeface="Calibri"/>
                <a:cs typeface="Calibri"/>
              </a:rPr>
              <a:t> </a:t>
            </a:r>
            <a:r>
              <a:rPr sz="1550" dirty="0">
                <a:latin typeface="Calibri"/>
                <a:cs typeface="Calibri"/>
              </a:rPr>
              <a:t>with</a:t>
            </a:r>
            <a:r>
              <a:rPr sz="1550" spc="120" dirty="0">
                <a:latin typeface="Calibri"/>
                <a:cs typeface="Calibri"/>
              </a:rPr>
              <a:t> </a:t>
            </a:r>
            <a:r>
              <a:rPr sz="1550" dirty="0">
                <a:latin typeface="Calibri"/>
                <a:cs typeface="Calibri"/>
              </a:rPr>
              <a:t>heavier</a:t>
            </a:r>
            <a:r>
              <a:rPr sz="1550" spc="175" dirty="0">
                <a:latin typeface="Calibri"/>
                <a:cs typeface="Calibri"/>
              </a:rPr>
              <a:t> </a:t>
            </a:r>
            <a:r>
              <a:rPr sz="1550" spc="-10" dirty="0">
                <a:latin typeface="Calibri"/>
                <a:cs typeface="Calibri"/>
              </a:rPr>
              <a:t>payloads.</a:t>
            </a:r>
            <a:endParaRPr sz="1550">
              <a:latin typeface="Calibri"/>
              <a:cs typeface="Calibri"/>
            </a:endParaRPr>
          </a:p>
        </p:txBody>
      </p:sp>
      <p:pic>
        <p:nvPicPr>
          <p:cNvPr id="7" name="object 7"/>
          <p:cNvPicPr/>
          <p:nvPr/>
        </p:nvPicPr>
        <p:blipFill>
          <a:blip r:embed="rId2" cstate="print"/>
          <a:stretch>
            <a:fillRect/>
          </a:stretch>
        </p:blipFill>
        <p:spPr>
          <a:xfrm>
            <a:off x="4691419" y="1439240"/>
            <a:ext cx="6795017" cy="4024612"/>
          </a:xfrm>
          <a:prstGeom prst="rect">
            <a:avLst/>
          </a:prstGeom>
        </p:spPr>
      </p:pic>
      <p:sp>
        <p:nvSpPr>
          <p:cNvPr id="8" name="object 8"/>
          <p:cNvSpPr txBox="1"/>
          <p:nvPr/>
        </p:nvSpPr>
        <p:spPr>
          <a:xfrm>
            <a:off x="11076051" y="6472554"/>
            <a:ext cx="241300" cy="177800"/>
          </a:xfrm>
          <a:prstGeom prst="rect">
            <a:avLst/>
          </a:prstGeom>
        </p:spPr>
        <p:txBody>
          <a:bodyPr vert="horz" wrap="square" lIns="0" tIns="0" rIns="0" bIns="0" rtlCol="0">
            <a:spAutoFit/>
          </a:bodyPr>
          <a:lstStyle/>
          <a:p>
            <a:pPr marL="38100">
              <a:lnSpc>
                <a:spcPts val="1240"/>
              </a:lnSpc>
            </a:pPr>
            <a:fld id="{81D60167-4931-47E6-BA6A-407CBD079E47}" type="slidenum">
              <a:rPr sz="1200" spc="-25" dirty="0">
                <a:solidFill>
                  <a:srgbClr val="888888"/>
                </a:solidFill>
                <a:latin typeface="Calibri"/>
                <a:cs typeface="Calibri"/>
              </a:rPr>
              <a:t>28</a:t>
            </a:fld>
            <a:endParaRPr sz="120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0247" y="1164336"/>
            <a:ext cx="3013075" cy="1133475"/>
          </a:xfrm>
          <a:prstGeom prst="rect">
            <a:avLst/>
          </a:prstGeom>
        </p:spPr>
        <p:txBody>
          <a:bodyPr vert="horz" wrap="square" lIns="0" tIns="79375" rIns="0" bIns="0" rtlCol="0">
            <a:spAutoFit/>
          </a:bodyPr>
          <a:lstStyle/>
          <a:p>
            <a:pPr marL="12700" marR="5080">
              <a:lnSpc>
                <a:spcPts val="4130"/>
              </a:lnSpc>
              <a:spcBef>
                <a:spcPts val="625"/>
              </a:spcBef>
            </a:pPr>
            <a:r>
              <a:rPr sz="3800" dirty="0">
                <a:solidFill>
                  <a:srgbClr val="000000"/>
                </a:solidFill>
                <a:latin typeface="Calibri Light"/>
                <a:cs typeface="Calibri Light"/>
              </a:rPr>
              <a:t>Launch</a:t>
            </a:r>
            <a:r>
              <a:rPr sz="3800" spc="-80" dirty="0">
                <a:solidFill>
                  <a:srgbClr val="000000"/>
                </a:solidFill>
                <a:latin typeface="Calibri Light"/>
                <a:cs typeface="Calibri Light"/>
              </a:rPr>
              <a:t> </a:t>
            </a:r>
            <a:r>
              <a:rPr sz="3800" spc="-10" dirty="0">
                <a:solidFill>
                  <a:srgbClr val="000000"/>
                </a:solidFill>
                <a:latin typeface="Calibri Light"/>
                <a:cs typeface="Calibri Light"/>
              </a:rPr>
              <a:t>Success </a:t>
            </a:r>
            <a:r>
              <a:rPr sz="3800" spc="-25" dirty="0">
                <a:solidFill>
                  <a:srgbClr val="000000"/>
                </a:solidFill>
                <a:latin typeface="Calibri Light"/>
                <a:cs typeface="Calibri Light"/>
              </a:rPr>
              <a:t>Yearly</a:t>
            </a:r>
            <a:r>
              <a:rPr sz="3800" spc="-180" dirty="0">
                <a:solidFill>
                  <a:srgbClr val="000000"/>
                </a:solidFill>
                <a:latin typeface="Calibri Light"/>
                <a:cs typeface="Calibri Light"/>
              </a:rPr>
              <a:t> </a:t>
            </a:r>
            <a:r>
              <a:rPr sz="3800" spc="-20" dirty="0">
                <a:solidFill>
                  <a:srgbClr val="000000"/>
                </a:solidFill>
                <a:latin typeface="Calibri Light"/>
                <a:cs typeface="Calibri Light"/>
              </a:rPr>
              <a:t>Trend</a:t>
            </a:r>
            <a:endParaRPr sz="3800">
              <a:latin typeface="Calibri Light"/>
              <a:cs typeface="Calibri Light"/>
            </a:endParaRPr>
          </a:p>
        </p:txBody>
      </p:sp>
      <p:grpSp>
        <p:nvGrpSpPr>
          <p:cNvPr id="3" name="object 3"/>
          <p:cNvGrpSpPr/>
          <p:nvPr/>
        </p:nvGrpSpPr>
        <p:grpSpPr>
          <a:xfrm>
            <a:off x="628446" y="2536412"/>
            <a:ext cx="3286760" cy="86995"/>
            <a:chOff x="628446" y="2536412"/>
            <a:chExt cx="3286760" cy="86995"/>
          </a:xfrm>
        </p:grpSpPr>
        <p:sp>
          <p:nvSpPr>
            <p:cNvPr id="4" name="object 4"/>
            <p:cNvSpPr/>
            <p:nvPr/>
          </p:nvSpPr>
          <p:spPr>
            <a:xfrm>
              <a:off x="647700" y="2560500"/>
              <a:ext cx="3248660" cy="41275"/>
            </a:xfrm>
            <a:custGeom>
              <a:avLst/>
              <a:gdLst/>
              <a:ahLst/>
              <a:cxnLst/>
              <a:rect l="l" t="t" r="r" b="b"/>
              <a:pathLst>
                <a:path w="3248660" h="41275">
                  <a:moveTo>
                    <a:pt x="949776" y="28"/>
                  </a:moveTo>
                  <a:lnTo>
                    <a:pt x="908617" y="0"/>
                  </a:lnTo>
                  <a:lnTo>
                    <a:pt x="868796" y="772"/>
                  </a:lnTo>
                  <a:lnTo>
                    <a:pt x="828237" y="2192"/>
                  </a:lnTo>
                  <a:lnTo>
                    <a:pt x="681380" y="8787"/>
                  </a:lnTo>
                  <a:lnTo>
                    <a:pt x="557024" y="13502"/>
                  </a:lnTo>
                  <a:lnTo>
                    <a:pt x="408641" y="19688"/>
                  </a:lnTo>
                  <a:lnTo>
                    <a:pt x="365138" y="21166"/>
                  </a:lnTo>
                  <a:lnTo>
                    <a:pt x="322275" y="22155"/>
                  </a:lnTo>
                  <a:lnTo>
                    <a:pt x="278650" y="22539"/>
                  </a:lnTo>
                  <a:lnTo>
                    <a:pt x="232860" y="22199"/>
                  </a:lnTo>
                  <a:lnTo>
                    <a:pt x="183503" y="21018"/>
                  </a:lnTo>
                  <a:lnTo>
                    <a:pt x="129176" y="18878"/>
                  </a:lnTo>
                  <a:lnTo>
                    <a:pt x="68475" y="15661"/>
                  </a:lnTo>
                  <a:lnTo>
                    <a:pt x="0" y="11249"/>
                  </a:lnTo>
                  <a:lnTo>
                    <a:pt x="368" y="18488"/>
                  </a:lnTo>
                  <a:lnTo>
                    <a:pt x="838" y="21282"/>
                  </a:lnTo>
                  <a:lnTo>
                    <a:pt x="0" y="30299"/>
                  </a:lnTo>
                  <a:lnTo>
                    <a:pt x="45362" y="30022"/>
                  </a:lnTo>
                  <a:lnTo>
                    <a:pt x="90248" y="30127"/>
                  </a:lnTo>
                  <a:lnTo>
                    <a:pt x="135110" y="30523"/>
                  </a:lnTo>
                  <a:lnTo>
                    <a:pt x="274084" y="32535"/>
                  </a:lnTo>
                  <a:lnTo>
                    <a:pt x="374923" y="33650"/>
                  </a:lnTo>
                  <a:lnTo>
                    <a:pt x="429158" y="33864"/>
                  </a:lnTo>
                  <a:lnTo>
                    <a:pt x="486542" y="33728"/>
                  </a:lnTo>
                  <a:lnTo>
                    <a:pt x="547528" y="33149"/>
                  </a:lnTo>
                  <a:lnTo>
                    <a:pt x="612568" y="32037"/>
                  </a:lnTo>
                  <a:lnTo>
                    <a:pt x="750859" y="28722"/>
                  </a:lnTo>
                  <a:lnTo>
                    <a:pt x="813691" y="28037"/>
                  </a:lnTo>
                  <a:lnTo>
                    <a:pt x="871372" y="28072"/>
                  </a:lnTo>
                  <a:lnTo>
                    <a:pt x="924660" y="28657"/>
                  </a:lnTo>
                  <a:lnTo>
                    <a:pt x="974313" y="29619"/>
                  </a:lnTo>
                  <a:lnTo>
                    <a:pt x="1109052" y="33053"/>
                  </a:lnTo>
                  <a:lnTo>
                    <a:pt x="1151752" y="33808"/>
                  </a:lnTo>
                  <a:lnTo>
                    <a:pt x="1194611" y="34081"/>
                  </a:lnTo>
                  <a:lnTo>
                    <a:pt x="1238386" y="33702"/>
                  </a:lnTo>
                  <a:lnTo>
                    <a:pt x="1283837" y="32499"/>
                  </a:lnTo>
                  <a:lnTo>
                    <a:pt x="1386092" y="27577"/>
                  </a:lnTo>
                  <a:lnTo>
                    <a:pt x="1433891" y="25827"/>
                  </a:lnTo>
                  <a:lnTo>
                    <a:pt x="1477030" y="24906"/>
                  </a:lnTo>
                  <a:lnTo>
                    <a:pt x="1517422" y="24673"/>
                  </a:lnTo>
                  <a:lnTo>
                    <a:pt x="1556977" y="24983"/>
                  </a:lnTo>
                  <a:lnTo>
                    <a:pt x="1745064" y="28820"/>
                  </a:lnTo>
                  <a:lnTo>
                    <a:pt x="1809111" y="29715"/>
                  </a:lnTo>
                  <a:lnTo>
                    <a:pt x="1883791" y="30299"/>
                  </a:lnTo>
                  <a:lnTo>
                    <a:pt x="1946653" y="30200"/>
                  </a:lnTo>
                  <a:lnTo>
                    <a:pt x="2008365" y="29419"/>
                  </a:lnTo>
                  <a:lnTo>
                    <a:pt x="2068759" y="28132"/>
                  </a:lnTo>
                  <a:lnTo>
                    <a:pt x="2127670" y="26511"/>
                  </a:lnTo>
                  <a:lnTo>
                    <a:pt x="2293826" y="21393"/>
                  </a:lnTo>
                  <a:lnTo>
                    <a:pt x="2345130" y="20182"/>
                  </a:lnTo>
                  <a:lnTo>
                    <a:pt x="2394115" y="19509"/>
                  </a:lnTo>
                  <a:lnTo>
                    <a:pt x="2440615" y="19547"/>
                  </a:lnTo>
                  <a:lnTo>
                    <a:pt x="2484462" y="20471"/>
                  </a:lnTo>
                  <a:lnTo>
                    <a:pt x="2525490" y="22455"/>
                  </a:lnTo>
                  <a:lnTo>
                    <a:pt x="2563531" y="25673"/>
                  </a:lnTo>
                  <a:lnTo>
                    <a:pt x="2598420" y="30299"/>
                  </a:lnTo>
                  <a:lnTo>
                    <a:pt x="2637678" y="35217"/>
                  </a:lnTo>
                  <a:lnTo>
                    <a:pt x="2683041" y="38509"/>
                  </a:lnTo>
                  <a:lnTo>
                    <a:pt x="2733329" y="40397"/>
                  </a:lnTo>
                  <a:lnTo>
                    <a:pt x="2787366" y="41100"/>
                  </a:lnTo>
                  <a:lnTo>
                    <a:pt x="2843974" y="40836"/>
                  </a:lnTo>
                  <a:lnTo>
                    <a:pt x="2901974" y="39826"/>
                  </a:lnTo>
                  <a:lnTo>
                    <a:pt x="2960188" y="38289"/>
                  </a:lnTo>
                  <a:lnTo>
                    <a:pt x="3171637" y="31264"/>
                  </a:lnTo>
                  <a:lnTo>
                    <a:pt x="3213257" y="30387"/>
                  </a:lnTo>
                  <a:lnTo>
                    <a:pt x="3248025" y="30299"/>
                  </a:lnTo>
                  <a:lnTo>
                    <a:pt x="3248405" y="21155"/>
                  </a:lnTo>
                  <a:lnTo>
                    <a:pt x="3247771" y="15948"/>
                  </a:lnTo>
                  <a:lnTo>
                    <a:pt x="3248025" y="11249"/>
                  </a:lnTo>
                  <a:lnTo>
                    <a:pt x="3194449" y="16484"/>
                  </a:lnTo>
                  <a:lnTo>
                    <a:pt x="3139700" y="19729"/>
                  </a:lnTo>
                  <a:lnTo>
                    <a:pt x="3084174" y="21271"/>
                  </a:lnTo>
                  <a:lnTo>
                    <a:pt x="3028265" y="21397"/>
                  </a:lnTo>
                  <a:lnTo>
                    <a:pt x="2972369" y="20393"/>
                  </a:lnTo>
                  <a:lnTo>
                    <a:pt x="2916880" y="18546"/>
                  </a:lnTo>
                  <a:lnTo>
                    <a:pt x="2862193" y="16142"/>
                  </a:lnTo>
                  <a:lnTo>
                    <a:pt x="2706901" y="8455"/>
                  </a:lnTo>
                  <a:lnTo>
                    <a:pt x="2659376" y="6689"/>
                  </a:lnTo>
                  <a:lnTo>
                    <a:pt x="2614630" y="5799"/>
                  </a:lnTo>
                  <a:lnTo>
                    <a:pt x="2573057" y="6072"/>
                  </a:lnTo>
                  <a:lnTo>
                    <a:pt x="2535052" y="7793"/>
                  </a:lnTo>
                  <a:lnTo>
                    <a:pt x="2458042" y="15697"/>
                  </a:lnTo>
                  <a:lnTo>
                    <a:pt x="2409773" y="18217"/>
                  </a:lnTo>
                  <a:lnTo>
                    <a:pt x="2357332" y="19143"/>
                  </a:lnTo>
                  <a:lnTo>
                    <a:pt x="2301846" y="18813"/>
                  </a:lnTo>
                  <a:lnTo>
                    <a:pt x="2244445" y="17562"/>
                  </a:lnTo>
                  <a:lnTo>
                    <a:pt x="2186257" y="15726"/>
                  </a:lnTo>
                  <a:lnTo>
                    <a:pt x="2072033" y="11644"/>
                  </a:lnTo>
                  <a:lnTo>
                    <a:pt x="2018254" y="10070"/>
                  </a:lnTo>
                  <a:lnTo>
                    <a:pt x="1968201" y="9256"/>
                  </a:lnTo>
                  <a:lnTo>
                    <a:pt x="1923004" y="9537"/>
                  </a:lnTo>
                  <a:lnTo>
                    <a:pt x="1883791" y="11249"/>
                  </a:lnTo>
                  <a:lnTo>
                    <a:pt x="1850698" y="13415"/>
                  </a:lnTo>
                  <a:lnTo>
                    <a:pt x="1813107" y="15515"/>
                  </a:lnTo>
                  <a:lnTo>
                    <a:pt x="1771452" y="17481"/>
                  </a:lnTo>
                  <a:lnTo>
                    <a:pt x="1726167" y="19247"/>
                  </a:lnTo>
                  <a:lnTo>
                    <a:pt x="1677686" y="20746"/>
                  </a:lnTo>
                  <a:lnTo>
                    <a:pt x="1626446" y="21913"/>
                  </a:lnTo>
                  <a:lnTo>
                    <a:pt x="1572879" y="22679"/>
                  </a:lnTo>
                  <a:lnTo>
                    <a:pt x="1517420" y="22979"/>
                  </a:lnTo>
                  <a:lnTo>
                    <a:pt x="1460505" y="22746"/>
                  </a:lnTo>
                  <a:lnTo>
                    <a:pt x="1402568" y="21913"/>
                  </a:lnTo>
                  <a:lnTo>
                    <a:pt x="1344043" y="20413"/>
                  </a:lnTo>
                  <a:lnTo>
                    <a:pt x="1285365" y="18180"/>
                  </a:lnTo>
                  <a:lnTo>
                    <a:pt x="1226969" y="15148"/>
                  </a:lnTo>
                  <a:lnTo>
                    <a:pt x="1102028" y="6469"/>
                  </a:lnTo>
                  <a:lnTo>
                    <a:pt x="1044406" y="3108"/>
                  </a:lnTo>
                  <a:lnTo>
                    <a:pt x="994347" y="1013"/>
                  </a:lnTo>
                  <a:lnTo>
                    <a:pt x="949776" y="28"/>
                  </a:lnTo>
                  <a:close/>
                </a:path>
              </a:pathLst>
            </a:custGeom>
            <a:solidFill>
              <a:srgbClr val="EC7C30"/>
            </a:solidFill>
          </p:spPr>
          <p:txBody>
            <a:bodyPr wrap="square" lIns="0" tIns="0" rIns="0" bIns="0" rtlCol="0"/>
            <a:lstStyle/>
            <a:p>
              <a:endParaRPr/>
            </a:p>
          </p:txBody>
        </p:sp>
        <p:sp>
          <p:nvSpPr>
            <p:cNvPr id="5" name="object 5"/>
            <p:cNvSpPr/>
            <p:nvPr/>
          </p:nvSpPr>
          <p:spPr>
            <a:xfrm>
              <a:off x="647496" y="2555462"/>
              <a:ext cx="3248660" cy="48895"/>
            </a:xfrm>
            <a:custGeom>
              <a:avLst/>
              <a:gdLst/>
              <a:ahLst/>
              <a:cxnLst/>
              <a:rect l="l" t="t" r="r" b="b"/>
              <a:pathLst>
                <a:path w="3248660" h="48894">
                  <a:moveTo>
                    <a:pt x="203" y="16287"/>
                  </a:moveTo>
                  <a:lnTo>
                    <a:pt x="59712" y="11068"/>
                  </a:lnTo>
                  <a:lnTo>
                    <a:pt x="118295" y="6886"/>
                  </a:lnTo>
                  <a:lnTo>
                    <a:pt x="175789" y="3714"/>
                  </a:lnTo>
                  <a:lnTo>
                    <a:pt x="232030" y="1527"/>
                  </a:lnTo>
                  <a:lnTo>
                    <a:pt x="286856" y="298"/>
                  </a:lnTo>
                  <a:lnTo>
                    <a:pt x="340104" y="0"/>
                  </a:lnTo>
                  <a:lnTo>
                    <a:pt x="391610" y="606"/>
                  </a:lnTo>
                  <a:lnTo>
                    <a:pt x="441213" y="2091"/>
                  </a:lnTo>
                  <a:lnTo>
                    <a:pt x="488748" y="4429"/>
                  </a:lnTo>
                  <a:lnTo>
                    <a:pt x="534053" y="7591"/>
                  </a:lnTo>
                  <a:lnTo>
                    <a:pt x="576965" y="11553"/>
                  </a:lnTo>
                  <a:lnTo>
                    <a:pt x="617321" y="16287"/>
                  </a:lnTo>
                  <a:lnTo>
                    <a:pt x="654127" y="20343"/>
                  </a:lnTo>
                  <a:lnTo>
                    <a:pt x="692612" y="23174"/>
                  </a:lnTo>
                  <a:lnTo>
                    <a:pt x="732916" y="24929"/>
                  </a:lnTo>
                  <a:lnTo>
                    <a:pt x="775179" y="25758"/>
                  </a:lnTo>
                  <a:lnTo>
                    <a:pt x="819543" y="25811"/>
                  </a:lnTo>
                  <a:lnTo>
                    <a:pt x="866147" y="25239"/>
                  </a:lnTo>
                  <a:lnTo>
                    <a:pt x="915132" y="24190"/>
                  </a:lnTo>
                  <a:lnTo>
                    <a:pt x="966638" y="22815"/>
                  </a:lnTo>
                  <a:lnTo>
                    <a:pt x="1020806" y="21263"/>
                  </a:lnTo>
                  <a:lnTo>
                    <a:pt x="1077775" y="19685"/>
                  </a:lnTo>
                  <a:lnTo>
                    <a:pt x="1137688" y="18229"/>
                  </a:lnTo>
                  <a:lnTo>
                    <a:pt x="1200682" y="17047"/>
                  </a:lnTo>
                  <a:lnTo>
                    <a:pt x="1266901" y="16287"/>
                  </a:lnTo>
                  <a:lnTo>
                    <a:pt x="1332636" y="16044"/>
                  </a:lnTo>
                  <a:lnTo>
                    <a:pt x="1394409" y="16238"/>
                  </a:lnTo>
                  <a:lnTo>
                    <a:pt x="1452696" y="16761"/>
                  </a:lnTo>
                  <a:lnTo>
                    <a:pt x="1507975" y="17505"/>
                  </a:lnTo>
                  <a:lnTo>
                    <a:pt x="1560725" y="18361"/>
                  </a:lnTo>
                  <a:lnTo>
                    <a:pt x="1611424" y="19223"/>
                  </a:lnTo>
                  <a:lnTo>
                    <a:pt x="1660549" y="19980"/>
                  </a:lnTo>
                  <a:lnTo>
                    <a:pt x="1708578" y="20526"/>
                  </a:lnTo>
                  <a:lnTo>
                    <a:pt x="1755990" y="20751"/>
                  </a:lnTo>
                  <a:lnTo>
                    <a:pt x="1803262" y="20548"/>
                  </a:lnTo>
                  <a:lnTo>
                    <a:pt x="1850871" y="19809"/>
                  </a:lnTo>
                  <a:lnTo>
                    <a:pt x="1899298" y="18424"/>
                  </a:lnTo>
                  <a:lnTo>
                    <a:pt x="1949018" y="16287"/>
                  </a:lnTo>
                  <a:lnTo>
                    <a:pt x="2000571" y="14354"/>
                  </a:lnTo>
                  <a:lnTo>
                    <a:pt x="2053886" y="13514"/>
                  </a:lnTo>
                  <a:lnTo>
                    <a:pt x="2108524" y="13556"/>
                  </a:lnTo>
                  <a:lnTo>
                    <a:pt x="2164046" y="14271"/>
                  </a:lnTo>
                  <a:lnTo>
                    <a:pt x="2220014" y="15448"/>
                  </a:lnTo>
                  <a:lnTo>
                    <a:pt x="2275987" y="16877"/>
                  </a:lnTo>
                  <a:lnTo>
                    <a:pt x="2331529" y="18348"/>
                  </a:lnTo>
                  <a:lnTo>
                    <a:pt x="2386200" y="19652"/>
                  </a:lnTo>
                  <a:lnTo>
                    <a:pt x="2439561" y="20576"/>
                  </a:lnTo>
                  <a:lnTo>
                    <a:pt x="2491174" y="20912"/>
                  </a:lnTo>
                  <a:lnTo>
                    <a:pt x="2540600" y="20450"/>
                  </a:lnTo>
                  <a:lnTo>
                    <a:pt x="2587400" y="18978"/>
                  </a:lnTo>
                  <a:lnTo>
                    <a:pt x="2631135" y="16287"/>
                  </a:lnTo>
                  <a:lnTo>
                    <a:pt x="2679012" y="13326"/>
                  </a:lnTo>
                  <a:lnTo>
                    <a:pt x="2730856" y="11604"/>
                  </a:lnTo>
                  <a:lnTo>
                    <a:pt x="2785670" y="10912"/>
                  </a:lnTo>
                  <a:lnTo>
                    <a:pt x="2842458" y="11038"/>
                  </a:lnTo>
                  <a:lnTo>
                    <a:pt x="2900223" y="11773"/>
                  </a:lnTo>
                  <a:lnTo>
                    <a:pt x="2957969" y="12906"/>
                  </a:lnTo>
                  <a:lnTo>
                    <a:pt x="3014699" y="14227"/>
                  </a:lnTo>
                  <a:lnTo>
                    <a:pt x="3069416" y="15525"/>
                  </a:lnTo>
                  <a:lnTo>
                    <a:pt x="3121125" y="16591"/>
                  </a:lnTo>
                  <a:lnTo>
                    <a:pt x="3168827" y="17213"/>
                  </a:lnTo>
                  <a:lnTo>
                    <a:pt x="3211527" y="17182"/>
                  </a:lnTo>
                  <a:lnTo>
                    <a:pt x="3248228" y="16287"/>
                  </a:lnTo>
                  <a:lnTo>
                    <a:pt x="3247466" y="24796"/>
                  </a:lnTo>
                  <a:lnTo>
                    <a:pt x="3247847" y="28860"/>
                  </a:lnTo>
                  <a:lnTo>
                    <a:pt x="3248228" y="35337"/>
                  </a:lnTo>
                  <a:lnTo>
                    <a:pt x="3209201" y="36115"/>
                  </a:lnTo>
                  <a:lnTo>
                    <a:pt x="3164075" y="36344"/>
                  </a:lnTo>
                  <a:lnTo>
                    <a:pt x="3113913" y="36130"/>
                  </a:lnTo>
                  <a:lnTo>
                    <a:pt x="3059777" y="35582"/>
                  </a:lnTo>
                  <a:lnTo>
                    <a:pt x="3002729" y="34806"/>
                  </a:lnTo>
                  <a:lnTo>
                    <a:pt x="2943833" y="33911"/>
                  </a:lnTo>
                  <a:lnTo>
                    <a:pt x="2884150" y="33004"/>
                  </a:lnTo>
                  <a:lnTo>
                    <a:pt x="2824744" y="32192"/>
                  </a:lnTo>
                  <a:lnTo>
                    <a:pt x="2766676" y="31582"/>
                  </a:lnTo>
                  <a:lnTo>
                    <a:pt x="2711008" y="31283"/>
                  </a:lnTo>
                  <a:lnTo>
                    <a:pt x="2658805" y="31401"/>
                  </a:lnTo>
                  <a:lnTo>
                    <a:pt x="2611127" y="32045"/>
                  </a:lnTo>
                  <a:lnTo>
                    <a:pt x="2569037" y="33321"/>
                  </a:lnTo>
                  <a:lnTo>
                    <a:pt x="2533599" y="35337"/>
                  </a:lnTo>
                  <a:lnTo>
                    <a:pt x="2500283" y="37023"/>
                  </a:lnTo>
                  <a:lnTo>
                    <a:pt x="2424431" y="36758"/>
                  </a:lnTo>
                  <a:lnTo>
                    <a:pt x="2382084" y="35326"/>
                  </a:lnTo>
                  <a:lnTo>
                    <a:pt x="2336917" y="33375"/>
                  </a:lnTo>
                  <a:lnTo>
                    <a:pt x="2289023" y="31165"/>
                  </a:lnTo>
                  <a:lnTo>
                    <a:pt x="2238498" y="28955"/>
                  </a:lnTo>
                  <a:lnTo>
                    <a:pt x="2185437" y="27006"/>
                  </a:lnTo>
                  <a:lnTo>
                    <a:pt x="2129933" y="25578"/>
                  </a:lnTo>
                  <a:lnTo>
                    <a:pt x="2072081" y="24929"/>
                  </a:lnTo>
                  <a:lnTo>
                    <a:pt x="2011978" y="25321"/>
                  </a:lnTo>
                  <a:lnTo>
                    <a:pt x="1949716" y="27013"/>
                  </a:lnTo>
                  <a:lnTo>
                    <a:pt x="1885390" y="30265"/>
                  </a:lnTo>
                  <a:lnTo>
                    <a:pt x="1819097" y="35337"/>
                  </a:lnTo>
                  <a:lnTo>
                    <a:pt x="1751268" y="40941"/>
                  </a:lnTo>
                  <a:lnTo>
                    <a:pt x="1691665" y="44826"/>
                  </a:lnTo>
                  <a:lnTo>
                    <a:pt x="1638857" y="47204"/>
                  </a:lnTo>
                  <a:lnTo>
                    <a:pt x="1591412" y="48292"/>
                  </a:lnTo>
                  <a:lnTo>
                    <a:pt x="1547897" y="48302"/>
                  </a:lnTo>
                  <a:lnTo>
                    <a:pt x="1506882" y="47450"/>
                  </a:lnTo>
                  <a:lnTo>
                    <a:pt x="1466935" y="45949"/>
                  </a:lnTo>
                  <a:lnTo>
                    <a:pt x="1426623" y="44015"/>
                  </a:lnTo>
                  <a:lnTo>
                    <a:pt x="1384516" y="41861"/>
                  </a:lnTo>
                  <a:lnTo>
                    <a:pt x="1339181" y="39702"/>
                  </a:lnTo>
                  <a:lnTo>
                    <a:pt x="1289186" y="37752"/>
                  </a:lnTo>
                  <a:lnTo>
                    <a:pt x="1233100" y="36226"/>
                  </a:lnTo>
                  <a:lnTo>
                    <a:pt x="1169492" y="35337"/>
                  </a:lnTo>
                  <a:lnTo>
                    <a:pt x="1131004" y="35189"/>
                  </a:lnTo>
                  <a:lnTo>
                    <a:pt x="1092163" y="35286"/>
                  </a:lnTo>
                  <a:lnTo>
                    <a:pt x="1052859" y="35595"/>
                  </a:lnTo>
                  <a:lnTo>
                    <a:pt x="1012983" y="36082"/>
                  </a:lnTo>
                  <a:lnTo>
                    <a:pt x="972424" y="36715"/>
                  </a:lnTo>
                  <a:lnTo>
                    <a:pt x="931072" y="37461"/>
                  </a:lnTo>
                  <a:lnTo>
                    <a:pt x="888817" y="38287"/>
                  </a:lnTo>
                  <a:lnTo>
                    <a:pt x="845550" y="39159"/>
                  </a:lnTo>
                  <a:lnTo>
                    <a:pt x="801160" y="40044"/>
                  </a:lnTo>
                  <a:lnTo>
                    <a:pt x="755537" y="40910"/>
                  </a:lnTo>
                  <a:lnTo>
                    <a:pt x="708571" y="41723"/>
                  </a:lnTo>
                  <a:lnTo>
                    <a:pt x="660152" y="42451"/>
                  </a:lnTo>
                  <a:lnTo>
                    <a:pt x="610171" y="43060"/>
                  </a:lnTo>
                  <a:lnTo>
                    <a:pt x="558517" y="43516"/>
                  </a:lnTo>
                  <a:lnTo>
                    <a:pt x="505080" y="43788"/>
                  </a:lnTo>
                  <a:lnTo>
                    <a:pt x="449750" y="43842"/>
                  </a:lnTo>
                  <a:lnTo>
                    <a:pt x="392418" y="43645"/>
                  </a:lnTo>
                  <a:lnTo>
                    <a:pt x="332972" y="43164"/>
                  </a:lnTo>
                  <a:lnTo>
                    <a:pt x="271304" y="42365"/>
                  </a:lnTo>
                  <a:lnTo>
                    <a:pt x="207303" y="41216"/>
                  </a:lnTo>
                  <a:lnTo>
                    <a:pt x="140859" y="39684"/>
                  </a:lnTo>
                  <a:lnTo>
                    <a:pt x="71862" y="37735"/>
                  </a:lnTo>
                  <a:lnTo>
                    <a:pt x="203" y="35337"/>
                  </a:lnTo>
                  <a:lnTo>
                    <a:pt x="152" y="29241"/>
                  </a:lnTo>
                  <a:lnTo>
                    <a:pt x="0" y="23018"/>
                  </a:lnTo>
                  <a:lnTo>
                    <a:pt x="203" y="16287"/>
                  </a:lnTo>
                  <a:close/>
                </a:path>
              </a:pathLst>
            </a:custGeom>
            <a:ln w="38100">
              <a:solidFill>
                <a:srgbClr val="EC7C30"/>
              </a:solidFill>
            </a:ln>
          </p:spPr>
          <p:txBody>
            <a:bodyPr wrap="square" lIns="0" tIns="0" rIns="0" bIns="0" rtlCol="0"/>
            <a:lstStyle/>
            <a:p>
              <a:endParaRPr/>
            </a:p>
          </p:txBody>
        </p:sp>
      </p:grpSp>
      <p:sp>
        <p:nvSpPr>
          <p:cNvPr id="6" name="object 6"/>
          <p:cNvSpPr txBox="1"/>
          <p:nvPr/>
        </p:nvSpPr>
        <p:spPr>
          <a:xfrm>
            <a:off x="710247" y="2806128"/>
            <a:ext cx="3171825" cy="1934845"/>
          </a:xfrm>
          <a:prstGeom prst="rect">
            <a:avLst/>
          </a:prstGeom>
        </p:spPr>
        <p:txBody>
          <a:bodyPr vert="horz" wrap="square" lIns="0" tIns="29845" rIns="0" bIns="0" rtlCol="0">
            <a:spAutoFit/>
          </a:bodyPr>
          <a:lstStyle/>
          <a:p>
            <a:pPr marL="241300" marR="55244" indent="-229235">
              <a:lnSpc>
                <a:spcPct val="94200"/>
              </a:lnSpc>
              <a:spcBef>
                <a:spcPts val="235"/>
              </a:spcBef>
              <a:buFont typeface="Arial MT"/>
              <a:buChar char="•"/>
              <a:tabLst>
                <a:tab pos="241300" algn="l"/>
              </a:tabLst>
            </a:pPr>
            <a:r>
              <a:rPr sz="1550" dirty="0">
                <a:latin typeface="Calibri"/>
                <a:cs typeface="Calibri"/>
              </a:rPr>
              <a:t>The</a:t>
            </a:r>
            <a:r>
              <a:rPr sz="1550" spc="35" dirty="0">
                <a:latin typeface="Calibri"/>
                <a:cs typeface="Calibri"/>
              </a:rPr>
              <a:t> </a:t>
            </a:r>
            <a:r>
              <a:rPr sz="1550" dirty="0">
                <a:latin typeface="Calibri"/>
                <a:cs typeface="Calibri"/>
              </a:rPr>
              <a:t>annual</a:t>
            </a:r>
            <a:r>
              <a:rPr sz="1550" spc="95" dirty="0">
                <a:latin typeface="Calibri"/>
                <a:cs typeface="Calibri"/>
              </a:rPr>
              <a:t> </a:t>
            </a:r>
            <a:r>
              <a:rPr sz="1550" dirty="0">
                <a:latin typeface="Calibri"/>
                <a:cs typeface="Calibri"/>
              </a:rPr>
              <a:t>launch</a:t>
            </a:r>
            <a:r>
              <a:rPr sz="1550" spc="75" dirty="0">
                <a:latin typeface="Calibri"/>
                <a:cs typeface="Calibri"/>
              </a:rPr>
              <a:t> </a:t>
            </a:r>
            <a:r>
              <a:rPr sz="1550" dirty="0">
                <a:latin typeface="Calibri"/>
                <a:cs typeface="Calibri"/>
              </a:rPr>
              <a:t>success</a:t>
            </a:r>
            <a:r>
              <a:rPr sz="1550" spc="145" dirty="0">
                <a:latin typeface="Calibri"/>
                <a:cs typeface="Calibri"/>
              </a:rPr>
              <a:t> </a:t>
            </a:r>
            <a:r>
              <a:rPr sz="1550" dirty="0">
                <a:latin typeface="Calibri"/>
                <a:cs typeface="Calibri"/>
              </a:rPr>
              <a:t>rate</a:t>
            </a:r>
            <a:r>
              <a:rPr sz="1550" spc="125" dirty="0">
                <a:latin typeface="Calibri"/>
                <a:cs typeface="Calibri"/>
              </a:rPr>
              <a:t> </a:t>
            </a:r>
            <a:r>
              <a:rPr sz="1550" spc="-25" dirty="0">
                <a:latin typeface="Calibri"/>
                <a:cs typeface="Calibri"/>
              </a:rPr>
              <a:t>has </a:t>
            </a:r>
            <a:r>
              <a:rPr sz="1550" dirty="0">
                <a:latin typeface="Calibri"/>
                <a:cs typeface="Calibri"/>
              </a:rPr>
              <a:t>shown</a:t>
            </a:r>
            <a:r>
              <a:rPr sz="1550" spc="105" dirty="0">
                <a:latin typeface="Calibri"/>
                <a:cs typeface="Calibri"/>
              </a:rPr>
              <a:t> </a:t>
            </a:r>
            <a:r>
              <a:rPr sz="1550" dirty="0">
                <a:latin typeface="Calibri"/>
                <a:cs typeface="Calibri"/>
              </a:rPr>
              <a:t>a</a:t>
            </a:r>
            <a:r>
              <a:rPr sz="1550" spc="105" dirty="0">
                <a:latin typeface="Calibri"/>
                <a:cs typeface="Calibri"/>
              </a:rPr>
              <a:t> </a:t>
            </a:r>
            <a:r>
              <a:rPr sz="1550" dirty="0">
                <a:latin typeface="Calibri"/>
                <a:cs typeface="Calibri"/>
              </a:rPr>
              <a:t>significant</a:t>
            </a:r>
            <a:r>
              <a:rPr sz="1550" spc="110" dirty="0">
                <a:latin typeface="Calibri"/>
                <a:cs typeface="Calibri"/>
              </a:rPr>
              <a:t> </a:t>
            </a:r>
            <a:r>
              <a:rPr sz="1550" spc="-10" dirty="0">
                <a:latin typeface="Calibri"/>
                <a:cs typeface="Calibri"/>
              </a:rPr>
              <a:t>improvement </a:t>
            </a:r>
            <a:r>
              <a:rPr sz="1550" dirty="0">
                <a:latin typeface="Calibri"/>
                <a:cs typeface="Calibri"/>
              </a:rPr>
              <a:t>from</a:t>
            </a:r>
            <a:r>
              <a:rPr sz="1550" spc="114" dirty="0">
                <a:latin typeface="Calibri"/>
                <a:cs typeface="Calibri"/>
              </a:rPr>
              <a:t> </a:t>
            </a:r>
            <a:r>
              <a:rPr sz="1550" dirty="0">
                <a:latin typeface="Calibri"/>
                <a:cs typeface="Calibri"/>
              </a:rPr>
              <a:t>2013</a:t>
            </a:r>
            <a:r>
              <a:rPr sz="1550" spc="135" dirty="0">
                <a:latin typeface="Calibri"/>
                <a:cs typeface="Calibri"/>
              </a:rPr>
              <a:t> </a:t>
            </a:r>
            <a:r>
              <a:rPr sz="1550" dirty="0">
                <a:latin typeface="Calibri"/>
                <a:cs typeface="Calibri"/>
              </a:rPr>
              <a:t>onwards,</a:t>
            </a:r>
            <a:r>
              <a:rPr sz="1550" spc="75" dirty="0">
                <a:latin typeface="Calibri"/>
                <a:cs typeface="Calibri"/>
              </a:rPr>
              <a:t> </a:t>
            </a:r>
            <a:r>
              <a:rPr sz="1550" dirty="0">
                <a:latin typeface="Calibri"/>
                <a:cs typeface="Calibri"/>
              </a:rPr>
              <a:t>reaching</a:t>
            </a:r>
            <a:r>
              <a:rPr sz="1550" spc="105" dirty="0">
                <a:latin typeface="Calibri"/>
                <a:cs typeface="Calibri"/>
              </a:rPr>
              <a:t> </a:t>
            </a:r>
            <a:r>
              <a:rPr sz="1550" spc="-20" dirty="0">
                <a:latin typeface="Calibri"/>
                <a:cs typeface="Calibri"/>
              </a:rPr>
              <a:t>over </a:t>
            </a:r>
            <a:r>
              <a:rPr sz="1550" dirty="0">
                <a:latin typeface="Calibri"/>
                <a:cs typeface="Calibri"/>
              </a:rPr>
              <a:t>80%</a:t>
            </a:r>
            <a:r>
              <a:rPr sz="1550" spc="70" dirty="0">
                <a:latin typeface="Calibri"/>
                <a:cs typeface="Calibri"/>
              </a:rPr>
              <a:t> </a:t>
            </a:r>
            <a:r>
              <a:rPr sz="1550" dirty="0">
                <a:latin typeface="Calibri"/>
                <a:cs typeface="Calibri"/>
              </a:rPr>
              <a:t>by</a:t>
            </a:r>
            <a:r>
              <a:rPr sz="1550" spc="20" dirty="0">
                <a:latin typeface="Calibri"/>
                <a:cs typeface="Calibri"/>
              </a:rPr>
              <a:t> </a:t>
            </a:r>
            <a:r>
              <a:rPr sz="1550" spc="-10" dirty="0">
                <a:latin typeface="Calibri"/>
                <a:cs typeface="Calibri"/>
              </a:rPr>
              <a:t>2020.</a:t>
            </a:r>
            <a:endParaRPr sz="1550">
              <a:latin typeface="Calibri"/>
              <a:cs typeface="Calibri"/>
            </a:endParaRPr>
          </a:p>
          <a:p>
            <a:pPr marL="241300" marR="5080" indent="-229235">
              <a:lnSpc>
                <a:spcPts val="1730"/>
              </a:lnSpc>
              <a:spcBef>
                <a:spcPts val="1010"/>
              </a:spcBef>
              <a:buFont typeface="Arial MT"/>
              <a:buChar char="•"/>
              <a:tabLst>
                <a:tab pos="241300" algn="l"/>
              </a:tabLst>
            </a:pPr>
            <a:r>
              <a:rPr sz="1550" dirty="0">
                <a:latin typeface="Calibri"/>
                <a:cs typeface="Calibri"/>
              </a:rPr>
              <a:t>Despite</a:t>
            </a:r>
            <a:r>
              <a:rPr sz="1550" spc="95" dirty="0">
                <a:latin typeface="Calibri"/>
                <a:cs typeface="Calibri"/>
              </a:rPr>
              <a:t> </a:t>
            </a:r>
            <a:r>
              <a:rPr sz="1550" dirty="0">
                <a:latin typeface="Calibri"/>
                <a:cs typeface="Calibri"/>
              </a:rPr>
              <a:t>a</a:t>
            </a:r>
            <a:r>
              <a:rPr sz="1550" spc="55" dirty="0">
                <a:latin typeface="Calibri"/>
                <a:cs typeface="Calibri"/>
              </a:rPr>
              <a:t> </a:t>
            </a:r>
            <a:r>
              <a:rPr sz="1550" dirty="0">
                <a:latin typeface="Calibri"/>
                <a:cs typeface="Calibri"/>
              </a:rPr>
              <a:t>dip</a:t>
            </a:r>
            <a:r>
              <a:rPr sz="1550" spc="50" dirty="0">
                <a:latin typeface="Calibri"/>
                <a:cs typeface="Calibri"/>
              </a:rPr>
              <a:t> </a:t>
            </a:r>
            <a:r>
              <a:rPr sz="1550" dirty="0">
                <a:latin typeface="Calibri"/>
                <a:cs typeface="Calibri"/>
              </a:rPr>
              <a:t>in</a:t>
            </a:r>
            <a:r>
              <a:rPr sz="1550" spc="55" dirty="0">
                <a:latin typeface="Calibri"/>
                <a:cs typeface="Calibri"/>
              </a:rPr>
              <a:t> </a:t>
            </a:r>
            <a:r>
              <a:rPr sz="1550" dirty="0">
                <a:latin typeface="Calibri"/>
                <a:cs typeface="Calibri"/>
              </a:rPr>
              <a:t>2018,</a:t>
            </a:r>
            <a:r>
              <a:rPr sz="1550" spc="40" dirty="0">
                <a:latin typeface="Calibri"/>
                <a:cs typeface="Calibri"/>
              </a:rPr>
              <a:t> </a:t>
            </a:r>
            <a:r>
              <a:rPr sz="1550" dirty="0">
                <a:latin typeface="Calibri"/>
                <a:cs typeface="Calibri"/>
              </a:rPr>
              <a:t>the</a:t>
            </a:r>
            <a:r>
              <a:rPr sz="1550" spc="105" dirty="0">
                <a:latin typeface="Calibri"/>
                <a:cs typeface="Calibri"/>
              </a:rPr>
              <a:t> </a:t>
            </a:r>
            <a:r>
              <a:rPr sz="1550" spc="-10" dirty="0">
                <a:latin typeface="Calibri"/>
                <a:cs typeface="Calibri"/>
              </a:rPr>
              <a:t>overall </a:t>
            </a:r>
            <a:r>
              <a:rPr sz="1550" dirty="0">
                <a:latin typeface="Calibri"/>
                <a:cs typeface="Calibri"/>
              </a:rPr>
              <a:t>trend</a:t>
            </a:r>
            <a:r>
              <a:rPr sz="1550" spc="120" dirty="0">
                <a:latin typeface="Calibri"/>
                <a:cs typeface="Calibri"/>
              </a:rPr>
              <a:t> </a:t>
            </a:r>
            <a:r>
              <a:rPr sz="1550" dirty="0">
                <a:latin typeface="Calibri"/>
                <a:cs typeface="Calibri"/>
              </a:rPr>
              <a:t>indicates</a:t>
            </a:r>
            <a:r>
              <a:rPr sz="1550" spc="110" dirty="0">
                <a:latin typeface="Calibri"/>
                <a:cs typeface="Calibri"/>
              </a:rPr>
              <a:t> </a:t>
            </a:r>
            <a:r>
              <a:rPr sz="1550" dirty="0">
                <a:latin typeface="Calibri"/>
                <a:cs typeface="Calibri"/>
              </a:rPr>
              <a:t>increasing</a:t>
            </a:r>
            <a:r>
              <a:rPr sz="1550" spc="135" dirty="0">
                <a:latin typeface="Calibri"/>
                <a:cs typeface="Calibri"/>
              </a:rPr>
              <a:t> </a:t>
            </a:r>
            <a:r>
              <a:rPr sz="1550" spc="-10" dirty="0">
                <a:latin typeface="Calibri"/>
                <a:cs typeface="Calibri"/>
              </a:rPr>
              <a:t>reliability </a:t>
            </a:r>
            <a:r>
              <a:rPr sz="1550" dirty="0">
                <a:latin typeface="Calibri"/>
                <a:cs typeface="Calibri"/>
              </a:rPr>
              <a:t>and</a:t>
            </a:r>
            <a:r>
              <a:rPr sz="1550" spc="65" dirty="0">
                <a:latin typeface="Calibri"/>
                <a:cs typeface="Calibri"/>
              </a:rPr>
              <a:t> </a:t>
            </a:r>
            <a:r>
              <a:rPr sz="1550" dirty="0">
                <a:latin typeface="Calibri"/>
                <a:cs typeface="Calibri"/>
              </a:rPr>
              <a:t>success</a:t>
            </a:r>
            <a:r>
              <a:rPr sz="1550" spc="55" dirty="0">
                <a:latin typeface="Calibri"/>
                <a:cs typeface="Calibri"/>
              </a:rPr>
              <a:t> </a:t>
            </a:r>
            <a:r>
              <a:rPr sz="1550" dirty="0">
                <a:latin typeface="Calibri"/>
                <a:cs typeface="Calibri"/>
              </a:rPr>
              <a:t>in</a:t>
            </a:r>
            <a:r>
              <a:rPr sz="1550" spc="70" dirty="0">
                <a:latin typeface="Calibri"/>
                <a:cs typeface="Calibri"/>
              </a:rPr>
              <a:t> </a:t>
            </a:r>
            <a:r>
              <a:rPr sz="1550" dirty="0">
                <a:latin typeface="Calibri"/>
                <a:cs typeface="Calibri"/>
              </a:rPr>
              <a:t>Falcon</a:t>
            </a:r>
            <a:r>
              <a:rPr sz="1550" spc="65" dirty="0">
                <a:latin typeface="Calibri"/>
                <a:cs typeface="Calibri"/>
              </a:rPr>
              <a:t> </a:t>
            </a:r>
            <a:r>
              <a:rPr sz="1550" dirty="0">
                <a:latin typeface="Calibri"/>
                <a:cs typeface="Calibri"/>
              </a:rPr>
              <a:t>9</a:t>
            </a:r>
            <a:r>
              <a:rPr sz="1550" spc="105" dirty="0">
                <a:latin typeface="Calibri"/>
                <a:cs typeface="Calibri"/>
              </a:rPr>
              <a:t> </a:t>
            </a:r>
            <a:r>
              <a:rPr sz="1550" spc="-10" dirty="0">
                <a:latin typeface="Calibri"/>
                <a:cs typeface="Calibri"/>
              </a:rPr>
              <a:t>launches </a:t>
            </a:r>
            <a:r>
              <a:rPr sz="1550" dirty="0">
                <a:latin typeface="Calibri"/>
                <a:cs typeface="Calibri"/>
              </a:rPr>
              <a:t>over</a:t>
            </a:r>
            <a:r>
              <a:rPr sz="1550" spc="85" dirty="0">
                <a:latin typeface="Calibri"/>
                <a:cs typeface="Calibri"/>
              </a:rPr>
              <a:t> </a:t>
            </a:r>
            <a:r>
              <a:rPr sz="1550" dirty="0">
                <a:latin typeface="Calibri"/>
                <a:cs typeface="Calibri"/>
              </a:rPr>
              <a:t>the</a:t>
            </a:r>
            <a:r>
              <a:rPr sz="1550" spc="75" dirty="0">
                <a:latin typeface="Calibri"/>
                <a:cs typeface="Calibri"/>
              </a:rPr>
              <a:t> </a:t>
            </a:r>
            <a:r>
              <a:rPr sz="1550" spc="-10" dirty="0">
                <a:latin typeface="Calibri"/>
                <a:cs typeface="Calibri"/>
              </a:rPr>
              <a:t>years.</a:t>
            </a:r>
            <a:endParaRPr sz="1550">
              <a:latin typeface="Calibri"/>
              <a:cs typeface="Calibri"/>
            </a:endParaRPr>
          </a:p>
        </p:txBody>
      </p:sp>
      <p:pic>
        <p:nvPicPr>
          <p:cNvPr id="7" name="object 7"/>
          <p:cNvPicPr/>
          <p:nvPr/>
        </p:nvPicPr>
        <p:blipFill>
          <a:blip r:embed="rId2" cstate="print"/>
          <a:stretch>
            <a:fillRect/>
          </a:stretch>
        </p:blipFill>
        <p:spPr>
          <a:xfrm>
            <a:off x="4697935" y="1763780"/>
            <a:ext cx="6825731" cy="3305245"/>
          </a:xfrm>
          <a:prstGeom prst="rect">
            <a:avLst/>
          </a:prstGeom>
        </p:spPr>
      </p:pic>
      <p:sp>
        <p:nvSpPr>
          <p:cNvPr id="8" name="object 8"/>
          <p:cNvSpPr txBox="1"/>
          <p:nvPr/>
        </p:nvSpPr>
        <p:spPr>
          <a:xfrm>
            <a:off x="11076051" y="6472554"/>
            <a:ext cx="241300" cy="177800"/>
          </a:xfrm>
          <a:prstGeom prst="rect">
            <a:avLst/>
          </a:prstGeom>
        </p:spPr>
        <p:txBody>
          <a:bodyPr vert="horz" wrap="square" lIns="0" tIns="0" rIns="0" bIns="0" rtlCol="0">
            <a:spAutoFit/>
          </a:bodyPr>
          <a:lstStyle/>
          <a:p>
            <a:pPr marL="38100">
              <a:lnSpc>
                <a:spcPts val="1240"/>
              </a:lnSpc>
            </a:pPr>
            <a:fld id="{81D60167-4931-47E6-BA6A-407CBD079E47}" type="slidenum">
              <a:rPr sz="1200" spc="-25" dirty="0">
                <a:solidFill>
                  <a:srgbClr val="888888"/>
                </a:solidFill>
                <a:latin typeface="Calibri"/>
                <a:cs typeface="Calibri"/>
              </a:rPr>
              <a:t>29</a:t>
            </a:fld>
            <a:endParaRPr sz="1200">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71550" y="1724025"/>
            <a:ext cx="10258425" cy="2743200"/>
          </a:xfrm>
          <a:prstGeom prst="rect">
            <a:avLst/>
          </a:prstGeom>
        </p:spPr>
      </p:pic>
      <p:sp>
        <p:nvSpPr>
          <p:cNvPr id="3" name="object 3"/>
          <p:cNvSpPr txBox="1">
            <a:spLocks noGrp="1"/>
          </p:cNvSpPr>
          <p:nvPr>
            <p:ph type="title"/>
          </p:nvPr>
        </p:nvSpPr>
        <p:spPr>
          <a:xfrm>
            <a:off x="849312" y="420369"/>
            <a:ext cx="4488815" cy="586740"/>
          </a:xfrm>
          <a:prstGeom prst="rect">
            <a:avLst/>
          </a:prstGeom>
        </p:spPr>
        <p:txBody>
          <a:bodyPr vert="horz" wrap="square" lIns="0" tIns="16510" rIns="0" bIns="0" rtlCol="0">
            <a:spAutoFit/>
          </a:bodyPr>
          <a:lstStyle/>
          <a:p>
            <a:pPr marL="12700">
              <a:lnSpc>
                <a:spcPct val="100000"/>
              </a:lnSpc>
              <a:spcBef>
                <a:spcPts val="130"/>
              </a:spcBef>
            </a:pPr>
            <a:r>
              <a:rPr dirty="0"/>
              <a:t>All</a:t>
            </a:r>
            <a:r>
              <a:rPr spc="-110" dirty="0"/>
              <a:t> </a:t>
            </a:r>
            <a:r>
              <a:rPr spc="-80" dirty="0"/>
              <a:t>Launch</a:t>
            </a:r>
            <a:r>
              <a:rPr spc="-65" dirty="0"/>
              <a:t> </a:t>
            </a:r>
            <a:r>
              <a:rPr spc="-45" dirty="0"/>
              <a:t>Site</a:t>
            </a:r>
            <a:r>
              <a:rPr spc="-90" dirty="0"/>
              <a:t> </a:t>
            </a:r>
            <a:r>
              <a:rPr spc="-155" dirty="0"/>
              <a:t>Names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30</a:t>
            </a:fld>
            <a:endParaRPr spc="6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57250" y="1714500"/>
            <a:ext cx="10058400" cy="3895725"/>
          </a:xfrm>
          <a:prstGeom prst="rect">
            <a:avLst/>
          </a:prstGeom>
        </p:spPr>
      </p:pic>
      <p:sp>
        <p:nvSpPr>
          <p:cNvPr id="3" name="object 3"/>
          <p:cNvSpPr txBox="1">
            <a:spLocks noGrp="1"/>
          </p:cNvSpPr>
          <p:nvPr>
            <p:ph type="title"/>
          </p:nvPr>
        </p:nvSpPr>
        <p:spPr>
          <a:xfrm>
            <a:off x="849312" y="420369"/>
            <a:ext cx="7268845" cy="586740"/>
          </a:xfrm>
          <a:prstGeom prst="rect">
            <a:avLst/>
          </a:prstGeom>
        </p:spPr>
        <p:txBody>
          <a:bodyPr vert="horz" wrap="square" lIns="0" tIns="16510" rIns="0" bIns="0" rtlCol="0">
            <a:spAutoFit/>
          </a:bodyPr>
          <a:lstStyle/>
          <a:p>
            <a:pPr marL="12700">
              <a:lnSpc>
                <a:spcPct val="100000"/>
              </a:lnSpc>
              <a:spcBef>
                <a:spcPts val="130"/>
              </a:spcBef>
            </a:pPr>
            <a:r>
              <a:rPr spc="-95" dirty="0"/>
              <a:t>Launch</a:t>
            </a:r>
            <a:r>
              <a:rPr spc="-70" dirty="0"/>
              <a:t> </a:t>
            </a:r>
            <a:r>
              <a:rPr spc="-20" dirty="0"/>
              <a:t>Site</a:t>
            </a:r>
            <a:r>
              <a:rPr spc="-30" dirty="0"/>
              <a:t> </a:t>
            </a:r>
            <a:r>
              <a:rPr spc="-170" dirty="0"/>
              <a:t>Names</a:t>
            </a:r>
            <a:r>
              <a:rPr spc="-70" dirty="0"/>
              <a:t> </a:t>
            </a:r>
            <a:r>
              <a:rPr spc="-10" dirty="0"/>
              <a:t>Begin</a:t>
            </a:r>
            <a:r>
              <a:rPr spc="-60" dirty="0"/>
              <a:t> </a:t>
            </a:r>
            <a:r>
              <a:rPr dirty="0"/>
              <a:t>with</a:t>
            </a:r>
            <a:r>
              <a:rPr spc="-55" dirty="0"/>
              <a:t> </a:t>
            </a:r>
            <a:r>
              <a:rPr spc="-155" dirty="0"/>
              <a:t>'CCA'</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31</a:t>
            </a:fld>
            <a:endParaRPr spc="6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71525" y="2085975"/>
            <a:ext cx="10515600" cy="2200275"/>
          </a:xfrm>
          <a:prstGeom prst="rect">
            <a:avLst/>
          </a:prstGeom>
        </p:spPr>
      </p:pic>
      <p:sp>
        <p:nvSpPr>
          <p:cNvPr id="3" name="object 3"/>
          <p:cNvSpPr txBox="1">
            <a:spLocks noGrp="1"/>
          </p:cNvSpPr>
          <p:nvPr>
            <p:ph type="title"/>
          </p:nvPr>
        </p:nvSpPr>
        <p:spPr>
          <a:xfrm>
            <a:off x="849312" y="420369"/>
            <a:ext cx="3888740" cy="586740"/>
          </a:xfrm>
          <a:prstGeom prst="rect">
            <a:avLst/>
          </a:prstGeom>
        </p:spPr>
        <p:txBody>
          <a:bodyPr vert="horz" wrap="square" lIns="0" tIns="16510" rIns="0" bIns="0" rtlCol="0">
            <a:spAutoFit/>
          </a:bodyPr>
          <a:lstStyle/>
          <a:p>
            <a:pPr marL="12700">
              <a:lnSpc>
                <a:spcPct val="100000"/>
              </a:lnSpc>
              <a:spcBef>
                <a:spcPts val="130"/>
              </a:spcBef>
            </a:pPr>
            <a:r>
              <a:rPr dirty="0"/>
              <a:t>Total</a:t>
            </a:r>
            <a:r>
              <a:rPr spc="-170" dirty="0"/>
              <a:t> </a:t>
            </a:r>
            <a:r>
              <a:rPr spc="-95" dirty="0"/>
              <a:t>Payload</a:t>
            </a:r>
            <a:r>
              <a:rPr spc="-150" dirty="0"/>
              <a:t> </a:t>
            </a:r>
            <a:r>
              <a:rPr spc="-140" dirty="0"/>
              <a:t>Mass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32</a:t>
            </a:fld>
            <a:endParaRPr spc="6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71525" y="2286000"/>
            <a:ext cx="11029950" cy="2276475"/>
          </a:xfrm>
          <a:prstGeom prst="rect">
            <a:avLst/>
          </a:prstGeom>
        </p:spPr>
      </p:pic>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70" dirty="0"/>
              <a:t>Average</a:t>
            </a:r>
            <a:r>
              <a:rPr spc="-80" dirty="0"/>
              <a:t> Payload</a:t>
            </a:r>
            <a:r>
              <a:rPr spc="-25" dirty="0"/>
              <a:t> </a:t>
            </a:r>
            <a:r>
              <a:rPr spc="-150" dirty="0"/>
              <a:t>Mass</a:t>
            </a:r>
            <a:r>
              <a:rPr spc="-25" dirty="0"/>
              <a:t> </a:t>
            </a:r>
            <a:r>
              <a:rPr dirty="0"/>
              <a:t>by</a:t>
            </a:r>
            <a:r>
              <a:rPr spc="-20" dirty="0"/>
              <a:t> </a:t>
            </a:r>
            <a:r>
              <a:rPr dirty="0"/>
              <a:t>F9</a:t>
            </a:r>
            <a:r>
              <a:rPr spc="-25" dirty="0"/>
              <a:t> </a:t>
            </a:r>
            <a:r>
              <a:rPr spc="-20" dirty="0"/>
              <a:t>v1.1</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33</a:t>
            </a:fld>
            <a:endParaRPr spc="6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71525" y="1971675"/>
            <a:ext cx="10829925" cy="2533650"/>
          </a:xfrm>
          <a:prstGeom prst="rect">
            <a:avLst/>
          </a:prstGeom>
        </p:spPr>
      </p:pic>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First</a:t>
            </a:r>
            <a:r>
              <a:rPr spc="-140" dirty="0"/>
              <a:t> </a:t>
            </a:r>
            <a:r>
              <a:rPr spc="-145" dirty="0"/>
              <a:t>Successful</a:t>
            </a:r>
            <a:r>
              <a:rPr spc="-95" dirty="0"/>
              <a:t> </a:t>
            </a:r>
            <a:r>
              <a:rPr spc="-45" dirty="0"/>
              <a:t>Ground</a:t>
            </a:r>
            <a:r>
              <a:rPr spc="-114" dirty="0"/>
              <a:t> </a:t>
            </a:r>
            <a:r>
              <a:rPr dirty="0"/>
              <a:t>Landing</a:t>
            </a:r>
            <a:r>
              <a:rPr spc="-105" dirty="0"/>
              <a:t> </a:t>
            </a:r>
            <a:r>
              <a:rPr spc="-20" dirty="0"/>
              <a:t>Date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34</a:t>
            </a:fld>
            <a:endParaRPr spc="6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71525" y="1714500"/>
            <a:ext cx="10829925" cy="3152775"/>
          </a:xfrm>
          <a:prstGeom prst="rect">
            <a:avLst/>
          </a:prstGeom>
        </p:spPr>
      </p:pic>
      <p:sp>
        <p:nvSpPr>
          <p:cNvPr id="3" name="object 3"/>
          <p:cNvSpPr txBox="1">
            <a:spLocks noGrp="1"/>
          </p:cNvSpPr>
          <p:nvPr>
            <p:ph type="title"/>
          </p:nvPr>
        </p:nvSpPr>
        <p:spPr>
          <a:prstGeom prst="rect">
            <a:avLst/>
          </a:prstGeom>
        </p:spPr>
        <p:txBody>
          <a:bodyPr vert="horz" wrap="square" lIns="0" tIns="149288" rIns="0" bIns="0" rtlCol="0">
            <a:spAutoFit/>
          </a:bodyPr>
          <a:lstStyle/>
          <a:p>
            <a:pPr marL="12700">
              <a:lnSpc>
                <a:spcPct val="100000"/>
              </a:lnSpc>
              <a:spcBef>
                <a:spcPts val="125"/>
              </a:spcBef>
            </a:pPr>
            <a:r>
              <a:rPr sz="2450" spc="-90" dirty="0"/>
              <a:t>Successful</a:t>
            </a:r>
            <a:r>
              <a:rPr sz="2450" spc="-40" dirty="0"/>
              <a:t> </a:t>
            </a:r>
            <a:r>
              <a:rPr sz="2450" dirty="0"/>
              <a:t>Drone</a:t>
            </a:r>
            <a:r>
              <a:rPr sz="2450" spc="-15" dirty="0"/>
              <a:t> </a:t>
            </a:r>
            <a:r>
              <a:rPr sz="2450" spc="-20" dirty="0"/>
              <a:t>Ship</a:t>
            </a:r>
            <a:r>
              <a:rPr sz="2450" spc="-15" dirty="0"/>
              <a:t> </a:t>
            </a:r>
            <a:r>
              <a:rPr sz="2450" dirty="0"/>
              <a:t>Landing</a:t>
            </a:r>
            <a:r>
              <a:rPr sz="2450" spc="-75" dirty="0"/>
              <a:t> </a:t>
            </a:r>
            <a:r>
              <a:rPr sz="2450" dirty="0"/>
              <a:t>with</a:t>
            </a:r>
            <a:r>
              <a:rPr sz="2450" spc="-70" dirty="0"/>
              <a:t> </a:t>
            </a:r>
            <a:r>
              <a:rPr sz="2450" spc="-45" dirty="0"/>
              <a:t>Payload</a:t>
            </a:r>
            <a:r>
              <a:rPr sz="2450" spc="-15" dirty="0"/>
              <a:t> </a:t>
            </a:r>
            <a:r>
              <a:rPr sz="2450" spc="-10" dirty="0"/>
              <a:t>between</a:t>
            </a:r>
            <a:r>
              <a:rPr sz="2450" spc="-15" dirty="0"/>
              <a:t> </a:t>
            </a:r>
            <a:r>
              <a:rPr sz="2450" spc="125" dirty="0"/>
              <a:t>4000</a:t>
            </a:r>
            <a:r>
              <a:rPr sz="2450" spc="25" dirty="0"/>
              <a:t> </a:t>
            </a:r>
            <a:r>
              <a:rPr sz="2450" dirty="0"/>
              <a:t>and</a:t>
            </a:r>
            <a:r>
              <a:rPr sz="2450" spc="-75" dirty="0"/>
              <a:t> </a:t>
            </a:r>
            <a:r>
              <a:rPr sz="2450" spc="120" dirty="0"/>
              <a:t>6000</a:t>
            </a:r>
            <a:endParaRPr sz="245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35</a:t>
            </a:fld>
            <a:endParaRPr spc="6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7121" rIns="0" bIns="0" rtlCol="0">
            <a:spAutoFit/>
          </a:bodyPr>
          <a:lstStyle/>
          <a:p>
            <a:pPr marL="12700">
              <a:lnSpc>
                <a:spcPct val="100000"/>
              </a:lnSpc>
              <a:spcBef>
                <a:spcPts val="130"/>
              </a:spcBef>
            </a:pPr>
            <a:r>
              <a:rPr sz="3050" spc="-10" dirty="0"/>
              <a:t>Total</a:t>
            </a:r>
            <a:r>
              <a:rPr sz="3050" spc="-40" dirty="0"/>
              <a:t> </a:t>
            </a:r>
            <a:r>
              <a:rPr sz="3050" spc="-35" dirty="0"/>
              <a:t>Number</a:t>
            </a:r>
            <a:r>
              <a:rPr sz="3050" spc="-45" dirty="0"/>
              <a:t> </a:t>
            </a:r>
            <a:r>
              <a:rPr sz="3050" dirty="0"/>
              <a:t>of</a:t>
            </a:r>
            <a:r>
              <a:rPr sz="3050" spc="-70" dirty="0"/>
              <a:t> </a:t>
            </a:r>
            <a:r>
              <a:rPr sz="3050" spc="-114" dirty="0"/>
              <a:t>Successful</a:t>
            </a:r>
            <a:r>
              <a:rPr sz="3050" spc="-90" dirty="0"/>
              <a:t> </a:t>
            </a:r>
            <a:r>
              <a:rPr sz="3050" dirty="0"/>
              <a:t>and</a:t>
            </a:r>
            <a:r>
              <a:rPr sz="3050" spc="-45" dirty="0"/>
              <a:t> </a:t>
            </a:r>
            <a:r>
              <a:rPr sz="3050" spc="-35" dirty="0"/>
              <a:t>Failure</a:t>
            </a:r>
            <a:r>
              <a:rPr sz="3050" spc="-65" dirty="0"/>
              <a:t> </a:t>
            </a:r>
            <a:r>
              <a:rPr sz="3050" spc="-25" dirty="0"/>
              <a:t>Mission</a:t>
            </a:r>
            <a:r>
              <a:rPr sz="3050" spc="-90" dirty="0"/>
              <a:t> </a:t>
            </a:r>
            <a:r>
              <a:rPr sz="3050" spc="-45" dirty="0"/>
              <a:t>Outcomes</a:t>
            </a:r>
            <a:endParaRPr sz="3050"/>
          </a:p>
        </p:txBody>
      </p:sp>
      <p:pic>
        <p:nvPicPr>
          <p:cNvPr id="3" name="object 3"/>
          <p:cNvPicPr/>
          <p:nvPr/>
        </p:nvPicPr>
        <p:blipFill>
          <a:blip r:embed="rId2" cstate="print"/>
          <a:stretch>
            <a:fillRect/>
          </a:stretch>
        </p:blipFill>
        <p:spPr>
          <a:xfrm>
            <a:off x="742950" y="1866900"/>
            <a:ext cx="10715625" cy="2266950"/>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36</a:t>
            </a:fld>
            <a:endParaRPr spc="6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35" dirty="0"/>
              <a:t>Boosters</a:t>
            </a:r>
            <a:r>
              <a:rPr spc="-145" dirty="0"/>
              <a:t> </a:t>
            </a:r>
            <a:r>
              <a:rPr spc="-65" dirty="0"/>
              <a:t>Carried</a:t>
            </a:r>
            <a:r>
              <a:rPr spc="-155" dirty="0"/>
              <a:t> </a:t>
            </a:r>
            <a:r>
              <a:rPr spc="-90" dirty="0"/>
              <a:t>Maximum</a:t>
            </a:r>
            <a:r>
              <a:rPr spc="-114" dirty="0"/>
              <a:t> </a:t>
            </a:r>
            <a:r>
              <a:rPr spc="-75" dirty="0"/>
              <a:t>Payload</a:t>
            </a:r>
          </a:p>
        </p:txBody>
      </p:sp>
      <p:pic>
        <p:nvPicPr>
          <p:cNvPr id="3" name="object 3"/>
          <p:cNvPicPr/>
          <p:nvPr/>
        </p:nvPicPr>
        <p:blipFill>
          <a:blip r:embed="rId2" cstate="print"/>
          <a:stretch>
            <a:fillRect/>
          </a:stretch>
        </p:blipFill>
        <p:spPr>
          <a:xfrm>
            <a:off x="1266825" y="1571625"/>
            <a:ext cx="9525000" cy="4457700"/>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37</a:t>
            </a:fld>
            <a:endParaRPr spc="6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200" dirty="0"/>
              <a:t>2015</a:t>
            </a:r>
            <a:r>
              <a:rPr spc="-40" dirty="0"/>
              <a:t> </a:t>
            </a:r>
            <a:r>
              <a:rPr spc="-85" dirty="0"/>
              <a:t>Launch</a:t>
            </a:r>
            <a:r>
              <a:rPr dirty="0"/>
              <a:t> </a:t>
            </a:r>
            <a:r>
              <a:rPr spc="-120" dirty="0"/>
              <a:t>Records</a:t>
            </a:r>
          </a:p>
        </p:txBody>
      </p:sp>
      <p:pic>
        <p:nvPicPr>
          <p:cNvPr id="3" name="object 3"/>
          <p:cNvPicPr/>
          <p:nvPr/>
        </p:nvPicPr>
        <p:blipFill>
          <a:blip r:embed="rId2" cstate="print"/>
          <a:stretch>
            <a:fillRect/>
          </a:stretch>
        </p:blipFill>
        <p:spPr>
          <a:xfrm>
            <a:off x="1495425" y="1295400"/>
            <a:ext cx="9067800" cy="4933950"/>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38</a:t>
            </a:fld>
            <a:endParaRPr spc="6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66825" y="1476375"/>
            <a:ext cx="9515475" cy="4638675"/>
          </a:xfrm>
          <a:prstGeom prst="rect">
            <a:avLst/>
          </a:prstGeom>
        </p:spPr>
      </p:pic>
      <p:sp>
        <p:nvSpPr>
          <p:cNvPr id="3" name="object 3"/>
          <p:cNvSpPr txBox="1">
            <a:spLocks noGrp="1"/>
          </p:cNvSpPr>
          <p:nvPr>
            <p:ph type="title"/>
          </p:nvPr>
        </p:nvSpPr>
        <p:spPr>
          <a:prstGeom prst="rect">
            <a:avLst/>
          </a:prstGeom>
        </p:spPr>
        <p:txBody>
          <a:bodyPr vert="horz" wrap="square" lIns="0" tIns="122936" rIns="0" bIns="0" rtlCol="0">
            <a:spAutoFit/>
          </a:bodyPr>
          <a:lstStyle/>
          <a:p>
            <a:pPr marL="12700">
              <a:lnSpc>
                <a:spcPct val="100000"/>
              </a:lnSpc>
              <a:spcBef>
                <a:spcPts val="130"/>
              </a:spcBef>
            </a:pPr>
            <a:r>
              <a:rPr sz="2750" spc="-105" dirty="0"/>
              <a:t>Rank</a:t>
            </a:r>
            <a:r>
              <a:rPr sz="2750" spc="-80" dirty="0"/>
              <a:t> </a:t>
            </a:r>
            <a:r>
              <a:rPr sz="2750" dirty="0"/>
              <a:t>Landing</a:t>
            </a:r>
            <a:r>
              <a:rPr sz="2750" spc="-5" dirty="0"/>
              <a:t> </a:t>
            </a:r>
            <a:r>
              <a:rPr sz="2750" spc="-60" dirty="0"/>
              <a:t>Outcomes</a:t>
            </a:r>
            <a:r>
              <a:rPr sz="2750" spc="-20" dirty="0"/>
              <a:t> </a:t>
            </a:r>
            <a:r>
              <a:rPr sz="2750" spc="-40" dirty="0"/>
              <a:t>Between</a:t>
            </a:r>
            <a:r>
              <a:rPr sz="2750" spc="5" dirty="0"/>
              <a:t> </a:t>
            </a:r>
            <a:r>
              <a:rPr sz="2750" spc="125" dirty="0"/>
              <a:t>2010-</a:t>
            </a:r>
            <a:r>
              <a:rPr sz="2750" spc="110" dirty="0"/>
              <a:t>06-</a:t>
            </a:r>
            <a:r>
              <a:rPr sz="2750" spc="170" dirty="0"/>
              <a:t>04</a:t>
            </a:r>
            <a:r>
              <a:rPr sz="2750" spc="-95" dirty="0"/>
              <a:t> </a:t>
            </a:r>
            <a:r>
              <a:rPr sz="2750" dirty="0"/>
              <a:t>and</a:t>
            </a:r>
            <a:r>
              <a:rPr sz="2750" spc="-65" dirty="0"/>
              <a:t> </a:t>
            </a:r>
            <a:r>
              <a:rPr sz="2750" spc="130" dirty="0"/>
              <a:t>2017-</a:t>
            </a:r>
            <a:r>
              <a:rPr sz="2750" spc="110" dirty="0"/>
              <a:t>03-</a:t>
            </a:r>
            <a:r>
              <a:rPr sz="2750" spc="170" dirty="0"/>
              <a:t>20</a:t>
            </a:r>
            <a:endParaRPr sz="275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39</a:t>
            </a:fld>
            <a:endParaRPr spc="6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87555" cy="6858000"/>
            <a:chOff x="0" y="0"/>
            <a:chExt cx="12187555" cy="6858000"/>
          </a:xfrm>
        </p:grpSpPr>
        <p:pic>
          <p:nvPicPr>
            <p:cNvPr id="3" name="object 3"/>
            <p:cNvPicPr/>
            <p:nvPr/>
          </p:nvPicPr>
          <p:blipFill>
            <a:blip r:embed="rId2" cstate="print"/>
            <a:stretch>
              <a:fillRect/>
            </a:stretch>
          </p:blipFill>
          <p:spPr>
            <a:xfrm>
              <a:off x="0" y="0"/>
              <a:ext cx="12187239" cy="6858000"/>
            </a:xfrm>
            <a:prstGeom prst="rect">
              <a:avLst/>
            </a:prstGeom>
          </p:spPr>
        </p:pic>
        <p:sp>
          <p:nvSpPr>
            <p:cNvPr id="4" name="object 4"/>
            <p:cNvSpPr/>
            <p:nvPr/>
          </p:nvSpPr>
          <p:spPr>
            <a:xfrm>
              <a:off x="800100" y="2533650"/>
              <a:ext cx="1057275" cy="361950"/>
            </a:xfrm>
            <a:custGeom>
              <a:avLst/>
              <a:gdLst/>
              <a:ahLst/>
              <a:cxnLst/>
              <a:rect l="l" t="t" r="r" b="b"/>
              <a:pathLst>
                <a:path w="1057275" h="361950">
                  <a:moveTo>
                    <a:pt x="1057275" y="0"/>
                  </a:moveTo>
                  <a:lnTo>
                    <a:pt x="0" y="0"/>
                  </a:lnTo>
                  <a:lnTo>
                    <a:pt x="0" y="361950"/>
                  </a:lnTo>
                  <a:lnTo>
                    <a:pt x="1057275" y="361950"/>
                  </a:lnTo>
                  <a:lnTo>
                    <a:pt x="1057275" y="0"/>
                  </a:lnTo>
                  <a:close/>
                </a:path>
              </a:pathLst>
            </a:custGeom>
            <a:solidFill>
              <a:srgbClr val="0947CA"/>
            </a:solidFill>
          </p:spPr>
          <p:txBody>
            <a:bodyPr wrap="square" lIns="0" tIns="0" rIns="0" bIns="0" rtlCol="0"/>
            <a:lstStyle/>
            <a:p>
              <a:endParaRPr/>
            </a:p>
          </p:txBody>
        </p:sp>
      </p:grpSp>
      <p:sp>
        <p:nvSpPr>
          <p:cNvPr id="5" name="object 5"/>
          <p:cNvSpPr txBox="1"/>
          <p:nvPr/>
        </p:nvSpPr>
        <p:spPr>
          <a:xfrm>
            <a:off x="877252" y="2547302"/>
            <a:ext cx="88646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Section</a:t>
            </a:r>
            <a:r>
              <a:rPr sz="1800" spc="35" dirty="0">
                <a:solidFill>
                  <a:srgbClr val="FFFFFF"/>
                </a:solidFill>
                <a:latin typeface="Calibri"/>
                <a:cs typeface="Calibri"/>
              </a:rPr>
              <a:t> </a:t>
            </a:r>
            <a:r>
              <a:rPr sz="1800" spc="-50" dirty="0">
                <a:solidFill>
                  <a:srgbClr val="FFFFFF"/>
                </a:solidFill>
                <a:latin typeface="Calibri"/>
                <a:cs typeface="Calibri"/>
              </a:rPr>
              <a:t>3</a:t>
            </a:r>
            <a:endParaRPr sz="180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312" y="1400162"/>
            <a:ext cx="5008880" cy="4126229"/>
          </a:xfrm>
          <a:prstGeom prst="rect">
            <a:avLst/>
          </a:prstGeom>
        </p:spPr>
        <p:txBody>
          <a:bodyPr vert="horz" wrap="square" lIns="0" tIns="127635" rIns="0" bIns="0" rtlCol="0">
            <a:spAutoFit/>
          </a:bodyPr>
          <a:lstStyle/>
          <a:p>
            <a:pPr marL="211454" indent="-198755">
              <a:lnSpc>
                <a:spcPct val="100000"/>
              </a:lnSpc>
              <a:spcBef>
                <a:spcPts val="1005"/>
              </a:spcBef>
              <a:buClr>
                <a:srgbClr val="292929"/>
              </a:buClr>
              <a:buFont typeface="Calibri"/>
              <a:buAutoNum type="arabicPeriod"/>
              <a:tabLst>
                <a:tab pos="211454" algn="l"/>
              </a:tabLst>
            </a:pPr>
            <a:r>
              <a:rPr sz="1550" b="1" dirty="0">
                <a:solidFill>
                  <a:srgbClr val="292929"/>
                </a:solidFill>
                <a:latin typeface="Calibri"/>
                <a:cs typeface="Calibri"/>
              </a:rPr>
              <a:t>Are</a:t>
            </a:r>
            <a:r>
              <a:rPr sz="1550" b="1" spc="30" dirty="0">
                <a:solidFill>
                  <a:srgbClr val="292929"/>
                </a:solidFill>
                <a:latin typeface="Calibri"/>
                <a:cs typeface="Calibri"/>
              </a:rPr>
              <a:t> </a:t>
            </a:r>
            <a:r>
              <a:rPr sz="1550" b="1" dirty="0">
                <a:solidFill>
                  <a:srgbClr val="292929"/>
                </a:solidFill>
                <a:latin typeface="Calibri"/>
                <a:cs typeface="Calibri"/>
              </a:rPr>
              <a:t>all</a:t>
            </a:r>
            <a:r>
              <a:rPr sz="1550" b="1" spc="60" dirty="0">
                <a:solidFill>
                  <a:srgbClr val="292929"/>
                </a:solidFill>
                <a:latin typeface="Calibri"/>
                <a:cs typeface="Calibri"/>
              </a:rPr>
              <a:t> </a:t>
            </a:r>
            <a:r>
              <a:rPr sz="1550" b="1" dirty="0">
                <a:solidFill>
                  <a:srgbClr val="292929"/>
                </a:solidFill>
                <a:latin typeface="Calibri"/>
                <a:cs typeface="Calibri"/>
              </a:rPr>
              <a:t>launch</a:t>
            </a:r>
            <a:r>
              <a:rPr sz="1550" b="1" spc="55" dirty="0">
                <a:solidFill>
                  <a:srgbClr val="292929"/>
                </a:solidFill>
                <a:latin typeface="Calibri"/>
                <a:cs typeface="Calibri"/>
              </a:rPr>
              <a:t> </a:t>
            </a:r>
            <a:r>
              <a:rPr sz="1550" b="1" dirty="0">
                <a:solidFill>
                  <a:srgbClr val="292929"/>
                </a:solidFill>
                <a:latin typeface="Calibri"/>
                <a:cs typeface="Calibri"/>
              </a:rPr>
              <a:t>sites</a:t>
            </a:r>
            <a:r>
              <a:rPr sz="1550" b="1" spc="135" dirty="0">
                <a:solidFill>
                  <a:srgbClr val="292929"/>
                </a:solidFill>
                <a:latin typeface="Calibri"/>
                <a:cs typeface="Calibri"/>
              </a:rPr>
              <a:t> </a:t>
            </a:r>
            <a:r>
              <a:rPr sz="1550" b="1" dirty="0">
                <a:solidFill>
                  <a:srgbClr val="292929"/>
                </a:solidFill>
                <a:latin typeface="Calibri"/>
                <a:cs typeface="Calibri"/>
              </a:rPr>
              <a:t>in</a:t>
            </a:r>
            <a:r>
              <a:rPr sz="1550" b="1" spc="50" dirty="0">
                <a:solidFill>
                  <a:srgbClr val="292929"/>
                </a:solidFill>
                <a:latin typeface="Calibri"/>
                <a:cs typeface="Calibri"/>
              </a:rPr>
              <a:t> </a:t>
            </a:r>
            <a:r>
              <a:rPr sz="1550" b="1" dirty="0">
                <a:solidFill>
                  <a:srgbClr val="292929"/>
                </a:solidFill>
                <a:latin typeface="Calibri"/>
                <a:cs typeface="Calibri"/>
              </a:rPr>
              <a:t>proximity</a:t>
            </a:r>
            <a:r>
              <a:rPr sz="1550" b="1" spc="85" dirty="0">
                <a:solidFill>
                  <a:srgbClr val="292929"/>
                </a:solidFill>
                <a:latin typeface="Calibri"/>
                <a:cs typeface="Calibri"/>
              </a:rPr>
              <a:t> </a:t>
            </a:r>
            <a:r>
              <a:rPr sz="1550" b="1" dirty="0">
                <a:solidFill>
                  <a:srgbClr val="292929"/>
                </a:solidFill>
                <a:latin typeface="Calibri"/>
                <a:cs typeface="Calibri"/>
              </a:rPr>
              <a:t>to</a:t>
            </a:r>
            <a:r>
              <a:rPr sz="1550" b="1" spc="50" dirty="0">
                <a:solidFill>
                  <a:srgbClr val="292929"/>
                </a:solidFill>
                <a:latin typeface="Calibri"/>
                <a:cs typeface="Calibri"/>
              </a:rPr>
              <a:t> </a:t>
            </a:r>
            <a:r>
              <a:rPr sz="1550" b="1" dirty="0">
                <a:solidFill>
                  <a:srgbClr val="292929"/>
                </a:solidFill>
                <a:latin typeface="Calibri"/>
                <a:cs typeface="Calibri"/>
              </a:rPr>
              <a:t>the</a:t>
            </a:r>
            <a:r>
              <a:rPr sz="1550" b="1" spc="120" dirty="0">
                <a:solidFill>
                  <a:srgbClr val="292929"/>
                </a:solidFill>
                <a:latin typeface="Calibri"/>
                <a:cs typeface="Calibri"/>
              </a:rPr>
              <a:t> </a:t>
            </a:r>
            <a:r>
              <a:rPr sz="1550" b="1" dirty="0">
                <a:solidFill>
                  <a:srgbClr val="292929"/>
                </a:solidFill>
                <a:latin typeface="Calibri"/>
                <a:cs typeface="Calibri"/>
              </a:rPr>
              <a:t>Equator</a:t>
            </a:r>
            <a:r>
              <a:rPr sz="1550" b="1" spc="40" dirty="0">
                <a:solidFill>
                  <a:srgbClr val="292929"/>
                </a:solidFill>
                <a:latin typeface="Calibri"/>
                <a:cs typeface="Calibri"/>
              </a:rPr>
              <a:t> </a:t>
            </a:r>
            <a:r>
              <a:rPr sz="1550" b="1" spc="-10" dirty="0">
                <a:solidFill>
                  <a:srgbClr val="292929"/>
                </a:solidFill>
                <a:latin typeface="Calibri"/>
                <a:cs typeface="Calibri"/>
              </a:rPr>
              <a:t>line?</a:t>
            </a:r>
            <a:endParaRPr sz="1550">
              <a:latin typeface="Calibri"/>
              <a:cs typeface="Calibri"/>
            </a:endParaRPr>
          </a:p>
          <a:p>
            <a:pPr marL="241300" marR="558165" lvl="1" indent="-229235">
              <a:lnSpc>
                <a:spcPts val="1730"/>
              </a:lnSpc>
              <a:spcBef>
                <a:spcPts val="1085"/>
              </a:spcBef>
              <a:buFont typeface="Arial MT"/>
              <a:buChar char="•"/>
              <a:tabLst>
                <a:tab pos="241300" algn="l"/>
              </a:tabLst>
            </a:pPr>
            <a:r>
              <a:rPr sz="1550" dirty="0">
                <a:solidFill>
                  <a:srgbClr val="292929"/>
                </a:solidFill>
                <a:latin typeface="Calibri"/>
                <a:cs typeface="Calibri"/>
              </a:rPr>
              <a:t>No,</a:t>
            </a:r>
            <a:r>
              <a:rPr sz="1550" spc="60" dirty="0">
                <a:solidFill>
                  <a:srgbClr val="292929"/>
                </a:solidFill>
                <a:latin typeface="Calibri"/>
                <a:cs typeface="Calibri"/>
              </a:rPr>
              <a:t> </a:t>
            </a:r>
            <a:r>
              <a:rPr sz="1550" dirty="0">
                <a:solidFill>
                  <a:srgbClr val="292929"/>
                </a:solidFill>
                <a:latin typeface="Calibri"/>
                <a:cs typeface="Calibri"/>
              </a:rPr>
              <a:t>not</a:t>
            </a:r>
            <a:r>
              <a:rPr sz="1550" spc="70" dirty="0">
                <a:solidFill>
                  <a:srgbClr val="292929"/>
                </a:solidFill>
                <a:latin typeface="Calibri"/>
                <a:cs typeface="Calibri"/>
              </a:rPr>
              <a:t> </a:t>
            </a:r>
            <a:r>
              <a:rPr sz="1550" dirty="0">
                <a:solidFill>
                  <a:srgbClr val="292929"/>
                </a:solidFill>
                <a:latin typeface="Calibri"/>
                <a:cs typeface="Calibri"/>
              </a:rPr>
              <a:t>all</a:t>
            </a:r>
            <a:r>
              <a:rPr sz="1550" spc="95" dirty="0">
                <a:solidFill>
                  <a:srgbClr val="292929"/>
                </a:solidFill>
                <a:latin typeface="Calibri"/>
                <a:cs typeface="Calibri"/>
              </a:rPr>
              <a:t> </a:t>
            </a:r>
            <a:r>
              <a:rPr sz="1550" dirty="0">
                <a:solidFill>
                  <a:srgbClr val="292929"/>
                </a:solidFill>
                <a:latin typeface="Calibri"/>
                <a:cs typeface="Calibri"/>
              </a:rPr>
              <a:t>launch</a:t>
            </a:r>
            <a:r>
              <a:rPr sz="1550" spc="70" dirty="0">
                <a:solidFill>
                  <a:srgbClr val="292929"/>
                </a:solidFill>
                <a:latin typeface="Calibri"/>
                <a:cs typeface="Calibri"/>
              </a:rPr>
              <a:t> </a:t>
            </a:r>
            <a:r>
              <a:rPr sz="1550" dirty="0">
                <a:solidFill>
                  <a:srgbClr val="292929"/>
                </a:solidFill>
                <a:latin typeface="Calibri"/>
                <a:cs typeface="Calibri"/>
              </a:rPr>
              <a:t>sites</a:t>
            </a:r>
            <a:r>
              <a:rPr sz="1550" spc="60" dirty="0">
                <a:solidFill>
                  <a:srgbClr val="292929"/>
                </a:solidFill>
                <a:latin typeface="Calibri"/>
                <a:cs typeface="Calibri"/>
              </a:rPr>
              <a:t> </a:t>
            </a:r>
            <a:r>
              <a:rPr sz="1550" dirty="0">
                <a:solidFill>
                  <a:srgbClr val="292929"/>
                </a:solidFill>
                <a:latin typeface="Calibri"/>
                <a:cs typeface="Calibri"/>
              </a:rPr>
              <a:t>are</a:t>
            </a:r>
            <a:r>
              <a:rPr sz="1550" spc="40" dirty="0">
                <a:solidFill>
                  <a:srgbClr val="292929"/>
                </a:solidFill>
                <a:latin typeface="Calibri"/>
                <a:cs typeface="Calibri"/>
              </a:rPr>
              <a:t> </a:t>
            </a:r>
            <a:r>
              <a:rPr sz="1550" dirty="0">
                <a:solidFill>
                  <a:srgbClr val="292929"/>
                </a:solidFill>
                <a:latin typeface="Calibri"/>
                <a:cs typeface="Calibri"/>
              </a:rPr>
              <a:t>in</a:t>
            </a:r>
            <a:r>
              <a:rPr sz="1550" spc="70" dirty="0">
                <a:solidFill>
                  <a:srgbClr val="292929"/>
                </a:solidFill>
                <a:latin typeface="Calibri"/>
                <a:cs typeface="Calibri"/>
              </a:rPr>
              <a:t> </a:t>
            </a:r>
            <a:r>
              <a:rPr sz="1550" dirty="0">
                <a:solidFill>
                  <a:srgbClr val="292929"/>
                </a:solidFill>
                <a:latin typeface="Calibri"/>
                <a:cs typeface="Calibri"/>
              </a:rPr>
              <a:t>close</a:t>
            </a:r>
            <a:r>
              <a:rPr sz="1550" spc="35" dirty="0">
                <a:solidFill>
                  <a:srgbClr val="292929"/>
                </a:solidFill>
                <a:latin typeface="Calibri"/>
                <a:cs typeface="Calibri"/>
              </a:rPr>
              <a:t> </a:t>
            </a:r>
            <a:r>
              <a:rPr sz="1550" dirty="0">
                <a:solidFill>
                  <a:srgbClr val="292929"/>
                </a:solidFill>
                <a:latin typeface="Calibri"/>
                <a:cs typeface="Calibri"/>
              </a:rPr>
              <a:t>proximity</a:t>
            </a:r>
            <a:r>
              <a:rPr sz="1550" spc="114" dirty="0">
                <a:solidFill>
                  <a:srgbClr val="292929"/>
                </a:solidFill>
                <a:latin typeface="Calibri"/>
                <a:cs typeface="Calibri"/>
              </a:rPr>
              <a:t> </a:t>
            </a:r>
            <a:r>
              <a:rPr sz="1550" dirty="0">
                <a:solidFill>
                  <a:srgbClr val="292929"/>
                </a:solidFill>
                <a:latin typeface="Calibri"/>
                <a:cs typeface="Calibri"/>
              </a:rPr>
              <a:t>to</a:t>
            </a:r>
            <a:r>
              <a:rPr sz="1550" spc="65" dirty="0">
                <a:solidFill>
                  <a:srgbClr val="292929"/>
                </a:solidFill>
                <a:latin typeface="Calibri"/>
                <a:cs typeface="Calibri"/>
              </a:rPr>
              <a:t> </a:t>
            </a:r>
            <a:r>
              <a:rPr sz="1550" spc="-25" dirty="0">
                <a:solidFill>
                  <a:srgbClr val="292929"/>
                </a:solidFill>
                <a:latin typeface="Calibri"/>
                <a:cs typeface="Calibri"/>
              </a:rPr>
              <a:t>the </a:t>
            </a:r>
            <a:r>
              <a:rPr sz="1550" spc="-10" dirty="0">
                <a:solidFill>
                  <a:srgbClr val="292929"/>
                </a:solidFill>
                <a:latin typeface="Calibri"/>
                <a:cs typeface="Calibri"/>
              </a:rPr>
              <a:t>Equator.</a:t>
            </a:r>
            <a:endParaRPr sz="1550">
              <a:latin typeface="Calibri"/>
              <a:cs typeface="Calibri"/>
            </a:endParaRPr>
          </a:p>
          <a:p>
            <a:pPr marL="238125" marR="80010" lvl="1" indent="-226060" algn="just">
              <a:lnSpc>
                <a:spcPct val="92800"/>
              </a:lnSpc>
              <a:spcBef>
                <a:spcPts val="940"/>
              </a:spcBef>
              <a:buFont typeface="Arial MT"/>
              <a:buChar char="•"/>
              <a:tabLst>
                <a:tab pos="241300" algn="l"/>
              </a:tabLst>
            </a:pPr>
            <a:r>
              <a:rPr sz="1550" dirty="0">
                <a:solidFill>
                  <a:srgbClr val="292929"/>
                </a:solidFill>
                <a:latin typeface="Calibri"/>
                <a:cs typeface="Calibri"/>
              </a:rPr>
              <a:t>The</a:t>
            </a:r>
            <a:r>
              <a:rPr sz="1550" spc="25" dirty="0">
                <a:solidFill>
                  <a:srgbClr val="292929"/>
                </a:solidFill>
                <a:latin typeface="Calibri"/>
                <a:cs typeface="Calibri"/>
              </a:rPr>
              <a:t> </a:t>
            </a:r>
            <a:r>
              <a:rPr sz="1550" dirty="0">
                <a:solidFill>
                  <a:srgbClr val="292929"/>
                </a:solidFill>
                <a:latin typeface="Calibri"/>
                <a:cs typeface="Calibri"/>
              </a:rPr>
              <a:t>launch</a:t>
            </a:r>
            <a:r>
              <a:rPr sz="1550" spc="60" dirty="0">
                <a:solidFill>
                  <a:srgbClr val="292929"/>
                </a:solidFill>
                <a:latin typeface="Calibri"/>
                <a:cs typeface="Calibri"/>
              </a:rPr>
              <a:t> </a:t>
            </a:r>
            <a:r>
              <a:rPr sz="1550" dirty="0">
                <a:solidFill>
                  <a:srgbClr val="292929"/>
                </a:solidFill>
                <a:latin typeface="Calibri"/>
                <a:cs typeface="Calibri"/>
              </a:rPr>
              <a:t>site</a:t>
            </a:r>
            <a:r>
              <a:rPr sz="1550" spc="110" dirty="0">
                <a:solidFill>
                  <a:srgbClr val="292929"/>
                </a:solidFill>
                <a:latin typeface="Calibri"/>
                <a:cs typeface="Calibri"/>
              </a:rPr>
              <a:t> </a:t>
            </a:r>
            <a:r>
              <a:rPr sz="1550" dirty="0">
                <a:solidFill>
                  <a:srgbClr val="292929"/>
                </a:solidFill>
                <a:latin typeface="Calibri"/>
                <a:cs typeface="Calibri"/>
              </a:rPr>
              <a:t>at</a:t>
            </a:r>
            <a:r>
              <a:rPr sz="1550" spc="65" dirty="0">
                <a:solidFill>
                  <a:srgbClr val="292929"/>
                </a:solidFill>
                <a:latin typeface="Calibri"/>
                <a:cs typeface="Calibri"/>
              </a:rPr>
              <a:t> </a:t>
            </a:r>
            <a:r>
              <a:rPr sz="1550" dirty="0">
                <a:solidFill>
                  <a:srgbClr val="292929"/>
                </a:solidFill>
                <a:latin typeface="Calibri"/>
                <a:cs typeface="Calibri"/>
              </a:rPr>
              <a:t>Vandenberg</a:t>
            </a:r>
            <a:r>
              <a:rPr sz="1550" spc="70" dirty="0">
                <a:solidFill>
                  <a:srgbClr val="292929"/>
                </a:solidFill>
                <a:latin typeface="Calibri"/>
                <a:cs typeface="Calibri"/>
              </a:rPr>
              <a:t> </a:t>
            </a:r>
            <a:r>
              <a:rPr sz="1550" dirty="0">
                <a:solidFill>
                  <a:srgbClr val="292929"/>
                </a:solidFill>
                <a:latin typeface="Calibri"/>
                <a:cs typeface="Calibri"/>
              </a:rPr>
              <a:t>Air</a:t>
            </a:r>
            <a:r>
              <a:rPr sz="1550" spc="125" dirty="0">
                <a:solidFill>
                  <a:srgbClr val="292929"/>
                </a:solidFill>
                <a:latin typeface="Calibri"/>
                <a:cs typeface="Calibri"/>
              </a:rPr>
              <a:t> </a:t>
            </a:r>
            <a:r>
              <a:rPr sz="1550" dirty="0">
                <a:solidFill>
                  <a:srgbClr val="292929"/>
                </a:solidFill>
                <a:latin typeface="Calibri"/>
                <a:cs typeface="Calibri"/>
              </a:rPr>
              <a:t>Force</a:t>
            </a:r>
            <a:r>
              <a:rPr sz="1550" spc="25" dirty="0">
                <a:solidFill>
                  <a:srgbClr val="292929"/>
                </a:solidFill>
                <a:latin typeface="Calibri"/>
                <a:cs typeface="Calibri"/>
              </a:rPr>
              <a:t> </a:t>
            </a:r>
            <a:r>
              <a:rPr sz="1550" dirty="0">
                <a:solidFill>
                  <a:srgbClr val="292929"/>
                </a:solidFill>
                <a:latin typeface="Calibri"/>
                <a:cs typeface="Calibri"/>
              </a:rPr>
              <a:t>Base</a:t>
            </a:r>
            <a:r>
              <a:rPr sz="1550" spc="114" dirty="0">
                <a:solidFill>
                  <a:srgbClr val="292929"/>
                </a:solidFill>
                <a:latin typeface="Calibri"/>
                <a:cs typeface="Calibri"/>
              </a:rPr>
              <a:t> </a:t>
            </a:r>
            <a:r>
              <a:rPr sz="1550" dirty="0">
                <a:solidFill>
                  <a:srgbClr val="292929"/>
                </a:solidFill>
                <a:latin typeface="Calibri"/>
                <a:cs typeface="Calibri"/>
              </a:rPr>
              <a:t>(VAFB</a:t>
            </a:r>
            <a:r>
              <a:rPr sz="1550" spc="30" dirty="0">
                <a:solidFill>
                  <a:srgbClr val="292929"/>
                </a:solidFill>
                <a:latin typeface="Calibri"/>
                <a:cs typeface="Calibri"/>
              </a:rPr>
              <a:t> </a:t>
            </a:r>
            <a:r>
              <a:rPr sz="1550" spc="-20" dirty="0">
                <a:solidFill>
                  <a:srgbClr val="292929"/>
                </a:solidFill>
                <a:latin typeface="Calibri"/>
                <a:cs typeface="Calibri"/>
              </a:rPr>
              <a:t>SLC- 	</a:t>
            </a:r>
            <a:r>
              <a:rPr sz="1550" dirty="0">
                <a:solidFill>
                  <a:srgbClr val="292929"/>
                </a:solidFill>
                <a:latin typeface="Calibri"/>
                <a:cs typeface="Calibri"/>
              </a:rPr>
              <a:t>4E)</a:t>
            </a:r>
            <a:r>
              <a:rPr sz="1550" spc="110" dirty="0">
                <a:solidFill>
                  <a:srgbClr val="292929"/>
                </a:solidFill>
                <a:latin typeface="Calibri"/>
                <a:cs typeface="Calibri"/>
              </a:rPr>
              <a:t> </a:t>
            </a:r>
            <a:r>
              <a:rPr sz="1550" dirty="0">
                <a:solidFill>
                  <a:srgbClr val="292929"/>
                </a:solidFill>
                <a:latin typeface="Calibri"/>
                <a:cs typeface="Calibri"/>
              </a:rPr>
              <a:t>is</a:t>
            </a:r>
            <a:r>
              <a:rPr sz="1550" spc="45" dirty="0">
                <a:solidFill>
                  <a:srgbClr val="292929"/>
                </a:solidFill>
                <a:latin typeface="Calibri"/>
                <a:cs typeface="Calibri"/>
              </a:rPr>
              <a:t> </a:t>
            </a:r>
            <a:r>
              <a:rPr sz="1550" dirty="0">
                <a:solidFill>
                  <a:srgbClr val="292929"/>
                </a:solidFill>
                <a:latin typeface="Calibri"/>
                <a:cs typeface="Calibri"/>
              </a:rPr>
              <a:t>located</a:t>
            </a:r>
            <a:r>
              <a:rPr sz="1550" spc="65" dirty="0">
                <a:solidFill>
                  <a:srgbClr val="292929"/>
                </a:solidFill>
                <a:latin typeface="Calibri"/>
                <a:cs typeface="Calibri"/>
              </a:rPr>
              <a:t> </a:t>
            </a:r>
            <a:r>
              <a:rPr sz="1550" dirty="0">
                <a:solidFill>
                  <a:srgbClr val="292929"/>
                </a:solidFill>
                <a:latin typeface="Calibri"/>
                <a:cs typeface="Calibri"/>
              </a:rPr>
              <a:t>at</a:t>
            </a:r>
            <a:r>
              <a:rPr sz="1550" spc="55" dirty="0">
                <a:solidFill>
                  <a:srgbClr val="292929"/>
                </a:solidFill>
                <a:latin typeface="Calibri"/>
                <a:cs typeface="Calibri"/>
              </a:rPr>
              <a:t> </a:t>
            </a:r>
            <a:r>
              <a:rPr sz="1550" dirty="0">
                <a:solidFill>
                  <a:srgbClr val="292929"/>
                </a:solidFill>
                <a:latin typeface="Calibri"/>
                <a:cs typeface="Calibri"/>
              </a:rPr>
              <a:t>a</a:t>
            </a:r>
            <a:r>
              <a:rPr sz="1550" spc="60" dirty="0">
                <a:solidFill>
                  <a:srgbClr val="292929"/>
                </a:solidFill>
                <a:latin typeface="Calibri"/>
                <a:cs typeface="Calibri"/>
              </a:rPr>
              <a:t> </a:t>
            </a:r>
            <a:r>
              <a:rPr sz="1550" dirty="0">
                <a:solidFill>
                  <a:srgbClr val="292929"/>
                </a:solidFill>
                <a:latin typeface="Calibri"/>
                <a:cs typeface="Calibri"/>
              </a:rPr>
              <a:t>latitude</a:t>
            </a:r>
            <a:r>
              <a:rPr sz="1550" spc="105" dirty="0">
                <a:solidFill>
                  <a:srgbClr val="292929"/>
                </a:solidFill>
                <a:latin typeface="Calibri"/>
                <a:cs typeface="Calibri"/>
              </a:rPr>
              <a:t> </a:t>
            </a:r>
            <a:r>
              <a:rPr sz="1550" dirty="0">
                <a:solidFill>
                  <a:srgbClr val="292929"/>
                </a:solidFill>
                <a:latin typeface="Calibri"/>
                <a:cs typeface="Calibri"/>
              </a:rPr>
              <a:t>of</a:t>
            </a:r>
            <a:r>
              <a:rPr sz="1550" spc="114" dirty="0">
                <a:solidFill>
                  <a:srgbClr val="292929"/>
                </a:solidFill>
                <a:latin typeface="Calibri"/>
                <a:cs typeface="Calibri"/>
              </a:rPr>
              <a:t> </a:t>
            </a:r>
            <a:r>
              <a:rPr sz="1550" dirty="0">
                <a:solidFill>
                  <a:srgbClr val="292929"/>
                </a:solidFill>
                <a:latin typeface="Calibri"/>
                <a:cs typeface="Calibri"/>
              </a:rPr>
              <a:t>34.63,</a:t>
            </a:r>
            <a:r>
              <a:rPr sz="1550" spc="40" dirty="0">
                <a:solidFill>
                  <a:srgbClr val="292929"/>
                </a:solidFill>
                <a:latin typeface="Calibri"/>
                <a:cs typeface="Calibri"/>
              </a:rPr>
              <a:t> </a:t>
            </a:r>
            <a:r>
              <a:rPr sz="1550" dirty="0">
                <a:solidFill>
                  <a:srgbClr val="292929"/>
                </a:solidFill>
                <a:latin typeface="Calibri"/>
                <a:cs typeface="Calibri"/>
              </a:rPr>
              <a:t>which</a:t>
            </a:r>
            <a:r>
              <a:rPr sz="1550" spc="65" dirty="0">
                <a:solidFill>
                  <a:srgbClr val="292929"/>
                </a:solidFill>
                <a:latin typeface="Calibri"/>
                <a:cs typeface="Calibri"/>
              </a:rPr>
              <a:t> </a:t>
            </a:r>
            <a:r>
              <a:rPr sz="1550" dirty="0">
                <a:solidFill>
                  <a:srgbClr val="292929"/>
                </a:solidFill>
                <a:latin typeface="Calibri"/>
                <a:cs typeface="Calibri"/>
              </a:rPr>
              <a:t>is</a:t>
            </a:r>
            <a:r>
              <a:rPr sz="1550" spc="45" dirty="0">
                <a:solidFill>
                  <a:srgbClr val="292929"/>
                </a:solidFill>
                <a:latin typeface="Calibri"/>
                <a:cs typeface="Calibri"/>
              </a:rPr>
              <a:t> </a:t>
            </a:r>
            <a:r>
              <a:rPr sz="1550" dirty="0">
                <a:solidFill>
                  <a:srgbClr val="292929"/>
                </a:solidFill>
                <a:latin typeface="Calibri"/>
                <a:cs typeface="Calibri"/>
              </a:rPr>
              <a:t>further</a:t>
            </a:r>
            <a:r>
              <a:rPr sz="1550" spc="35" dirty="0">
                <a:solidFill>
                  <a:srgbClr val="292929"/>
                </a:solidFill>
                <a:latin typeface="Calibri"/>
                <a:cs typeface="Calibri"/>
              </a:rPr>
              <a:t> </a:t>
            </a:r>
            <a:r>
              <a:rPr sz="1550" spc="-20" dirty="0">
                <a:solidFill>
                  <a:srgbClr val="292929"/>
                </a:solidFill>
                <a:latin typeface="Calibri"/>
                <a:cs typeface="Calibri"/>
              </a:rPr>
              <a:t>from 	</a:t>
            </a:r>
            <a:r>
              <a:rPr sz="1550" dirty="0">
                <a:solidFill>
                  <a:srgbClr val="292929"/>
                </a:solidFill>
                <a:latin typeface="Calibri"/>
                <a:cs typeface="Calibri"/>
              </a:rPr>
              <a:t>the</a:t>
            </a:r>
            <a:r>
              <a:rPr sz="1550" spc="135" dirty="0">
                <a:solidFill>
                  <a:srgbClr val="292929"/>
                </a:solidFill>
                <a:latin typeface="Calibri"/>
                <a:cs typeface="Calibri"/>
              </a:rPr>
              <a:t> </a:t>
            </a:r>
            <a:r>
              <a:rPr sz="1550" dirty="0">
                <a:solidFill>
                  <a:srgbClr val="292929"/>
                </a:solidFill>
                <a:latin typeface="Calibri"/>
                <a:cs typeface="Calibri"/>
              </a:rPr>
              <a:t>Equator</a:t>
            </a:r>
            <a:r>
              <a:rPr sz="1550" spc="55" dirty="0">
                <a:solidFill>
                  <a:srgbClr val="292929"/>
                </a:solidFill>
                <a:latin typeface="Calibri"/>
                <a:cs typeface="Calibri"/>
              </a:rPr>
              <a:t> </a:t>
            </a:r>
            <a:r>
              <a:rPr sz="1550" dirty="0">
                <a:solidFill>
                  <a:srgbClr val="292929"/>
                </a:solidFill>
                <a:latin typeface="Calibri"/>
                <a:cs typeface="Calibri"/>
              </a:rPr>
              <a:t>compared</a:t>
            </a:r>
            <a:r>
              <a:rPr sz="1550" spc="85" dirty="0">
                <a:solidFill>
                  <a:srgbClr val="292929"/>
                </a:solidFill>
                <a:latin typeface="Calibri"/>
                <a:cs typeface="Calibri"/>
              </a:rPr>
              <a:t> </a:t>
            </a:r>
            <a:r>
              <a:rPr sz="1550" dirty="0">
                <a:solidFill>
                  <a:srgbClr val="292929"/>
                </a:solidFill>
                <a:latin typeface="Calibri"/>
                <a:cs typeface="Calibri"/>
              </a:rPr>
              <a:t>to</a:t>
            </a:r>
            <a:r>
              <a:rPr sz="1550" spc="75" dirty="0">
                <a:solidFill>
                  <a:srgbClr val="292929"/>
                </a:solidFill>
                <a:latin typeface="Calibri"/>
                <a:cs typeface="Calibri"/>
              </a:rPr>
              <a:t> </a:t>
            </a:r>
            <a:r>
              <a:rPr sz="1550" dirty="0">
                <a:solidFill>
                  <a:srgbClr val="292929"/>
                </a:solidFill>
                <a:latin typeface="Calibri"/>
                <a:cs typeface="Calibri"/>
              </a:rPr>
              <a:t>the</a:t>
            </a:r>
            <a:r>
              <a:rPr sz="1550" spc="40" dirty="0">
                <a:solidFill>
                  <a:srgbClr val="292929"/>
                </a:solidFill>
                <a:latin typeface="Calibri"/>
                <a:cs typeface="Calibri"/>
              </a:rPr>
              <a:t> </a:t>
            </a:r>
            <a:r>
              <a:rPr sz="1550" dirty="0">
                <a:solidFill>
                  <a:srgbClr val="292929"/>
                </a:solidFill>
                <a:latin typeface="Calibri"/>
                <a:cs typeface="Calibri"/>
              </a:rPr>
              <a:t>other</a:t>
            </a:r>
            <a:r>
              <a:rPr sz="1550" spc="60" dirty="0">
                <a:solidFill>
                  <a:srgbClr val="292929"/>
                </a:solidFill>
                <a:latin typeface="Calibri"/>
                <a:cs typeface="Calibri"/>
              </a:rPr>
              <a:t> </a:t>
            </a:r>
            <a:r>
              <a:rPr sz="1550" dirty="0">
                <a:solidFill>
                  <a:srgbClr val="292929"/>
                </a:solidFill>
                <a:latin typeface="Calibri"/>
                <a:cs typeface="Calibri"/>
              </a:rPr>
              <a:t>sites</a:t>
            </a:r>
            <a:r>
              <a:rPr sz="1550" spc="70" dirty="0">
                <a:solidFill>
                  <a:srgbClr val="292929"/>
                </a:solidFill>
                <a:latin typeface="Calibri"/>
                <a:cs typeface="Calibri"/>
              </a:rPr>
              <a:t> </a:t>
            </a:r>
            <a:r>
              <a:rPr sz="1550" dirty="0">
                <a:solidFill>
                  <a:srgbClr val="292929"/>
                </a:solidFill>
                <a:latin typeface="Calibri"/>
                <a:cs typeface="Calibri"/>
              </a:rPr>
              <a:t>in</a:t>
            </a:r>
            <a:r>
              <a:rPr sz="1550" spc="80" dirty="0">
                <a:solidFill>
                  <a:srgbClr val="292929"/>
                </a:solidFill>
                <a:latin typeface="Calibri"/>
                <a:cs typeface="Calibri"/>
              </a:rPr>
              <a:t> </a:t>
            </a:r>
            <a:r>
              <a:rPr sz="1550" spc="-10" dirty="0">
                <a:solidFill>
                  <a:srgbClr val="292929"/>
                </a:solidFill>
                <a:latin typeface="Calibri"/>
                <a:cs typeface="Calibri"/>
              </a:rPr>
              <a:t>Florida.</a:t>
            </a:r>
            <a:endParaRPr sz="1550">
              <a:latin typeface="Calibri"/>
              <a:cs typeface="Calibri"/>
            </a:endParaRPr>
          </a:p>
          <a:p>
            <a:pPr>
              <a:lnSpc>
                <a:spcPct val="100000"/>
              </a:lnSpc>
              <a:spcBef>
                <a:spcPts val="1730"/>
              </a:spcBef>
            </a:pPr>
            <a:endParaRPr sz="1550">
              <a:latin typeface="Calibri"/>
              <a:cs typeface="Calibri"/>
            </a:endParaRPr>
          </a:p>
          <a:p>
            <a:pPr marL="212090" indent="-199390">
              <a:lnSpc>
                <a:spcPct val="100000"/>
              </a:lnSpc>
              <a:buAutoNum type="arabicPeriod" startAt="2"/>
              <a:tabLst>
                <a:tab pos="212090" algn="l"/>
              </a:tabLst>
            </a:pPr>
            <a:r>
              <a:rPr sz="1550" b="1" dirty="0">
                <a:solidFill>
                  <a:srgbClr val="292929"/>
                </a:solidFill>
                <a:latin typeface="Calibri"/>
                <a:cs typeface="Calibri"/>
              </a:rPr>
              <a:t>Are</a:t>
            </a:r>
            <a:r>
              <a:rPr sz="1550" b="1" spc="30" dirty="0">
                <a:solidFill>
                  <a:srgbClr val="292929"/>
                </a:solidFill>
                <a:latin typeface="Calibri"/>
                <a:cs typeface="Calibri"/>
              </a:rPr>
              <a:t> </a:t>
            </a:r>
            <a:r>
              <a:rPr sz="1550" b="1" dirty="0">
                <a:solidFill>
                  <a:srgbClr val="292929"/>
                </a:solidFill>
                <a:latin typeface="Calibri"/>
                <a:cs typeface="Calibri"/>
              </a:rPr>
              <a:t>all</a:t>
            </a:r>
            <a:r>
              <a:rPr sz="1550" b="1" spc="70" dirty="0">
                <a:solidFill>
                  <a:srgbClr val="292929"/>
                </a:solidFill>
                <a:latin typeface="Calibri"/>
                <a:cs typeface="Calibri"/>
              </a:rPr>
              <a:t> </a:t>
            </a:r>
            <a:r>
              <a:rPr sz="1550" b="1" dirty="0">
                <a:solidFill>
                  <a:srgbClr val="292929"/>
                </a:solidFill>
                <a:latin typeface="Calibri"/>
                <a:cs typeface="Calibri"/>
              </a:rPr>
              <a:t>launch</a:t>
            </a:r>
            <a:r>
              <a:rPr sz="1550" b="1" spc="60" dirty="0">
                <a:solidFill>
                  <a:srgbClr val="292929"/>
                </a:solidFill>
                <a:latin typeface="Calibri"/>
                <a:cs typeface="Calibri"/>
              </a:rPr>
              <a:t> </a:t>
            </a:r>
            <a:r>
              <a:rPr sz="1550" b="1" dirty="0">
                <a:solidFill>
                  <a:srgbClr val="292929"/>
                </a:solidFill>
                <a:latin typeface="Calibri"/>
                <a:cs typeface="Calibri"/>
              </a:rPr>
              <a:t>sites</a:t>
            </a:r>
            <a:r>
              <a:rPr sz="1550" b="1" spc="130" dirty="0">
                <a:solidFill>
                  <a:srgbClr val="292929"/>
                </a:solidFill>
                <a:latin typeface="Calibri"/>
                <a:cs typeface="Calibri"/>
              </a:rPr>
              <a:t> </a:t>
            </a:r>
            <a:r>
              <a:rPr sz="1550" b="1" dirty="0">
                <a:solidFill>
                  <a:srgbClr val="292929"/>
                </a:solidFill>
                <a:latin typeface="Calibri"/>
                <a:cs typeface="Calibri"/>
              </a:rPr>
              <a:t>in</a:t>
            </a:r>
            <a:r>
              <a:rPr sz="1550" b="1" spc="65" dirty="0">
                <a:solidFill>
                  <a:srgbClr val="292929"/>
                </a:solidFill>
                <a:latin typeface="Calibri"/>
                <a:cs typeface="Calibri"/>
              </a:rPr>
              <a:t> </a:t>
            </a:r>
            <a:r>
              <a:rPr sz="1550" b="1" dirty="0">
                <a:solidFill>
                  <a:srgbClr val="292929"/>
                </a:solidFill>
                <a:latin typeface="Calibri"/>
                <a:cs typeface="Calibri"/>
              </a:rPr>
              <a:t>very</a:t>
            </a:r>
            <a:r>
              <a:rPr sz="1550" b="1" spc="85" dirty="0">
                <a:solidFill>
                  <a:srgbClr val="292929"/>
                </a:solidFill>
                <a:latin typeface="Calibri"/>
                <a:cs typeface="Calibri"/>
              </a:rPr>
              <a:t> </a:t>
            </a:r>
            <a:r>
              <a:rPr sz="1550" b="1" dirty="0">
                <a:solidFill>
                  <a:srgbClr val="292929"/>
                </a:solidFill>
                <a:latin typeface="Calibri"/>
                <a:cs typeface="Calibri"/>
              </a:rPr>
              <a:t>close</a:t>
            </a:r>
            <a:r>
              <a:rPr sz="1550" b="1" spc="30" dirty="0">
                <a:solidFill>
                  <a:srgbClr val="292929"/>
                </a:solidFill>
                <a:latin typeface="Calibri"/>
                <a:cs typeface="Calibri"/>
              </a:rPr>
              <a:t> </a:t>
            </a:r>
            <a:r>
              <a:rPr sz="1550" b="1" dirty="0">
                <a:solidFill>
                  <a:srgbClr val="292929"/>
                </a:solidFill>
                <a:latin typeface="Calibri"/>
                <a:cs typeface="Calibri"/>
              </a:rPr>
              <a:t>proximity</a:t>
            </a:r>
            <a:r>
              <a:rPr sz="1550" b="1" spc="85" dirty="0">
                <a:solidFill>
                  <a:srgbClr val="292929"/>
                </a:solidFill>
                <a:latin typeface="Calibri"/>
                <a:cs typeface="Calibri"/>
              </a:rPr>
              <a:t> </a:t>
            </a:r>
            <a:r>
              <a:rPr sz="1550" b="1" dirty="0">
                <a:solidFill>
                  <a:srgbClr val="292929"/>
                </a:solidFill>
                <a:latin typeface="Calibri"/>
                <a:cs typeface="Calibri"/>
              </a:rPr>
              <a:t>to</a:t>
            </a:r>
            <a:r>
              <a:rPr sz="1550" b="1" spc="145" dirty="0">
                <a:solidFill>
                  <a:srgbClr val="292929"/>
                </a:solidFill>
                <a:latin typeface="Calibri"/>
                <a:cs typeface="Calibri"/>
              </a:rPr>
              <a:t> </a:t>
            </a:r>
            <a:r>
              <a:rPr sz="1550" b="1" dirty="0">
                <a:solidFill>
                  <a:srgbClr val="292929"/>
                </a:solidFill>
                <a:latin typeface="Calibri"/>
                <a:cs typeface="Calibri"/>
              </a:rPr>
              <a:t>the</a:t>
            </a:r>
            <a:r>
              <a:rPr sz="1550" b="1" spc="120" dirty="0">
                <a:solidFill>
                  <a:srgbClr val="292929"/>
                </a:solidFill>
                <a:latin typeface="Calibri"/>
                <a:cs typeface="Calibri"/>
              </a:rPr>
              <a:t> </a:t>
            </a:r>
            <a:r>
              <a:rPr sz="1550" b="1" spc="-10" dirty="0">
                <a:solidFill>
                  <a:srgbClr val="292929"/>
                </a:solidFill>
                <a:latin typeface="Calibri"/>
                <a:cs typeface="Calibri"/>
              </a:rPr>
              <a:t>coast?</a:t>
            </a:r>
            <a:endParaRPr sz="1550">
              <a:latin typeface="Calibri"/>
              <a:cs typeface="Calibri"/>
            </a:endParaRPr>
          </a:p>
          <a:p>
            <a:pPr marL="241300" lvl="1" indent="-228600">
              <a:lnSpc>
                <a:spcPct val="100000"/>
              </a:lnSpc>
              <a:spcBef>
                <a:spcPts val="844"/>
              </a:spcBef>
              <a:buFont typeface="Arial MT"/>
              <a:buChar char="•"/>
              <a:tabLst>
                <a:tab pos="241300" algn="l"/>
              </a:tabLst>
            </a:pPr>
            <a:r>
              <a:rPr sz="1550" dirty="0">
                <a:solidFill>
                  <a:srgbClr val="292929"/>
                </a:solidFill>
                <a:latin typeface="Calibri"/>
                <a:cs typeface="Calibri"/>
              </a:rPr>
              <a:t>Yes,</a:t>
            </a:r>
            <a:r>
              <a:rPr sz="1550" spc="40" dirty="0">
                <a:solidFill>
                  <a:srgbClr val="292929"/>
                </a:solidFill>
                <a:latin typeface="Calibri"/>
                <a:cs typeface="Calibri"/>
              </a:rPr>
              <a:t> </a:t>
            </a:r>
            <a:r>
              <a:rPr sz="1550" dirty="0">
                <a:solidFill>
                  <a:srgbClr val="292929"/>
                </a:solidFill>
                <a:latin typeface="Calibri"/>
                <a:cs typeface="Calibri"/>
              </a:rPr>
              <a:t>all</a:t>
            </a:r>
            <a:r>
              <a:rPr sz="1550" spc="75" dirty="0">
                <a:solidFill>
                  <a:srgbClr val="292929"/>
                </a:solidFill>
                <a:latin typeface="Calibri"/>
                <a:cs typeface="Calibri"/>
              </a:rPr>
              <a:t> </a:t>
            </a:r>
            <a:r>
              <a:rPr sz="1550" dirty="0">
                <a:solidFill>
                  <a:srgbClr val="292929"/>
                </a:solidFill>
                <a:latin typeface="Calibri"/>
                <a:cs typeface="Calibri"/>
              </a:rPr>
              <a:t>launch</a:t>
            </a:r>
            <a:r>
              <a:rPr sz="1550" spc="55" dirty="0">
                <a:solidFill>
                  <a:srgbClr val="292929"/>
                </a:solidFill>
                <a:latin typeface="Calibri"/>
                <a:cs typeface="Calibri"/>
              </a:rPr>
              <a:t> </a:t>
            </a:r>
            <a:r>
              <a:rPr sz="1550" dirty="0">
                <a:solidFill>
                  <a:srgbClr val="292929"/>
                </a:solidFill>
                <a:latin typeface="Calibri"/>
                <a:cs typeface="Calibri"/>
              </a:rPr>
              <a:t>sites</a:t>
            </a:r>
            <a:r>
              <a:rPr sz="1550" spc="40" dirty="0">
                <a:solidFill>
                  <a:srgbClr val="292929"/>
                </a:solidFill>
                <a:latin typeface="Calibri"/>
                <a:cs typeface="Calibri"/>
              </a:rPr>
              <a:t> </a:t>
            </a:r>
            <a:r>
              <a:rPr sz="1550" dirty="0">
                <a:solidFill>
                  <a:srgbClr val="292929"/>
                </a:solidFill>
                <a:latin typeface="Calibri"/>
                <a:cs typeface="Calibri"/>
              </a:rPr>
              <a:t>are</a:t>
            </a:r>
            <a:r>
              <a:rPr sz="1550" spc="105" dirty="0">
                <a:solidFill>
                  <a:srgbClr val="292929"/>
                </a:solidFill>
                <a:latin typeface="Calibri"/>
                <a:cs typeface="Calibri"/>
              </a:rPr>
              <a:t> </a:t>
            </a:r>
            <a:r>
              <a:rPr sz="1550" dirty="0">
                <a:solidFill>
                  <a:srgbClr val="292929"/>
                </a:solidFill>
                <a:latin typeface="Calibri"/>
                <a:cs typeface="Calibri"/>
              </a:rPr>
              <a:t>in</a:t>
            </a:r>
            <a:r>
              <a:rPr sz="1550" spc="55" dirty="0">
                <a:solidFill>
                  <a:srgbClr val="292929"/>
                </a:solidFill>
                <a:latin typeface="Calibri"/>
                <a:cs typeface="Calibri"/>
              </a:rPr>
              <a:t> </a:t>
            </a:r>
            <a:r>
              <a:rPr sz="1550" dirty="0">
                <a:solidFill>
                  <a:srgbClr val="292929"/>
                </a:solidFill>
                <a:latin typeface="Calibri"/>
                <a:cs typeface="Calibri"/>
              </a:rPr>
              <a:t>close</a:t>
            </a:r>
            <a:r>
              <a:rPr sz="1550" spc="105" dirty="0">
                <a:solidFill>
                  <a:srgbClr val="292929"/>
                </a:solidFill>
                <a:latin typeface="Calibri"/>
                <a:cs typeface="Calibri"/>
              </a:rPr>
              <a:t> </a:t>
            </a:r>
            <a:r>
              <a:rPr sz="1550" dirty="0">
                <a:solidFill>
                  <a:srgbClr val="292929"/>
                </a:solidFill>
                <a:latin typeface="Calibri"/>
                <a:cs typeface="Calibri"/>
              </a:rPr>
              <a:t>proximity</a:t>
            </a:r>
            <a:r>
              <a:rPr sz="1550" spc="10" dirty="0">
                <a:solidFill>
                  <a:srgbClr val="292929"/>
                </a:solidFill>
                <a:latin typeface="Calibri"/>
                <a:cs typeface="Calibri"/>
              </a:rPr>
              <a:t> </a:t>
            </a:r>
            <a:r>
              <a:rPr sz="1550" dirty="0">
                <a:solidFill>
                  <a:srgbClr val="292929"/>
                </a:solidFill>
                <a:latin typeface="Calibri"/>
                <a:cs typeface="Calibri"/>
              </a:rPr>
              <a:t>to</a:t>
            </a:r>
            <a:r>
              <a:rPr sz="1550" spc="45" dirty="0">
                <a:solidFill>
                  <a:srgbClr val="292929"/>
                </a:solidFill>
                <a:latin typeface="Calibri"/>
                <a:cs typeface="Calibri"/>
              </a:rPr>
              <a:t> </a:t>
            </a:r>
            <a:r>
              <a:rPr sz="1550" dirty="0">
                <a:solidFill>
                  <a:srgbClr val="292929"/>
                </a:solidFill>
                <a:latin typeface="Calibri"/>
                <a:cs typeface="Calibri"/>
              </a:rPr>
              <a:t>the</a:t>
            </a:r>
            <a:r>
              <a:rPr sz="1550" spc="15" dirty="0">
                <a:solidFill>
                  <a:srgbClr val="292929"/>
                </a:solidFill>
                <a:latin typeface="Calibri"/>
                <a:cs typeface="Calibri"/>
              </a:rPr>
              <a:t> </a:t>
            </a:r>
            <a:r>
              <a:rPr sz="1550" spc="-10" dirty="0">
                <a:solidFill>
                  <a:srgbClr val="292929"/>
                </a:solidFill>
                <a:latin typeface="Calibri"/>
                <a:cs typeface="Calibri"/>
              </a:rPr>
              <a:t>coast.</a:t>
            </a:r>
            <a:endParaRPr sz="1550">
              <a:latin typeface="Calibri"/>
              <a:cs typeface="Calibri"/>
            </a:endParaRPr>
          </a:p>
          <a:p>
            <a:pPr marL="241300" marR="5080" lvl="1" indent="-229235">
              <a:lnSpc>
                <a:spcPct val="92800"/>
              </a:lnSpc>
              <a:spcBef>
                <a:spcPts val="1055"/>
              </a:spcBef>
              <a:buFont typeface="Arial MT"/>
              <a:buChar char="•"/>
              <a:tabLst>
                <a:tab pos="241300" algn="l"/>
              </a:tabLst>
            </a:pPr>
            <a:r>
              <a:rPr sz="1550" dirty="0">
                <a:solidFill>
                  <a:srgbClr val="292929"/>
                </a:solidFill>
                <a:latin typeface="Calibri"/>
                <a:cs typeface="Calibri"/>
              </a:rPr>
              <a:t>The</a:t>
            </a:r>
            <a:r>
              <a:rPr sz="1550" spc="40" dirty="0">
                <a:solidFill>
                  <a:srgbClr val="292929"/>
                </a:solidFill>
                <a:latin typeface="Calibri"/>
                <a:cs typeface="Calibri"/>
              </a:rPr>
              <a:t> </a:t>
            </a:r>
            <a:r>
              <a:rPr sz="1550" dirty="0">
                <a:solidFill>
                  <a:srgbClr val="292929"/>
                </a:solidFill>
                <a:latin typeface="Calibri"/>
                <a:cs typeface="Calibri"/>
              </a:rPr>
              <a:t>Cape</a:t>
            </a:r>
            <a:r>
              <a:rPr sz="1550" spc="40" dirty="0">
                <a:solidFill>
                  <a:srgbClr val="292929"/>
                </a:solidFill>
                <a:latin typeface="Calibri"/>
                <a:cs typeface="Calibri"/>
              </a:rPr>
              <a:t> </a:t>
            </a:r>
            <a:r>
              <a:rPr sz="1550" dirty="0">
                <a:solidFill>
                  <a:srgbClr val="292929"/>
                </a:solidFill>
                <a:latin typeface="Calibri"/>
                <a:cs typeface="Calibri"/>
              </a:rPr>
              <a:t>Canaveral</a:t>
            </a:r>
            <a:r>
              <a:rPr sz="1550" spc="95" dirty="0">
                <a:solidFill>
                  <a:srgbClr val="292929"/>
                </a:solidFill>
                <a:latin typeface="Calibri"/>
                <a:cs typeface="Calibri"/>
              </a:rPr>
              <a:t> </a:t>
            </a:r>
            <a:r>
              <a:rPr sz="1550" dirty="0">
                <a:solidFill>
                  <a:srgbClr val="292929"/>
                </a:solidFill>
                <a:latin typeface="Calibri"/>
                <a:cs typeface="Calibri"/>
              </a:rPr>
              <a:t>sites</a:t>
            </a:r>
            <a:r>
              <a:rPr sz="1550" spc="155" dirty="0">
                <a:solidFill>
                  <a:srgbClr val="292929"/>
                </a:solidFill>
                <a:latin typeface="Calibri"/>
                <a:cs typeface="Calibri"/>
              </a:rPr>
              <a:t> </a:t>
            </a:r>
            <a:r>
              <a:rPr sz="1550" dirty="0">
                <a:solidFill>
                  <a:srgbClr val="292929"/>
                </a:solidFill>
                <a:latin typeface="Calibri"/>
                <a:cs typeface="Calibri"/>
              </a:rPr>
              <a:t>(CCAFS</a:t>
            </a:r>
            <a:r>
              <a:rPr sz="1550" spc="20" dirty="0">
                <a:solidFill>
                  <a:srgbClr val="292929"/>
                </a:solidFill>
                <a:latin typeface="Calibri"/>
                <a:cs typeface="Calibri"/>
              </a:rPr>
              <a:t> </a:t>
            </a:r>
            <a:r>
              <a:rPr sz="1550" dirty="0">
                <a:solidFill>
                  <a:srgbClr val="292929"/>
                </a:solidFill>
                <a:latin typeface="Calibri"/>
                <a:cs typeface="Calibri"/>
              </a:rPr>
              <a:t>LC-40</a:t>
            </a:r>
            <a:r>
              <a:rPr sz="1550" spc="120" dirty="0">
                <a:solidFill>
                  <a:srgbClr val="292929"/>
                </a:solidFill>
                <a:latin typeface="Calibri"/>
                <a:cs typeface="Calibri"/>
              </a:rPr>
              <a:t> </a:t>
            </a:r>
            <a:r>
              <a:rPr sz="1550" dirty="0">
                <a:solidFill>
                  <a:srgbClr val="292929"/>
                </a:solidFill>
                <a:latin typeface="Calibri"/>
                <a:cs typeface="Calibri"/>
              </a:rPr>
              <a:t>and</a:t>
            </a:r>
            <a:r>
              <a:rPr sz="1550" spc="85" dirty="0">
                <a:solidFill>
                  <a:srgbClr val="292929"/>
                </a:solidFill>
                <a:latin typeface="Calibri"/>
                <a:cs typeface="Calibri"/>
              </a:rPr>
              <a:t> </a:t>
            </a:r>
            <a:r>
              <a:rPr sz="1550" dirty="0">
                <a:solidFill>
                  <a:srgbClr val="292929"/>
                </a:solidFill>
                <a:latin typeface="Calibri"/>
                <a:cs typeface="Calibri"/>
              </a:rPr>
              <a:t>CCAFS</a:t>
            </a:r>
            <a:r>
              <a:rPr sz="1550" spc="114" dirty="0">
                <a:solidFill>
                  <a:srgbClr val="292929"/>
                </a:solidFill>
                <a:latin typeface="Calibri"/>
                <a:cs typeface="Calibri"/>
              </a:rPr>
              <a:t> </a:t>
            </a:r>
            <a:r>
              <a:rPr sz="1550" dirty="0">
                <a:solidFill>
                  <a:srgbClr val="292929"/>
                </a:solidFill>
                <a:latin typeface="Calibri"/>
                <a:cs typeface="Calibri"/>
              </a:rPr>
              <a:t>SLC-</a:t>
            </a:r>
            <a:r>
              <a:rPr sz="1550" spc="-25" dirty="0">
                <a:solidFill>
                  <a:srgbClr val="292929"/>
                </a:solidFill>
                <a:latin typeface="Calibri"/>
                <a:cs typeface="Calibri"/>
              </a:rPr>
              <a:t>40) </a:t>
            </a:r>
            <a:r>
              <a:rPr sz="1550" dirty="0">
                <a:solidFill>
                  <a:srgbClr val="292929"/>
                </a:solidFill>
                <a:latin typeface="Calibri"/>
                <a:cs typeface="Calibri"/>
              </a:rPr>
              <a:t>and</a:t>
            </a:r>
            <a:r>
              <a:rPr sz="1550" spc="95" dirty="0">
                <a:solidFill>
                  <a:srgbClr val="292929"/>
                </a:solidFill>
                <a:latin typeface="Calibri"/>
                <a:cs typeface="Calibri"/>
              </a:rPr>
              <a:t> </a:t>
            </a:r>
            <a:r>
              <a:rPr sz="1550" dirty="0">
                <a:solidFill>
                  <a:srgbClr val="292929"/>
                </a:solidFill>
                <a:latin typeface="Calibri"/>
                <a:cs typeface="Calibri"/>
              </a:rPr>
              <a:t>Kennedy</a:t>
            </a:r>
            <a:r>
              <a:rPr sz="1550" spc="50" dirty="0">
                <a:solidFill>
                  <a:srgbClr val="292929"/>
                </a:solidFill>
                <a:latin typeface="Calibri"/>
                <a:cs typeface="Calibri"/>
              </a:rPr>
              <a:t> </a:t>
            </a:r>
            <a:r>
              <a:rPr sz="1550" dirty="0">
                <a:solidFill>
                  <a:srgbClr val="292929"/>
                </a:solidFill>
                <a:latin typeface="Calibri"/>
                <a:cs typeface="Calibri"/>
              </a:rPr>
              <a:t>Space</a:t>
            </a:r>
            <a:r>
              <a:rPr sz="1550" spc="65" dirty="0">
                <a:solidFill>
                  <a:srgbClr val="292929"/>
                </a:solidFill>
                <a:latin typeface="Calibri"/>
                <a:cs typeface="Calibri"/>
              </a:rPr>
              <a:t> </a:t>
            </a:r>
            <a:r>
              <a:rPr sz="1550" dirty="0">
                <a:solidFill>
                  <a:srgbClr val="292929"/>
                </a:solidFill>
                <a:latin typeface="Calibri"/>
                <a:cs typeface="Calibri"/>
              </a:rPr>
              <a:t>Center</a:t>
            </a:r>
            <a:r>
              <a:rPr sz="1550" spc="70" dirty="0">
                <a:solidFill>
                  <a:srgbClr val="292929"/>
                </a:solidFill>
                <a:latin typeface="Calibri"/>
                <a:cs typeface="Calibri"/>
              </a:rPr>
              <a:t> </a:t>
            </a:r>
            <a:r>
              <a:rPr sz="1550" dirty="0">
                <a:solidFill>
                  <a:srgbClr val="292929"/>
                </a:solidFill>
                <a:latin typeface="Calibri"/>
                <a:cs typeface="Calibri"/>
              </a:rPr>
              <a:t>(KSC</a:t>
            </a:r>
            <a:r>
              <a:rPr sz="1550" spc="180" dirty="0">
                <a:solidFill>
                  <a:srgbClr val="292929"/>
                </a:solidFill>
                <a:latin typeface="Calibri"/>
                <a:cs typeface="Calibri"/>
              </a:rPr>
              <a:t> </a:t>
            </a:r>
            <a:r>
              <a:rPr sz="1550" dirty="0">
                <a:solidFill>
                  <a:srgbClr val="292929"/>
                </a:solidFill>
                <a:latin typeface="Calibri"/>
                <a:cs typeface="Calibri"/>
              </a:rPr>
              <a:t>LC-39A)</a:t>
            </a:r>
            <a:r>
              <a:rPr sz="1550" spc="70" dirty="0">
                <a:solidFill>
                  <a:srgbClr val="292929"/>
                </a:solidFill>
                <a:latin typeface="Calibri"/>
                <a:cs typeface="Calibri"/>
              </a:rPr>
              <a:t> </a:t>
            </a:r>
            <a:r>
              <a:rPr sz="1550" dirty="0">
                <a:solidFill>
                  <a:srgbClr val="292929"/>
                </a:solidFill>
                <a:latin typeface="Calibri"/>
                <a:cs typeface="Calibri"/>
              </a:rPr>
              <a:t>are</a:t>
            </a:r>
            <a:r>
              <a:rPr sz="1550" spc="60" dirty="0">
                <a:solidFill>
                  <a:srgbClr val="292929"/>
                </a:solidFill>
                <a:latin typeface="Calibri"/>
                <a:cs typeface="Calibri"/>
              </a:rPr>
              <a:t> </a:t>
            </a:r>
            <a:r>
              <a:rPr sz="1550" dirty="0">
                <a:solidFill>
                  <a:srgbClr val="292929"/>
                </a:solidFill>
                <a:latin typeface="Calibri"/>
                <a:cs typeface="Calibri"/>
              </a:rPr>
              <a:t>near</a:t>
            </a:r>
            <a:r>
              <a:rPr sz="1550" spc="165" dirty="0">
                <a:solidFill>
                  <a:srgbClr val="292929"/>
                </a:solidFill>
                <a:latin typeface="Calibri"/>
                <a:cs typeface="Calibri"/>
              </a:rPr>
              <a:t> </a:t>
            </a:r>
            <a:r>
              <a:rPr sz="1550" spc="-25" dirty="0">
                <a:solidFill>
                  <a:srgbClr val="292929"/>
                </a:solidFill>
                <a:latin typeface="Calibri"/>
                <a:cs typeface="Calibri"/>
              </a:rPr>
              <a:t>the </a:t>
            </a:r>
            <a:r>
              <a:rPr sz="1550" dirty="0">
                <a:solidFill>
                  <a:srgbClr val="292929"/>
                </a:solidFill>
                <a:latin typeface="Calibri"/>
                <a:cs typeface="Calibri"/>
              </a:rPr>
              <a:t>coast</a:t>
            </a:r>
            <a:r>
              <a:rPr sz="1550" spc="40" dirty="0">
                <a:solidFill>
                  <a:srgbClr val="292929"/>
                </a:solidFill>
                <a:latin typeface="Calibri"/>
                <a:cs typeface="Calibri"/>
              </a:rPr>
              <a:t> </a:t>
            </a:r>
            <a:r>
              <a:rPr sz="1550" dirty="0">
                <a:solidFill>
                  <a:srgbClr val="292929"/>
                </a:solidFill>
                <a:latin typeface="Calibri"/>
                <a:cs typeface="Calibri"/>
              </a:rPr>
              <a:t>in</a:t>
            </a:r>
            <a:r>
              <a:rPr sz="1550" spc="45" dirty="0">
                <a:solidFill>
                  <a:srgbClr val="292929"/>
                </a:solidFill>
                <a:latin typeface="Calibri"/>
                <a:cs typeface="Calibri"/>
              </a:rPr>
              <a:t> </a:t>
            </a:r>
            <a:r>
              <a:rPr sz="1550" spc="-10" dirty="0">
                <a:solidFill>
                  <a:srgbClr val="292929"/>
                </a:solidFill>
                <a:latin typeface="Calibri"/>
                <a:cs typeface="Calibri"/>
              </a:rPr>
              <a:t>Florida.</a:t>
            </a:r>
            <a:endParaRPr sz="1550">
              <a:latin typeface="Calibri"/>
              <a:cs typeface="Calibri"/>
            </a:endParaRPr>
          </a:p>
          <a:p>
            <a:pPr marL="241300" marR="60960" lvl="1" indent="-229235">
              <a:lnSpc>
                <a:spcPts val="1730"/>
              </a:lnSpc>
              <a:spcBef>
                <a:spcPts val="1010"/>
              </a:spcBef>
              <a:buFont typeface="Arial MT"/>
              <a:buChar char="•"/>
              <a:tabLst>
                <a:tab pos="241300" algn="l"/>
              </a:tabLst>
            </a:pPr>
            <a:r>
              <a:rPr sz="1550" dirty="0">
                <a:solidFill>
                  <a:srgbClr val="292929"/>
                </a:solidFill>
                <a:latin typeface="Calibri"/>
                <a:cs typeface="Calibri"/>
              </a:rPr>
              <a:t>Vandenberg</a:t>
            </a:r>
            <a:r>
              <a:rPr sz="1550" spc="75" dirty="0">
                <a:solidFill>
                  <a:srgbClr val="292929"/>
                </a:solidFill>
                <a:latin typeface="Calibri"/>
                <a:cs typeface="Calibri"/>
              </a:rPr>
              <a:t> </a:t>
            </a:r>
            <a:r>
              <a:rPr sz="1550" dirty="0">
                <a:solidFill>
                  <a:srgbClr val="292929"/>
                </a:solidFill>
                <a:latin typeface="Calibri"/>
                <a:cs typeface="Calibri"/>
              </a:rPr>
              <a:t>Air</a:t>
            </a:r>
            <a:r>
              <a:rPr sz="1550" spc="130" dirty="0">
                <a:solidFill>
                  <a:srgbClr val="292929"/>
                </a:solidFill>
                <a:latin typeface="Calibri"/>
                <a:cs typeface="Calibri"/>
              </a:rPr>
              <a:t> </a:t>
            </a:r>
            <a:r>
              <a:rPr sz="1550" dirty="0">
                <a:solidFill>
                  <a:srgbClr val="292929"/>
                </a:solidFill>
                <a:latin typeface="Calibri"/>
                <a:cs typeface="Calibri"/>
              </a:rPr>
              <a:t>Force</a:t>
            </a:r>
            <a:r>
              <a:rPr sz="1550" spc="30" dirty="0">
                <a:solidFill>
                  <a:srgbClr val="292929"/>
                </a:solidFill>
                <a:latin typeface="Calibri"/>
                <a:cs typeface="Calibri"/>
              </a:rPr>
              <a:t> </a:t>
            </a:r>
            <a:r>
              <a:rPr sz="1550" dirty="0">
                <a:solidFill>
                  <a:srgbClr val="292929"/>
                </a:solidFill>
                <a:latin typeface="Calibri"/>
                <a:cs typeface="Calibri"/>
              </a:rPr>
              <a:t>Base</a:t>
            </a:r>
            <a:r>
              <a:rPr sz="1550" spc="120" dirty="0">
                <a:solidFill>
                  <a:srgbClr val="292929"/>
                </a:solidFill>
                <a:latin typeface="Calibri"/>
                <a:cs typeface="Calibri"/>
              </a:rPr>
              <a:t> </a:t>
            </a:r>
            <a:r>
              <a:rPr sz="1550" dirty="0">
                <a:solidFill>
                  <a:srgbClr val="292929"/>
                </a:solidFill>
                <a:latin typeface="Calibri"/>
                <a:cs typeface="Calibri"/>
              </a:rPr>
              <a:t>(VAFB</a:t>
            </a:r>
            <a:r>
              <a:rPr sz="1550" spc="35" dirty="0">
                <a:solidFill>
                  <a:srgbClr val="292929"/>
                </a:solidFill>
                <a:latin typeface="Calibri"/>
                <a:cs typeface="Calibri"/>
              </a:rPr>
              <a:t> </a:t>
            </a:r>
            <a:r>
              <a:rPr sz="1550" dirty="0">
                <a:solidFill>
                  <a:srgbClr val="292929"/>
                </a:solidFill>
                <a:latin typeface="Calibri"/>
                <a:cs typeface="Calibri"/>
              </a:rPr>
              <a:t>SLC-4E)</a:t>
            </a:r>
            <a:r>
              <a:rPr sz="1550" spc="125" dirty="0">
                <a:solidFill>
                  <a:srgbClr val="292929"/>
                </a:solidFill>
                <a:latin typeface="Calibri"/>
                <a:cs typeface="Calibri"/>
              </a:rPr>
              <a:t> </a:t>
            </a:r>
            <a:r>
              <a:rPr sz="1550" dirty="0">
                <a:solidFill>
                  <a:srgbClr val="292929"/>
                </a:solidFill>
                <a:latin typeface="Calibri"/>
                <a:cs typeface="Calibri"/>
              </a:rPr>
              <a:t>is</a:t>
            </a:r>
            <a:r>
              <a:rPr sz="1550" spc="55" dirty="0">
                <a:solidFill>
                  <a:srgbClr val="292929"/>
                </a:solidFill>
                <a:latin typeface="Calibri"/>
                <a:cs typeface="Calibri"/>
              </a:rPr>
              <a:t> </a:t>
            </a:r>
            <a:r>
              <a:rPr sz="1550" dirty="0">
                <a:solidFill>
                  <a:srgbClr val="292929"/>
                </a:solidFill>
                <a:latin typeface="Calibri"/>
                <a:cs typeface="Calibri"/>
              </a:rPr>
              <a:t>also</a:t>
            </a:r>
            <a:r>
              <a:rPr sz="1550" spc="65" dirty="0">
                <a:solidFill>
                  <a:srgbClr val="292929"/>
                </a:solidFill>
                <a:latin typeface="Calibri"/>
                <a:cs typeface="Calibri"/>
              </a:rPr>
              <a:t> </a:t>
            </a:r>
            <a:r>
              <a:rPr sz="1550" dirty="0">
                <a:solidFill>
                  <a:srgbClr val="292929"/>
                </a:solidFill>
                <a:latin typeface="Calibri"/>
                <a:cs typeface="Calibri"/>
              </a:rPr>
              <a:t>near</a:t>
            </a:r>
            <a:r>
              <a:rPr sz="1550" spc="130" dirty="0">
                <a:solidFill>
                  <a:srgbClr val="292929"/>
                </a:solidFill>
                <a:latin typeface="Calibri"/>
                <a:cs typeface="Calibri"/>
              </a:rPr>
              <a:t> </a:t>
            </a:r>
            <a:r>
              <a:rPr sz="1550" spc="-25" dirty="0">
                <a:solidFill>
                  <a:srgbClr val="292929"/>
                </a:solidFill>
                <a:latin typeface="Calibri"/>
                <a:cs typeface="Calibri"/>
              </a:rPr>
              <a:t>the </a:t>
            </a:r>
            <a:r>
              <a:rPr sz="1550" dirty="0">
                <a:solidFill>
                  <a:srgbClr val="292929"/>
                </a:solidFill>
                <a:latin typeface="Calibri"/>
                <a:cs typeface="Calibri"/>
              </a:rPr>
              <a:t>coast</a:t>
            </a:r>
            <a:r>
              <a:rPr sz="1550" spc="40" dirty="0">
                <a:solidFill>
                  <a:srgbClr val="292929"/>
                </a:solidFill>
                <a:latin typeface="Calibri"/>
                <a:cs typeface="Calibri"/>
              </a:rPr>
              <a:t> </a:t>
            </a:r>
            <a:r>
              <a:rPr sz="1550" dirty="0">
                <a:solidFill>
                  <a:srgbClr val="292929"/>
                </a:solidFill>
                <a:latin typeface="Calibri"/>
                <a:cs typeface="Calibri"/>
              </a:rPr>
              <a:t>in</a:t>
            </a:r>
            <a:r>
              <a:rPr sz="1550" spc="45" dirty="0">
                <a:solidFill>
                  <a:srgbClr val="292929"/>
                </a:solidFill>
                <a:latin typeface="Calibri"/>
                <a:cs typeface="Calibri"/>
              </a:rPr>
              <a:t> </a:t>
            </a:r>
            <a:r>
              <a:rPr sz="1550" spc="-10" dirty="0">
                <a:solidFill>
                  <a:srgbClr val="292929"/>
                </a:solidFill>
                <a:latin typeface="Calibri"/>
                <a:cs typeface="Calibri"/>
              </a:rPr>
              <a:t>California.</a:t>
            </a:r>
            <a:endParaRPr sz="1550">
              <a:latin typeface="Calibri"/>
              <a:cs typeface="Calibri"/>
            </a:endParaRPr>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z="3950" spc="-165" dirty="0">
                <a:solidFill>
                  <a:srgbClr val="005392"/>
                </a:solidFill>
              </a:rPr>
              <a:t>Task</a:t>
            </a:r>
            <a:r>
              <a:rPr sz="3950" spc="-75" dirty="0">
                <a:solidFill>
                  <a:srgbClr val="005392"/>
                </a:solidFill>
              </a:rPr>
              <a:t> </a:t>
            </a:r>
            <a:r>
              <a:rPr sz="3950" dirty="0">
                <a:solidFill>
                  <a:srgbClr val="005392"/>
                </a:solidFill>
              </a:rPr>
              <a:t>1:</a:t>
            </a:r>
            <a:r>
              <a:rPr sz="3950" spc="-70" dirty="0">
                <a:solidFill>
                  <a:srgbClr val="005392"/>
                </a:solidFill>
              </a:rPr>
              <a:t> </a:t>
            </a:r>
            <a:r>
              <a:rPr sz="3950" dirty="0">
                <a:solidFill>
                  <a:srgbClr val="005392"/>
                </a:solidFill>
              </a:rPr>
              <a:t>Mark</a:t>
            </a:r>
            <a:r>
              <a:rPr sz="3950" spc="-5" dirty="0">
                <a:solidFill>
                  <a:srgbClr val="005392"/>
                </a:solidFill>
              </a:rPr>
              <a:t> </a:t>
            </a:r>
            <a:r>
              <a:rPr sz="3950" dirty="0">
                <a:solidFill>
                  <a:srgbClr val="005392"/>
                </a:solidFill>
              </a:rPr>
              <a:t>all</a:t>
            </a:r>
            <a:r>
              <a:rPr sz="3950" spc="-50" dirty="0">
                <a:solidFill>
                  <a:srgbClr val="005392"/>
                </a:solidFill>
              </a:rPr>
              <a:t> launch</a:t>
            </a:r>
            <a:r>
              <a:rPr sz="3950" spc="-65" dirty="0">
                <a:solidFill>
                  <a:srgbClr val="005392"/>
                </a:solidFill>
              </a:rPr>
              <a:t> </a:t>
            </a:r>
            <a:r>
              <a:rPr sz="3950" spc="-10" dirty="0">
                <a:solidFill>
                  <a:srgbClr val="005392"/>
                </a:solidFill>
              </a:rPr>
              <a:t>sites</a:t>
            </a:r>
            <a:r>
              <a:rPr sz="3950" spc="-20" dirty="0">
                <a:solidFill>
                  <a:srgbClr val="005392"/>
                </a:solidFill>
              </a:rPr>
              <a:t> </a:t>
            </a:r>
            <a:r>
              <a:rPr sz="3950" dirty="0">
                <a:solidFill>
                  <a:srgbClr val="005392"/>
                </a:solidFill>
              </a:rPr>
              <a:t>on</a:t>
            </a:r>
            <a:r>
              <a:rPr sz="3950" spc="-20" dirty="0">
                <a:solidFill>
                  <a:srgbClr val="005392"/>
                </a:solidFill>
              </a:rPr>
              <a:t> </a:t>
            </a:r>
            <a:r>
              <a:rPr sz="3950" spc="-265" dirty="0">
                <a:solidFill>
                  <a:srgbClr val="005392"/>
                </a:solidFill>
              </a:rPr>
              <a:t>a</a:t>
            </a:r>
            <a:r>
              <a:rPr sz="3950" spc="5" dirty="0">
                <a:solidFill>
                  <a:srgbClr val="005392"/>
                </a:solidFill>
              </a:rPr>
              <a:t> </a:t>
            </a:r>
            <a:r>
              <a:rPr sz="3950" spc="-25" dirty="0">
                <a:solidFill>
                  <a:srgbClr val="005392"/>
                </a:solidFill>
              </a:rPr>
              <a:t>map</a:t>
            </a:r>
            <a:endParaRPr sz="3950"/>
          </a:p>
        </p:txBody>
      </p:sp>
      <p:pic>
        <p:nvPicPr>
          <p:cNvPr id="4" name="object 4"/>
          <p:cNvPicPr/>
          <p:nvPr/>
        </p:nvPicPr>
        <p:blipFill>
          <a:blip r:embed="rId2" cstate="print"/>
          <a:stretch>
            <a:fillRect/>
          </a:stretch>
        </p:blipFill>
        <p:spPr>
          <a:xfrm>
            <a:off x="6019800" y="1714500"/>
            <a:ext cx="6096000" cy="3390900"/>
          </a:xfrm>
          <a:prstGeom prst="rect">
            <a:avLst/>
          </a:prstGeom>
        </p:spPr>
      </p:pic>
      <p:sp>
        <p:nvSpPr>
          <p:cNvPr id="5" name="object 5"/>
          <p:cNvSpPr txBox="1"/>
          <p:nvPr/>
        </p:nvSpPr>
        <p:spPr>
          <a:xfrm>
            <a:off x="11116691" y="6113199"/>
            <a:ext cx="273050" cy="252729"/>
          </a:xfrm>
          <a:prstGeom prst="rect">
            <a:avLst/>
          </a:prstGeom>
        </p:spPr>
        <p:txBody>
          <a:bodyPr vert="horz" wrap="square" lIns="0" tIns="0" rIns="0" bIns="0" rtlCol="0">
            <a:spAutoFit/>
          </a:bodyPr>
          <a:lstStyle/>
          <a:p>
            <a:pPr marL="12700">
              <a:lnSpc>
                <a:spcPts val="1810"/>
              </a:lnSpc>
            </a:pPr>
            <a:r>
              <a:rPr sz="1550" spc="80" dirty="0">
                <a:solidFill>
                  <a:srgbClr val="1C7CDB"/>
                </a:solidFill>
                <a:latin typeface="Microsoft Sans Serif"/>
                <a:cs typeface="Microsoft Sans Serif"/>
              </a:rPr>
              <a:t>41</a:t>
            </a:r>
            <a:endParaRPr sz="1550">
              <a:latin typeface="Microsoft Sans Serif"/>
              <a:cs typeface="Microsoft Sans Serif"/>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16691" y="6090602"/>
            <a:ext cx="273050" cy="266065"/>
          </a:xfrm>
          <a:prstGeom prst="rect">
            <a:avLst/>
          </a:prstGeom>
        </p:spPr>
        <p:txBody>
          <a:bodyPr vert="horz" wrap="square" lIns="0" tIns="15875" rIns="0" bIns="0" rtlCol="0">
            <a:spAutoFit/>
          </a:bodyPr>
          <a:lstStyle/>
          <a:p>
            <a:pPr marL="12700">
              <a:lnSpc>
                <a:spcPct val="100000"/>
              </a:lnSpc>
              <a:spcBef>
                <a:spcPts val="125"/>
              </a:spcBef>
            </a:pPr>
            <a:r>
              <a:rPr sz="1550" spc="80" dirty="0">
                <a:solidFill>
                  <a:srgbClr val="1C7CDB"/>
                </a:solidFill>
                <a:latin typeface="Microsoft Sans Serif"/>
                <a:cs typeface="Microsoft Sans Serif"/>
              </a:rPr>
              <a:t>42</a:t>
            </a:r>
            <a:endParaRPr sz="1550">
              <a:latin typeface="Microsoft Sans Serif"/>
              <a:cs typeface="Microsoft Sans Serif"/>
            </a:endParaRPr>
          </a:p>
        </p:txBody>
      </p:sp>
      <p:sp>
        <p:nvSpPr>
          <p:cNvPr id="3" name="object 3"/>
          <p:cNvSpPr txBox="1"/>
          <p:nvPr/>
        </p:nvSpPr>
        <p:spPr>
          <a:xfrm>
            <a:off x="849312" y="1511998"/>
            <a:ext cx="4958715" cy="4869180"/>
          </a:xfrm>
          <a:prstGeom prst="rect">
            <a:avLst/>
          </a:prstGeom>
        </p:spPr>
        <p:txBody>
          <a:bodyPr vert="horz" wrap="square" lIns="0" tIns="40005" rIns="0" bIns="0" rtlCol="0">
            <a:spAutoFit/>
          </a:bodyPr>
          <a:lstStyle/>
          <a:p>
            <a:pPr marL="241300" marR="5080" indent="-229235">
              <a:lnSpc>
                <a:spcPct val="90000"/>
              </a:lnSpc>
              <a:spcBef>
                <a:spcPts val="315"/>
              </a:spcBef>
              <a:buFont typeface="Arial MT"/>
              <a:buChar char="•"/>
              <a:tabLst>
                <a:tab pos="241300" algn="l"/>
              </a:tabLst>
            </a:pPr>
            <a:r>
              <a:rPr sz="1800" dirty="0">
                <a:solidFill>
                  <a:srgbClr val="292929"/>
                </a:solidFill>
                <a:latin typeface="Calibri"/>
                <a:cs typeface="Calibri"/>
              </a:rPr>
              <a:t>This</a:t>
            </a:r>
            <a:r>
              <a:rPr sz="1800" spc="-30" dirty="0">
                <a:solidFill>
                  <a:srgbClr val="292929"/>
                </a:solidFill>
                <a:latin typeface="Calibri"/>
                <a:cs typeface="Calibri"/>
              </a:rPr>
              <a:t> </a:t>
            </a:r>
            <a:r>
              <a:rPr sz="1800" dirty="0">
                <a:solidFill>
                  <a:srgbClr val="292929"/>
                </a:solidFill>
                <a:latin typeface="Calibri"/>
                <a:cs typeface="Calibri"/>
              </a:rPr>
              <a:t>enhanced</a:t>
            </a:r>
            <a:r>
              <a:rPr sz="1800" spc="30" dirty="0">
                <a:solidFill>
                  <a:srgbClr val="292929"/>
                </a:solidFill>
                <a:latin typeface="Calibri"/>
                <a:cs typeface="Calibri"/>
              </a:rPr>
              <a:t> </a:t>
            </a:r>
            <a:r>
              <a:rPr sz="1800" spc="-10" dirty="0">
                <a:solidFill>
                  <a:srgbClr val="292929"/>
                </a:solidFill>
                <a:latin typeface="Calibri"/>
                <a:cs typeface="Calibri"/>
              </a:rPr>
              <a:t>visualization</a:t>
            </a:r>
            <a:r>
              <a:rPr sz="1800" spc="-45" dirty="0">
                <a:solidFill>
                  <a:srgbClr val="292929"/>
                </a:solidFill>
                <a:latin typeface="Calibri"/>
                <a:cs typeface="Calibri"/>
              </a:rPr>
              <a:t> </a:t>
            </a:r>
            <a:r>
              <a:rPr sz="1800" dirty="0">
                <a:solidFill>
                  <a:srgbClr val="292929"/>
                </a:solidFill>
                <a:latin typeface="Calibri"/>
                <a:cs typeface="Calibri"/>
              </a:rPr>
              <a:t>with</a:t>
            </a:r>
            <a:r>
              <a:rPr sz="1800" spc="-45" dirty="0">
                <a:solidFill>
                  <a:srgbClr val="292929"/>
                </a:solidFill>
                <a:latin typeface="Calibri"/>
                <a:cs typeface="Calibri"/>
              </a:rPr>
              <a:t> </a:t>
            </a:r>
            <a:r>
              <a:rPr sz="1800" spc="-10" dirty="0">
                <a:solidFill>
                  <a:srgbClr val="292929"/>
                </a:solidFill>
                <a:latin typeface="Calibri"/>
                <a:cs typeface="Calibri"/>
              </a:rPr>
              <a:t>clustered</a:t>
            </a:r>
            <a:r>
              <a:rPr sz="1800" spc="-40" dirty="0">
                <a:solidFill>
                  <a:srgbClr val="292929"/>
                </a:solidFill>
                <a:latin typeface="Calibri"/>
                <a:cs typeface="Calibri"/>
              </a:rPr>
              <a:t> </a:t>
            </a:r>
            <a:r>
              <a:rPr sz="1800" spc="-10" dirty="0">
                <a:solidFill>
                  <a:srgbClr val="292929"/>
                </a:solidFill>
                <a:latin typeface="Calibri"/>
                <a:cs typeface="Calibri"/>
              </a:rPr>
              <a:t>markers </a:t>
            </a:r>
            <a:r>
              <a:rPr sz="1800" dirty="0">
                <a:solidFill>
                  <a:srgbClr val="292929"/>
                </a:solidFill>
                <a:latin typeface="Calibri"/>
                <a:cs typeface="Calibri"/>
              </a:rPr>
              <a:t>allows</a:t>
            </a:r>
            <a:r>
              <a:rPr sz="1800" spc="-55" dirty="0">
                <a:solidFill>
                  <a:srgbClr val="292929"/>
                </a:solidFill>
                <a:latin typeface="Calibri"/>
                <a:cs typeface="Calibri"/>
              </a:rPr>
              <a:t> </a:t>
            </a:r>
            <a:r>
              <a:rPr sz="1800" dirty="0">
                <a:solidFill>
                  <a:srgbClr val="292929"/>
                </a:solidFill>
                <a:latin typeface="Calibri"/>
                <a:cs typeface="Calibri"/>
              </a:rPr>
              <a:t>for</a:t>
            </a:r>
            <a:r>
              <a:rPr sz="1800" spc="-50" dirty="0">
                <a:solidFill>
                  <a:srgbClr val="292929"/>
                </a:solidFill>
                <a:latin typeface="Calibri"/>
                <a:cs typeface="Calibri"/>
              </a:rPr>
              <a:t> </a:t>
            </a:r>
            <a:r>
              <a:rPr sz="1800" dirty="0">
                <a:solidFill>
                  <a:srgbClr val="292929"/>
                </a:solidFill>
                <a:latin typeface="Calibri"/>
                <a:cs typeface="Calibri"/>
              </a:rPr>
              <a:t>better</a:t>
            </a:r>
            <a:r>
              <a:rPr sz="1800" spc="-50" dirty="0">
                <a:solidFill>
                  <a:srgbClr val="292929"/>
                </a:solidFill>
                <a:latin typeface="Calibri"/>
                <a:cs typeface="Calibri"/>
              </a:rPr>
              <a:t> </a:t>
            </a:r>
            <a:r>
              <a:rPr sz="1800" spc="-10" dirty="0">
                <a:solidFill>
                  <a:srgbClr val="292929"/>
                </a:solidFill>
                <a:latin typeface="Calibri"/>
                <a:cs typeface="Calibri"/>
              </a:rPr>
              <a:t>exploration</a:t>
            </a:r>
            <a:r>
              <a:rPr sz="1800" spc="-65" dirty="0">
                <a:solidFill>
                  <a:srgbClr val="292929"/>
                </a:solidFill>
                <a:latin typeface="Calibri"/>
                <a:cs typeface="Calibri"/>
              </a:rPr>
              <a:t> </a:t>
            </a:r>
            <a:r>
              <a:rPr sz="1800" dirty="0">
                <a:solidFill>
                  <a:srgbClr val="292929"/>
                </a:solidFill>
                <a:latin typeface="Calibri"/>
                <a:cs typeface="Calibri"/>
              </a:rPr>
              <a:t>and</a:t>
            </a:r>
            <a:r>
              <a:rPr sz="1800" spc="-5" dirty="0">
                <a:solidFill>
                  <a:srgbClr val="292929"/>
                </a:solidFill>
                <a:latin typeface="Calibri"/>
                <a:cs typeface="Calibri"/>
              </a:rPr>
              <a:t> </a:t>
            </a:r>
            <a:r>
              <a:rPr sz="1800" dirty="0">
                <a:solidFill>
                  <a:srgbClr val="292929"/>
                </a:solidFill>
                <a:latin typeface="Calibri"/>
                <a:cs typeface="Calibri"/>
              </a:rPr>
              <a:t>analysis</a:t>
            </a:r>
            <a:r>
              <a:rPr sz="1800" spc="-50" dirty="0">
                <a:solidFill>
                  <a:srgbClr val="292929"/>
                </a:solidFill>
                <a:latin typeface="Calibri"/>
                <a:cs typeface="Calibri"/>
              </a:rPr>
              <a:t> </a:t>
            </a:r>
            <a:r>
              <a:rPr sz="1800" spc="-25" dirty="0">
                <a:solidFill>
                  <a:srgbClr val="292929"/>
                </a:solidFill>
                <a:latin typeface="Calibri"/>
                <a:cs typeface="Calibri"/>
              </a:rPr>
              <a:t>of </a:t>
            </a:r>
            <a:r>
              <a:rPr sz="1800" dirty="0">
                <a:solidFill>
                  <a:srgbClr val="292929"/>
                </a:solidFill>
                <a:latin typeface="Calibri"/>
                <a:cs typeface="Calibri"/>
              </a:rPr>
              <a:t>SpaceX</a:t>
            </a:r>
            <a:r>
              <a:rPr sz="1800" spc="-50" dirty="0">
                <a:solidFill>
                  <a:srgbClr val="292929"/>
                </a:solidFill>
                <a:latin typeface="Calibri"/>
                <a:cs typeface="Calibri"/>
              </a:rPr>
              <a:t> </a:t>
            </a:r>
            <a:r>
              <a:rPr sz="1800" dirty="0">
                <a:solidFill>
                  <a:srgbClr val="292929"/>
                </a:solidFill>
                <a:latin typeface="Calibri"/>
                <a:cs typeface="Calibri"/>
              </a:rPr>
              <a:t>launch</a:t>
            </a:r>
            <a:r>
              <a:rPr sz="1800" spc="-60" dirty="0">
                <a:solidFill>
                  <a:srgbClr val="292929"/>
                </a:solidFill>
                <a:latin typeface="Calibri"/>
                <a:cs typeface="Calibri"/>
              </a:rPr>
              <a:t> </a:t>
            </a:r>
            <a:r>
              <a:rPr sz="1800" dirty="0">
                <a:solidFill>
                  <a:srgbClr val="292929"/>
                </a:solidFill>
                <a:latin typeface="Calibri"/>
                <a:cs typeface="Calibri"/>
              </a:rPr>
              <a:t>data.</a:t>
            </a:r>
            <a:r>
              <a:rPr sz="1800" spc="-20" dirty="0">
                <a:solidFill>
                  <a:srgbClr val="292929"/>
                </a:solidFill>
                <a:latin typeface="Calibri"/>
                <a:cs typeface="Calibri"/>
              </a:rPr>
              <a:t> </a:t>
            </a:r>
            <a:r>
              <a:rPr sz="1800" dirty="0">
                <a:solidFill>
                  <a:srgbClr val="292929"/>
                </a:solidFill>
                <a:latin typeface="Calibri"/>
                <a:cs typeface="Calibri"/>
              </a:rPr>
              <a:t>The</a:t>
            </a:r>
            <a:r>
              <a:rPr sz="1800" spc="-75" dirty="0">
                <a:solidFill>
                  <a:srgbClr val="292929"/>
                </a:solidFill>
                <a:latin typeface="Calibri"/>
                <a:cs typeface="Calibri"/>
              </a:rPr>
              <a:t> </a:t>
            </a:r>
            <a:r>
              <a:rPr sz="1800" dirty="0">
                <a:solidFill>
                  <a:srgbClr val="292929"/>
                </a:solidFill>
                <a:latin typeface="Calibri"/>
                <a:cs typeface="Calibri"/>
              </a:rPr>
              <a:t>clustering</a:t>
            </a:r>
            <a:r>
              <a:rPr sz="1800" spc="-35" dirty="0">
                <a:solidFill>
                  <a:srgbClr val="292929"/>
                </a:solidFill>
                <a:latin typeface="Calibri"/>
                <a:cs typeface="Calibri"/>
              </a:rPr>
              <a:t> </a:t>
            </a:r>
            <a:r>
              <a:rPr sz="1800" dirty="0">
                <a:solidFill>
                  <a:srgbClr val="292929"/>
                </a:solidFill>
                <a:latin typeface="Calibri"/>
                <a:cs typeface="Calibri"/>
              </a:rPr>
              <a:t>makes</a:t>
            </a:r>
            <a:r>
              <a:rPr sz="1800" spc="-45" dirty="0">
                <a:solidFill>
                  <a:srgbClr val="292929"/>
                </a:solidFill>
                <a:latin typeface="Calibri"/>
                <a:cs typeface="Calibri"/>
              </a:rPr>
              <a:t> </a:t>
            </a:r>
            <a:r>
              <a:rPr sz="1800" dirty="0">
                <a:solidFill>
                  <a:srgbClr val="292929"/>
                </a:solidFill>
                <a:latin typeface="Calibri"/>
                <a:cs typeface="Calibri"/>
              </a:rPr>
              <a:t>it</a:t>
            </a:r>
            <a:r>
              <a:rPr sz="1800" spc="-20" dirty="0">
                <a:solidFill>
                  <a:srgbClr val="292929"/>
                </a:solidFill>
                <a:latin typeface="Calibri"/>
                <a:cs typeface="Calibri"/>
              </a:rPr>
              <a:t> </a:t>
            </a:r>
            <a:r>
              <a:rPr sz="1800" spc="-10" dirty="0">
                <a:solidFill>
                  <a:srgbClr val="292929"/>
                </a:solidFill>
                <a:latin typeface="Calibri"/>
                <a:cs typeface="Calibri"/>
              </a:rPr>
              <a:t>easier </a:t>
            </a:r>
            <a:r>
              <a:rPr sz="1800" dirty="0">
                <a:solidFill>
                  <a:srgbClr val="292929"/>
                </a:solidFill>
                <a:latin typeface="Calibri"/>
                <a:cs typeface="Calibri"/>
              </a:rPr>
              <a:t>to</a:t>
            </a:r>
            <a:r>
              <a:rPr sz="1800" spc="-20" dirty="0">
                <a:solidFill>
                  <a:srgbClr val="292929"/>
                </a:solidFill>
                <a:latin typeface="Calibri"/>
                <a:cs typeface="Calibri"/>
              </a:rPr>
              <a:t> </a:t>
            </a:r>
            <a:r>
              <a:rPr sz="1800" dirty="0">
                <a:solidFill>
                  <a:srgbClr val="292929"/>
                </a:solidFill>
                <a:latin typeface="Calibri"/>
                <a:cs typeface="Calibri"/>
              </a:rPr>
              <a:t>manage</a:t>
            </a:r>
            <a:r>
              <a:rPr sz="1800" spc="-35" dirty="0">
                <a:solidFill>
                  <a:srgbClr val="292929"/>
                </a:solidFill>
                <a:latin typeface="Calibri"/>
                <a:cs typeface="Calibri"/>
              </a:rPr>
              <a:t> </a:t>
            </a:r>
            <a:r>
              <a:rPr sz="1800" dirty="0">
                <a:solidFill>
                  <a:srgbClr val="292929"/>
                </a:solidFill>
                <a:latin typeface="Calibri"/>
                <a:cs typeface="Calibri"/>
              </a:rPr>
              <a:t>a</a:t>
            </a:r>
            <a:r>
              <a:rPr sz="1800" spc="-5" dirty="0">
                <a:solidFill>
                  <a:srgbClr val="292929"/>
                </a:solidFill>
                <a:latin typeface="Calibri"/>
                <a:cs typeface="Calibri"/>
              </a:rPr>
              <a:t> </a:t>
            </a:r>
            <a:r>
              <a:rPr sz="1800" dirty="0">
                <a:solidFill>
                  <a:srgbClr val="292929"/>
                </a:solidFill>
                <a:latin typeface="Calibri"/>
                <a:cs typeface="Calibri"/>
              </a:rPr>
              <a:t>large</a:t>
            </a:r>
            <a:r>
              <a:rPr sz="1800" spc="-35" dirty="0">
                <a:solidFill>
                  <a:srgbClr val="292929"/>
                </a:solidFill>
                <a:latin typeface="Calibri"/>
                <a:cs typeface="Calibri"/>
              </a:rPr>
              <a:t> </a:t>
            </a:r>
            <a:r>
              <a:rPr sz="1800" dirty="0">
                <a:solidFill>
                  <a:srgbClr val="292929"/>
                </a:solidFill>
                <a:latin typeface="Calibri"/>
                <a:cs typeface="Calibri"/>
              </a:rPr>
              <a:t>number</a:t>
            </a:r>
            <a:r>
              <a:rPr sz="1800" spc="10" dirty="0">
                <a:solidFill>
                  <a:srgbClr val="292929"/>
                </a:solidFill>
                <a:latin typeface="Calibri"/>
                <a:cs typeface="Calibri"/>
              </a:rPr>
              <a:t> </a:t>
            </a:r>
            <a:r>
              <a:rPr sz="1800" dirty="0">
                <a:solidFill>
                  <a:srgbClr val="292929"/>
                </a:solidFill>
                <a:latin typeface="Calibri"/>
                <a:cs typeface="Calibri"/>
              </a:rPr>
              <a:t>of</a:t>
            </a:r>
            <a:r>
              <a:rPr sz="1800" spc="10" dirty="0">
                <a:solidFill>
                  <a:srgbClr val="292929"/>
                </a:solidFill>
                <a:latin typeface="Calibri"/>
                <a:cs typeface="Calibri"/>
              </a:rPr>
              <a:t> </a:t>
            </a:r>
            <a:r>
              <a:rPr sz="1800" spc="-20" dirty="0">
                <a:solidFill>
                  <a:srgbClr val="292929"/>
                </a:solidFill>
                <a:latin typeface="Calibri"/>
                <a:cs typeface="Calibri"/>
              </a:rPr>
              <a:t>markers</a:t>
            </a:r>
            <a:r>
              <a:rPr sz="1800" spc="-70" dirty="0">
                <a:solidFill>
                  <a:srgbClr val="292929"/>
                </a:solidFill>
                <a:latin typeface="Calibri"/>
                <a:cs typeface="Calibri"/>
              </a:rPr>
              <a:t> </a:t>
            </a:r>
            <a:r>
              <a:rPr sz="1800" dirty="0">
                <a:solidFill>
                  <a:srgbClr val="292929"/>
                </a:solidFill>
                <a:latin typeface="Calibri"/>
                <a:cs typeface="Calibri"/>
              </a:rPr>
              <a:t>and</a:t>
            </a:r>
            <a:r>
              <a:rPr sz="1800" spc="-15" dirty="0">
                <a:solidFill>
                  <a:srgbClr val="292929"/>
                </a:solidFill>
                <a:latin typeface="Calibri"/>
                <a:cs typeface="Calibri"/>
              </a:rPr>
              <a:t> </a:t>
            </a:r>
            <a:r>
              <a:rPr sz="1800" spc="-10" dirty="0">
                <a:solidFill>
                  <a:srgbClr val="292929"/>
                </a:solidFill>
                <a:latin typeface="Calibri"/>
                <a:cs typeface="Calibri"/>
              </a:rPr>
              <a:t>observe patterns</a:t>
            </a:r>
            <a:r>
              <a:rPr sz="1800" spc="-25" dirty="0">
                <a:solidFill>
                  <a:srgbClr val="292929"/>
                </a:solidFill>
                <a:latin typeface="Calibri"/>
                <a:cs typeface="Calibri"/>
              </a:rPr>
              <a:t> </a:t>
            </a:r>
            <a:r>
              <a:rPr sz="1800" dirty="0">
                <a:solidFill>
                  <a:srgbClr val="292929"/>
                </a:solidFill>
                <a:latin typeface="Calibri"/>
                <a:cs typeface="Calibri"/>
              </a:rPr>
              <a:t>that</a:t>
            </a:r>
            <a:r>
              <a:rPr sz="1800" spc="-5" dirty="0">
                <a:solidFill>
                  <a:srgbClr val="292929"/>
                </a:solidFill>
                <a:latin typeface="Calibri"/>
                <a:cs typeface="Calibri"/>
              </a:rPr>
              <a:t> </a:t>
            </a:r>
            <a:r>
              <a:rPr sz="1800" dirty="0">
                <a:solidFill>
                  <a:srgbClr val="292929"/>
                </a:solidFill>
                <a:latin typeface="Calibri"/>
                <a:cs typeface="Calibri"/>
              </a:rPr>
              <a:t>might be hidden</a:t>
            </a:r>
            <a:r>
              <a:rPr sz="1800" spc="-35" dirty="0">
                <a:solidFill>
                  <a:srgbClr val="292929"/>
                </a:solidFill>
                <a:latin typeface="Calibri"/>
                <a:cs typeface="Calibri"/>
              </a:rPr>
              <a:t> </a:t>
            </a:r>
            <a:r>
              <a:rPr sz="1800" dirty="0">
                <a:solidFill>
                  <a:srgbClr val="292929"/>
                </a:solidFill>
                <a:latin typeface="Calibri"/>
                <a:cs typeface="Calibri"/>
              </a:rPr>
              <a:t>in</a:t>
            </a:r>
            <a:r>
              <a:rPr sz="1800" spc="-45" dirty="0">
                <a:solidFill>
                  <a:srgbClr val="292929"/>
                </a:solidFill>
                <a:latin typeface="Calibri"/>
                <a:cs typeface="Calibri"/>
              </a:rPr>
              <a:t> </a:t>
            </a:r>
            <a:r>
              <a:rPr sz="1800" dirty="0">
                <a:solidFill>
                  <a:srgbClr val="292929"/>
                </a:solidFill>
                <a:latin typeface="Calibri"/>
                <a:cs typeface="Calibri"/>
              </a:rPr>
              <a:t>a</a:t>
            </a:r>
            <a:r>
              <a:rPr sz="1800" spc="-35" dirty="0">
                <a:solidFill>
                  <a:srgbClr val="292929"/>
                </a:solidFill>
                <a:latin typeface="Calibri"/>
                <a:cs typeface="Calibri"/>
              </a:rPr>
              <a:t> </a:t>
            </a:r>
            <a:r>
              <a:rPr sz="1800" dirty="0">
                <a:solidFill>
                  <a:srgbClr val="292929"/>
                </a:solidFill>
                <a:latin typeface="Calibri"/>
                <a:cs typeface="Calibri"/>
              </a:rPr>
              <a:t>less</a:t>
            </a:r>
            <a:r>
              <a:rPr sz="1800" spc="-25" dirty="0">
                <a:solidFill>
                  <a:srgbClr val="292929"/>
                </a:solidFill>
                <a:latin typeface="Calibri"/>
                <a:cs typeface="Calibri"/>
              </a:rPr>
              <a:t> </a:t>
            </a:r>
            <a:r>
              <a:rPr sz="1800" spc="-10" dirty="0">
                <a:solidFill>
                  <a:srgbClr val="292929"/>
                </a:solidFill>
                <a:latin typeface="Calibri"/>
                <a:cs typeface="Calibri"/>
              </a:rPr>
              <a:t>organized </a:t>
            </a:r>
            <a:r>
              <a:rPr sz="1800" dirty="0">
                <a:solidFill>
                  <a:srgbClr val="292929"/>
                </a:solidFill>
                <a:latin typeface="Calibri"/>
                <a:cs typeface="Calibri"/>
              </a:rPr>
              <a:t>plot.</a:t>
            </a:r>
            <a:r>
              <a:rPr sz="1800" spc="-70" dirty="0">
                <a:solidFill>
                  <a:srgbClr val="292929"/>
                </a:solidFill>
                <a:latin typeface="Calibri"/>
                <a:cs typeface="Calibri"/>
              </a:rPr>
              <a:t> </a:t>
            </a:r>
            <a:r>
              <a:rPr sz="1800" dirty="0">
                <a:solidFill>
                  <a:srgbClr val="292929"/>
                </a:solidFill>
                <a:latin typeface="Calibri"/>
                <a:cs typeface="Calibri"/>
              </a:rPr>
              <a:t>By</a:t>
            </a:r>
            <a:r>
              <a:rPr sz="1800" spc="-55" dirty="0">
                <a:solidFill>
                  <a:srgbClr val="292929"/>
                </a:solidFill>
                <a:latin typeface="Calibri"/>
                <a:cs typeface="Calibri"/>
              </a:rPr>
              <a:t> </a:t>
            </a:r>
            <a:r>
              <a:rPr sz="1800" dirty="0">
                <a:solidFill>
                  <a:srgbClr val="292929"/>
                </a:solidFill>
                <a:latin typeface="Calibri"/>
                <a:cs typeface="Calibri"/>
              </a:rPr>
              <a:t>examining</a:t>
            </a:r>
            <a:r>
              <a:rPr sz="1800" spc="-15" dirty="0">
                <a:solidFill>
                  <a:srgbClr val="292929"/>
                </a:solidFill>
                <a:latin typeface="Calibri"/>
                <a:cs typeface="Calibri"/>
              </a:rPr>
              <a:t> </a:t>
            </a:r>
            <a:r>
              <a:rPr sz="1800" dirty="0">
                <a:solidFill>
                  <a:srgbClr val="292929"/>
                </a:solidFill>
                <a:latin typeface="Calibri"/>
                <a:cs typeface="Calibri"/>
              </a:rPr>
              <a:t>the</a:t>
            </a:r>
            <a:r>
              <a:rPr sz="1800" spc="5" dirty="0">
                <a:solidFill>
                  <a:srgbClr val="292929"/>
                </a:solidFill>
                <a:latin typeface="Calibri"/>
                <a:cs typeface="Calibri"/>
              </a:rPr>
              <a:t> </a:t>
            </a:r>
            <a:r>
              <a:rPr sz="1800" dirty="0">
                <a:solidFill>
                  <a:srgbClr val="292929"/>
                </a:solidFill>
                <a:latin typeface="Calibri"/>
                <a:cs typeface="Calibri"/>
              </a:rPr>
              <a:t>marker</a:t>
            </a:r>
            <a:r>
              <a:rPr sz="1800" spc="-15" dirty="0">
                <a:solidFill>
                  <a:srgbClr val="292929"/>
                </a:solidFill>
                <a:latin typeface="Calibri"/>
                <a:cs typeface="Calibri"/>
              </a:rPr>
              <a:t> </a:t>
            </a:r>
            <a:r>
              <a:rPr sz="1800" spc="-10" dirty="0">
                <a:solidFill>
                  <a:srgbClr val="292929"/>
                </a:solidFill>
                <a:latin typeface="Calibri"/>
                <a:cs typeface="Calibri"/>
              </a:rPr>
              <a:t>colors</a:t>
            </a:r>
            <a:r>
              <a:rPr sz="1800" spc="-90" dirty="0">
                <a:solidFill>
                  <a:srgbClr val="292929"/>
                </a:solidFill>
                <a:latin typeface="Calibri"/>
                <a:cs typeface="Calibri"/>
              </a:rPr>
              <a:t> </a:t>
            </a:r>
            <a:r>
              <a:rPr sz="1800" dirty="0">
                <a:solidFill>
                  <a:srgbClr val="292929"/>
                </a:solidFill>
                <a:latin typeface="Calibri"/>
                <a:cs typeface="Calibri"/>
              </a:rPr>
              <a:t>and</a:t>
            </a:r>
            <a:r>
              <a:rPr sz="1800" spc="-40" dirty="0">
                <a:solidFill>
                  <a:srgbClr val="292929"/>
                </a:solidFill>
                <a:latin typeface="Calibri"/>
                <a:cs typeface="Calibri"/>
              </a:rPr>
              <a:t> </a:t>
            </a:r>
            <a:r>
              <a:rPr sz="1800" spc="-10" dirty="0">
                <a:solidFill>
                  <a:srgbClr val="292929"/>
                </a:solidFill>
                <a:latin typeface="Calibri"/>
                <a:cs typeface="Calibri"/>
              </a:rPr>
              <a:t>popup </a:t>
            </a:r>
            <a:r>
              <a:rPr sz="1800" dirty="0">
                <a:solidFill>
                  <a:srgbClr val="292929"/>
                </a:solidFill>
                <a:latin typeface="Calibri"/>
                <a:cs typeface="Calibri"/>
              </a:rPr>
              <a:t>information,</a:t>
            </a:r>
            <a:r>
              <a:rPr sz="1800" spc="-45" dirty="0">
                <a:solidFill>
                  <a:srgbClr val="292929"/>
                </a:solidFill>
                <a:latin typeface="Calibri"/>
                <a:cs typeface="Calibri"/>
              </a:rPr>
              <a:t> </a:t>
            </a:r>
            <a:r>
              <a:rPr sz="1800" dirty="0">
                <a:solidFill>
                  <a:srgbClr val="292929"/>
                </a:solidFill>
                <a:latin typeface="Calibri"/>
                <a:cs typeface="Calibri"/>
              </a:rPr>
              <a:t>you</a:t>
            </a:r>
            <a:r>
              <a:rPr sz="1800" spc="-60" dirty="0">
                <a:solidFill>
                  <a:srgbClr val="292929"/>
                </a:solidFill>
                <a:latin typeface="Calibri"/>
                <a:cs typeface="Calibri"/>
              </a:rPr>
              <a:t> </a:t>
            </a:r>
            <a:r>
              <a:rPr sz="1800" dirty="0">
                <a:solidFill>
                  <a:srgbClr val="292929"/>
                </a:solidFill>
                <a:latin typeface="Calibri"/>
                <a:cs typeface="Calibri"/>
              </a:rPr>
              <a:t>can</a:t>
            </a:r>
            <a:r>
              <a:rPr sz="1800" spc="5" dirty="0">
                <a:solidFill>
                  <a:srgbClr val="292929"/>
                </a:solidFill>
                <a:latin typeface="Calibri"/>
                <a:cs typeface="Calibri"/>
              </a:rPr>
              <a:t> </a:t>
            </a:r>
            <a:r>
              <a:rPr sz="1800" dirty="0">
                <a:solidFill>
                  <a:srgbClr val="292929"/>
                </a:solidFill>
                <a:latin typeface="Calibri"/>
                <a:cs typeface="Calibri"/>
              </a:rPr>
              <a:t>gain</a:t>
            </a:r>
            <a:r>
              <a:rPr sz="1800" spc="-65" dirty="0">
                <a:solidFill>
                  <a:srgbClr val="292929"/>
                </a:solidFill>
                <a:latin typeface="Calibri"/>
                <a:cs typeface="Calibri"/>
              </a:rPr>
              <a:t> </a:t>
            </a:r>
            <a:r>
              <a:rPr sz="1800" dirty="0">
                <a:solidFill>
                  <a:srgbClr val="292929"/>
                </a:solidFill>
                <a:latin typeface="Calibri"/>
                <a:cs typeface="Calibri"/>
              </a:rPr>
              <a:t>deeper</a:t>
            </a:r>
            <a:r>
              <a:rPr sz="1800" spc="-40" dirty="0">
                <a:solidFill>
                  <a:srgbClr val="292929"/>
                </a:solidFill>
                <a:latin typeface="Calibri"/>
                <a:cs typeface="Calibri"/>
              </a:rPr>
              <a:t> </a:t>
            </a:r>
            <a:r>
              <a:rPr sz="1800" spc="-10" dirty="0">
                <a:solidFill>
                  <a:srgbClr val="292929"/>
                </a:solidFill>
                <a:latin typeface="Calibri"/>
                <a:cs typeface="Calibri"/>
              </a:rPr>
              <a:t>insights</a:t>
            </a:r>
            <a:r>
              <a:rPr sz="1800" spc="-95" dirty="0">
                <a:solidFill>
                  <a:srgbClr val="292929"/>
                </a:solidFill>
                <a:latin typeface="Calibri"/>
                <a:cs typeface="Calibri"/>
              </a:rPr>
              <a:t> </a:t>
            </a:r>
            <a:r>
              <a:rPr sz="1800" dirty="0">
                <a:solidFill>
                  <a:srgbClr val="292929"/>
                </a:solidFill>
                <a:latin typeface="Calibri"/>
                <a:cs typeface="Calibri"/>
              </a:rPr>
              <a:t>into</a:t>
            </a:r>
            <a:r>
              <a:rPr sz="1800" spc="-65" dirty="0">
                <a:solidFill>
                  <a:srgbClr val="292929"/>
                </a:solidFill>
                <a:latin typeface="Calibri"/>
                <a:cs typeface="Calibri"/>
              </a:rPr>
              <a:t> </a:t>
            </a:r>
            <a:r>
              <a:rPr sz="1800" spc="-25" dirty="0">
                <a:solidFill>
                  <a:srgbClr val="292929"/>
                </a:solidFill>
                <a:latin typeface="Calibri"/>
                <a:cs typeface="Calibri"/>
              </a:rPr>
              <a:t>the </a:t>
            </a:r>
            <a:r>
              <a:rPr sz="1800" spc="-10" dirty="0">
                <a:solidFill>
                  <a:srgbClr val="292929"/>
                </a:solidFill>
                <a:latin typeface="Calibri"/>
                <a:cs typeface="Calibri"/>
              </a:rPr>
              <a:t>characteristics</a:t>
            </a:r>
            <a:r>
              <a:rPr sz="1800" spc="-15" dirty="0">
                <a:solidFill>
                  <a:srgbClr val="292929"/>
                </a:solidFill>
                <a:latin typeface="Calibri"/>
                <a:cs typeface="Calibri"/>
              </a:rPr>
              <a:t> </a:t>
            </a:r>
            <a:r>
              <a:rPr sz="1800" dirty="0">
                <a:solidFill>
                  <a:srgbClr val="292929"/>
                </a:solidFill>
                <a:latin typeface="Calibri"/>
                <a:cs typeface="Calibri"/>
              </a:rPr>
              <a:t>and</a:t>
            </a:r>
            <a:r>
              <a:rPr sz="1800" spc="-35" dirty="0">
                <a:solidFill>
                  <a:srgbClr val="292929"/>
                </a:solidFill>
                <a:latin typeface="Calibri"/>
                <a:cs typeface="Calibri"/>
              </a:rPr>
              <a:t> </a:t>
            </a:r>
            <a:r>
              <a:rPr sz="1800" dirty="0">
                <a:solidFill>
                  <a:srgbClr val="292929"/>
                </a:solidFill>
                <a:latin typeface="Calibri"/>
                <a:cs typeface="Calibri"/>
              </a:rPr>
              <a:t>distribution</a:t>
            </a:r>
            <a:r>
              <a:rPr sz="1800" spc="-30" dirty="0">
                <a:solidFill>
                  <a:srgbClr val="292929"/>
                </a:solidFill>
                <a:latin typeface="Calibri"/>
                <a:cs typeface="Calibri"/>
              </a:rPr>
              <a:t> </a:t>
            </a:r>
            <a:r>
              <a:rPr sz="1800" dirty="0">
                <a:solidFill>
                  <a:srgbClr val="292929"/>
                </a:solidFill>
                <a:latin typeface="Calibri"/>
                <a:cs typeface="Calibri"/>
              </a:rPr>
              <a:t>of</a:t>
            </a:r>
            <a:r>
              <a:rPr sz="1800" spc="-10" dirty="0">
                <a:solidFill>
                  <a:srgbClr val="292929"/>
                </a:solidFill>
                <a:latin typeface="Calibri"/>
                <a:cs typeface="Calibri"/>
              </a:rPr>
              <a:t> SpaceX</a:t>
            </a:r>
            <a:r>
              <a:rPr sz="1800" spc="500" dirty="0">
                <a:solidFill>
                  <a:srgbClr val="292929"/>
                </a:solidFill>
                <a:latin typeface="Calibri"/>
                <a:cs typeface="Calibri"/>
              </a:rPr>
              <a:t> </a:t>
            </a:r>
            <a:r>
              <a:rPr sz="1800" spc="-10" dirty="0">
                <a:solidFill>
                  <a:srgbClr val="292929"/>
                </a:solidFill>
                <a:latin typeface="Calibri"/>
                <a:cs typeface="Calibri"/>
              </a:rPr>
              <a:t>launches.</a:t>
            </a:r>
            <a:endParaRPr sz="1800">
              <a:latin typeface="Calibri"/>
              <a:cs typeface="Calibri"/>
            </a:endParaRPr>
          </a:p>
          <a:p>
            <a:pPr marL="241300" marR="5080" indent="-229235">
              <a:lnSpc>
                <a:spcPct val="90000"/>
              </a:lnSpc>
              <a:spcBef>
                <a:spcPts val="990"/>
              </a:spcBef>
              <a:buFont typeface="Arial MT"/>
              <a:buChar char="•"/>
              <a:tabLst>
                <a:tab pos="241300" algn="l"/>
              </a:tabLst>
            </a:pPr>
            <a:r>
              <a:rPr sz="1800" dirty="0">
                <a:solidFill>
                  <a:srgbClr val="292929"/>
                </a:solidFill>
                <a:latin typeface="Calibri"/>
                <a:cs typeface="Calibri"/>
              </a:rPr>
              <a:t>For</a:t>
            </a:r>
            <a:r>
              <a:rPr sz="1800" spc="-30" dirty="0">
                <a:solidFill>
                  <a:srgbClr val="292929"/>
                </a:solidFill>
                <a:latin typeface="Calibri"/>
                <a:cs typeface="Calibri"/>
              </a:rPr>
              <a:t> </a:t>
            </a:r>
            <a:r>
              <a:rPr sz="1800" dirty="0">
                <a:solidFill>
                  <a:srgbClr val="292929"/>
                </a:solidFill>
                <a:latin typeface="Calibri"/>
                <a:cs typeface="Calibri"/>
              </a:rPr>
              <a:t>example,</a:t>
            </a:r>
            <a:r>
              <a:rPr sz="1800" spc="-65" dirty="0">
                <a:solidFill>
                  <a:srgbClr val="292929"/>
                </a:solidFill>
                <a:latin typeface="Calibri"/>
                <a:cs typeface="Calibri"/>
              </a:rPr>
              <a:t> </a:t>
            </a:r>
            <a:r>
              <a:rPr sz="1800" dirty="0">
                <a:solidFill>
                  <a:srgbClr val="292929"/>
                </a:solidFill>
                <a:latin typeface="Calibri"/>
                <a:cs typeface="Calibri"/>
              </a:rPr>
              <a:t>in</a:t>
            </a:r>
            <a:r>
              <a:rPr sz="1800" spc="-50" dirty="0">
                <a:solidFill>
                  <a:srgbClr val="292929"/>
                </a:solidFill>
                <a:latin typeface="Calibri"/>
                <a:cs typeface="Calibri"/>
              </a:rPr>
              <a:t> </a:t>
            </a:r>
            <a:r>
              <a:rPr sz="1800" dirty="0">
                <a:solidFill>
                  <a:srgbClr val="292929"/>
                </a:solidFill>
                <a:latin typeface="Calibri"/>
                <a:cs typeface="Calibri"/>
              </a:rPr>
              <a:t>the </a:t>
            </a:r>
            <a:r>
              <a:rPr sz="1800" spc="-10" dirty="0">
                <a:solidFill>
                  <a:srgbClr val="292929"/>
                </a:solidFill>
                <a:latin typeface="Calibri"/>
                <a:cs typeface="Calibri"/>
              </a:rPr>
              <a:t>provided</a:t>
            </a:r>
            <a:r>
              <a:rPr sz="1800" spc="-40" dirty="0">
                <a:solidFill>
                  <a:srgbClr val="292929"/>
                </a:solidFill>
                <a:latin typeface="Calibri"/>
                <a:cs typeface="Calibri"/>
              </a:rPr>
              <a:t> </a:t>
            </a:r>
            <a:r>
              <a:rPr sz="1800" dirty="0">
                <a:solidFill>
                  <a:srgbClr val="292929"/>
                </a:solidFill>
                <a:latin typeface="Calibri"/>
                <a:cs typeface="Calibri"/>
              </a:rPr>
              <a:t>screenshot,</a:t>
            </a:r>
            <a:r>
              <a:rPr sz="1800" spc="-5" dirty="0">
                <a:solidFill>
                  <a:srgbClr val="292929"/>
                </a:solidFill>
                <a:latin typeface="Calibri"/>
                <a:cs typeface="Calibri"/>
              </a:rPr>
              <a:t> </a:t>
            </a:r>
            <a:r>
              <a:rPr sz="1800" dirty="0">
                <a:solidFill>
                  <a:srgbClr val="292929"/>
                </a:solidFill>
                <a:latin typeface="Calibri"/>
                <a:cs typeface="Calibri"/>
              </a:rPr>
              <a:t>out</a:t>
            </a:r>
            <a:r>
              <a:rPr sz="1800" spc="-75" dirty="0">
                <a:solidFill>
                  <a:srgbClr val="292929"/>
                </a:solidFill>
                <a:latin typeface="Calibri"/>
                <a:cs typeface="Calibri"/>
              </a:rPr>
              <a:t> </a:t>
            </a:r>
            <a:r>
              <a:rPr sz="1800" dirty="0">
                <a:solidFill>
                  <a:srgbClr val="292929"/>
                </a:solidFill>
                <a:latin typeface="Calibri"/>
                <a:cs typeface="Calibri"/>
              </a:rPr>
              <a:t>of</a:t>
            </a:r>
            <a:r>
              <a:rPr sz="1800" spc="-25" dirty="0">
                <a:solidFill>
                  <a:srgbClr val="292929"/>
                </a:solidFill>
                <a:latin typeface="Calibri"/>
                <a:cs typeface="Calibri"/>
              </a:rPr>
              <a:t> 26 </a:t>
            </a:r>
            <a:r>
              <a:rPr sz="1800" dirty="0">
                <a:solidFill>
                  <a:srgbClr val="292929"/>
                </a:solidFill>
                <a:latin typeface="Calibri"/>
                <a:cs typeface="Calibri"/>
              </a:rPr>
              <a:t>launch</a:t>
            </a:r>
            <a:r>
              <a:rPr sz="1800" spc="-35" dirty="0">
                <a:solidFill>
                  <a:srgbClr val="292929"/>
                </a:solidFill>
                <a:latin typeface="Calibri"/>
                <a:cs typeface="Calibri"/>
              </a:rPr>
              <a:t> </a:t>
            </a:r>
            <a:r>
              <a:rPr sz="1800" dirty="0">
                <a:solidFill>
                  <a:srgbClr val="292929"/>
                </a:solidFill>
                <a:latin typeface="Calibri"/>
                <a:cs typeface="Calibri"/>
              </a:rPr>
              <a:t>sites</a:t>
            </a:r>
            <a:r>
              <a:rPr sz="1800" spc="-15" dirty="0">
                <a:solidFill>
                  <a:srgbClr val="292929"/>
                </a:solidFill>
                <a:latin typeface="Calibri"/>
                <a:cs typeface="Calibri"/>
              </a:rPr>
              <a:t> </a:t>
            </a:r>
            <a:r>
              <a:rPr sz="1800" dirty="0">
                <a:solidFill>
                  <a:srgbClr val="292929"/>
                </a:solidFill>
                <a:latin typeface="Calibri"/>
                <a:cs typeface="Calibri"/>
              </a:rPr>
              <a:t>for</a:t>
            </a:r>
            <a:r>
              <a:rPr sz="1800" spc="-85" dirty="0">
                <a:solidFill>
                  <a:srgbClr val="292929"/>
                </a:solidFill>
                <a:latin typeface="Calibri"/>
                <a:cs typeface="Calibri"/>
              </a:rPr>
              <a:t> </a:t>
            </a:r>
            <a:r>
              <a:rPr sz="1800" dirty="0">
                <a:solidFill>
                  <a:srgbClr val="292929"/>
                </a:solidFill>
                <a:latin typeface="Calibri"/>
                <a:cs typeface="Calibri"/>
              </a:rPr>
              <a:t>CCAFS</a:t>
            </a:r>
            <a:r>
              <a:rPr sz="1800" spc="-60" dirty="0">
                <a:solidFill>
                  <a:srgbClr val="292929"/>
                </a:solidFill>
                <a:latin typeface="Calibri"/>
                <a:cs typeface="Calibri"/>
              </a:rPr>
              <a:t> </a:t>
            </a:r>
            <a:r>
              <a:rPr sz="1800" dirty="0">
                <a:solidFill>
                  <a:srgbClr val="292929"/>
                </a:solidFill>
                <a:latin typeface="Calibri"/>
                <a:cs typeface="Calibri"/>
              </a:rPr>
              <a:t>LC-40,</a:t>
            </a:r>
            <a:r>
              <a:rPr sz="1800" spc="15" dirty="0">
                <a:solidFill>
                  <a:srgbClr val="292929"/>
                </a:solidFill>
                <a:latin typeface="Calibri"/>
                <a:cs typeface="Calibri"/>
              </a:rPr>
              <a:t> </a:t>
            </a:r>
            <a:r>
              <a:rPr sz="1800" dirty="0">
                <a:solidFill>
                  <a:srgbClr val="292929"/>
                </a:solidFill>
                <a:latin typeface="Calibri"/>
                <a:cs typeface="Calibri"/>
              </a:rPr>
              <a:t>there</a:t>
            </a:r>
            <a:r>
              <a:rPr sz="1800" spc="-50" dirty="0">
                <a:solidFill>
                  <a:srgbClr val="292929"/>
                </a:solidFill>
                <a:latin typeface="Calibri"/>
                <a:cs typeface="Calibri"/>
              </a:rPr>
              <a:t> </a:t>
            </a:r>
            <a:r>
              <a:rPr sz="1800" dirty="0">
                <a:solidFill>
                  <a:srgbClr val="292929"/>
                </a:solidFill>
                <a:latin typeface="Calibri"/>
                <a:cs typeface="Calibri"/>
              </a:rPr>
              <a:t>are</a:t>
            </a:r>
            <a:r>
              <a:rPr sz="1800" spc="-55" dirty="0">
                <a:solidFill>
                  <a:srgbClr val="292929"/>
                </a:solidFill>
                <a:latin typeface="Calibri"/>
                <a:cs typeface="Calibri"/>
              </a:rPr>
              <a:t> </a:t>
            </a:r>
            <a:r>
              <a:rPr sz="1800" dirty="0">
                <a:solidFill>
                  <a:srgbClr val="292929"/>
                </a:solidFill>
                <a:latin typeface="Calibri"/>
                <a:cs typeface="Calibri"/>
              </a:rPr>
              <a:t>19 </a:t>
            </a:r>
            <a:r>
              <a:rPr sz="1800" spc="-25" dirty="0">
                <a:solidFill>
                  <a:srgbClr val="292929"/>
                </a:solidFill>
                <a:latin typeface="Calibri"/>
                <a:cs typeface="Calibri"/>
              </a:rPr>
              <a:t>red </a:t>
            </a:r>
            <a:r>
              <a:rPr sz="1800" spc="-10" dirty="0">
                <a:solidFill>
                  <a:srgbClr val="292929"/>
                </a:solidFill>
                <a:latin typeface="Calibri"/>
                <a:cs typeface="Calibri"/>
              </a:rPr>
              <a:t>markers</a:t>
            </a:r>
            <a:r>
              <a:rPr sz="1800" spc="-5" dirty="0">
                <a:solidFill>
                  <a:srgbClr val="292929"/>
                </a:solidFill>
                <a:latin typeface="Calibri"/>
                <a:cs typeface="Calibri"/>
              </a:rPr>
              <a:t> </a:t>
            </a:r>
            <a:r>
              <a:rPr sz="1800" dirty="0">
                <a:solidFill>
                  <a:srgbClr val="292929"/>
                </a:solidFill>
                <a:latin typeface="Calibri"/>
                <a:cs typeface="Calibri"/>
              </a:rPr>
              <a:t>and</a:t>
            </a:r>
            <a:r>
              <a:rPr sz="1800" spc="-25" dirty="0">
                <a:solidFill>
                  <a:srgbClr val="292929"/>
                </a:solidFill>
                <a:latin typeface="Calibri"/>
                <a:cs typeface="Calibri"/>
              </a:rPr>
              <a:t> </a:t>
            </a:r>
            <a:r>
              <a:rPr sz="1800" dirty="0">
                <a:solidFill>
                  <a:srgbClr val="292929"/>
                </a:solidFill>
                <a:latin typeface="Calibri"/>
                <a:cs typeface="Calibri"/>
              </a:rPr>
              <a:t>7</a:t>
            </a:r>
            <a:r>
              <a:rPr sz="1800" spc="10" dirty="0">
                <a:solidFill>
                  <a:srgbClr val="292929"/>
                </a:solidFill>
                <a:latin typeface="Calibri"/>
                <a:cs typeface="Calibri"/>
              </a:rPr>
              <a:t> </a:t>
            </a:r>
            <a:r>
              <a:rPr sz="1800" spc="-10" dirty="0">
                <a:solidFill>
                  <a:srgbClr val="292929"/>
                </a:solidFill>
                <a:latin typeface="Calibri"/>
                <a:cs typeface="Calibri"/>
              </a:rPr>
              <a:t>green</a:t>
            </a:r>
            <a:r>
              <a:rPr sz="1800" spc="-20" dirty="0">
                <a:solidFill>
                  <a:srgbClr val="292929"/>
                </a:solidFill>
                <a:latin typeface="Calibri"/>
                <a:cs typeface="Calibri"/>
              </a:rPr>
              <a:t> </a:t>
            </a:r>
            <a:r>
              <a:rPr sz="1800" spc="-10" dirty="0">
                <a:solidFill>
                  <a:srgbClr val="292929"/>
                </a:solidFill>
                <a:latin typeface="Calibri"/>
                <a:cs typeface="Calibri"/>
              </a:rPr>
              <a:t>markers.</a:t>
            </a:r>
            <a:r>
              <a:rPr sz="1800" spc="-55" dirty="0">
                <a:solidFill>
                  <a:srgbClr val="292929"/>
                </a:solidFill>
                <a:latin typeface="Calibri"/>
                <a:cs typeface="Calibri"/>
              </a:rPr>
              <a:t> </a:t>
            </a:r>
            <a:r>
              <a:rPr sz="1800" dirty="0">
                <a:solidFill>
                  <a:srgbClr val="292929"/>
                </a:solidFill>
                <a:latin typeface="Calibri"/>
                <a:cs typeface="Calibri"/>
              </a:rPr>
              <a:t>This</a:t>
            </a:r>
            <a:r>
              <a:rPr sz="1800" spc="-5" dirty="0">
                <a:solidFill>
                  <a:srgbClr val="292929"/>
                </a:solidFill>
                <a:latin typeface="Calibri"/>
                <a:cs typeface="Calibri"/>
              </a:rPr>
              <a:t> </a:t>
            </a:r>
            <a:r>
              <a:rPr sz="1800" spc="-10" dirty="0">
                <a:solidFill>
                  <a:srgbClr val="292929"/>
                </a:solidFill>
                <a:latin typeface="Calibri"/>
                <a:cs typeface="Calibri"/>
              </a:rPr>
              <a:t>color-coding </a:t>
            </a:r>
            <a:r>
              <a:rPr sz="1800" dirty="0">
                <a:solidFill>
                  <a:srgbClr val="292929"/>
                </a:solidFill>
                <a:latin typeface="Calibri"/>
                <a:cs typeface="Calibri"/>
              </a:rPr>
              <a:t>helps</a:t>
            </a:r>
            <a:r>
              <a:rPr sz="1800" spc="-20" dirty="0">
                <a:solidFill>
                  <a:srgbClr val="292929"/>
                </a:solidFill>
                <a:latin typeface="Calibri"/>
                <a:cs typeface="Calibri"/>
              </a:rPr>
              <a:t> </a:t>
            </a:r>
            <a:r>
              <a:rPr sz="1800" dirty="0">
                <a:solidFill>
                  <a:srgbClr val="292929"/>
                </a:solidFill>
                <a:latin typeface="Calibri"/>
                <a:cs typeface="Calibri"/>
              </a:rPr>
              <a:t>to</a:t>
            </a:r>
            <a:r>
              <a:rPr sz="1800" spc="-35" dirty="0">
                <a:solidFill>
                  <a:srgbClr val="292929"/>
                </a:solidFill>
                <a:latin typeface="Calibri"/>
                <a:cs typeface="Calibri"/>
              </a:rPr>
              <a:t> </a:t>
            </a:r>
            <a:r>
              <a:rPr sz="1800" dirty="0">
                <a:solidFill>
                  <a:srgbClr val="292929"/>
                </a:solidFill>
                <a:latin typeface="Calibri"/>
                <a:cs typeface="Calibri"/>
              </a:rPr>
              <a:t>quickly</a:t>
            </a:r>
            <a:r>
              <a:rPr sz="1800" spc="-50" dirty="0">
                <a:solidFill>
                  <a:srgbClr val="292929"/>
                </a:solidFill>
                <a:latin typeface="Calibri"/>
                <a:cs typeface="Calibri"/>
              </a:rPr>
              <a:t> </a:t>
            </a:r>
            <a:r>
              <a:rPr sz="1800" dirty="0">
                <a:solidFill>
                  <a:srgbClr val="292929"/>
                </a:solidFill>
                <a:latin typeface="Calibri"/>
                <a:cs typeface="Calibri"/>
              </a:rPr>
              <a:t>identify</a:t>
            </a:r>
            <a:r>
              <a:rPr sz="1800" spc="-55" dirty="0">
                <a:solidFill>
                  <a:srgbClr val="292929"/>
                </a:solidFill>
                <a:latin typeface="Calibri"/>
                <a:cs typeface="Calibri"/>
              </a:rPr>
              <a:t> </a:t>
            </a:r>
            <a:r>
              <a:rPr sz="1800" dirty="0">
                <a:solidFill>
                  <a:srgbClr val="292929"/>
                </a:solidFill>
                <a:latin typeface="Calibri"/>
                <a:cs typeface="Calibri"/>
              </a:rPr>
              <a:t>the</a:t>
            </a:r>
            <a:r>
              <a:rPr sz="1800" spc="-55" dirty="0">
                <a:solidFill>
                  <a:srgbClr val="292929"/>
                </a:solidFill>
                <a:latin typeface="Calibri"/>
                <a:cs typeface="Calibri"/>
              </a:rPr>
              <a:t> </a:t>
            </a:r>
            <a:r>
              <a:rPr sz="1800" dirty="0">
                <a:solidFill>
                  <a:srgbClr val="292929"/>
                </a:solidFill>
                <a:latin typeface="Calibri"/>
                <a:cs typeface="Calibri"/>
              </a:rPr>
              <a:t>success</a:t>
            </a:r>
            <a:r>
              <a:rPr sz="1800" spc="-15" dirty="0">
                <a:solidFill>
                  <a:srgbClr val="292929"/>
                </a:solidFill>
                <a:latin typeface="Calibri"/>
                <a:cs typeface="Calibri"/>
              </a:rPr>
              <a:t> </a:t>
            </a:r>
            <a:r>
              <a:rPr sz="1800" spc="-10" dirty="0">
                <a:solidFill>
                  <a:srgbClr val="292929"/>
                </a:solidFill>
                <a:latin typeface="Calibri"/>
                <a:cs typeface="Calibri"/>
              </a:rPr>
              <a:t>rate</a:t>
            </a:r>
            <a:r>
              <a:rPr sz="1800" spc="-60" dirty="0">
                <a:solidFill>
                  <a:srgbClr val="292929"/>
                </a:solidFill>
                <a:latin typeface="Calibri"/>
                <a:cs typeface="Calibri"/>
              </a:rPr>
              <a:t> </a:t>
            </a:r>
            <a:r>
              <a:rPr sz="1800" dirty="0">
                <a:solidFill>
                  <a:srgbClr val="292929"/>
                </a:solidFill>
                <a:latin typeface="Calibri"/>
                <a:cs typeface="Calibri"/>
              </a:rPr>
              <a:t>and</a:t>
            </a:r>
            <a:r>
              <a:rPr sz="1800" spc="-35" dirty="0">
                <a:solidFill>
                  <a:srgbClr val="292929"/>
                </a:solidFill>
                <a:latin typeface="Calibri"/>
                <a:cs typeface="Calibri"/>
              </a:rPr>
              <a:t> </a:t>
            </a:r>
            <a:r>
              <a:rPr sz="1800" spc="-10" dirty="0">
                <a:solidFill>
                  <a:srgbClr val="292929"/>
                </a:solidFill>
                <a:latin typeface="Calibri"/>
                <a:cs typeface="Calibri"/>
              </a:rPr>
              <a:t>other categorical</a:t>
            </a:r>
            <a:r>
              <a:rPr sz="1800" spc="-20" dirty="0">
                <a:solidFill>
                  <a:srgbClr val="292929"/>
                </a:solidFill>
                <a:latin typeface="Calibri"/>
                <a:cs typeface="Calibri"/>
              </a:rPr>
              <a:t> </a:t>
            </a:r>
            <a:r>
              <a:rPr sz="1800" spc="-10" dirty="0">
                <a:solidFill>
                  <a:srgbClr val="292929"/>
                </a:solidFill>
                <a:latin typeface="Calibri"/>
                <a:cs typeface="Calibri"/>
              </a:rPr>
              <a:t>distinctions</a:t>
            </a:r>
            <a:r>
              <a:rPr sz="1800" spc="-70" dirty="0">
                <a:solidFill>
                  <a:srgbClr val="292929"/>
                </a:solidFill>
                <a:latin typeface="Calibri"/>
                <a:cs typeface="Calibri"/>
              </a:rPr>
              <a:t> </a:t>
            </a:r>
            <a:r>
              <a:rPr sz="1800" dirty="0">
                <a:solidFill>
                  <a:srgbClr val="292929"/>
                </a:solidFill>
                <a:latin typeface="Calibri"/>
                <a:cs typeface="Calibri"/>
              </a:rPr>
              <a:t>of</a:t>
            </a:r>
            <a:r>
              <a:rPr sz="1800" spc="10" dirty="0">
                <a:solidFill>
                  <a:srgbClr val="292929"/>
                </a:solidFill>
                <a:latin typeface="Calibri"/>
                <a:cs typeface="Calibri"/>
              </a:rPr>
              <a:t> </a:t>
            </a:r>
            <a:r>
              <a:rPr sz="1800" dirty="0">
                <a:solidFill>
                  <a:srgbClr val="292929"/>
                </a:solidFill>
                <a:latin typeface="Calibri"/>
                <a:cs typeface="Calibri"/>
              </a:rPr>
              <a:t>the</a:t>
            </a:r>
            <a:r>
              <a:rPr sz="1800" spc="-40" dirty="0">
                <a:solidFill>
                  <a:srgbClr val="292929"/>
                </a:solidFill>
                <a:latin typeface="Calibri"/>
                <a:cs typeface="Calibri"/>
              </a:rPr>
              <a:t> </a:t>
            </a:r>
            <a:r>
              <a:rPr sz="1800" dirty="0">
                <a:solidFill>
                  <a:srgbClr val="292929"/>
                </a:solidFill>
                <a:latin typeface="Calibri"/>
                <a:cs typeface="Calibri"/>
              </a:rPr>
              <a:t>launches</a:t>
            </a:r>
            <a:r>
              <a:rPr sz="1800" spc="5" dirty="0">
                <a:solidFill>
                  <a:srgbClr val="292929"/>
                </a:solidFill>
                <a:latin typeface="Calibri"/>
                <a:cs typeface="Calibri"/>
              </a:rPr>
              <a:t> </a:t>
            </a:r>
            <a:r>
              <a:rPr sz="1800" dirty="0">
                <a:solidFill>
                  <a:srgbClr val="292929"/>
                </a:solidFill>
                <a:latin typeface="Calibri"/>
                <a:cs typeface="Calibri"/>
              </a:rPr>
              <a:t>from</a:t>
            </a:r>
            <a:r>
              <a:rPr sz="1800" spc="20" dirty="0">
                <a:solidFill>
                  <a:srgbClr val="292929"/>
                </a:solidFill>
                <a:latin typeface="Calibri"/>
                <a:cs typeface="Calibri"/>
              </a:rPr>
              <a:t> </a:t>
            </a:r>
            <a:r>
              <a:rPr sz="1800" spc="-20" dirty="0">
                <a:solidFill>
                  <a:srgbClr val="292929"/>
                </a:solidFill>
                <a:latin typeface="Calibri"/>
                <a:cs typeface="Calibri"/>
              </a:rPr>
              <a:t>this </a:t>
            </a:r>
            <a:r>
              <a:rPr sz="1800" dirty="0">
                <a:solidFill>
                  <a:srgbClr val="292929"/>
                </a:solidFill>
                <a:latin typeface="Calibri"/>
                <a:cs typeface="Calibri"/>
              </a:rPr>
              <a:t>specific</a:t>
            </a:r>
            <a:r>
              <a:rPr sz="1800" spc="-65" dirty="0">
                <a:solidFill>
                  <a:srgbClr val="292929"/>
                </a:solidFill>
                <a:latin typeface="Calibri"/>
                <a:cs typeface="Calibri"/>
              </a:rPr>
              <a:t> </a:t>
            </a:r>
            <a:r>
              <a:rPr sz="1800" dirty="0">
                <a:solidFill>
                  <a:srgbClr val="292929"/>
                </a:solidFill>
                <a:latin typeface="Calibri"/>
                <a:cs typeface="Calibri"/>
              </a:rPr>
              <a:t>site.</a:t>
            </a:r>
            <a:r>
              <a:rPr sz="1800" spc="-55" dirty="0">
                <a:solidFill>
                  <a:srgbClr val="292929"/>
                </a:solidFill>
                <a:latin typeface="Calibri"/>
                <a:cs typeface="Calibri"/>
              </a:rPr>
              <a:t> </a:t>
            </a:r>
            <a:r>
              <a:rPr sz="1800" dirty="0">
                <a:solidFill>
                  <a:srgbClr val="292929"/>
                </a:solidFill>
                <a:latin typeface="Calibri"/>
                <a:cs typeface="Calibri"/>
              </a:rPr>
              <a:t>The</a:t>
            </a:r>
            <a:r>
              <a:rPr sz="1800" spc="-50" dirty="0">
                <a:solidFill>
                  <a:srgbClr val="292929"/>
                </a:solidFill>
                <a:latin typeface="Calibri"/>
                <a:cs typeface="Calibri"/>
              </a:rPr>
              <a:t> </a:t>
            </a:r>
            <a:r>
              <a:rPr sz="1800" dirty="0">
                <a:solidFill>
                  <a:srgbClr val="292929"/>
                </a:solidFill>
                <a:latin typeface="Calibri"/>
                <a:cs typeface="Calibri"/>
              </a:rPr>
              <a:t>red</a:t>
            </a:r>
            <a:r>
              <a:rPr sz="1800" spc="-20" dirty="0">
                <a:solidFill>
                  <a:srgbClr val="292929"/>
                </a:solidFill>
                <a:latin typeface="Calibri"/>
                <a:cs typeface="Calibri"/>
              </a:rPr>
              <a:t> </a:t>
            </a:r>
            <a:r>
              <a:rPr sz="1800" spc="-10" dirty="0">
                <a:solidFill>
                  <a:srgbClr val="292929"/>
                </a:solidFill>
                <a:latin typeface="Calibri"/>
                <a:cs typeface="Calibri"/>
              </a:rPr>
              <a:t>markers </a:t>
            </a:r>
            <a:r>
              <a:rPr sz="1800" dirty="0">
                <a:solidFill>
                  <a:srgbClr val="292929"/>
                </a:solidFill>
                <a:latin typeface="Calibri"/>
                <a:cs typeface="Calibri"/>
              </a:rPr>
              <a:t>might</a:t>
            </a:r>
            <a:r>
              <a:rPr sz="1800" spc="-55" dirty="0">
                <a:solidFill>
                  <a:srgbClr val="292929"/>
                </a:solidFill>
                <a:latin typeface="Calibri"/>
                <a:cs typeface="Calibri"/>
              </a:rPr>
              <a:t> </a:t>
            </a:r>
            <a:r>
              <a:rPr sz="1800" spc="-10" dirty="0">
                <a:solidFill>
                  <a:srgbClr val="292929"/>
                </a:solidFill>
                <a:latin typeface="Calibri"/>
                <a:cs typeface="Calibri"/>
              </a:rPr>
              <a:t>represent unsuccessful</a:t>
            </a:r>
            <a:r>
              <a:rPr sz="1800" spc="-20" dirty="0">
                <a:solidFill>
                  <a:srgbClr val="292929"/>
                </a:solidFill>
                <a:latin typeface="Calibri"/>
                <a:cs typeface="Calibri"/>
              </a:rPr>
              <a:t> </a:t>
            </a:r>
            <a:r>
              <a:rPr sz="1800" dirty="0">
                <a:solidFill>
                  <a:srgbClr val="292929"/>
                </a:solidFill>
                <a:latin typeface="Calibri"/>
                <a:cs typeface="Calibri"/>
              </a:rPr>
              <a:t>launches,</a:t>
            </a:r>
            <a:r>
              <a:rPr sz="1800" spc="-50" dirty="0">
                <a:solidFill>
                  <a:srgbClr val="292929"/>
                </a:solidFill>
                <a:latin typeface="Calibri"/>
                <a:cs typeface="Calibri"/>
              </a:rPr>
              <a:t> </a:t>
            </a:r>
            <a:r>
              <a:rPr sz="1800" dirty="0">
                <a:solidFill>
                  <a:srgbClr val="292929"/>
                </a:solidFill>
                <a:latin typeface="Calibri"/>
                <a:cs typeface="Calibri"/>
              </a:rPr>
              <a:t>while</a:t>
            </a:r>
            <a:r>
              <a:rPr sz="1800" spc="-45" dirty="0">
                <a:solidFill>
                  <a:srgbClr val="292929"/>
                </a:solidFill>
                <a:latin typeface="Calibri"/>
                <a:cs typeface="Calibri"/>
              </a:rPr>
              <a:t> </a:t>
            </a:r>
            <a:r>
              <a:rPr sz="1800" dirty="0">
                <a:solidFill>
                  <a:srgbClr val="292929"/>
                </a:solidFill>
                <a:latin typeface="Calibri"/>
                <a:cs typeface="Calibri"/>
              </a:rPr>
              <a:t>the</a:t>
            </a:r>
            <a:r>
              <a:rPr sz="1800" spc="20" dirty="0">
                <a:solidFill>
                  <a:srgbClr val="292929"/>
                </a:solidFill>
                <a:latin typeface="Calibri"/>
                <a:cs typeface="Calibri"/>
              </a:rPr>
              <a:t> </a:t>
            </a:r>
            <a:r>
              <a:rPr sz="1800" spc="-10" dirty="0">
                <a:solidFill>
                  <a:srgbClr val="292929"/>
                </a:solidFill>
                <a:latin typeface="Calibri"/>
                <a:cs typeface="Calibri"/>
              </a:rPr>
              <a:t>green</a:t>
            </a:r>
            <a:r>
              <a:rPr sz="1800" spc="-20" dirty="0">
                <a:solidFill>
                  <a:srgbClr val="292929"/>
                </a:solidFill>
                <a:latin typeface="Calibri"/>
                <a:cs typeface="Calibri"/>
              </a:rPr>
              <a:t> </a:t>
            </a:r>
            <a:r>
              <a:rPr sz="1800" spc="-10" dirty="0">
                <a:solidFill>
                  <a:srgbClr val="292929"/>
                </a:solidFill>
                <a:latin typeface="Calibri"/>
                <a:cs typeface="Calibri"/>
              </a:rPr>
              <a:t>markers </a:t>
            </a:r>
            <a:r>
              <a:rPr sz="1800" dirty="0">
                <a:solidFill>
                  <a:srgbClr val="292929"/>
                </a:solidFill>
                <a:latin typeface="Calibri"/>
                <a:cs typeface="Calibri"/>
              </a:rPr>
              <a:t>indicate</a:t>
            </a:r>
            <a:r>
              <a:rPr sz="1800" spc="-45" dirty="0">
                <a:solidFill>
                  <a:srgbClr val="292929"/>
                </a:solidFill>
                <a:latin typeface="Calibri"/>
                <a:cs typeface="Calibri"/>
              </a:rPr>
              <a:t> </a:t>
            </a:r>
            <a:r>
              <a:rPr sz="1800" dirty="0">
                <a:solidFill>
                  <a:srgbClr val="292929"/>
                </a:solidFill>
                <a:latin typeface="Calibri"/>
                <a:cs typeface="Calibri"/>
              </a:rPr>
              <a:t>successful</a:t>
            </a:r>
            <a:r>
              <a:rPr sz="1800" spc="-75" dirty="0">
                <a:solidFill>
                  <a:srgbClr val="292929"/>
                </a:solidFill>
                <a:latin typeface="Calibri"/>
                <a:cs typeface="Calibri"/>
              </a:rPr>
              <a:t> </a:t>
            </a:r>
            <a:r>
              <a:rPr sz="1800" dirty="0">
                <a:solidFill>
                  <a:srgbClr val="292929"/>
                </a:solidFill>
                <a:latin typeface="Calibri"/>
                <a:cs typeface="Calibri"/>
              </a:rPr>
              <a:t>ones,</a:t>
            </a:r>
            <a:r>
              <a:rPr sz="1800" spc="-40" dirty="0">
                <a:solidFill>
                  <a:srgbClr val="292929"/>
                </a:solidFill>
                <a:latin typeface="Calibri"/>
                <a:cs typeface="Calibri"/>
              </a:rPr>
              <a:t> </a:t>
            </a:r>
            <a:r>
              <a:rPr sz="1800" spc="-10" dirty="0">
                <a:solidFill>
                  <a:srgbClr val="292929"/>
                </a:solidFill>
                <a:latin typeface="Calibri"/>
                <a:cs typeface="Calibri"/>
              </a:rPr>
              <a:t>providing</a:t>
            </a:r>
            <a:r>
              <a:rPr sz="1800" spc="-65" dirty="0">
                <a:solidFill>
                  <a:srgbClr val="292929"/>
                </a:solidFill>
                <a:latin typeface="Calibri"/>
                <a:cs typeface="Calibri"/>
              </a:rPr>
              <a:t> </a:t>
            </a:r>
            <a:r>
              <a:rPr sz="1800" spc="-10" dirty="0">
                <a:solidFill>
                  <a:srgbClr val="292929"/>
                </a:solidFill>
                <a:latin typeface="Calibri"/>
                <a:cs typeface="Calibri"/>
              </a:rPr>
              <a:t>immediate </a:t>
            </a:r>
            <a:r>
              <a:rPr sz="1800" dirty="0">
                <a:solidFill>
                  <a:srgbClr val="292929"/>
                </a:solidFill>
                <a:latin typeface="Calibri"/>
                <a:cs typeface="Calibri"/>
              </a:rPr>
              <a:t>visual</a:t>
            </a:r>
            <a:r>
              <a:rPr sz="1800" spc="-50" dirty="0">
                <a:solidFill>
                  <a:srgbClr val="292929"/>
                </a:solidFill>
                <a:latin typeface="Calibri"/>
                <a:cs typeface="Calibri"/>
              </a:rPr>
              <a:t> </a:t>
            </a:r>
            <a:r>
              <a:rPr sz="1800" spc="-10" dirty="0">
                <a:solidFill>
                  <a:srgbClr val="292929"/>
                </a:solidFill>
                <a:latin typeface="Calibri"/>
                <a:cs typeface="Calibri"/>
              </a:rPr>
              <a:t>feedback</a:t>
            </a:r>
            <a:r>
              <a:rPr sz="1800" spc="-70" dirty="0">
                <a:solidFill>
                  <a:srgbClr val="292929"/>
                </a:solidFill>
                <a:latin typeface="Calibri"/>
                <a:cs typeface="Calibri"/>
              </a:rPr>
              <a:t> </a:t>
            </a:r>
            <a:r>
              <a:rPr sz="1800" dirty="0">
                <a:solidFill>
                  <a:srgbClr val="292929"/>
                </a:solidFill>
                <a:latin typeface="Calibri"/>
                <a:cs typeface="Calibri"/>
              </a:rPr>
              <a:t>on</a:t>
            </a:r>
            <a:r>
              <a:rPr sz="1800" spc="-60" dirty="0">
                <a:solidFill>
                  <a:srgbClr val="292929"/>
                </a:solidFill>
                <a:latin typeface="Calibri"/>
                <a:cs typeface="Calibri"/>
              </a:rPr>
              <a:t> </a:t>
            </a:r>
            <a:r>
              <a:rPr sz="1800" dirty="0">
                <a:solidFill>
                  <a:srgbClr val="292929"/>
                </a:solidFill>
                <a:latin typeface="Calibri"/>
                <a:cs typeface="Calibri"/>
              </a:rPr>
              <a:t>the</a:t>
            </a:r>
            <a:r>
              <a:rPr sz="1800" spc="-10" dirty="0">
                <a:solidFill>
                  <a:srgbClr val="292929"/>
                </a:solidFill>
                <a:latin typeface="Calibri"/>
                <a:cs typeface="Calibri"/>
              </a:rPr>
              <a:t> </a:t>
            </a:r>
            <a:r>
              <a:rPr sz="1800" dirty="0">
                <a:solidFill>
                  <a:srgbClr val="292929"/>
                </a:solidFill>
                <a:latin typeface="Calibri"/>
                <a:cs typeface="Calibri"/>
              </a:rPr>
              <a:t>performance</a:t>
            </a:r>
            <a:r>
              <a:rPr sz="1800" spc="-10" dirty="0">
                <a:solidFill>
                  <a:srgbClr val="292929"/>
                </a:solidFill>
                <a:latin typeface="Calibri"/>
                <a:cs typeface="Calibri"/>
              </a:rPr>
              <a:t> </a:t>
            </a:r>
            <a:r>
              <a:rPr sz="1800" dirty="0">
                <a:solidFill>
                  <a:srgbClr val="292929"/>
                </a:solidFill>
                <a:latin typeface="Calibri"/>
                <a:cs typeface="Calibri"/>
              </a:rPr>
              <a:t>of</a:t>
            </a:r>
            <a:r>
              <a:rPr sz="1800" spc="-35" dirty="0">
                <a:solidFill>
                  <a:srgbClr val="292929"/>
                </a:solidFill>
                <a:latin typeface="Calibri"/>
                <a:cs typeface="Calibri"/>
              </a:rPr>
              <a:t> </a:t>
            </a:r>
            <a:r>
              <a:rPr sz="1800" dirty="0">
                <a:solidFill>
                  <a:srgbClr val="292929"/>
                </a:solidFill>
                <a:latin typeface="Calibri"/>
                <a:cs typeface="Calibri"/>
              </a:rPr>
              <a:t>launches</a:t>
            </a:r>
            <a:r>
              <a:rPr sz="1800" spc="-35" dirty="0">
                <a:solidFill>
                  <a:srgbClr val="292929"/>
                </a:solidFill>
                <a:latin typeface="Calibri"/>
                <a:cs typeface="Calibri"/>
              </a:rPr>
              <a:t> </a:t>
            </a:r>
            <a:r>
              <a:rPr sz="1800" spc="-25" dirty="0">
                <a:solidFill>
                  <a:srgbClr val="292929"/>
                </a:solidFill>
                <a:latin typeface="Calibri"/>
                <a:cs typeface="Calibri"/>
              </a:rPr>
              <a:t>at </a:t>
            </a:r>
            <a:r>
              <a:rPr sz="1800" dirty="0">
                <a:solidFill>
                  <a:srgbClr val="292929"/>
                </a:solidFill>
                <a:latin typeface="Calibri"/>
                <a:cs typeface="Calibri"/>
              </a:rPr>
              <a:t>each</a:t>
            </a:r>
            <a:r>
              <a:rPr sz="1800" spc="-25" dirty="0">
                <a:solidFill>
                  <a:srgbClr val="292929"/>
                </a:solidFill>
                <a:latin typeface="Calibri"/>
                <a:cs typeface="Calibri"/>
              </a:rPr>
              <a:t> </a:t>
            </a:r>
            <a:r>
              <a:rPr sz="1800" spc="-10" dirty="0">
                <a:solidFill>
                  <a:srgbClr val="292929"/>
                </a:solidFill>
                <a:latin typeface="Calibri"/>
                <a:cs typeface="Calibri"/>
              </a:rPr>
              <a:t>site.</a:t>
            </a:r>
            <a:endParaRPr sz="1800">
              <a:latin typeface="Calibri"/>
              <a:cs typeface="Calibri"/>
            </a:endParaRPr>
          </a:p>
        </p:txBody>
      </p:sp>
      <p:sp>
        <p:nvSpPr>
          <p:cNvPr id="4" name="object 4"/>
          <p:cNvSpPr txBox="1">
            <a:spLocks noGrp="1"/>
          </p:cNvSpPr>
          <p:nvPr>
            <p:ph type="title"/>
          </p:nvPr>
        </p:nvSpPr>
        <p:spPr>
          <a:prstGeom prst="rect">
            <a:avLst/>
          </a:prstGeom>
        </p:spPr>
        <p:txBody>
          <a:bodyPr vert="horz" wrap="square" lIns="0" tIns="214376" rIns="0" bIns="0" rtlCol="0">
            <a:spAutoFit/>
          </a:bodyPr>
          <a:lstStyle/>
          <a:p>
            <a:pPr marL="12700">
              <a:lnSpc>
                <a:spcPct val="100000"/>
              </a:lnSpc>
              <a:spcBef>
                <a:spcPts val="130"/>
              </a:spcBef>
            </a:pPr>
            <a:r>
              <a:rPr sz="2750" spc="-105" dirty="0">
                <a:solidFill>
                  <a:srgbClr val="005392"/>
                </a:solidFill>
              </a:rPr>
              <a:t>Task</a:t>
            </a:r>
            <a:r>
              <a:rPr sz="2750" spc="55" dirty="0">
                <a:solidFill>
                  <a:srgbClr val="005392"/>
                </a:solidFill>
              </a:rPr>
              <a:t> </a:t>
            </a:r>
            <a:r>
              <a:rPr sz="2750" dirty="0">
                <a:solidFill>
                  <a:srgbClr val="005392"/>
                </a:solidFill>
              </a:rPr>
              <a:t>2:</a:t>
            </a:r>
            <a:r>
              <a:rPr sz="2750" spc="-35" dirty="0">
                <a:solidFill>
                  <a:srgbClr val="005392"/>
                </a:solidFill>
              </a:rPr>
              <a:t> </a:t>
            </a:r>
            <a:r>
              <a:rPr sz="2750" dirty="0">
                <a:solidFill>
                  <a:srgbClr val="005392"/>
                </a:solidFill>
              </a:rPr>
              <a:t>Mark</a:t>
            </a:r>
            <a:r>
              <a:rPr sz="2750" spc="-10" dirty="0">
                <a:solidFill>
                  <a:srgbClr val="005392"/>
                </a:solidFill>
              </a:rPr>
              <a:t> </a:t>
            </a:r>
            <a:r>
              <a:rPr sz="2750" dirty="0">
                <a:solidFill>
                  <a:srgbClr val="005392"/>
                </a:solidFill>
              </a:rPr>
              <a:t>the</a:t>
            </a:r>
            <a:r>
              <a:rPr sz="2750" spc="35" dirty="0">
                <a:solidFill>
                  <a:srgbClr val="005392"/>
                </a:solidFill>
              </a:rPr>
              <a:t> </a:t>
            </a:r>
            <a:r>
              <a:rPr sz="2750" spc="-45" dirty="0">
                <a:solidFill>
                  <a:srgbClr val="005392"/>
                </a:solidFill>
              </a:rPr>
              <a:t>success/failed</a:t>
            </a:r>
            <a:r>
              <a:rPr sz="2750" spc="5" dirty="0">
                <a:solidFill>
                  <a:srgbClr val="005392"/>
                </a:solidFill>
              </a:rPr>
              <a:t> </a:t>
            </a:r>
            <a:r>
              <a:rPr sz="2750" spc="-65" dirty="0">
                <a:solidFill>
                  <a:srgbClr val="005392"/>
                </a:solidFill>
              </a:rPr>
              <a:t>launches</a:t>
            </a:r>
            <a:r>
              <a:rPr sz="2750" spc="-15" dirty="0">
                <a:solidFill>
                  <a:srgbClr val="005392"/>
                </a:solidFill>
              </a:rPr>
              <a:t> </a:t>
            </a:r>
            <a:r>
              <a:rPr sz="2750" dirty="0">
                <a:solidFill>
                  <a:srgbClr val="005392"/>
                </a:solidFill>
              </a:rPr>
              <a:t>for</a:t>
            </a:r>
            <a:r>
              <a:rPr sz="2750" spc="20" dirty="0">
                <a:solidFill>
                  <a:srgbClr val="005392"/>
                </a:solidFill>
              </a:rPr>
              <a:t> </a:t>
            </a:r>
            <a:r>
              <a:rPr sz="2750" spc="-75" dirty="0">
                <a:solidFill>
                  <a:srgbClr val="005392"/>
                </a:solidFill>
              </a:rPr>
              <a:t>each</a:t>
            </a:r>
            <a:r>
              <a:rPr sz="2750" spc="25" dirty="0">
                <a:solidFill>
                  <a:srgbClr val="005392"/>
                </a:solidFill>
              </a:rPr>
              <a:t> </a:t>
            </a:r>
            <a:r>
              <a:rPr sz="2750" dirty="0">
                <a:solidFill>
                  <a:srgbClr val="005392"/>
                </a:solidFill>
              </a:rPr>
              <a:t>site</a:t>
            </a:r>
            <a:r>
              <a:rPr sz="2750" spc="35" dirty="0">
                <a:solidFill>
                  <a:srgbClr val="005392"/>
                </a:solidFill>
              </a:rPr>
              <a:t> </a:t>
            </a:r>
            <a:r>
              <a:rPr sz="2750" dirty="0">
                <a:solidFill>
                  <a:srgbClr val="005392"/>
                </a:solidFill>
              </a:rPr>
              <a:t>on</a:t>
            </a:r>
            <a:r>
              <a:rPr sz="2750" spc="20" dirty="0">
                <a:solidFill>
                  <a:srgbClr val="005392"/>
                </a:solidFill>
              </a:rPr>
              <a:t> </a:t>
            </a:r>
            <a:r>
              <a:rPr sz="2750" dirty="0">
                <a:solidFill>
                  <a:srgbClr val="005392"/>
                </a:solidFill>
              </a:rPr>
              <a:t>the</a:t>
            </a:r>
            <a:r>
              <a:rPr sz="2750" spc="30" dirty="0">
                <a:solidFill>
                  <a:srgbClr val="005392"/>
                </a:solidFill>
              </a:rPr>
              <a:t> </a:t>
            </a:r>
            <a:r>
              <a:rPr sz="2750" spc="-25" dirty="0">
                <a:solidFill>
                  <a:srgbClr val="005392"/>
                </a:solidFill>
              </a:rPr>
              <a:t>map</a:t>
            </a:r>
            <a:endParaRPr sz="2750"/>
          </a:p>
        </p:txBody>
      </p:sp>
      <p:pic>
        <p:nvPicPr>
          <p:cNvPr id="5" name="object 5"/>
          <p:cNvPicPr/>
          <p:nvPr/>
        </p:nvPicPr>
        <p:blipFill>
          <a:blip r:embed="rId2" cstate="print"/>
          <a:stretch>
            <a:fillRect/>
          </a:stretch>
        </p:blipFill>
        <p:spPr>
          <a:xfrm>
            <a:off x="6276975" y="1323975"/>
            <a:ext cx="5143500" cy="51054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16691" y="6090602"/>
            <a:ext cx="273050" cy="266065"/>
          </a:xfrm>
          <a:prstGeom prst="rect">
            <a:avLst/>
          </a:prstGeom>
        </p:spPr>
        <p:txBody>
          <a:bodyPr vert="horz" wrap="square" lIns="0" tIns="15875" rIns="0" bIns="0" rtlCol="0">
            <a:spAutoFit/>
          </a:bodyPr>
          <a:lstStyle/>
          <a:p>
            <a:pPr marL="12700">
              <a:lnSpc>
                <a:spcPct val="100000"/>
              </a:lnSpc>
              <a:spcBef>
                <a:spcPts val="125"/>
              </a:spcBef>
            </a:pPr>
            <a:r>
              <a:rPr sz="1550" spc="80" dirty="0">
                <a:solidFill>
                  <a:srgbClr val="1C7CDB"/>
                </a:solidFill>
                <a:latin typeface="Microsoft Sans Serif"/>
                <a:cs typeface="Microsoft Sans Serif"/>
              </a:rPr>
              <a:t>43</a:t>
            </a:r>
            <a:endParaRPr sz="1550">
              <a:latin typeface="Microsoft Sans Serif"/>
              <a:cs typeface="Microsoft Sans Serif"/>
            </a:endParaRPr>
          </a:p>
        </p:txBody>
      </p:sp>
      <p:sp>
        <p:nvSpPr>
          <p:cNvPr id="3" name="object 3"/>
          <p:cNvSpPr txBox="1"/>
          <p:nvPr/>
        </p:nvSpPr>
        <p:spPr>
          <a:xfrm>
            <a:off x="919797" y="1585912"/>
            <a:ext cx="4267200" cy="2708275"/>
          </a:xfrm>
          <a:prstGeom prst="rect">
            <a:avLst/>
          </a:prstGeom>
        </p:spPr>
        <p:txBody>
          <a:bodyPr vert="horz" wrap="square" lIns="0" tIns="8255" rIns="0" bIns="0" rtlCol="0">
            <a:spAutoFit/>
          </a:bodyPr>
          <a:lstStyle/>
          <a:p>
            <a:pPr marL="12700" marR="5080">
              <a:lnSpc>
                <a:spcPct val="103400"/>
              </a:lnSpc>
              <a:spcBef>
                <a:spcPts val="65"/>
              </a:spcBef>
            </a:pPr>
            <a:r>
              <a:rPr sz="1550" dirty="0">
                <a:solidFill>
                  <a:srgbClr val="292929"/>
                </a:solidFill>
                <a:latin typeface="Calibri"/>
                <a:cs typeface="Calibri"/>
              </a:rPr>
              <a:t>This</a:t>
            </a:r>
            <a:r>
              <a:rPr sz="1550" spc="150" dirty="0">
                <a:solidFill>
                  <a:srgbClr val="292929"/>
                </a:solidFill>
                <a:latin typeface="Calibri"/>
                <a:cs typeface="Calibri"/>
              </a:rPr>
              <a:t> </a:t>
            </a:r>
            <a:r>
              <a:rPr sz="1550" dirty="0">
                <a:solidFill>
                  <a:srgbClr val="292929"/>
                </a:solidFill>
                <a:latin typeface="Calibri"/>
                <a:cs typeface="Calibri"/>
              </a:rPr>
              <a:t>plot</a:t>
            </a:r>
            <a:r>
              <a:rPr sz="1550" spc="85" dirty="0">
                <a:solidFill>
                  <a:srgbClr val="292929"/>
                </a:solidFill>
                <a:latin typeface="Calibri"/>
                <a:cs typeface="Calibri"/>
              </a:rPr>
              <a:t> </a:t>
            </a:r>
            <a:r>
              <a:rPr sz="1550" dirty="0">
                <a:solidFill>
                  <a:srgbClr val="292929"/>
                </a:solidFill>
                <a:latin typeface="Calibri"/>
                <a:cs typeface="Calibri"/>
              </a:rPr>
              <a:t>provides</a:t>
            </a:r>
            <a:r>
              <a:rPr sz="1550" spc="65" dirty="0">
                <a:solidFill>
                  <a:srgbClr val="292929"/>
                </a:solidFill>
                <a:latin typeface="Calibri"/>
                <a:cs typeface="Calibri"/>
              </a:rPr>
              <a:t> </a:t>
            </a:r>
            <a:r>
              <a:rPr sz="1550" dirty="0">
                <a:solidFill>
                  <a:srgbClr val="292929"/>
                </a:solidFill>
                <a:latin typeface="Calibri"/>
                <a:cs typeface="Calibri"/>
              </a:rPr>
              <a:t>a</a:t>
            </a:r>
            <a:r>
              <a:rPr sz="1550" spc="80" dirty="0">
                <a:solidFill>
                  <a:srgbClr val="292929"/>
                </a:solidFill>
                <a:latin typeface="Calibri"/>
                <a:cs typeface="Calibri"/>
              </a:rPr>
              <a:t> </a:t>
            </a:r>
            <a:r>
              <a:rPr sz="1550" dirty="0">
                <a:solidFill>
                  <a:srgbClr val="292929"/>
                </a:solidFill>
                <a:latin typeface="Calibri"/>
                <a:cs typeface="Calibri"/>
              </a:rPr>
              <a:t>visual</a:t>
            </a:r>
            <a:r>
              <a:rPr sz="1550" spc="100" dirty="0">
                <a:solidFill>
                  <a:srgbClr val="292929"/>
                </a:solidFill>
                <a:latin typeface="Calibri"/>
                <a:cs typeface="Calibri"/>
              </a:rPr>
              <a:t> </a:t>
            </a:r>
            <a:r>
              <a:rPr sz="1550" dirty="0">
                <a:solidFill>
                  <a:srgbClr val="292929"/>
                </a:solidFill>
                <a:latin typeface="Calibri"/>
                <a:cs typeface="Calibri"/>
              </a:rPr>
              <a:t>representation</a:t>
            </a:r>
            <a:r>
              <a:rPr sz="1550" spc="75" dirty="0">
                <a:solidFill>
                  <a:srgbClr val="292929"/>
                </a:solidFill>
                <a:latin typeface="Calibri"/>
                <a:cs typeface="Calibri"/>
              </a:rPr>
              <a:t> </a:t>
            </a:r>
            <a:r>
              <a:rPr sz="1550" dirty="0">
                <a:solidFill>
                  <a:srgbClr val="292929"/>
                </a:solidFill>
                <a:latin typeface="Calibri"/>
                <a:cs typeface="Calibri"/>
              </a:rPr>
              <a:t>of</a:t>
            </a:r>
            <a:r>
              <a:rPr sz="1550" spc="140" dirty="0">
                <a:solidFill>
                  <a:srgbClr val="292929"/>
                </a:solidFill>
                <a:latin typeface="Calibri"/>
                <a:cs typeface="Calibri"/>
              </a:rPr>
              <a:t> </a:t>
            </a:r>
            <a:r>
              <a:rPr sz="1550" spc="-25" dirty="0">
                <a:solidFill>
                  <a:srgbClr val="292929"/>
                </a:solidFill>
                <a:latin typeface="Calibri"/>
                <a:cs typeface="Calibri"/>
              </a:rPr>
              <a:t>the </a:t>
            </a:r>
            <a:r>
              <a:rPr sz="1550" dirty="0">
                <a:solidFill>
                  <a:srgbClr val="292929"/>
                </a:solidFill>
                <a:latin typeface="Calibri"/>
                <a:cs typeface="Calibri"/>
              </a:rPr>
              <a:t>distance</a:t>
            </a:r>
            <a:r>
              <a:rPr sz="1550" spc="150" dirty="0">
                <a:solidFill>
                  <a:srgbClr val="292929"/>
                </a:solidFill>
                <a:latin typeface="Calibri"/>
                <a:cs typeface="Calibri"/>
              </a:rPr>
              <a:t> </a:t>
            </a:r>
            <a:r>
              <a:rPr sz="1550" dirty="0">
                <a:solidFill>
                  <a:srgbClr val="292929"/>
                </a:solidFill>
                <a:latin typeface="Calibri"/>
                <a:cs typeface="Calibri"/>
              </a:rPr>
              <a:t>between</a:t>
            </a:r>
            <a:r>
              <a:rPr sz="1550" spc="95" dirty="0">
                <a:solidFill>
                  <a:srgbClr val="292929"/>
                </a:solidFill>
                <a:latin typeface="Calibri"/>
                <a:cs typeface="Calibri"/>
              </a:rPr>
              <a:t> </a:t>
            </a:r>
            <a:r>
              <a:rPr sz="1550" dirty="0">
                <a:solidFill>
                  <a:srgbClr val="292929"/>
                </a:solidFill>
                <a:latin typeface="Calibri"/>
                <a:cs typeface="Calibri"/>
              </a:rPr>
              <a:t>the</a:t>
            </a:r>
            <a:r>
              <a:rPr sz="1550" spc="55" dirty="0">
                <a:solidFill>
                  <a:srgbClr val="292929"/>
                </a:solidFill>
                <a:latin typeface="Calibri"/>
                <a:cs typeface="Calibri"/>
              </a:rPr>
              <a:t> </a:t>
            </a:r>
            <a:r>
              <a:rPr sz="1550" dirty="0">
                <a:solidFill>
                  <a:srgbClr val="292929"/>
                </a:solidFill>
                <a:latin typeface="Calibri"/>
                <a:cs typeface="Calibri"/>
              </a:rPr>
              <a:t>CCAFS</a:t>
            </a:r>
            <a:r>
              <a:rPr sz="1550" spc="40" dirty="0">
                <a:solidFill>
                  <a:srgbClr val="292929"/>
                </a:solidFill>
                <a:latin typeface="Calibri"/>
                <a:cs typeface="Calibri"/>
              </a:rPr>
              <a:t> </a:t>
            </a:r>
            <a:r>
              <a:rPr sz="1550" dirty="0">
                <a:solidFill>
                  <a:srgbClr val="292929"/>
                </a:solidFill>
                <a:latin typeface="Calibri"/>
                <a:cs typeface="Calibri"/>
              </a:rPr>
              <a:t>SLC-40</a:t>
            </a:r>
            <a:r>
              <a:rPr sz="1550" spc="135" dirty="0">
                <a:solidFill>
                  <a:srgbClr val="292929"/>
                </a:solidFill>
                <a:latin typeface="Calibri"/>
                <a:cs typeface="Calibri"/>
              </a:rPr>
              <a:t> </a:t>
            </a:r>
            <a:r>
              <a:rPr sz="1550" dirty="0">
                <a:solidFill>
                  <a:srgbClr val="292929"/>
                </a:solidFill>
                <a:latin typeface="Calibri"/>
                <a:cs typeface="Calibri"/>
              </a:rPr>
              <a:t>launch</a:t>
            </a:r>
            <a:r>
              <a:rPr sz="1550" spc="100" dirty="0">
                <a:solidFill>
                  <a:srgbClr val="292929"/>
                </a:solidFill>
                <a:latin typeface="Calibri"/>
                <a:cs typeface="Calibri"/>
              </a:rPr>
              <a:t> </a:t>
            </a:r>
            <a:r>
              <a:rPr sz="1550" dirty="0">
                <a:solidFill>
                  <a:srgbClr val="292929"/>
                </a:solidFill>
                <a:latin typeface="Calibri"/>
                <a:cs typeface="Calibri"/>
              </a:rPr>
              <a:t>site</a:t>
            </a:r>
            <a:r>
              <a:rPr sz="1550" spc="60" dirty="0">
                <a:solidFill>
                  <a:srgbClr val="292929"/>
                </a:solidFill>
                <a:latin typeface="Calibri"/>
                <a:cs typeface="Calibri"/>
              </a:rPr>
              <a:t> </a:t>
            </a:r>
            <a:r>
              <a:rPr sz="1550" spc="-25" dirty="0">
                <a:solidFill>
                  <a:srgbClr val="292929"/>
                </a:solidFill>
                <a:latin typeface="Calibri"/>
                <a:cs typeface="Calibri"/>
              </a:rPr>
              <a:t>and </a:t>
            </a:r>
            <a:r>
              <a:rPr sz="1550" dirty="0">
                <a:solidFill>
                  <a:srgbClr val="292929"/>
                </a:solidFill>
                <a:latin typeface="Calibri"/>
                <a:cs typeface="Calibri"/>
              </a:rPr>
              <a:t>the</a:t>
            </a:r>
            <a:r>
              <a:rPr sz="1550" spc="145" dirty="0">
                <a:solidFill>
                  <a:srgbClr val="292929"/>
                </a:solidFill>
                <a:latin typeface="Calibri"/>
                <a:cs typeface="Calibri"/>
              </a:rPr>
              <a:t> </a:t>
            </a:r>
            <a:r>
              <a:rPr sz="1550" dirty="0">
                <a:solidFill>
                  <a:srgbClr val="292929"/>
                </a:solidFill>
                <a:latin typeface="Calibri"/>
                <a:cs typeface="Calibri"/>
              </a:rPr>
              <a:t>closest</a:t>
            </a:r>
            <a:r>
              <a:rPr sz="1550" spc="100" dirty="0">
                <a:solidFill>
                  <a:srgbClr val="292929"/>
                </a:solidFill>
                <a:latin typeface="Calibri"/>
                <a:cs typeface="Calibri"/>
              </a:rPr>
              <a:t> </a:t>
            </a:r>
            <a:r>
              <a:rPr sz="1550" dirty="0">
                <a:solidFill>
                  <a:srgbClr val="292929"/>
                </a:solidFill>
                <a:latin typeface="Calibri"/>
                <a:cs typeface="Calibri"/>
              </a:rPr>
              <a:t>coastline.</a:t>
            </a:r>
            <a:r>
              <a:rPr sz="1550" spc="70" dirty="0">
                <a:solidFill>
                  <a:srgbClr val="292929"/>
                </a:solidFill>
                <a:latin typeface="Calibri"/>
                <a:cs typeface="Calibri"/>
              </a:rPr>
              <a:t> </a:t>
            </a:r>
            <a:r>
              <a:rPr sz="1550" dirty="0">
                <a:solidFill>
                  <a:srgbClr val="292929"/>
                </a:solidFill>
                <a:latin typeface="Calibri"/>
                <a:cs typeface="Calibri"/>
              </a:rPr>
              <a:t>The</a:t>
            </a:r>
            <a:r>
              <a:rPr sz="1550" spc="50" dirty="0">
                <a:solidFill>
                  <a:srgbClr val="292929"/>
                </a:solidFill>
                <a:latin typeface="Calibri"/>
                <a:cs typeface="Calibri"/>
              </a:rPr>
              <a:t> </a:t>
            </a:r>
            <a:r>
              <a:rPr sz="1550" dirty="0">
                <a:solidFill>
                  <a:srgbClr val="292929"/>
                </a:solidFill>
                <a:latin typeface="Calibri"/>
                <a:cs typeface="Calibri"/>
              </a:rPr>
              <a:t>calculated</a:t>
            </a:r>
            <a:r>
              <a:rPr sz="1550" spc="95" dirty="0">
                <a:solidFill>
                  <a:srgbClr val="292929"/>
                </a:solidFill>
                <a:latin typeface="Calibri"/>
                <a:cs typeface="Calibri"/>
              </a:rPr>
              <a:t> </a:t>
            </a:r>
            <a:r>
              <a:rPr sz="1550" dirty="0">
                <a:solidFill>
                  <a:srgbClr val="292929"/>
                </a:solidFill>
                <a:latin typeface="Calibri"/>
                <a:cs typeface="Calibri"/>
              </a:rPr>
              <a:t>distance</a:t>
            </a:r>
            <a:r>
              <a:rPr sz="1550" spc="150" dirty="0">
                <a:solidFill>
                  <a:srgbClr val="292929"/>
                </a:solidFill>
                <a:latin typeface="Calibri"/>
                <a:cs typeface="Calibri"/>
              </a:rPr>
              <a:t> </a:t>
            </a:r>
            <a:r>
              <a:rPr sz="1550" spc="-25" dirty="0">
                <a:solidFill>
                  <a:srgbClr val="292929"/>
                </a:solidFill>
                <a:latin typeface="Calibri"/>
                <a:cs typeface="Calibri"/>
              </a:rPr>
              <a:t>is </a:t>
            </a:r>
            <a:r>
              <a:rPr sz="1550" dirty="0">
                <a:solidFill>
                  <a:srgbClr val="292929"/>
                </a:solidFill>
                <a:latin typeface="Calibri"/>
                <a:cs typeface="Calibri"/>
              </a:rPr>
              <a:t>approximately</a:t>
            </a:r>
            <a:r>
              <a:rPr sz="1550" spc="35" dirty="0">
                <a:solidFill>
                  <a:srgbClr val="292929"/>
                </a:solidFill>
                <a:latin typeface="Calibri"/>
                <a:cs typeface="Calibri"/>
              </a:rPr>
              <a:t> </a:t>
            </a:r>
            <a:r>
              <a:rPr sz="1550" dirty="0">
                <a:solidFill>
                  <a:srgbClr val="292929"/>
                </a:solidFill>
                <a:latin typeface="Calibri"/>
                <a:cs typeface="Calibri"/>
              </a:rPr>
              <a:t>0.51</a:t>
            </a:r>
            <a:r>
              <a:rPr sz="1550" spc="114" dirty="0">
                <a:solidFill>
                  <a:srgbClr val="292929"/>
                </a:solidFill>
                <a:latin typeface="Calibri"/>
                <a:cs typeface="Calibri"/>
              </a:rPr>
              <a:t> </a:t>
            </a:r>
            <a:r>
              <a:rPr sz="1550" dirty="0">
                <a:solidFill>
                  <a:srgbClr val="292929"/>
                </a:solidFill>
                <a:latin typeface="Calibri"/>
                <a:cs typeface="Calibri"/>
              </a:rPr>
              <a:t>kilometers,</a:t>
            </a:r>
            <a:r>
              <a:rPr sz="1550" spc="150" dirty="0">
                <a:solidFill>
                  <a:srgbClr val="292929"/>
                </a:solidFill>
                <a:latin typeface="Calibri"/>
                <a:cs typeface="Calibri"/>
              </a:rPr>
              <a:t> </a:t>
            </a:r>
            <a:r>
              <a:rPr sz="1550" dirty="0">
                <a:solidFill>
                  <a:srgbClr val="292929"/>
                </a:solidFill>
                <a:latin typeface="Calibri"/>
                <a:cs typeface="Calibri"/>
              </a:rPr>
              <a:t>as</a:t>
            </a:r>
            <a:r>
              <a:rPr sz="1550" spc="60" dirty="0">
                <a:solidFill>
                  <a:srgbClr val="292929"/>
                </a:solidFill>
                <a:latin typeface="Calibri"/>
                <a:cs typeface="Calibri"/>
              </a:rPr>
              <a:t> </a:t>
            </a:r>
            <a:r>
              <a:rPr sz="1550" dirty="0">
                <a:solidFill>
                  <a:srgbClr val="292929"/>
                </a:solidFill>
                <a:latin typeface="Calibri"/>
                <a:cs typeface="Calibri"/>
              </a:rPr>
              <a:t>indicated</a:t>
            </a:r>
            <a:r>
              <a:rPr sz="1550" spc="85" dirty="0">
                <a:solidFill>
                  <a:srgbClr val="292929"/>
                </a:solidFill>
                <a:latin typeface="Calibri"/>
                <a:cs typeface="Calibri"/>
              </a:rPr>
              <a:t> </a:t>
            </a:r>
            <a:r>
              <a:rPr sz="1550" dirty="0">
                <a:solidFill>
                  <a:srgbClr val="292929"/>
                </a:solidFill>
                <a:latin typeface="Calibri"/>
                <a:cs typeface="Calibri"/>
              </a:rPr>
              <a:t>by</a:t>
            </a:r>
            <a:r>
              <a:rPr sz="1550" spc="130" dirty="0">
                <a:solidFill>
                  <a:srgbClr val="292929"/>
                </a:solidFill>
                <a:latin typeface="Calibri"/>
                <a:cs typeface="Calibri"/>
              </a:rPr>
              <a:t> </a:t>
            </a:r>
            <a:r>
              <a:rPr sz="1550" spc="-25" dirty="0">
                <a:solidFill>
                  <a:srgbClr val="292929"/>
                </a:solidFill>
                <a:latin typeface="Calibri"/>
                <a:cs typeface="Calibri"/>
              </a:rPr>
              <a:t>the </a:t>
            </a:r>
            <a:r>
              <a:rPr sz="1550" dirty="0">
                <a:solidFill>
                  <a:srgbClr val="292929"/>
                </a:solidFill>
                <a:latin typeface="Calibri"/>
                <a:cs typeface="Calibri"/>
              </a:rPr>
              <a:t>marker.</a:t>
            </a:r>
            <a:r>
              <a:rPr sz="1550" spc="45" dirty="0">
                <a:solidFill>
                  <a:srgbClr val="292929"/>
                </a:solidFill>
                <a:latin typeface="Calibri"/>
                <a:cs typeface="Calibri"/>
              </a:rPr>
              <a:t> </a:t>
            </a:r>
            <a:r>
              <a:rPr sz="1550" dirty="0">
                <a:solidFill>
                  <a:srgbClr val="292929"/>
                </a:solidFill>
                <a:latin typeface="Calibri"/>
                <a:cs typeface="Calibri"/>
              </a:rPr>
              <a:t>The</a:t>
            </a:r>
            <a:r>
              <a:rPr sz="1550" spc="114" dirty="0">
                <a:solidFill>
                  <a:srgbClr val="292929"/>
                </a:solidFill>
                <a:latin typeface="Calibri"/>
                <a:cs typeface="Calibri"/>
              </a:rPr>
              <a:t> </a:t>
            </a:r>
            <a:r>
              <a:rPr sz="1550" dirty="0">
                <a:solidFill>
                  <a:srgbClr val="292929"/>
                </a:solidFill>
                <a:latin typeface="Calibri"/>
                <a:cs typeface="Calibri"/>
              </a:rPr>
              <a:t>added</a:t>
            </a:r>
            <a:r>
              <a:rPr sz="1550" spc="70" dirty="0">
                <a:solidFill>
                  <a:srgbClr val="292929"/>
                </a:solidFill>
                <a:latin typeface="Calibri"/>
                <a:cs typeface="Calibri"/>
              </a:rPr>
              <a:t> </a:t>
            </a:r>
            <a:r>
              <a:rPr sz="1550" dirty="0">
                <a:solidFill>
                  <a:srgbClr val="292929"/>
                </a:solidFill>
                <a:latin typeface="Calibri"/>
                <a:cs typeface="Calibri"/>
              </a:rPr>
              <a:t>PolyLine</a:t>
            </a:r>
            <a:r>
              <a:rPr sz="1550" spc="120" dirty="0">
                <a:solidFill>
                  <a:srgbClr val="292929"/>
                </a:solidFill>
                <a:latin typeface="Calibri"/>
                <a:cs typeface="Calibri"/>
              </a:rPr>
              <a:t> </a:t>
            </a:r>
            <a:r>
              <a:rPr sz="1550" dirty="0">
                <a:solidFill>
                  <a:srgbClr val="292929"/>
                </a:solidFill>
                <a:latin typeface="Calibri"/>
                <a:cs typeface="Calibri"/>
              </a:rPr>
              <a:t>clearly</a:t>
            </a:r>
            <a:r>
              <a:rPr sz="1550" spc="25" dirty="0">
                <a:solidFill>
                  <a:srgbClr val="292929"/>
                </a:solidFill>
                <a:latin typeface="Calibri"/>
                <a:cs typeface="Calibri"/>
              </a:rPr>
              <a:t> </a:t>
            </a:r>
            <a:r>
              <a:rPr sz="1550" dirty="0">
                <a:solidFill>
                  <a:srgbClr val="292929"/>
                </a:solidFill>
                <a:latin typeface="Calibri"/>
                <a:cs typeface="Calibri"/>
              </a:rPr>
              <a:t>shows</a:t>
            </a:r>
            <a:r>
              <a:rPr sz="1550" spc="50" dirty="0">
                <a:solidFill>
                  <a:srgbClr val="292929"/>
                </a:solidFill>
                <a:latin typeface="Calibri"/>
                <a:cs typeface="Calibri"/>
              </a:rPr>
              <a:t> </a:t>
            </a:r>
            <a:r>
              <a:rPr sz="1550" spc="-25" dirty="0">
                <a:solidFill>
                  <a:srgbClr val="292929"/>
                </a:solidFill>
                <a:latin typeface="Calibri"/>
                <a:cs typeface="Calibri"/>
              </a:rPr>
              <a:t>the </a:t>
            </a:r>
            <a:r>
              <a:rPr sz="1550" dirty="0">
                <a:solidFill>
                  <a:srgbClr val="292929"/>
                </a:solidFill>
                <a:latin typeface="Calibri"/>
                <a:cs typeface="Calibri"/>
              </a:rPr>
              <a:t>straight-line</a:t>
            </a:r>
            <a:r>
              <a:rPr sz="1550" spc="60" dirty="0">
                <a:solidFill>
                  <a:srgbClr val="292929"/>
                </a:solidFill>
                <a:latin typeface="Calibri"/>
                <a:cs typeface="Calibri"/>
              </a:rPr>
              <a:t> </a:t>
            </a:r>
            <a:r>
              <a:rPr sz="1550" dirty="0">
                <a:solidFill>
                  <a:srgbClr val="292929"/>
                </a:solidFill>
                <a:latin typeface="Calibri"/>
                <a:cs typeface="Calibri"/>
              </a:rPr>
              <a:t>distance,</a:t>
            </a:r>
            <a:r>
              <a:rPr sz="1550" spc="180" dirty="0">
                <a:solidFill>
                  <a:srgbClr val="292929"/>
                </a:solidFill>
                <a:latin typeface="Calibri"/>
                <a:cs typeface="Calibri"/>
              </a:rPr>
              <a:t> </a:t>
            </a:r>
            <a:r>
              <a:rPr sz="1550" dirty="0">
                <a:solidFill>
                  <a:srgbClr val="292929"/>
                </a:solidFill>
                <a:latin typeface="Calibri"/>
                <a:cs typeface="Calibri"/>
              </a:rPr>
              <a:t>highlighting</a:t>
            </a:r>
            <a:r>
              <a:rPr sz="1550" spc="120" dirty="0">
                <a:solidFill>
                  <a:srgbClr val="292929"/>
                </a:solidFill>
                <a:latin typeface="Calibri"/>
                <a:cs typeface="Calibri"/>
              </a:rPr>
              <a:t> </a:t>
            </a:r>
            <a:r>
              <a:rPr sz="1550" dirty="0">
                <a:solidFill>
                  <a:srgbClr val="292929"/>
                </a:solidFill>
                <a:latin typeface="Calibri"/>
                <a:cs typeface="Calibri"/>
              </a:rPr>
              <a:t>the</a:t>
            </a:r>
            <a:r>
              <a:rPr sz="1550" spc="65" dirty="0">
                <a:solidFill>
                  <a:srgbClr val="292929"/>
                </a:solidFill>
                <a:latin typeface="Calibri"/>
                <a:cs typeface="Calibri"/>
              </a:rPr>
              <a:t> </a:t>
            </a:r>
            <a:r>
              <a:rPr sz="1550" dirty="0">
                <a:solidFill>
                  <a:srgbClr val="292929"/>
                </a:solidFill>
                <a:latin typeface="Calibri"/>
                <a:cs typeface="Calibri"/>
              </a:rPr>
              <a:t>proximity</a:t>
            </a:r>
            <a:r>
              <a:rPr sz="1550" spc="150" dirty="0">
                <a:solidFill>
                  <a:srgbClr val="292929"/>
                </a:solidFill>
                <a:latin typeface="Calibri"/>
                <a:cs typeface="Calibri"/>
              </a:rPr>
              <a:t> </a:t>
            </a:r>
            <a:r>
              <a:rPr sz="1550" spc="-25" dirty="0">
                <a:solidFill>
                  <a:srgbClr val="292929"/>
                </a:solidFill>
                <a:latin typeface="Calibri"/>
                <a:cs typeface="Calibri"/>
              </a:rPr>
              <a:t>of </a:t>
            </a:r>
            <a:r>
              <a:rPr sz="1550" dirty="0">
                <a:solidFill>
                  <a:srgbClr val="292929"/>
                </a:solidFill>
                <a:latin typeface="Calibri"/>
                <a:cs typeface="Calibri"/>
              </a:rPr>
              <a:t>the</a:t>
            </a:r>
            <a:r>
              <a:rPr sz="1550" spc="100" dirty="0">
                <a:solidFill>
                  <a:srgbClr val="292929"/>
                </a:solidFill>
                <a:latin typeface="Calibri"/>
                <a:cs typeface="Calibri"/>
              </a:rPr>
              <a:t> </a:t>
            </a:r>
            <a:r>
              <a:rPr sz="1550" dirty="0">
                <a:solidFill>
                  <a:srgbClr val="292929"/>
                </a:solidFill>
                <a:latin typeface="Calibri"/>
                <a:cs typeface="Calibri"/>
              </a:rPr>
              <a:t>launch</a:t>
            </a:r>
            <a:r>
              <a:rPr sz="1550" spc="55" dirty="0">
                <a:solidFill>
                  <a:srgbClr val="292929"/>
                </a:solidFill>
                <a:latin typeface="Calibri"/>
                <a:cs typeface="Calibri"/>
              </a:rPr>
              <a:t> </a:t>
            </a:r>
            <a:r>
              <a:rPr sz="1550" dirty="0">
                <a:solidFill>
                  <a:srgbClr val="292929"/>
                </a:solidFill>
                <a:latin typeface="Calibri"/>
                <a:cs typeface="Calibri"/>
              </a:rPr>
              <a:t>site</a:t>
            </a:r>
            <a:r>
              <a:rPr sz="1550" spc="100" dirty="0">
                <a:solidFill>
                  <a:srgbClr val="292929"/>
                </a:solidFill>
                <a:latin typeface="Calibri"/>
                <a:cs typeface="Calibri"/>
              </a:rPr>
              <a:t> </a:t>
            </a:r>
            <a:r>
              <a:rPr sz="1550" dirty="0">
                <a:solidFill>
                  <a:srgbClr val="292929"/>
                </a:solidFill>
                <a:latin typeface="Calibri"/>
                <a:cs typeface="Calibri"/>
              </a:rPr>
              <a:t>to</a:t>
            </a:r>
            <a:r>
              <a:rPr sz="1550" spc="50" dirty="0">
                <a:solidFill>
                  <a:srgbClr val="292929"/>
                </a:solidFill>
                <a:latin typeface="Calibri"/>
                <a:cs typeface="Calibri"/>
              </a:rPr>
              <a:t> </a:t>
            </a:r>
            <a:r>
              <a:rPr sz="1550" dirty="0">
                <a:solidFill>
                  <a:srgbClr val="292929"/>
                </a:solidFill>
                <a:latin typeface="Calibri"/>
                <a:cs typeface="Calibri"/>
              </a:rPr>
              <a:t>the</a:t>
            </a:r>
            <a:r>
              <a:rPr sz="1550" spc="105" dirty="0">
                <a:solidFill>
                  <a:srgbClr val="292929"/>
                </a:solidFill>
                <a:latin typeface="Calibri"/>
                <a:cs typeface="Calibri"/>
              </a:rPr>
              <a:t> </a:t>
            </a:r>
            <a:r>
              <a:rPr sz="1550" dirty="0">
                <a:solidFill>
                  <a:srgbClr val="292929"/>
                </a:solidFill>
                <a:latin typeface="Calibri"/>
                <a:cs typeface="Calibri"/>
              </a:rPr>
              <a:t>coast.</a:t>
            </a:r>
            <a:r>
              <a:rPr sz="1550" spc="30" dirty="0">
                <a:solidFill>
                  <a:srgbClr val="292929"/>
                </a:solidFill>
                <a:latin typeface="Calibri"/>
                <a:cs typeface="Calibri"/>
              </a:rPr>
              <a:t> </a:t>
            </a:r>
            <a:r>
              <a:rPr sz="1550" dirty="0">
                <a:solidFill>
                  <a:srgbClr val="292929"/>
                </a:solidFill>
                <a:latin typeface="Calibri"/>
                <a:cs typeface="Calibri"/>
              </a:rPr>
              <a:t>This</a:t>
            </a:r>
            <a:r>
              <a:rPr sz="1550" spc="45" dirty="0">
                <a:solidFill>
                  <a:srgbClr val="292929"/>
                </a:solidFill>
                <a:latin typeface="Calibri"/>
                <a:cs typeface="Calibri"/>
              </a:rPr>
              <a:t> </a:t>
            </a:r>
            <a:r>
              <a:rPr sz="1550" dirty="0">
                <a:solidFill>
                  <a:srgbClr val="292929"/>
                </a:solidFill>
                <a:latin typeface="Calibri"/>
                <a:cs typeface="Calibri"/>
              </a:rPr>
              <a:t>close</a:t>
            </a:r>
            <a:r>
              <a:rPr sz="1550" spc="105" dirty="0">
                <a:solidFill>
                  <a:srgbClr val="292929"/>
                </a:solidFill>
                <a:latin typeface="Calibri"/>
                <a:cs typeface="Calibri"/>
              </a:rPr>
              <a:t> </a:t>
            </a:r>
            <a:r>
              <a:rPr sz="1550" dirty="0">
                <a:solidFill>
                  <a:srgbClr val="292929"/>
                </a:solidFill>
                <a:latin typeface="Calibri"/>
                <a:cs typeface="Calibri"/>
              </a:rPr>
              <a:t>proximity</a:t>
            </a:r>
            <a:r>
              <a:rPr sz="1550" spc="90" dirty="0">
                <a:solidFill>
                  <a:srgbClr val="292929"/>
                </a:solidFill>
                <a:latin typeface="Calibri"/>
                <a:cs typeface="Calibri"/>
              </a:rPr>
              <a:t> </a:t>
            </a:r>
            <a:r>
              <a:rPr sz="1550" spc="-25" dirty="0">
                <a:solidFill>
                  <a:srgbClr val="292929"/>
                </a:solidFill>
                <a:latin typeface="Calibri"/>
                <a:cs typeface="Calibri"/>
              </a:rPr>
              <a:t>to </a:t>
            </a:r>
            <a:r>
              <a:rPr sz="1550" dirty="0">
                <a:solidFill>
                  <a:srgbClr val="292929"/>
                </a:solidFill>
                <a:latin typeface="Calibri"/>
                <a:cs typeface="Calibri"/>
              </a:rPr>
              <a:t>the</a:t>
            </a:r>
            <a:r>
              <a:rPr sz="1550" spc="120" dirty="0">
                <a:solidFill>
                  <a:srgbClr val="292929"/>
                </a:solidFill>
                <a:latin typeface="Calibri"/>
                <a:cs typeface="Calibri"/>
              </a:rPr>
              <a:t> </a:t>
            </a:r>
            <a:r>
              <a:rPr sz="1550" dirty="0">
                <a:solidFill>
                  <a:srgbClr val="292929"/>
                </a:solidFill>
                <a:latin typeface="Calibri"/>
                <a:cs typeface="Calibri"/>
              </a:rPr>
              <a:t>coastline</a:t>
            </a:r>
            <a:r>
              <a:rPr sz="1550" spc="114" dirty="0">
                <a:solidFill>
                  <a:srgbClr val="292929"/>
                </a:solidFill>
                <a:latin typeface="Calibri"/>
                <a:cs typeface="Calibri"/>
              </a:rPr>
              <a:t> </a:t>
            </a:r>
            <a:r>
              <a:rPr sz="1550" dirty="0">
                <a:solidFill>
                  <a:srgbClr val="292929"/>
                </a:solidFill>
                <a:latin typeface="Calibri"/>
                <a:cs typeface="Calibri"/>
              </a:rPr>
              <a:t>is</a:t>
            </a:r>
            <a:r>
              <a:rPr sz="1550" spc="55" dirty="0">
                <a:solidFill>
                  <a:srgbClr val="292929"/>
                </a:solidFill>
                <a:latin typeface="Calibri"/>
                <a:cs typeface="Calibri"/>
              </a:rPr>
              <a:t> </a:t>
            </a:r>
            <a:r>
              <a:rPr sz="1550" dirty="0">
                <a:solidFill>
                  <a:srgbClr val="292929"/>
                </a:solidFill>
                <a:latin typeface="Calibri"/>
                <a:cs typeface="Calibri"/>
              </a:rPr>
              <a:t>typical</a:t>
            </a:r>
            <a:r>
              <a:rPr sz="1550" spc="10" dirty="0">
                <a:solidFill>
                  <a:srgbClr val="292929"/>
                </a:solidFill>
                <a:latin typeface="Calibri"/>
                <a:cs typeface="Calibri"/>
              </a:rPr>
              <a:t> </a:t>
            </a:r>
            <a:r>
              <a:rPr sz="1550" dirty="0">
                <a:solidFill>
                  <a:srgbClr val="292929"/>
                </a:solidFill>
                <a:latin typeface="Calibri"/>
                <a:cs typeface="Calibri"/>
              </a:rPr>
              <a:t>for</a:t>
            </a:r>
            <a:r>
              <a:rPr sz="1550" spc="45" dirty="0">
                <a:solidFill>
                  <a:srgbClr val="292929"/>
                </a:solidFill>
                <a:latin typeface="Calibri"/>
                <a:cs typeface="Calibri"/>
              </a:rPr>
              <a:t> </a:t>
            </a:r>
            <a:r>
              <a:rPr sz="1550" dirty="0">
                <a:solidFill>
                  <a:srgbClr val="292929"/>
                </a:solidFill>
                <a:latin typeface="Calibri"/>
                <a:cs typeface="Calibri"/>
              </a:rPr>
              <a:t>launch</a:t>
            </a:r>
            <a:r>
              <a:rPr sz="1550" spc="70" dirty="0">
                <a:solidFill>
                  <a:srgbClr val="292929"/>
                </a:solidFill>
                <a:latin typeface="Calibri"/>
                <a:cs typeface="Calibri"/>
              </a:rPr>
              <a:t> </a:t>
            </a:r>
            <a:r>
              <a:rPr sz="1550" dirty="0">
                <a:solidFill>
                  <a:srgbClr val="292929"/>
                </a:solidFill>
                <a:latin typeface="Calibri"/>
                <a:cs typeface="Calibri"/>
              </a:rPr>
              <a:t>sites</a:t>
            </a:r>
            <a:r>
              <a:rPr sz="1550" spc="55" dirty="0">
                <a:solidFill>
                  <a:srgbClr val="292929"/>
                </a:solidFill>
                <a:latin typeface="Calibri"/>
                <a:cs typeface="Calibri"/>
              </a:rPr>
              <a:t> </a:t>
            </a:r>
            <a:r>
              <a:rPr sz="1550" dirty="0">
                <a:solidFill>
                  <a:srgbClr val="292929"/>
                </a:solidFill>
                <a:latin typeface="Calibri"/>
                <a:cs typeface="Calibri"/>
              </a:rPr>
              <a:t>to</a:t>
            </a:r>
            <a:r>
              <a:rPr sz="1550" spc="65" dirty="0">
                <a:solidFill>
                  <a:srgbClr val="292929"/>
                </a:solidFill>
                <a:latin typeface="Calibri"/>
                <a:cs typeface="Calibri"/>
              </a:rPr>
              <a:t> </a:t>
            </a:r>
            <a:r>
              <a:rPr sz="1550" spc="-10" dirty="0">
                <a:solidFill>
                  <a:srgbClr val="292929"/>
                </a:solidFill>
                <a:latin typeface="Calibri"/>
                <a:cs typeface="Calibri"/>
              </a:rPr>
              <a:t>facilitate </a:t>
            </a:r>
            <a:r>
              <a:rPr sz="1550" dirty="0">
                <a:solidFill>
                  <a:srgbClr val="292929"/>
                </a:solidFill>
                <a:latin typeface="Calibri"/>
                <a:cs typeface="Calibri"/>
              </a:rPr>
              <a:t>over-water</a:t>
            </a:r>
            <a:r>
              <a:rPr sz="1550" spc="50" dirty="0">
                <a:solidFill>
                  <a:srgbClr val="292929"/>
                </a:solidFill>
                <a:latin typeface="Calibri"/>
                <a:cs typeface="Calibri"/>
              </a:rPr>
              <a:t> </a:t>
            </a:r>
            <a:r>
              <a:rPr sz="1550" dirty="0">
                <a:solidFill>
                  <a:srgbClr val="292929"/>
                </a:solidFill>
                <a:latin typeface="Calibri"/>
                <a:cs typeface="Calibri"/>
              </a:rPr>
              <a:t>flight</a:t>
            </a:r>
            <a:r>
              <a:rPr sz="1550" spc="75" dirty="0">
                <a:solidFill>
                  <a:srgbClr val="292929"/>
                </a:solidFill>
                <a:latin typeface="Calibri"/>
                <a:cs typeface="Calibri"/>
              </a:rPr>
              <a:t> </a:t>
            </a:r>
            <a:r>
              <a:rPr sz="1550" dirty="0">
                <a:solidFill>
                  <a:srgbClr val="292929"/>
                </a:solidFill>
                <a:latin typeface="Calibri"/>
                <a:cs typeface="Calibri"/>
              </a:rPr>
              <a:t>paths</a:t>
            </a:r>
            <a:r>
              <a:rPr sz="1550" spc="60" dirty="0">
                <a:solidFill>
                  <a:srgbClr val="292929"/>
                </a:solidFill>
                <a:latin typeface="Calibri"/>
                <a:cs typeface="Calibri"/>
              </a:rPr>
              <a:t> </a:t>
            </a:r>
            <a:r>
              <a:rPr sz="1550" dirty="0">
                <a:solidFill>
                  <a:srgbClr val="292929"/>
                </a:solidFill>
                <a:latin typeface="Calibri"/>
                <a:cs typeface="Calibri"/>
              </a:rPr>
              <a:t>and</a:t>
            </a:r>
            <a:r>
              <a:rPr sz="1550" spc="75" dirty="0">
                <a:solidFill>
                  <a:srgbClr val="292929"/>
                </a:solidFill>
                <a:latin typeface="Calibri"/>
                <a:cs typeface="Calibri"/>
              </a:rPr>
              <a:t> </a:t>
            </a:r>
            <a:r>
              <a:rPr sz="1550" dirty="0">
                <a:solidFill>
                  <a:srgbClr val="292929"/>
                </a:solidFill>
                <a:latin typeface="Calibri"/>
                <a:cs typeface="Calibri"/>
              </a:rPr>
              <a:t>safe</a:t>
            </a:r>
            <a:r>
              <a:rPr sz="1550" spc="130" dirty="0">
                <a:solidFill>
                  <a:srgbClr val="292929"/>
                </a:solidFill>
                <a:latin typeface="Calibri"/>
                <a:cs typeface="Calibri"/>
              </a:rPr>
              <a:t> </a:t>
            </a:r>
            <a:r>
              <a:rPr sz="1550" spc="-10" dirty="0">
                <a:solidFill>
                  <a:srgbClr val="292929"/>
                </a:solidFill>
                <a:latin typeface="Calibri"/>
                <a:cs typeface="Calibri"/>
              </a:rPr>
              <a:t>recovery </a:t>
            </a:r>
            <a:r>
              <a:rPr sz="1550" dirty="0">
                <a:solidFill>
                  <a:srgbClr val="292929"/>
                </a:solidFill>
                <a:latin typeface="Calibri"/>
                <a:cs typeface="Calibri"/>
              </a:rPr>
              <a:t>operations,</a:t>
            </a:r>
            <a:r>
              <a:rPr sz="1550" spc="85" dirty="0">
                <a:solidFill>
                  <a:srgbClr val="292929"/>
                </a:solidFill>
                <a:latin typeface="Calibri"/>
                <a:cs typeface="Calibri"/>
              </a:rPr>
              <a:t> </a:t>
            </a:r>
            <a:r>
              <a:rPr sz="1550" dirty="0">
                <a:solidFill>
                  <a:srgbClr val="292929"/>
                </a:solidFill>
                <a:latin typeface="Calibri"/>
                <a:cs typeface="Calibri"/>
              </a:rPr>
              <a:t>ensuring</a:t>
            </a:r>
            <a:r>
              <a:rPr sz="1550" spc="114" dirty="0">
                <a:solidFill>
                  <a:srgbClr val="292929"/>
                </a:solidFill>
                <a:latin typeface="Calibri"/>
                <a:cs typeface="Calibri"/>
              </a:rPr>
              <a:t> </a:t>
            </a:r>
            <a:r>
              <a:rPr sz="1550" dirty="0">
                <a:solidFill>
                  <a:srgbClr val="292929"/>
                </a:solidFill>
                <a:latin typeface="Calibri"/>
                <a:cs typeface="Calibri"/>
              </a:rPr>
              <a:t>minimal</a:t>
            </a:r>
            <a:r>
              <a:rPr sz="1550" spc="125" dirty="0">
                <a:solidFill>
                  <a:srgbClr val="292929"/>
                </a:solidFill>
                <a:latin typeface="Calibri"/>
                <a:cs typeface="Calibri"/>
              </a:rPr>
              <a:t> </a:t>
            </a:r>
            <a:r>
              <a:rPr sz="1550" dirty="0">
                <a:solidFill>
                  <a:srgbClr val="292929"/>
                </a:solidFill>
                <a:latin typeface="Calibri"/>
                <a:cs typeface="Calibri"/>
              </a:rPr>
              <a:t>risk</a:t>
            </a:r>
            <a:r>
              <a:rPr sz="1550" spc="145" dirty="0">
                <a:solidFill>
                  <a:srgbClr val="292929"/>
                </a:solidFill>
                <a:latin typeface="Calibri"/>
                <a:cs typeface="Calibri"/>
              </a:rPr>
              <a:t> </a:t>
            </a:r>
            <a:r>
              <a:rPr sz="1550" dirty="0">
                <a:solidFill>
                  <a:srgbClr val="292929"/>
                </a:solidFill>
                <a:latin typeface="Calibri"/>
                <a:cs typeface="Calibri"/>
              </a:rPr>
              <a:t>to</a:t>
            </a:r>
            <a:r>
              <a:rPr sz="1550" spc="95" dirty="0">
                <a:solidFill>
                  <a:srgbClr val="292929"/>
                </a:solidFill>
                <a:latin typeface="Calibri"/>
                <a:cs typeface="Calibri"/>
              </a:rPr>
              <a:t> </a:t>
            </a:r>
            <a:r>
              <a:rPr sz="1550" spc="-10" dirty="0">
                <a:solidFill>
                  <a:srgbClr val="292929"/>
                </a:solidFill>
                <a:latin typeface="Calibri"/>
                <a:cs typeface="Calibri"/>
              </a:rPr>
              <a:t>populated areas.</a:t>
            </a:r>
            <a:endParaRPr sz="1550">
              <a:latin typeface="Calibri"/>
              <a:cs typeface="Calibri"/>
            </a:endParaRPr>
          </a:p>
        </p:txBody>
      </p:sp>
      <p:sp>
        <p:nvSpPr>
          <p:cNvPr id="4" name="object 4"/>
          <p:cNvSpPr txBox="1">
            <a:spLocks noGrp="1"/>
          </p:cNvSpPr>
          <p:nvPr>
            <p:ph type="title"/>
          </p:nvPr>
        </p:nvSpPr>
        <p:spPr>
          <a:prstGeom prst="rect">
            <a:avLst/>
          </a:prstGeom>
        </p:spPr>
        <p:txBody>
          <a:bodyPr vert="horz" wrap="square" lIns="0" tIns="216598" rIns="0" bIns="0" rtlCol="0">
            <a:spAutoFit/>
          </a:bodyPr>
          <a:lstStyle/>
          <a:p>
            <a:pPr marL="83185">
              <a:lnSpc>
                <a:spcPct val="100000"/>
              </a:lnSpc>
              <a:spcBef>
                <a:spcPts val="125"/>
              </a:spcBef>
            </a:pPr>
            <a:r>
              <a:rPr sz="2450" spc="-100" dirty="0">
                <a:solidFill>
                  <a:srgbClr val="005392"/>
                </a:solidFill>
              </a:rPr>
              <a:t>Task</a:t>
            </a:r>
            <a:r>
              <a:rPr sz="2450" spc="-20" dirty="0">
                <a:solidFill>
                  <a:srgbClr val="005392"/>
                </a:solidFill>
              </a:rPr>
              <a:t> </a:t>
            </a:r>
            <a:r>
              <a:rPr sz="2450" dirty="0">
                <a:solidFill>
                  <a:srgbClr val="005392"/>
                </a:solidFill>
              </a:rPr>
              <a:t>3:</a:t>
            </a:r>
            <a:r>
              <a:rPr sz="2450" spc="30" dirty="0">
                <a:solidFill>
                  <a:srgbClr val="005392"/>
                </a:solidFill>
              </a:rPr>
              <a:t> </a:t>
            </a:r>
            <a:r>
              <a:rPr sz="2450" spc="-60" dirty="0">
                <a:solidFill>
                  <a:srgbClr val="005392"/>
                </a:solidFill>
              </a:rPr>
              <a:t>Calculate</a:t>
            </a:r>
            <a:r>
              <a:rPr sz="2450" spc="30" dirty="0">
                <a:solidFill>
                  <a:srgbClr val="005392"/>
                </a:solidFill>
              </a:rPr>
              <a:t> </a:t>
            </a:r>
            <a:r>
              <a:rPr sz="2450" dirty="0">
                <a:solidFill>
                  <a:srgbClr val="005392"/>
                </a:solidFill>
              </a:rPr>
              <a:t>the</a:t>
            </a:r>
            <a:r>
              <a:rPr sz="2450" spc="30" dirty="0">
                <a:solidFill>
                  <a:srgbClr val="005392"/>
                </a:solidFill>
              </a:rPr>
              <a:t> </a:t>
            </a:r>
            <a:r>
              <a:rPr sz="2450" spc="-40" dirty="0">
                <a:solidFill>
                  <a:srgbClr val="005392"/>
                </a:solidFill>
              </a:rPr>
              <a:t>distances</a:t>
            </a:r>
            <a:r>
              <a:rPr sz="2450" spc="-35" dirty="0">
                <a:solidFill>
                  <a:srgbClr val="005392"/>
                </a:solidFill>
              </a:rPr>
              <a:t> </a:t>
            </a:r>
            <a:r>
              <a:rPr sz="2450" spc="-10" dirty="0">
                <a:solidFill>
                  <a:srgbClr val="005392"/>
                </a:solidFill>
              </a:rPr>
              <a:t>between</a:t>
            </a:r>
            <a:r>
              <a:rPr sz="2450" spc="30" dirty="0">
                <a:solidFill>
                  <a:srgbClr val="005392"/>
                </a:solidFill>
              </a:rPr>
              <a:t> </a:t>
            </a:r>
            <a:r>
              <a:rPr sz="2450" dirty="0">
                <a:solidFill>
                  <a:srgbClr val="005392"/>
                </a:solidFill>
              </a:rPr>
              <a:t>a</a:t>
            </a:r>
            <a:r>
              <a:rPr sz="2450" spc="-20" dirty="0">
                <a:solidFill>
                  <a:srgbClr val="005392"/>
                </a:solidFill>
              </a:rPr>
              <a:t> </a:t>
            </a:r>
            <a:r>
              <a:rPr sz="2450" spc="-30" dirty="0">
                <a:solidFill>
                  <a:srgbClr val="005392"/>
                </a:solidFill>
              </a:rPr>
              <a:t>launch</a:t>
            </a:r>
            <a:r>
              <a:rPr sz="2450" spc="-35" dirty="0">
                <a:solidFill>
                  <a:srgbClr val="005392"/>
                </a:solidFill>
              </a:rPr>
              <a:t> </a:t>
            </a:r>
            <a:r>
              <a:rPr sz="2450" dirty="0">
                <a:solidFill>
                  <a:srgbClr val="005392"/>
                </a:solidFill>
              </a:rPr>
              <a:t>site</a:t>
            </a:r>
            <a:r>
              <a:rPr sz="2450" spc="30" dirty="0">
                <a:solidFill>
                  <a:srgbClr val="005392"/>
                </a:solidFill>
              </a:rPr>
              <a:t> </a:t>
            </a:r>
            <a:r>
              <a:rPr sz="2450" dirty="0">
                <a:solidFill>
                  <a:srgbClr val="005392"/>
                </a:solidFill>
              </a:rPr>
              <a:t>to</a:t>
            </a:r>
            <a:r>
              <a:rPr sz="2450" spc="45" dirty="0">
                <a:solidFill>
                  <a:srgbClr val="005392"/>
                </a:solidFill>
              </a:rPr>
              <a:t> </a:t>
            </a:r>
            <a:r>
              <a:rPr sz="2450" dirty="0">
                <a:solidFill>
                  <a:srgbClr val="005392"/>
                </a:solidFill>
              </a:rPr>
              <a:t>its</a:t>
            </a:r>
            <a:r>
              <a:rPr sz="2450" spc="-35" dirty="0">
                <a:solidFill>
                  <a:srgbClr val="005392"/>
                </a:solidFill>
              </a:rPr>
              <a:t> </a:t>
            </a:r>
            <a:r>
              <a:rPr sz="2450" spc="-10" dirty="0">
                <a:solidFill>
                  <a:srgbClr val="005392"/>
                </a:solidFill>
              </a:rPr>
              <a:t>proximities</a:t>
            </a:r>
            <a:endParaRPr sz="2450"/>
          </a:p>
        </p:txBody>
      </p:sp>
      <p:grpSp>
        <p:nvGrpSpPr>
          <p:cNvPr id="5" name="object 5"/>
          <p:cNvGrpSpPr/>
          <p:nvPr/>
        </p:nvGrpSpPr>
        <p:grpSpPr>
          <a:xfrm>
            <a:off x="1762125" y="1276350"/>
            <a:ext cx="9305925" cy="5153025"/>
            <a:chOff x="1762125" y="1276350"/>
            <a:chExt cx="9305925" cy="5153025"/>
          </a:xfrm>
        </p:grpSpPr>
        <p:pic>
          <p:nvPicPr>
            <p:cNvPr id="6" name="object 6"/>
            <p:cNvPicPr/>
            <p:nvPr/>
          </p:nvPicPr>
          <p:blipFill>
            <a:blip r:embed="rId2" cstate="print"/>
            <a:stretch>
              <a:fillRect/>
            </a:stretch>
          </p:blipFill>
          <p:spPr>
            <a:xfrm>
              <a:off x="5314950" y="1276350"/>
              <a:ext cx="5753100" cy="3438525"/>
            </a:xfrm>
            <a:prstGeom prst="rect">
              <a:avLst/>
            </a:prstGeom>
          </p:spPr>
        </p:pic>
        <p:pic>
          <p:nvPicPr>
            <p:cNvPr id="7" name="object 7"/>
            <p:cNvPicPr/>
            <p:nvPr/>
          </p:nvPicPr>
          <p:blipFill>
            <a:blip r:embed="rId3" cstate="print"/>
            <a:stretch>
              <a:fillRect/>
            </a:stretch>
          </p:blipFill>
          <p:spPr>
            <a:xfrm>
              <a:off x="1762125" y="4705350"/>
              <a:ext cx="9296400" cy="1724025"/>
            </a:xfrm>
            <a:prstGeom prst="rect">
              <a:avLst/>
            </a:prstGeom>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sp>
          <p:nvSpPr>
            <p:cNvPr id="4" name="object 4"/>
            <p:cNvSpPr/>
            <p:nvPr/>
          </p:nvSpPr>
          <p:spPr>
            <a:xfrm>
              <a:off x="800100" y="2533650"/>
              <a:ext cx="1057275" cy="361950"/>
            </a:xfrm>
            <a:custGeom>
              <a:avLst/>
              <a:gdLst/>
              <a:ahLst/>
              <a:cxnLst/>
              <a:rect l="l" t="t" r="r" b="b"/>
              <a:pathLst>
                <a:path w="1057275" h="361950">
                  <a:moveTo>
                    <a:pt x="1057275" y="0"/>
                  </a:moveTo>
                  <a:lnTo>
                    <a:pt x="0" y="0"/>
                  </a:lnTo>
                  <a:lnTo>
                    <a:pt x="0" y="361950"/>
                  </a:lnTo>
                  <a:lnTo>
                    <a:pt x="1057275" y="361950"/>
                  </a:lnTo>
                  <a:lnTo>
                    <a:pt x="1057275" y="0"/>
                  </a:lnTo>
                  <a:close/>
                </a:path>
              </a:pathLst>
            </a:custGeom>
            <a:solidFill>
              <a:srgbClr val="0947CA"/>
            </a:solidFill>
          </p:spPr>
          <p:txBody>
            <a:bodyPr wrap="square" lIns="0" tIns="0" rIns="0" bIns="0" rtlCol="0"/>
            <a:lstStyle/>
            <a:p>
              <a:endParaRPr/>
            </a:p>
          </p:txBody>
        </p:sp>
      </p:grpSp>
      <p:sp>
        <p:nvSpPr>
          <p:cNvPr id="5" name="object 5"/>
          <p:cNvSpPr txBox="1"/>
          <p:nvPr/>
        </p:nvSpPr>
        <p:spPr>
          <a:xfrm>
            <a:off x="877252" y="2547302"/>
            <a:ext cx="88646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Section</a:t>
            </a:r>
            <a:r>
              <a:rPr sz="1800" spc="35" dirty="0">
                <a:solidFill>
                  <a:srgbClr val="FFFFFF"/>
                </a:solidFill>
                <a:latin typeface="Calibri"/>
                <a:cs typeface="Calibri"/>
              </a:rPr>
              <a:t> </a:t>
            </a:r>
            <a:r>
              <a:rPr sz="1800" spc="-50" dirty="0">
                <a:solidFill>
                  <a:srgbClr val="FFFFFF"/>
                </a:solidFill>
                <a:latin typeface="Calibri"/>
                <a:cs typeface="Calibri"/>
              </a:rPr>
              <a:t>4</a:t>
            </a:r>
            <a:endParaRPr sz="1800">
              <a:latin typeface="Calibri"/>
              <a:cs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2057" y="543560"/>
            <a:ext cx="2677160" cy="1303655"/>
          </a:xfrm>
          <a:prstGeom prst="rect">
            <a:avLst/>
          </a:prstGeom>
        </p:spPr>
        <p:txBody>
          <a:bodyPr vert="horz" wrap="square" lIns="0" tIns="60325" rIns="0" bIns="0" rtlCol="0">
            <a:spAutoFit/>
          </a:bodyPr>
          <a:lstStyle/>
          <a:p>
            <a:pPr marL="12700" marR="5080">
              <a:lnSpc>
                <a:spcPct val="89700"/>
              </a:lnSpc>
              <a:spcBef>
                <a:spcPts val="475"/>
              </a:spcBef>
            </a:pPr>
            <a:r>
              <a:rPr sz="3000" dirty="0">
                <a:solidFill>
                  <a:srgbClr val="000000"/>
                </a:solidFill>
                <a:latin typeface="Calibri Light"/>
                <a:cs typeface="Calibri Light"/>
              </a:rPr>
              <a:t>Launch</a:t>
            </a:r>
            <a:r>
              <a:rPr sz="3000" spc="-80" dirty="0">
                <a:solidFill>
                  <a:srgbClr val="000000"/>
                </a:solidFill>
                <a:latin typeface="Calibri Light"/>
                <a:cs typeface="Calibri Light"/>
              </a:rPr>
              <a:t> </a:t>
            </a:r>
            <a:r>
              <a:rPr sz="3000" spc="-10" dirty="0">
                <a:solidFill>
                  <a:srgbClr val="000000"/>
                </a:solidFill>
                <a:latin typeface="Calibri Light"/>
                <a:cs typeface="Calibri Light"/>
              </a:rPr>
              <a:t>Success </a:t>
            </a:r>
            <a:r>
              <a:rPr sz="3000" dirty="0">
                <a:solidFill>
                  <a:srgbClr val="000000"/>
                </a:solidFill>
                <a:latin typeface="Calibri Light"/>
                <a:cs typeface="Calibri Light"/>
              </a:rPr>
              <a:t>Count</a:t>
            </a:r>
            <a:r>
              <a:rPr sz="3000" spc="-35" dirty="0">
                <a:solidFill>
                  <a:srgbClr val="000000"/>
                </a:solidFill>
                <a:latin typeface="Calibri Light"/>
                <a:cs typeface="Calibri Light"/>
              </a:rPr>
              <a:t> </a:t>
            </a:r>
            <a:r>
              <a:rPr sz="3000" dirty="0">
                <a:solidFill>
                  <a:srgbClr val="000000"/>
                </a:solidFill>
                <a:latin typeface="Calibri Light"/>
                <a:cs typeface="Calibri Light"/>
              </a:rPr>
              <a:t>for</a:t>
            </a:r>
            <a:r>
              <a:rPr sz="3000" spc="-75" dirty="0">
                <a:solidFill>
                  <a:srgbClr val="000000"/>
                </a:solidFill>
                <a:latin typeface="Calibri Light"/>
                <a:cs typeface="Calibri Light"/>
              </a:rPr>
              <a:t> </a:t>
            </a:r>
            <a:r>
              <a:rPr sz="3000" dirty="0">
                <a:solidFill>
                  <a:srgbClr val="000000"/>
                </a:solidFill>
                <a:latin typeface="Calibri Light"/>
                <a:cs typeface="Calibri Light"/>
              </a:rPr>
              <a:t>all</a:t>
            </a:r>
            <a:r>
              <a:rPr sz="3000" spc="-80" dirty="0">
                <a:solidFill>
                  <a:srgbClr val="000000"/>
                </a:solidFill>
                <a:latin typeface="Calibri Light"/>
                <a:cs typeface="Calibri Light"/>
              </a:rPr>
              <a:t> </a:t>
            </a:r>
            <a:r>
              <a:rPr sz="3000" spc="-20" dirty="0">
                <a:solidFill>
                  <a:srgbClr val="000000"/>
                </a:solidFill>
                <a:latin typeface="Calibri Light"/>
                <a:cs typeface="Calibri Light"/>
              </a:rPr>
              <a:t>sites </a:t>
            </a:r>
            <a:r>
              <a:rPr sz="3000" dirty="0">
                <a:solidFill>
                  <a:srgbClr val="000000"/>
                </a:solidFill>
                <a:latin typeface="Calibri Light"/>
                <a:cs typeface="Calibri Light"/>
              </a:rPr>
              <a:t>(in</a:t>
            </a:r>
            <a:r>
              <a:rPr sz="3000" spc="-30" dirty="0">
                <a:solidFill>
                  <a:srgbClr val="000000"/>
                </a:solidFill>
                <a:latin typeface="Calibri Light"/>
                <a:cs typeface="Calibri Light"/>
              </a:rPr>
              <a:t> </a:t>
            </a:r>
            <a:r>
              <a:rPr sz="3000" dirty="0">
                <a:solidFill>
                  <a:srgbClr val="000000"/>
                </a:solidFill>
                <a:latin typeface="Calibri Light"/>
                <a:cs typeface="Calibri Light"/>
              </a:rPr>
              <a:t>a</a:t>
            </a:r>
            <a:r>
              <a:rPr sz="3000" spc="-35" dirty="0">
                <a:solidFill>
                  <a:srgbClr val="000000"/>
                </a:solidFill>
                <a:latin typeface="Calibri Light"/>
                <a:cs typeface="Calibri Light"/>
              </a:rPr>
              <a:t> </a:t>
            </a:r>
            <a:r>
              <a:rPr sz="3000" dirty="0">
                <a:solidFill>
                  <a:srgbClr val="000000"/>
                </a:solidFill>
                <a:latin typeface="Calibri Light"/>
                <a:cs typeface="Calibri Light"/>
              </a:rPr>
              <a:t>pie</a:t>
            </a:r>
            <a:r>
              <a:rPr sz="3000" spc="-30" dirty="0">
                <a:solidFill>
                  <a:srgbClr val="000000"/>
                </a:solidFill>
                <a:latin typeface="Calibri Light"/>
                <a:cs typeface="Calibri Light"/>
              </a:rPr>
              <a:t> </a:t>
            </a:r>
            <a:r>
              <a:rPr sz="3000" spc="-10" dirty="0">
                <a:solidFill>
                  <a:srgbClr val="000000"/>
                </a:solidFill>
                <a:latin typeface="Calibri Light"/>
                <a:cs typeface="Calibri Light"/>
              </a:rPr>
              <a:t>chart)</a:t>
            </a:r>
            <a:endParaRPr sz="3000">
              <a:latin typeface="Calibri Light"/>
              <a:cs typeface="Calibri Light"/>
            </a:endParaRPr>
          </a:p>
        </p:txBody>
      </p:sp>
      <p:grpSp>
        <p:nvGrpSpPr>
          <p:cNvPr id="3" name="object 3"/>
          <p:cNvGrpSpPr/>
          <p:nvPr/>
        </p:nvGrpSpPr>
        <p:grpSpPr>
          <a:xfrm>
            <a:off x="4305038" y="435927"/>
            <a:ext cx="78740" cy="1595120"/>
            <a:chOff x="4305038" y="435927"/>
            <a:chExt cx="78740" cy="1595120"/>
          </a:xfrm>
        </p:grpSpPr>
        <p:sp>
          <p:nvSpPr>
            <p:cNvPr id="4" name="object 4"/>
            <p:cNvSpPr/>
            <p:nvPr/>
          </p:nvSpPr>
          <p:spPr>
            <a:xfrm>
              <a:off x="4326741" y="456565"/>
              <a:ext cx="43815" cy="1554480"/>
            </a:xfrm>
            <a:custGeom>
              <a:avLst/>
              <a:gdLst/>
              <a:ahLst/>
              <a:cxnLst/>
              <a:rect l="l" t="t" r="r" b="b"/>
              <a:pathLst>
                <a:path w="43814" h="1554480">
                  <a:moveTo>
                    <a:pt x="16277" y="0"/>
                  </a:moveTo>
                  <a:lnTo>
                    <a:pt x="7133" y="635"/>
                  </a:lnTo>
                  <a:lnTo>
                    <a:pt x="12424" y="79658"/>
                  </a:lnTo>
                  <a:lnTo>
                    <a:pt x="14550" y="120149"/>
                  </a:lnTo>
                  <a:lnTo>
                    <a:pt x="16149" y="162668"/>
                  </a:lnTo>
                  <a:lnTo>
                    <a:pt x="17086" y="208248"/>
                  </a:lnTo>
                  <a:lnTo>
                    <a:pt x="17228" y="257919"/>
                  </a:lnTo>
                  <a:lnTo>
                    <a:pt x="16438" y="312714"/>
                  </a:lnTo>
                  <a:lnTo>
                    <a:pt x="14582" y="373665"/>
                  </a:lnTo>
                  <a:lnTo>
                    <a:pt x="11525" y="441803"/>
                  </a:lnTo>
                  <a:lnTo>
                    <a:pt x="3331" y="586187"/>
                  </a:lnTo>
                  <a:lnTo>
                    <a:pt x="1043" y="644658"/>
                  </a:lnTo>
                  <a:lnTo>
                    <a:pt x="16" y="695548"/>
                  </a:lnTo>
                  <a:lnTo>
                    <a:pt x="0" y="740830"/>
                  </a:lnTo>
                  <a:lnTo>
                    <a:pt x="744" y="782480"/>
                  </a:lnTo>
                  <a:lnTo>
                    <a:pt x="1998" y="822472"/>
                  </a:lnTo>
                  <a:lnTo>
                    <a:pt x="5031" y="905381"/>
                  </a:lnTo>
                  <a:lnTo>
                    <a:pt x="6308" y="952246"/>
                  </a:lnTo>
                  <a:lnTo>
                    <a:pt x="7093" y="1005352"/>
                  </a:lnTo>
                  <a:lnTo>
                    <a:pt x="6934" y="1133318"/>
                  </a:lnTo>
                  <a:lnTo>
                    <a:pt x="7157" y="1189425"/>
                  </a:lnTo>
                  <a:lnTo>
                    <a:pt x="7661" y="1237445"/>
                  </a:lnTo>
                  <a:lnTo>
                    <a:pt x="9437" y="1357516"/>
                  </a:lnTo>
                  <a:lnTo>
                    <a:pt x="9645" y="1397719"/>
                  </a:lnTo>
                  <a:lnTo>
                    <a:pt x="9425" y="1442101"/>
                  </a:lnTo>
                  <a:lnTo>
                    <a:pt x="8635" y="1493113"/>
                  </a:lnTo>
                  <a:lnTo>
                    <a:pt x="7133" y="1553210"/>
                  </a:lnTo>
                  <a:lnTo>
                    <a:pt x="12340" y="1554099"/>
                  </a:lnTo>
                  <a:lnTo>
                    <a:pt x="26183" y="1553210"/>
                  </a:lnTo>
                  <a:lnTo>
                    <a:pt x="24216" y="1479001"/>
                  </a:lnTo>
                  <a:lnTo>
                    <a:pt x="16333" y="1241217"/>
                  </a:lnTo>
                  <a:lnTo>
                    <a:pt x="15345" y="1192528"/>
                  </a:lnTo>
                  <a:lnTo>
                    <a:pt x="15146" y="1146540"/>
                  </a:lnTo>
                  <a:lnTo>
                    <a:pt x="15933" y="1102453"/>
                  </a:lnTo>
                  <a:lnTo>
                    <a:pt x="17903" y="1059464"/>
                  </a:lnTo>
                  <a:lnTo>
                    <a:pt x="21254" y="1016774"/>
                  </a:lnTo>
                  <a:lnTo>
                    <a:pt x="32572" y="919669"/>
                  </a:lnTo>
                  <a:lnTo>
                    <a:pt x="37546" y="865085"/>
                  </a:lnTo>
                  <a:lnTo>
                    <a:pt x="41028" y="810288"/>
                  </a:lnTo>
                  <a:lnTo>
                    <a:pt x="42939" y="755735"/>
                  </a:lnTo>
                  <a:lnTo>
                    <a:pt x="43200" y="701885"/>
                  </a:lnTo>
                  <a:lnTo>
                    <a:pt x="41733" y="649195"/>
                  </a:lnTo>
                  <a:lnTo>
                    <a:pt x="38461" y="598124"/>
                  </a:lnTo>
                  <a:lnTo>
                    <a:pt x="33303" y="549128"/>
                  </a:lnTo>
                  <a:lnTo>
                    <a:pt x="20258" y="462514"/>
                  </a:lnTo>
                  <a:lnTo>
                    <a:pt x="16819" y="422535"/>
                  </a:lnTo>
                  <a:lnTo>
                    <a:pt x="15430" y="381825"/>
                  </a:lnTo>
                  <a:lnTo>
                    <a:pt x="15649" y="339484"/>
                  </a:lnTo>
                  <a:lnTo>
                    <a:pt x="17039" y="294608"/>
                  </a:lnTo>
                  <a:lnTo>
                    <a:pt x="21574" y="193644"/>
                  </a:lnTo>
                  <a:lnTo>
                    <a:pt x="23842" y="135751"/>
                  </a:lnTo>
                  <a:lnTo>
                    <a:pt x="25525" y="71716"/>
                  </a:lnTo>
                  <a:lnTo>
                    <a:pt x="26183" y="635"/>
                  </a:lnTo>
                  <a:lnTo>
                    <a:pt x="16277" y="0"/>
                  </a:lnTo>
                  <a:close/>
                </a:path>
              </a:pathLst>
            </a:custGeom>
            <a:solidFill>
              <a:srgbClr val="EC7C30"/>
            </a:solidFill>
          </p:spPr>
          <p:txBody>
            <a:bodyPr wrap="square" lIns="0" tIns="0" rIns="0" bIns="0" rtlCol="0"/>
            <a:lstStyle/>
            <a:p>
              <a:endParaRPr/>
            </a:p>
          </p:txBody>
        </p:sp>
        <p:sp>
          <p:nvSpPr>
            <p:cNvPr id="5" name="object 5"/>
            <p:cNvSpPr/>
            <p:nvPr/>
          </p:nvSpPr>
          <p:spPr>
            <a:xfrm>
              <a:off x="4325675" y="456565"/>
              <a:ext cx="37465" cy="1553845"/>
            </a:xfrm>
            <a:custGeom>
              <a:avLst/>
              <a:gdLst/>
              <a:ahLst/>
              <a:cxnLst/>
              <a:rect l="l" t="t" r="r" b="b"/>
              <a:pathLst>
                <a:path w="37464" h="1553845">
                  <a:moveTo>
                    <a:pt x="27249" y="635"/>
                  </a:moveTo>
                  <a:lnTo>
                    <a:pt x="31955" y="34521"/>
                  </a:lnTo>
                  <a:lnTo>
                    <a:pt x="34952" y="73542"/>
                  </a:lnTo>
                  <a:lnTo>
                    <a:pt x="36496" y="117051"/>
                  </a:lnTo>
                  <a:lnTo>
                    <a:pt x="36843" y="164403"/>
                  </a:lnTo>
                  <a:lnTo>
                    <a:pt x="36249" y="214950"/>
                  </a:lnTo>
                  <a:lnTo>
                    <a:pt x="34969" y="268047"/>
                  </a:lnTo>
                  <a:lnTo>
                    <a:pt x="33260" y="323046"/>
                  </a:lnTo>
                  <a:lnTo>
                    <a:pt x="31378" y="379303"/>
                  </a:lnTo>
                  <a:lnTo>
                    <a:pt x="29578" y="436169"/>
                  </a:lnTo>
                  <a:lnTo>
                    <a:pt x="28116" y="492999"/>
                  </a:lnTo>
                  <a:lnTo>
                    <a:pt x="27249" y="549148"/>
                  </a:lnTo>
                  <a:lnTo>
                    <a:pt x="26983" y="602567"/>
                  </a:lnTo>
                  <a:lnTo>
                    <a:pt x="27084" y="652197"/>
                  </a:lnTo>
                  <a:lnTo>
                    <a:pt x="27448" y="698971"/>
                  </a:lnTo>
                  <a:lnTo>
                    <a:pt x="27970" y="743820"/>
                  </a:lnTo>
                  <a:lnTo>
                    <a:pt x="28546" y="787679"/>
                  </a:lnTo>
                  <a:lnTo>
                    <a:pt x="29069" y="831481"/>
                  </a:lnTo>
                  <a:lnTo>
                    <a:pt x="29437" y="876159"/>
                  </a:lnTo>
                  <a:lnTo>
                    <a:pt x="29543" y="922646"/>
                  </a:lnTo>
                  <a:lnTo>
                    <a:pt x="29284" y="971875"/>
                  </a:lnTo>
                  <a:lnTo>
                    <a:pt x="28554" y="1024780"/>
                  </a:lnTo>
                  <a:lnTo>
                    <a:pt x="27249" y="1082294"/>
                  </a:lnTo>
                  <a:lnTo>
                    <a:pt x="25522" y="1150196"/>
                  </a:lnTo>
                  <a:lnTo>
                    <a:pt x="24300" y="1208607"/>
                  </a:lnTo>
                  <a:lnTo>
                    <a:pt x="23552" y="1259924"/>
                  </a:lnTo>
                  <a:lnTo>
                    <a:pt x="23245" y="1306547"/>
                  </a:lnTo>
                  <a:lnTo>
                    <a:pt x="23350" y="1350875"/>
                  </a:lnTo>
                  <a:lnTo>
                    <a:pt x="23834" y="1395306"/>
                  </a:lnTo>
                  <a:lnTo>
                    <a:pt x="24666" y="1442240"/>
                  </a:lnTo>
                  <a:lnTo>
                    <a:pt x="25815" y="1494075"/>
                  </a:lnTo>
                  <a:lnTo>
                    <a:pt x="27249" y="1553210"/>
                  </a:lnTo>
                  <a:lnTo>
                    <a:pt x="19756" y="1553718"/>
                  </a:lnTo>
                  <a:lnTo>
                    <a:pt x="13025" y="1552702"/>
                  </a:lnTo>
                  <a:lnTo>
                    <a:pt x="8199" y="1553210"/>
                  </a:lnTo>
                  <a:lnTo>
                    <a:pt x="10736" y="1491231"/>
                  </a:lnTo>
                  <a:lnTo>
                    <a:pt x="11125" y="1434066"/>
                  </a:lnTo>
                  <a:lnTo>
                    <a:pt x="9959" y="1381021"/>
                  </a:lnTo>
                  <a:lnTo>
                    <a:pt x="7833" y="1331400"/>
                  </a:lnTo>
                  <a:lnTo>
                    <a:pt x="5341" y="1284509"/>
                  </a:lnTo>
                  <a:lnTo>
                    <a:pt x="3078" y="1239653"/>
                  </a:lnTo>
                  <a:lnTo>
                    <a:pt x="1638" y="1196136"/>
                  </a:lnTo>
                  <a:lnTo>
                    <a:pt x="1615" y="1153263"/>
                  </a:lnTo>
                  <a:lnTo>
                    <a:pt x="3604" y="1110340"/>
                  </a:lnTo>
                  <a:lnTo>
                    <a:pt x="8199" y="1066673"/>
                  </a:lnTo>
                  <a:lnTo>
                    <a:pt x="13565" y="1023128"/>
                  </a:lnTo>
                  <a:lnTo>
                    <a:pt x="17526" y="980322"/>
                  </a:lnTo>
                  <a:lnTo>
                    <a:pt x="20160" y="937293"/>
                  </a:lnTo>
                  <a:lnTo>
                    <a:pt x="21549" y="893081"/>
                  </a:lnTo>
                  <a:lnTo>
                    <a:pt x="21772" y="846724"/>
                  </a:lnTo>
                  <a:lnTo>
                    <a:pt x="20909" y="797263"/>
                  </a:lnTo>
                  <a:lnTo>
                    <a:pt x="19040" y="743735"/>
                  </a:lnTo>
                  <a:lnTo>
                    <a:pt x="16246" y="685181"/>
                  </a:lnTo>
                  <a:lnTo>
                    <a:pt x="12605" y="620638"/>
                  </a:lnTo>
                  <a:lnTo>
                    <a:pt x="8199" y="549148"/>
                  </a:lnTo>
                  <a:lnTo>
                    <a:pt x="4515" y="483413"/>
                  </a:lnTo>
                  <a:lnTo>
                    <a:pt x="2021" y="422628"/>
                  </a:lnTo>
                  <a:lnTo>
                    <a:pt x="566" y="366201"/>
                  </a:lnTo>
                  <a:lnTo>
                    <a:pt x="0" y="313540"/>
                  </a:lnTo>
                  <a:lnTo>
                    <a:pt x="170" y="264053"/>
                  </a:lnTo>
                  <a:lnTo>
                    <a:pt x="925" y="217149"/>
                  </a:lnTo>
                  <a:lnTo>
                    <a:pt x="2115" y="172234"/>
                  </a:lnTo>
                  <a:lnTo>
                    <a:pt x="3589" y="128717"/>
                  </a:lnTo>
                  <a:lnTo>
                    <a:pt x="5195" y="86006"/>
                  </a:lnTo>
                  <a:lnTo>
                    <a:pt x="6782" y="43509"/>
                  </a:lnTo>
                  <a:lnTo>
                    <a:pt x="8199" y="635"/>
                  </a:lnTo>
                  <a:lnTo>
                    <a:pt x="13406" y="0"/>
                  </a:lnTo>
                  <a:lnTo>
                    <a:pt x="22423" y="1397"/>
                  </a:lnTo>
                  <a:lnTo>
                    <a:pt x="27249" y="635"/>
                  </a:lnTo>
                  <a:close/>
                </a:path>
              </a:pathLst>
            </a:custGeom>
            <a:ln w="41275">
              <a:solidFill>
                <a:srgbClr val="EC7C30"/>
              </a:solidFill>
            </a:ln>
          </p:spPr>
          <p:txBody>
            <a:bodyPr wrap="square" lIns="0" tIns="0" rIns="0" bIns="0" rtlCol="0"/>
            <a:lstStyle/>
            <a:p>
              <a:endParaRPr/>
            </a:p>
          </p:txBody>
        </p:sp>
      </p:grpSp>
      <p:sp>
        <p:nvSpPr>
          <p:cNvPr id="6" name="object 6"/>
          <p:cNvSpPr txBox="1"/>
          <p:nvPr/>
        </p:nvSpPr>
        <p:spPr>
          <a:xfrm>
            <a:off x="4656454" y="322834"/>
            <a:ext cx="990600" cy="242570"/>
          </a:xfrm>
          <a:prstGeom prst="rect">
            <a:avLst/>
          </a:prstGeom>
        </p:spPr>
        <p:txBody>
          <a:bodyPr vert="horz" wrap="square" lIns="0" tIns="15875" rIns="0" bIns="0" rtlCol="0">
            <a:spAutoFit/>
          </a:bodyPr>
          <a:lstStyle/>
          <a:p>
            <a:pPr marL="12700">
              <a:lnSpc>
                <a:spcPct val="100000"/>
              </a:lnSpc>
              <a:spcBef>
                <a:spcPts val="125"/>
              </a:spcBef>
            </a:pPr>
            <a:r>
              <a:rPr sz="1400" b="1" dirty="0">
                <a:latin typeface="Calibri"/>
                <a:cs typeface="Calibri"/>
              </a:rPr>
              <a:t>Key</a:t>
            </a:r>
            <a:r>
              <a:rPr sz="1400" b="1" spc="-60" dirty="0">
                <a:latin typeface="Calibri"/>
                <a:cs typeface="Calibri"/>
              </a:rPr>
              <a:t> </a:t>
            </a:r>
            <a:r>
              <a:rPr sz="1400" b="1" spc="-10" dirty="0">
                <a:latin typeface="Calibri"/>
                <a:cs typeface="Calibri"/>
              </a:rPr>
              <a:t>Findings</a:t>
            </a:r>
            <a:r>
              <a:rPr sz="1400" spc="-10" dirty="0">
                <a:latin typeface="Calibri"/>
                <a:cs typeface="Calibri"/>
              </a:rPr>
              <a:t>:</a:t>
            </a:r>
            <a:endParaRPr sz="1400">
              <a:latin typeface="Calibri"/>
              <a:cs typeface="Calibri"/>
            </a:endParaRPr>
          </a:p>
        </p:txBody>
      </p:sp>
      <p:sp>
        <p:nvSpPr>
          <p:cNvPr id="7" name="object 7"/>
          <p:cNvSpPr txBox="1"/>
          <p:nvPr/>
        </p:nvSpPr>
        <p:spPr>
          <a:xfrm>
            <a:off x="4656454" y="534761"/>
            <a:ext cx="6711315" cy="1437005"/>
          </a:xfrm>
          <a:prstGeom prst="rect">
            <a:avLst/>
          </a:prstGeom>
        </p:spPr>
        <p:txBody>
          <a:bodyPr vert="horz" wrap="square" lIns="0" tIns="86995" rIns="0" bIns="0" rtlCol="0">
            <a:spAutoFit/>
          </a:bodyPr>
          <a:lstStyle/>
          <a:p>
            <a:pPr marL="240665" indent="-227965">
              <a:lnSpc>
                <a:spcPct val="100000"/>
              </a:lnSpc>
              <a:spcBef>
                <a:spcPts val="685"/>
              </a:spcBef>
              <a:buFont typeface="Arial MT"/>
              <a:buChar char="•"/>
              <a:tabLst>
                <a:tab pos="240665" algn="l"/>
              </a:tabLst>
            </a:pPr>
            <a:r>
              <a:rPr sz="1200" b="1" dirty="0">
                <a:latin typeface="Calibri"/>
                <a:cs typeface="Calibri"/>
              </a:rPr>
              <a:t>CCAFS</a:t>
            </a:r>
            <a:r>
              <a:rPr sz="1200" b="1" spc="-20" dirty="0">
                <a:latin typeface="Calibri"/>
                <a:cs typeface="Calibri"/>
              </a:rPr>
              <a:t> LC-</a:t>
            </a:r>
            <a:r>
              <a:rPr sz="1200" b="1" dirty="0">
                <a:latin typeface="Calibri"/>
                <a:cs typeface="Calibri"/>
              </a:rPr>
              <a:t>40</a:t>
            </a:r>
            <a:r>
              <a:rPr sz="1200" dirty="0">
                <a:latin typeface="Calibri"/>
                <a:cs typeface="Calibri"/>
              </a:rPr>
              <a:t>:</a:t>
            </a:r>
            <a:r>
              <a:rPr sz="1200" spc="5" dirty="0">
                <a:latin typeface="Calibri"/>
                <a:cs typeface="Calibri"/>
              </a:rPr>
              <a:t> </a:t>
            </a:r>
            <a:r>
              <a:rPr sz="1200" spc="-20" dirty="0">
                <a:latin typeface="Calibri"/>
                <a:cs typeface="Calibri"/>
              </a:rPr>
              <a:t>29.2%</a:t>
            </a:r>
            <a:endParaRPr sz="1200">
              <a:latin typeface="Calibri"/>
              <a:cs typeface="Calibri"/>
            </a:endParaRPr>
          </a:p>
          <a:p>
            <a:pPr marL="240665" indent="-227965">
              <a:lnSpc>
                <a:spcPct val="100000"/>
              </a:lnSpc>
              <a:spcBef>
                <a:spcPts val="585"/>
              </a:spcBef>
              <a:buFont typeface="Arial MT"/>
              <a:buChar char="•"/>
              <a:tabLst>
                <a:tab pos="240665" algn="l"/>
              </a:tabLst>
            </a:pPr>
            <a:r>
              <a:rPr sz="1200" b="1" dirty="0">
                <a:latin typeface="Calibri"/>
                <a:cs typeface="Calibri"/>
              </a:rPr>
              <a:t>CCAFS</a:t>
            </a:r>
            <a:r>
              <a:rPr sz="1200" b="1" spc="-10" dirty="0">
                <a:latin typeface="Calibri"/>
                <a:cs typeface="Calibri"/>
              </a:rPr>
              <a:t> </a:t>
            </a:r>
            <a:r>
              <a:rPr sz="1200" b="1" spc="-20" dirty="0">
                <a:latin typeface="Calibri"/>
                <a:cs typeface="Calibri"/>
              </a:rPr>
              <a:t>SLC-</a:t>
            </a:r>
            <a:r>
              <a:rPr sz="1200" b="1" dirty="0">
                <a:latin typeface="Calibri"/>
                <a:cs typeface="Calibri"/>
              </a:rPr>
              <a:t>40</a:t>
            </a:r>
            <a:r>
              <a:rPr sz="1200" dirty="0">
                <a:latin typeface="Calibri"/>
                <a:cs typeface="Calibri"/>
              </a:rPr>
              <a:t>:</a:t>
            </a:r>
            <a:r>
              <a:rPr sz="1200" spc="10" dirty="0">
                <a:latin typeface="Calibri"/>
                <a:cs typeface="Calibri"/>
              </a:rPr>
              <a:t> </a:t>
            </a:r>
            <a:r>
              <a:rPr sz="1200" spc="-20" dirty="0">
                <a:latin typeface="Calibri"/>
                <a:cs typeface="Calibri"/>
              </a:rPr>
              <a:t>12.5%</a:t>
            </a:r>
            <a:endParaRPr sz="1200">
              <a:latin typeface="Calibri"/>
              <a:cs typeface="Calibri"/>
            </a:endParaRPr>
          </a:p>
          <a:p>
            <a:pPr marL="240665" indent="-227965">
              <a:lnSpc>
                <a:spcPct val="100000"/>
              </a:lnSpc>
              <a:spcBef>
                <a:spcPts val="590"/>
              </a:spcBef>
              <a:buFont typeface="Arial MT"/>
              <a:buChar char="•"/>
              <a:tabLst>
                <a:tab pos="240665" algn="l"/>
              </a:tabLst>
            </a:pPr>
            <a:r>
              <a:rPr sz="1200" b="1" spc="-20" dirty="0">
                <a:latin typeface="Calibri"/>
                <a:cs typeface="Calibri"/>
              </a:rPr>
              <a:t>VAFB</a:t>
            </a:r>
            <a:r>
              <a:rPr sz="1200" b="1" spc="-30" dirty="0">
                <a:latin typeface="Calibri"/>
                <a:cs typeface="Calibri"/>
              </a:rPr>
              <a:t> </a:t>
            </a:r>
            <a:r>
              <a:rPr sz="1200" b="1" spc="-10" dirty="0">
                <a:latin typeface="Calibri"/>
                <a:cs typeface="Calibri"/>
              </a:rPr>
              <a:t>SLC-</a:t>
            </a:r>
            <a:r>
              <a:rPr sz="1200" b="1" dirty="0">
                <a:latin typeface="Calibri"/>
                <a:cs typeface="Calibri"/>
              </a:rPr>
              <a:t>4E</a:t>
            </a:r>
            <a:r>
              <a:rPr sz="1200" dirty="0">
                <a:latin typeface="Calibri"/>
                <a:cs typeface="Calibri"/>
              </a:rPr>
              <a:t>:</a:t>
            </a:r>
            <a:r>
              <a:rPr sz="1200" spc="15" dirty="0">
                <a:latin typeface="Calibri"/>
                <a:cs typeface="Calibri"/>
              </a:rPr>
              <a:t> </a:t>
            </a:r>
            <a:r>
              <a:rPr sz="1200" spc="-20" dirty="0">
                <a:latin typeface="Calibri"/>
                <a:cs typeface="Calibri"/>
              </a:rPr>
              <a:t>16.7%</a:t>
            </a:r>
            <a:endParaRPr sz="1200">
              <a:latin typeface="Calibri"/>
              <a:cs typeface="Calibri"/>
            </a:endParaRPr>
          </a:p>
          <a:p>
            <a:pPr marL="240665" indent="-227965">
              <a:lnSpc>
                <a:spcPct val="100000"/>
              </a:lnSpc>
              <a:spcBef>
                <a:spcPts val="509"/>
              </a:spcBef>
              <a:buFont typeface="Arial MT"/>
              <a:buChar char="•"/>
              <a:tabLst>
                <a:tab pos="240665" algn="l"/>
              </a:tabLst>
            </a:pPr>
            <a:r>
              <a:rPr sz="1200" b="1" dirty="0">
                <a:latin typeface="Calibri"/>
                <a:cs typeface="Calibri"/>
              </a:rPr>
              <a:t>KSC</a:t>
            </a:r>
            <a:r>
              <a:rPr sz="1200" b="1" spc="-30" dirty="0">
                <a:latin typeface="Calibri"/>
                <a:cs typeface="Calibri"/>
              </a:rPr>
              <a:t> </a:t>
            </a:r>
            <a:r>
              <a:rPr sz="1200" b="1" spc="-10" dirty="0">
                <a:latin typeface="Calibri"/>
                <a:cs typeface="Calibri"/>
              </a:rPr>
              <a:t>LC-</a:t>
            </a:r>
            <a:r>
              <a:rPr sz="1200" b="1" dirty="0">
                <a:latin typeface="Calibri"/>
                <a:cs typeface="Calibri"/>
              </a:rPr>
              <a:t>39A</a:t>
            </a:r>
            <a:r>
              <a:rPr sz="1200" dirty="0">
                <a:latin typeface="Calibri"/>
                <a:cs typeface="Calibri"/>
              </a:rPr>
              <a:t>:</a:t>
            </a:r>
            <a:r>
              <a:rPr sz="1200" spc="-15" dirty="0">
                <a:latin typeface="Calibri"/>
                <a:cs typeface="Calibri"/>
              </a:rPr>
              <a:t> </a:t>
            </a:r>
            <a:r>
              <a:rPr sz="1200" spc="-10" dirty="0">
                <a:latin typeface="Calibri"/>
                <a:cs typeface="Calibri"/>
              </a:rPr>
              <a:t>41.7%</a:t>
            </a:r>
            <a:endParaRPr sz="1200">
              <a:latin typeface="Calibri"/>
              <a:cs typeface="Calibri"/>
            </a:endParaRPr>
          </a:p>
          <a:p>
            <a:pPr marL="240665" indent="-227965">
              <a:lnSpc>
                <a:spcPts val="1245"/>
              </a:lnSpc>
              <a:spcBef>
                <a:spcPts val="590"/>
              </a:spcBef>
              <a:buFont typeface="Arial MT"/>
              <a:buChar char="•"/>
              <a:tabLst>
                <a:tab pos="240665" algn="l"/>
              </a:tabLst>
            </a:pPr>
            <a:r>
              <a:rPr sz="1200" dirty="0">
                <a:latin typeface="Calibri"/>
                <a:cs typeface="Calibri"/>
              </a:rPr>
              <a:t>The</a:t>
            </a:r>
            <a:r>
              <a:rPr sz="1200" spc="-15" dirty="0">
                <a:latin typeface="Calibri"/>
                <a:cs typeface="Calibri"/>
              </a:rPr>
              <a:t> </a:t>
            </a:r>
            <a:r>
              <a:rPr sz="1200" b="1" dirty="0">
                <a:latin typeface="Calibri"/>
                <a:cs typeface="Calibri"/>
              </a:rPr>
              <a:t>KSC</a:t>
            </a:r>
            <a:r>
              <a:rPr sz="1200" b="1" spc="-35" dirty="0">
                <a:latin typeface="Calibri"/>
                <a:cs typeface="Calibri"/>
              </a:rPr>
              <a:t> </a:t>
            </a:r>
            <a:r>
              <a:rPr sz="1200" b="1" dirty="0">
                <a:latin typeface="Calibri"/>
                <a:cs typeface="Calibri"/>
              </a:rPr>
              <a:t>LC-39A</a:t>
            </a:r>
            <a:r>
              <a:rPr sz="1200" b="1" spc="-5" dirty="0">
                <a:latin typeface="Calibri"/>
                <a:cs typeface="Calibri"/>
              </a:rPr>
              <a:t> </a:t>
            </a:r>
            <a:r>
              <a:rPr sz="1200" dirty="0">
                <a:latin typeface="Calibri"/>
                <a:cs typeface="Calibri"/>
              </a:rPr>
              <a:t>launch</a:t>
            </a:r>
            <a:r>
              <a:rPr sz="1200" spc="-25" dirty="0">
                <a:latin typeface="Calibri"/>
                <a:cs typeface="Calibri"/>
              </a:rPr>
              <a:t> </a:t>
            </a:r>
            <a:r>
              <a:rPr sz="1200" dirty="0">
                <a:latin typeface="Calibri"/>
                <a:cs typeface="Calibri"/>
              </a:rPr>
              <a:t>site has</a:t>
            </a:r>
            <a:r>
              <a:rPr sz="1200" spc="-15" dirty="0">
                <a:latin typeface="Calibri"/>
                <a:cs typeface="Calibri"/>
              </a:rPr>
              <a:t> </a:t>
            </a:r>
            <a:r>
              <a:rPr sz="1200" dirty="0">
                <a:latin typeface="Calibri"/>
                <a:cs typeface="Calibri"/>
              </a:rPr>
              <a:t>the highest</a:t>
            </a:r>
            <a:r>
              <a:rPr sz="1200" spc="-25" dirty="0">
                <a:latin typeface="Calibri"/>
                <a:cs typeface="Calibri"/>
              </a:rPr>
              <a:t> </a:t>
            </a:r>
            <a:r>
              <a:rPr sz="1200" dirty="0">
                <a:latin typeface="Calibri"/>
                <a:cs typeface="Calibri"/>
              </a:rPr>
              <a:t>number</a:t>
            </a:r>
            <a:r>
              <a:rPr sz="1200" spc="-40" dirty="0">
                <a:latin typeface="Calibri"/>
                <a:cs typeface="Calibri"/>
              </a:rPr>
              <a:t> </a:t>
            </a:r>
            <a:r>
              <a:rPr sz="1200" dirty="0">
                <a:latin typeface="Calibri"/>
                <a:cs typeface="Calibri"/>
              </a:rPr>
              <a:t>of</a:t>
            </a:r>
            <a:r>
              <a:rPr sz="1200" spc="5" dirty="0">
                <a:latin typeface="Calibri"/>
                <a:cs typeface="Calibri"/>
              </a:rPr>
              <a:t> </a:t>
            </a:r>
            <a:r>
              <a:rPr sz="1200" dirty="0">
                <a:latin typeface="Calibri"/>
                <a:cs typeface="Calibri"/>
              </a:rPr>
              <a:t>successful</a:t>
            </a:r>
            <a:r>
              <a:rPr sz="1200" spc="-45" dirty="0">
                <a:latin typeface="Calibri"/>
                <a:cs typeface="Calibri"/>
              </a:rPr>
              <a:t> </a:t>
            </a:r>
            <a:r>
              <a:rPr sz="1200" dirty="0">
                <a:latin typeface="Calibri"/>
                <a:cs typeface="Calibri"/>
              </a:rPr>
              <a:t>launches,</a:t>
            </a:r>
            <a:r>
              <a:rPr sz="1200" spc="5" dirty="0">
                <a:latin typeface="Calibri"/>
                <a:cs typeface="Calibri"/>
              </a:rPr>
              <a:t> </a:t>
            </a:r>
            <a:r>
              <a:rPr sz="1200" dirty="0">
                <a:latin typeface="Calibri"/>
                <a:cs typeface="Calibri"/>
              </a:rPr>
              <a:t>making</a:t>
            </a:r>
            <a:r>
              <a:rPr sz="1200" spc="30" dirty="0">
                <a:latin typeface="Calibri"/>
                <a:cs typeface="Calibri"/>
              </a:rPr>
              <a:t> </a:t>
            </a:r>
            <a:r>
              <a:rPr sz="1200" dirty="0">
                <a:latin typeface="Calibri"/>
                <a:cs typeface="Calibri"/>
              </a:rPr>
              <a:t>up</a:t>
            </a:r>
            <a:r>
              <a:rPr sz="1200" spc="-25" dirty="0">
                <a:latin typeface="Calibri"/>
                <a:cs typeface="Calibri"/>
              </a:rPr>
              <a:t> </a:t>
            </a:r>
            <a:r>
              <a:rPr sz="1200" dirty="0">
                <a:latin typeface="Calibri"/>
                <a:cs typeface="Calibri"/>
              </a:rPr>
              <a:t>41.7%</a:t>
            </a:r>
            <a:r>
              <a:rPr sz="1200" spc="35" dirty="0">
                <a:latin typeface="Calibri"/>
                <a:cs typeface="Calibri"/>
              </a:rPr>
              <a:t> </a:t>
            </a:r>
            <a:r>
              <a:rPr sz="1200" dirty="0">
                <a:latin typeface="Calibri"/>
                <a:cs typeface="Calibri"/>
              </a:rPr>
              <a:t>of</a:t>
            </a:r>
            <a:r>
              <a:rPr sz="1200" spc="5" dirty="0">
                <a:latin typeface="Calibri"/>
                <a:cs typeface="Calibri"/>
              </a:rPr>
              <a:t> </a:t>
            </a:r>
            <a:r>
              <a:rPr sz="1200" dirty="0">
                <a:latin typeface="Calibri"/>
                <a:cs typeface="Calibri"/>
              </a:rPr>
              <a:t>the </a:t>
            </a:r>
            <a:r>
              <a:rPr sz="1200" spc="-10" dirty="0">
                <a:latin typeface="Calibri"/>
                <a:cs typeface="Calibri"/>
              </a:rPr>
              <a:t>total</a:t>
            </a:r>
            <a:endParaRPr sz="1200">
              <a:latin typeface="Calibri"/>
              <a:cs typeface="Calibri"/>
            </a:endParaRPr>
          </a:p>
          <a:p>
            <a:pPr marL="241300">
              <a:lnSpc>
                <a:spcPts val="1245"/>
              </a:lnSpc>
            </a:pPr>
            <a:r>
              <a:rPr sz="1200" dirty="0">
                <a:latin typeface="Calibri"/>
                <a:cs typeface="Calibri"/>
              </a:rPr>
              <a:t>successes.</a:t>
            </a:r>
            <a:r>
              <a:rPr sz="1200" spc="-10" dirty="0">
                <a:latin typeface="Calibri"/>
                <a:cs typeface="Calibri"/>
              </a:rPr>
              <a:t> </a:t>
            </a:r>
            <a:r>
              <a:rPr sz="1200" dirty="0">
                <a:latin typeface="Calibri"/>
                <a:cs typeface="Calibri"/>
              </a:rPr>
              <a:t>This</a:t>
            </a:r>
            <a:r>
              <a:rPr sz="1200" spc="-15" dirty="0">
                <a:latin typeface="Calibri"/>
                <a:cs typeface="Calibri"/>
              </a:rPr>
              <a:t> </a:t>
            </a:r>
            <a:r>
              <a:rPr sz="1200" spc="-10" dirty="0">
                <a:latin typeface="Calibri"/>
                <a:cs typeface="Calibri"/>
              </a:rPr>
              <a:t>indicates </a:t>
            </a:r>
            <a:r>
              <a:rPr sz="1200" dirty="0">
                <a:latin typeface="Calibri"/>
                <a:cs typeface="Calibri"/>
              </a:rPr>
              <a:t>that</a:t>
            </a:r>
            <a:r>
              <a:rPr sz="1200" spc="-25" dirty="0">
                <a:latin typeface="Calibri"/>
                <a:cs typeface="Calibri"/>
              </a:rPr>
              <a:t> </a:t>
            </a:r>
            <a:r>
              <a:rPr sz="1200" dirty="0">
                <a:latin typeface="Calibri"/>
                <a:cs typeface="Calibri"/>
              </a:rPr>
              <a:t>KSC</a:t>
            </a:r>
            <a:r>
              <a:rPr sz="1200" spc="-30" dirty="0">
                <a:latin typeface="Calibri"/>
                <a:cs typeface="Calibri"/>
              </a:rPr>
              <a:t> </a:t>
            </a:r>
            <a:r>
              <a:rPr sz="1200" spc="-25" dirty="0">
                <a:latin typeface="Calibri"/>
                <a:cs typeface="Calibri"/>
              </a:rPr>
              <a:t>LC-</a:t>
            </a:r>
            <a:r>
              <a:rPr sz="1200" dirty="0">
                <a:latin typeface="Calibri"/>
                <a:cs typeface="Calibri"/>
              </a:rPr>
              <a:t>39A</a:t>
            </a:r>
            <a:r>
              <a:rPr sz="1200" spc="-20" dirty="0">
                <a:latin typeface="Calibri"/>
                <a:cs typeface="Calibri"/>
              </a:rPr>
              <a:t> </a:t>
            </a:r>
            <a:r>
              <a:rPr sz="1200" dirty="0">
                <a:latin typeface="Calibri"/>
                <a:cs typeface="Calibri"/>
              </a:rPr>
              <a:t>is</a:t>
            </a:r>
            <a:r>
              <a:rPr sz="1200" spc="-15" dirty="0">
                <a:latin typeface="Calibri"/>
                <a:cs typeface="Calibri"/>
              </a:rPr>
              <a:t> </a:t>
            </a:r>
            <a:r>
              <a:rPr sz="1200" dirty="0">
                <a:latin typeface="Calibri"/>
                <a:cs typeface="Calibri"/>
              </a:rPr>
              <a:t>a</a:t>
            </a:r>
            <a:r>
              <a:rPr sz="1200" spc="-45" dirty="0">
                <a:latin typeface="Calibri"/>
                <a:cs typeface="Calibri"/>
              </a:rPr>
              <a:t> </a:t>
            </a:r>
            <a:r>
              <a:rPr sz="1200" dirty="0">
                <a:latin typeface="Calibri"/>
                <a:cs typeface="Calibri"/>
              </a:rPr>
              <a:t>highly</a:t>
            </a:r>
            <a:r>
              <a:rPr sz="1200" spc="-20" dirty="0">
                <a:latin typeface="Calibri"/>
                <a:cs typeface="Calibri"/>
              </a:rPr>
              <a:t> </a:t>
            </a:r>
            <a:r>
              <a:rPr sz="1200" dirty="0">
                <a:latin typeface="Calibri"/>
                <a:cs typeface="Calibri"/>
              </a:rPr>
              <a:t>reliable</a:t>
            </a:r>
            <a:r>
              <a:rPr sz="1200" spc="5" dirty="0">
                <a:latin typeface="Calibri"/>
                <a:cs typeface="Calibri"/>
              </a:rPr>
              <a:t> </a:t>
            </a:r>
            <a:r>
              <a:rPr sz="1200" spc="-10" dirty="0">
                <a:latin typeface="Calibri"/>
                <a:cs typeface="Calibri"/>
              </a:rPr>
              <a:t>site</a:t>
            </a:r>
            <a:r>
              <a:rPr sz="1200" spc="-55" dirty="0">
                <a:latin typeface="Calibri"/>
                <a:cs typeface="Calibri"/>
              </a:rPr>
              <a:t> </a:t>
            </a:r>
            <a:r>
              <a:rPr sz="1200" dirty="0">
                <a:latin typeface="Calibri"/>
                <a:cs typeface="Calibri"/>
              </a:rPr>
              <a:t>for</a:t>
            </a:r>
            <a:r>
              <a:rPr sz="1200" spc="25" dirty="0">
                <a:latin typeface="Calibri"/>
                <a:cs typeface="Calibri"/>
              </a:rPr>
              <a:t> </a:t>
            </a:r>
            <a:r>
              <a:rPr sz="1200" dirty="0">
                <a:latin typeface="Calibri"/>
                <a:cs typeface="Calibri"/>
              </a:rPr>
              <a:t>SpaceX</a:t>
            </a:r>
            <a:r>
              <a:rPr sz="1200" spc="-15" dirty="0">
                <a:latin typeface="Calibri"/>
                <a:cs typeface="Calibri"/>
              </a:rPr>
              <a:t> </a:t>
            </a:r>
            <a:r>
              <a:rPr sz="1200" spc="-10" dirty="0">
                <a:latin typeface="Calibri"/>
                <a:cs typeface="Calibri"/>
              </a:rPr>
              <a:t>launches.</a:t>
            </a:r>
            <a:endParaRPr sz="1200">
              <a:latin typeface="Calibri"/>
              <a:cs typeface="Calibri"/>
            </a:endParaRPr>
          </a:p>
        </p:txBody>
      </p:sp>
      <p:pic>
        <p:nvPicPr>
          <p:cNvPr id="8" name="object 8"/>
          <p:cNvPicPr/>
          <p:nvPr/>
        </p:nvPicPr>
        <p:blipFill>
          <a:blip r:embed="rId2" cstate="print"/>
          <a:stretch>
            <a:fillRect/>
          </a:stretch>
        </p:blipFill>
        <p:spPr>
          <a:xfrm>
            <a:off x="1724025" y="2152649"/>
            <a:ext cx="8753475" cy="4705348"/>
          </a:xfrm>
          <a:prstGeom prst="rect">
            <a:avLst/>
          </a:prstGeom>
        </p:spPr>
      </p:pic>
      <p:sp>
        <p:nvSpPr>
          <p:cNvPr id="9" name="object 9"/>
          <p:cNvSpPr txBox="1"/>
          <p:nvPr/>
        </p:nvSpPr>
        <p:spPr>
          <a:xfrm>
            <a:off x="11101451" y="6472554"/>
            <a:ext cx="177800" cy="177800"/>
          </a:xfrm>
          <a:prstGeom prst="rect">
            <a:avLst/>
          </a:prstGeom>
        </p:spPr>
        <p:txBody>
          <a:bodyPr vert="horz" wrap="square" lIns="0" tIns="0" rIns="0" bIns="0" rtlCol="0">
            <a:spAutoFit/>
          </a:bodyPr>
          <a:lstStyle/>
          <a:p>
            <a:pPr marL="12700">
              <a:lnSpc>
                <a:spcPts val="1240"/>
              </a:lnSpc>
            </a:pPr>
            <a:r>
              <a:rPr sz="1200" spc="-25" dirty="0">
                <a:solidFill>
                  <a:srgbClr val="888888"/>
                </a:solidFill>
                <a:latin typeface="Calibri"/>
                <a:cs typeface="Calibri"/>
              </a:rPr>
              <a:t>45</a:t>
            </a:r>
            <a:endParaRPr sz="1200">
              <a:latin typeface="Calibri"/>
              <a:cs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0069" y="3613150"/>
            <a:ext cx="2987675" cy="2063114"/>
          </a:xfrm>
          <a:prstGeom prst="rect">
            <a:avLst/>
          </a:prstGeom>
        </p:spPr>
        <p:txBody>
          <a:bodyPr vert="horz" wrap="square" lIns="0" tIns="73025" rIns="0" bIns="0" rtlCol="0">
            <a:spAutoFit/>
          </a:bodyPr>
          <a:lstStyle/>
          <a:p>
            <a:pPr marL="12700" marR="5080">
              <a:lnSpc>
                <a:spcPts val="3910"/>
              </a:lnSpc>
              <a:spcBef>
                <a:spcPts val="575"/>
              </a:spcBef>
            </a:pPr>
            <a:r>
              <a:rPr sz="3600" dirty="0">
                <a:latin typeface="Calibri Light"/>
                <a:cs typeface="Calibri Light"/>
              </a:rPr>
              <a:t>Pie</a:t>
            </a:r>
            <a:r>
              <a:rPr sz="3600" spc="-50" dirty="0">
                <a:latin typeface="Calibri Light"/>
                <a:cs typeface="Calibri Light"/>
              </a:rPr>
              <a:t> </a:t>
            </a:r>
            <a:r>
              <a:rPr sz="3600" dirty="0">
                <a:latin typeface="Calibri Light"/>
                <a:cs typeface="Calibri Light"/>
              </a:rPr>
              <a:t>chart</a:t>
            </a:r>
            <a:r>
              <a:rPr sz="3600" spc="-45" dirty="0">
                <a:latin typeface="Calibri Light"/>
                <a:cs typeface="Calibri Light"/>
              </a:rPr>
              <a:t> </a:t>
            </a:r>
            <a:r>
              <a:rPr sz="3600" dirty="0">
                <a:latin typeface="Calibri Light"/>
                <a:cs typeface="Calibri Light"/>
              </a:rPr>
              <a:t>for</a:t>
            </a:r>
            <a:r>
              <a:rPr sz="3600" spc="-105" dirty="0">
                <a:latin typeface="Calibri Light"/>
                <a:cs typeface="Calibri Light"/>
              </a:rPr>
              <a:t> </a:t>
            </a:r>
            <a:r>
              <a:rPr sz="3600" spc="-25" dirty="0">
                <a:latin typeface="Calibri Light"/>
                <a:cs typeface="Calibri Light"/>
              </a:rPr>
              <a:t>the </a:t>
            </a:r>
            <a:r>
              <a:rPr sz="3600" dirty="0">
                <a:latin typeface="Calibri Light"/>
                <a:cs typeface="Calibri Light"/>
              </a:rPr>
              <a:t>launch</a:t>
            </a:r>
            <a:r>
              <a:rPr sz="3600" spc="-60" dirty="0">
                <a:latin typeface="Calibri Light"/>
                <a:cs typeface="Calibri Light"/>
              </a:rPr>
              <a:t> </a:t>
            </a:r>
            <a:r>
              <a:rPr sz="3600" dirty="0">
                <a:latin typeface="Calibri Light"/>
                <a:cs typeface="Calibri Light"/>
              </a:rPr>
              <a:t>site</a:t>
            </a:r>
            <a:r>
              <a:rPr sz="3600" spc="-40" dirty="0">
                <a:latin typeface="Calibri Light"/>
                <a:cs typeface="Calibri Light"/>
              </a:rPr>
              <a:t> </a:t>
            </a:r>
            <a:r>
              <a:rPr sz="3600" spc="-20" dirty="0">
                <a:latin typeface="Calibri Light"/>
                <a:cs typeface="Calibri Light"/>
              </a:rPr>
              <a:t>with </a:t>
            </a:r>
            <a:r>
              <a:rPr sz="3600" dirty="0">
                <a:latin typeface="Calibri Light"/>
                <a:cs typeface="Calibri Light"/>
              </a:rPr>
              <a:t>highest</a:t>
            </a:r>
            <a:r>
              <a:rPr sz="3600" spc="-130" dirty="0">
                <a:latin typeface="Calibri Light"/>
                <a:cs typeface="Calibri Light"/>
              </a:rPr>
              <a:t> </a:t>
            </a:r>
            <a:r>
              <a:rPr sz="3600" spc="-10" dirty="0">
                <a:latin typeface="Calibri Light"/>
                <a:cs typeface="Calibri Light"/>
              </a:rPr>
              <a:t>launch </a:t>
            </a:r>
            <a:r>
              <a:rPr sz="3600" dirty="0">
                <a:latin typeface="Calibri Light"/>
                <a:cs typeface="Calibri Light"/>
              </a:rPr>
              <a:t>success</a:t>
            </a:r>
            <a:r>
              <a:rPr sz="3600" spc="-30" dirty="0">
                <a:latin typeface="Calibri Light"/>
                <a:cs typeface="Calibri Light"/>
              </a:rPr>
              <a:t> </a:t>
            </a:r>
            <a:r>
              <a:rPr sz="3600" spc="-20" dirty="0">
                <a:latin typeface="Calibri Light"/>
                <a:cs typeface="Calibri Light"/>
              </a:rPr>
              <a:t>ratio</a:t>
            </a:r>
            <a:endParaRPr sz="3600">
              <a:latin typeface="Calibri Light"/>
              <a:cs typeface="Calibri Light"/>
            </a:endParaRPr>
          </a:p>
        </p:txBody>
      </p:sp>
      <p:pic>
        <p:nvPicPr>
          <p:cNvPr id="3" name="object 3"/>
          <p:cNvPicPr/>
          <p:nvPr/>
        </p:nvPicPr>
        <p:blipFill>
          <a:blip r:embed="rId2" cstate="print"/>
          <a:stretch>
            <a:fillRect/>
          </a:stretch>
        </p:blipFill>
        <p:spPr>
          <a:xfrm>
            <a:off x="654050" y="0"/>
            <a:ext cx="11537950" cy="3714750"/>
          </a:xfrm>
          <a:prstGeom prst="rect">
            <a:avLst/>
          </a:prstGeom>
        </p:spPr>
      </p:pic>
      <p:sp>
        <p:nvSpPr>
          <p:cNvPr id="4" name="object 4"/>
          <p:cNvSpPr txBox="1"/>
          <p:nvPr/>
        </p:nvSpPr>
        <p:spPr>
          <a:xfrm>
            <a:off x="4296790" y="3573462"/>
            <a:ext cx="1056640" cy="254635"/>
          </a:xfrm>
          <a:prstGeom prst="rect">
            <a:avLst/>
          </a:prstGeom>
        </p:spPr>
        <p:txBody>
          <a:bodyPr vert="horz" wrap="square" lIns="0" tIns="12700" rIns="0" bIns="0" rtlCol="0">
            <a:spAutoFit/>
          </a:bodyPr>
          <a:lstStyle/>
          <a:p>
            <a:pPr marL="12700">
              <a:lnSpc>
                <a:spcPct val="100000"/>
              </a:lnSpc>
              <a:spcBef>
                <a:spcPts val="100"/>
              </a:spcBef>
            </a:pPr>
            <a:r>
              <a:rPr sz="1500" b="1" spc="-10" dirty="0">
                <a:latin typeface="Calibri"/>
                <a:cs typeface="Calibri"/>
              </a:rPr>
              <a:t>Key</a:t>
            </a:r>
            <a:r>
              <a:rPr sz="1500" b="1" spc="-70" dirty="0">
                <a:latin typeface="Calibri"/>
                <a:cs typeface="Calibri"/>
              </a:rPr>
              <a:t> </a:t>
            </a:r>
            <a:r>
              <a:rPr sz="1500" b="1" spc="-10" dirty="0">
                <a:latin typeface="Calibri"/>
                <a:cs typeface="Calibri"/>
              </a:rPr>
              <a:t>Findings</a:t>
            </a:r>
            <a:r>
              <a:rPr sz="1500" spc="-10" dirty="0">
                <a:latin typeface="Calibri"/>
                <a:cs typeface="Calibri"/>
              </a:rPr>
              <a:t>:</a:t>
            </a:r>
            <a:endParaRPr sz="1500">
              <a:latin typeface="Calibri"/>
              <a:cs typeface="Calibri"/>
            </a:endParaRPr>
          </a:p>
        </p:txBody>
      </p:sp>
      <p:sp>
        <p:nvSpPr>
          <p:cNvPr id="8" name="object 8"/>
          <p:cNvSpPr txBox="1"/>
          <p:nvPr/>
        </p:nvSpPr>
        <p:spPr>
          <a:xfrm>
            <a:off x="11355705" y="6472554"/>
            <a:ext cx="177800" cy="177800"/>
          </a:xfrm>
          <a:prstGeom prst="rect">
            <a:avLst/>
          </a:prstGeom>
        </p:spPr>
        <p:txBody>
          <a:bodyPr vert="horz" wrap="square" lIns="0" tIns="0" rIns="0" bIns="0" rtlCol="0">
            <a:spAutoFit/>
          </a:bodyPr>
          <a:lstStyle/>
          <a:p>
            <a:pPr marL="12700">
              <a:lnSpc>
                <a:spcPts val="1240"/>
              </a:lnSpc>
            </a:pPr>
            <a:r>
              <a:rPr sz="1200" spc="-25" dirty="0">
                <a:solidFill>
                  <a:srgbClr val="404040"/>
                </a:solidFill>
                <a:latin typeface="Calibri"/>
                <a:cs typeface="Calibri"/>
              </a:rPr>
              <a:t>46</a:t>
            </a:r>
            <a:endParaRPr sz="1200">
              <a:latin typeface="Calibri"/>
              <a:cs typeface="Calibri"/>
            </a:endParaRPr>
          </a:p>
        </p:txBody>
      </p:sp>
      <p:sp>
        <p:nvSpPr>
          <p:cNvPr id="5" name="object 5"/>
          <p:cNvSpPr txBox="1"/>
          <p:nvPr/>
        </p:nvSpPr>
        <p:spPr>
          <a:xfrm>
            <a:off x="4296790" y="3907218"/>
            <a:ext cx="7216140" cy="798195"/>
          </a:xfrm>
          <a:prstGeom prst="rect">
            <a:avLst/>
          </a:prstGeom>
        </p:spPr>
        <p:txBody>
          <a:bodyPr vert="horz" wrap="square" lIns="0" tIns="35560" rIns="0" bIns="0" rtlCol="0">
            <a:spAutoFit/>
          </a:bodyPr>
          <a:lstStyle/>
          <a:p>
            <a:pPr marL="241300" marR="5080" indent="-228600">
              <a:lnSpc>
                <a:spcPts val="1650"/>
              </a:lnSpc>
              <a:spcBef>
                <a:spcPts val="280"/>
              </a:spcBef>
              <a:buFont typeface="Arial MT"/>
              <a:buChar char="•"/>
              <a:tabLst>
                <a:tab pos="241300" algn="l"/>
              </a:tabLst>
            </a:pPr>
            <a:r>
              <a:rPr sz="1500" dirty="0">
                <a:latin typeface="Calibri"/>
                <a:cs typeface="Calibri"/>
              </a:rPr>
              <a:t>The</a:t>
            </a:r>
            <a:r>
              <a:rPr sz="1500" spc="5" dirty="0">
                <a:latin typeface="Calibri"/>
                <a:cs typeface="Calibri"/>
              </a:rPr>
              <a:t> </a:t>
            </a:r>
            <a:r>
              <a:rPr sz="1500" spc="-10" dirty="0">
                <a:latin typeface="Calibri"/>
                <a:cs typeface="Calibri"/>
              </a:rPr>
              <a:t>significant</a:t>
            </a:r>
            <a:r>
              <a:rPr sz="1500" spc="-45" dirty="0">
                <a:latin typeface="Calibri"/>
                <a:cs typeface="Calibri"/>
              </a:rPr>
              <a:t> </a:t>
            </a:r>
            <a:r>
              <a:rPr sz="1500" dirty="0">
                <a:latin typeface="Calibri"/>
                <a:cs typeface="Calibri"/>
              </a:rPr>
              <a:t>portion</a:t>
            </a:r>
            <a:r>
              <a:rPr sz="1500" spc="-35" dirty="0">
                <a:latin typeface="Calibri"/>
                <a:cs typeface="Calibri"/>
              </a:rPr>
              <a:t> </a:t>
            </a:r>
            <a:r>
              <a:rPr sz="1500" dirty="0">
                <a:latin typeface="Calibri"/>
                <a:cs typeface="Calibri"/>
              </a:rPr>
              <a:t>of </a:t>
            </a:r>
            <a:r>
              <a:rPr sz="1500" spc="-10" dirty="0">
                <a:latin typeface="Calibri"/>
                <a:cs typeface="Calibri"/>
              </a:rPr>
              <a:t>successful</a:t>
            </a:r>
            <a:r>
              <a:rPr sz="1500" spc="-40" dirty="0">
                <a:latin typeface="Calibri"/>
                <a:cs typeface="Calibri"/>
              </a:rPr>
              <a:t> </a:t>
            </a:r>
            <a:r>
              <a:rPr sz="1500" dirty="0">
                <a:latin typeface="Calibri"/>
                <a:cs typeface="Calibri"/>
              </a:rPr>
              <a:t>launches</a:t>
            </a:r>
            <a:r>
              <a:rPr sz="1500" spc="-45" dirty="0">
                <a:latin typeface="Calibri"/>
                <a:cs typeface="Calibri"/>
              </a:rPr>
              <a:t> </a:t>
            </a:r>
            <a:r>
              <a:rPr sz="1500" dirty="0">
                <a:latin typeface="Calibri"/>
                <a:cs typeface="Calibri"/>
              </a:rPr>
              <a:t>from</a:t>
            </a:r>
            <a:r>
              <a:rPr sz="1500" spc="-10" dirty="0">
                <a:latin typeface="Calibri"/>
                <a:cs typeface="Calibri"/>
              </a:rPr>
              <a:t> </a:t>
            </a:r>
            <a:r>
              <a:rPr sz="1500" b="1" dirty="0">
                <a:latin typeface="Calibri"/>
                <a:cs typeface="Calibri"/>
              </a:rPr>
              <a:t>KSC</a:t>
            </a:r>
            <a:r>
              <a:rPr sz="1500" b="1" spc="30" dirty="0">
                <a:latin typeface="Calibri"/>
                <a:cs typeface="Calibri"/>
              </a:rPr>
              <a:t> </a:t>
            </a:r>
            <a:r>
              <a:rPr sz="1500" b="1" spc="-30" dirty="0">
                <a:latin typeface="Calibri"/>
                <a:cs typeface="Calibri"/>
              </a:rPr>
              <a:t>LC-</a:t>
            </a:r>
            <a:r>
              <a:rPr sz="1500" b="1" dirty="0">
                <a:latin typeface="Calibri"/>
                <a:cs typeface="Calibri"/>
              </a:rPr>
              <a:t>39A</a:t>
            </a:r>
            <a:r>
              <a:rPr sz="1500" b="1" spc="-5" dirty="0">
                <a:latin typeface="Calibri"/>
                <a:cs typeface="Calibri"/>
              </a:rPr>
              <a:t> </a:t>
            </a:r>
            <a:r>
              <a:rPr sz="1500" dirty="0">
                <a:latin typeface="Calibri"/>
                <a:cs typeface="Calibri"/>
              </a:rPr>
              <a:t>highlights</a:t>
            </a:r>
            <a:r>
              <a:rPr sz="1500" spc="-50" dirty="0">
                <a:latin typeface="Calibri"/>
                <a:cs typeface="Calibri"/>
              </a:rPr>
              <a:t> </a:t>
            </a:r>
            <a:r>
              <a:rPr sz="1500" dirty="0">
                <a:latin typeface="Calibri"/>
                <a:cs typeface="Calibri"/>
              </a:rPr>
              <a:t>its</a:t>
            </a:r>
            <a:r>
              <a:rPr sz="1500" spc="15" dirty="0">
                <a:latin typeface="Calibri"/>
                <a:cs typeface="Calibri"/>
              </a:rPr>
              <a:t> </a:t>
            </a:r>
            <a:r>
              <a:rPr sz="1500" dirty="0">
                <a:latin typeface="Calibri"/>
                <a:cs typeface="Calibri"/>
              </a:rPr>
              <a:t>reliability </a:t>
            </a:r>
            <a:r>
              <a:rPr sz="1500" spc="-25" dirty="0">
                <a:latin typeface="Calibri"/>
                <a:cs typeface="Calibri"/>
              </a:rPr>
              <a:t>and </a:t>
            </a:r>
            <a:r>
              <a:rPr sz="1500" spc="-10" dirty="0">
                <a:latin typeface="Calibri"/>
                <a:cs typeface="Calibri"/>
              </a:rPr>
              <a:t>effectiveness</a:t>
            </a:r>
            <a:r>
              <a:rPr sz="1500" dirty="0">
                <a:latin typeface="Calibri"/>
                <a:cs typeface="Calibri"/>
              </a:rPr>
              <a:t> as</a:t>
            </a:r>
            <a:r>
              <a:rPr sz="1500" spc="5" dirty="0">
                <a:latin typeface="Calibri"/>
                <a:cs typeface="Calibri"/>
              </a:rPr>
              <a:t> </a:t>
            </a:r>
            <a:r>
              <a:rPr sz="1500" dirty="0">
                <a:latin typeface="Calibri"/>
                <a:cs typeface="Calibri"/>
              </a:rPr>
              <a:t>a</a:t>
            </a:r>
            <a:r>
              <a:rPr sz="1500" spc="-50" dirty="0">
                <a:latin typeface="Calibri"/>
                <a:cs typeface="Calibri"/>
              </a:rPr>
              <a:t> </a:t>
            </a:r>
            <a:r>
              <a:rPr sz="1500" dirty="0">
                <a:latin typeface="Calibri"/>
                <a:cs typeface="Calibri"/>
              </a:rPr>
              <a:t>launch</a:t>
            </a:r>
            <a:r>
              <a:rPr sz="1500" spc="-40" dirty="0">
                <a:latin typeface="Calibri"/>
                <a:cs typeface="Calibri"/>
              </a:rPr>
              <a:t> </a:t>
            </a:r>
            <a:r>
              <a:rPr sz="1500" spc="-20" dirty="0">
                <a:latin typeface="Calibri"/>
                <a:cs typeface="Calibri"/>
              </a:rPr>
              <a:t>site.</a:t>
            </a:r>
            <a:endParaRPr sz="1500">
              <a:latin typeface="Calibri"/>
              <a:cs typeface="Calibri"/>
            </a:endParaRPr>
          </a:p>
          <a:p>
            <a:pPr marL="240665" indent="-227965">
              <a:lnSpc>
                <a:spcPct val="100000"/>
              </a:lnSpc>
              <a:spcBef>
                <a:spcPts val="805"/>
              </a:spcBef>
              <a:buFont typeface="Arial MT"/>
              <a:buChar char="•"/>
              <a:tabLst>
                <a:tab pos="240665" algn="l"/>
              </a:tabLst>
            </a:pPr>
            <a:r>
              <a:rPr sz="1500" dirty="0">
                <a:latin typeface="Calibri"/>
                <a:cs typeface="Calibri"/>
              </a:rPr>
              <a:t>For</a:t>
            </a:r>
            <a:r>
              <a:rPr sz="1500" spc="-25" dirty="0">
                <a:latin typeface="Calibri"/>
                <a:cs typeface="Calibri"/>
              </a:rPr>
              <a:t> </a:t>
            </a:r>
            <a:r>
              <a:rPr sz="1500" b="1" dirty="0">
                <a:latin typeface="Calibri"/>
                <a:cs typeface="Calibri"/>
              </a:rPr>
              <a:t>KSC</a:t>
            </a:r>
            <a:r>
              <a:rPr sz="1500" b="1" spc="5" dirty="0">
                <a:latin typeface="Calibri"/>
                <a:cs typeface="Calibri"/>
              </a:rPr>
              <a:t> </a:t>
            </a:r>
            <a:r>
              <a:rPr sz="1500" b="1" spc="-30" dirty="0">
                <a:latin typeface="Calibri"/>
                <a:cs typeface="Calibri"/>
              </a:rPr>
              <a:t>LC-</a:t>
            </a:r>
            <a:r>
              <a:rPr sz="1500" b="1" spc="-20" dirty="0">
                <a:latin typeface="Calibri"/>
                <a:cs typeface="Calibri"/>
              </a:rPr>
              <a:t>39A</a:t>
            </a:r>
            <a:r>
              <a:rPr sz="1500" spc="-20" dirty="0">
                <a:latin typeface="Calibri"/>
                <a:cs typeface="Calibri"/>
              </a:rPr>
              <a:t>:</a:t>
            </a:r>
            <a:endParaRPr sz="1500">
              <a:latin typeface="Calibri"/>
              <a:cs typeface="Calibri"/>
            </a:endParaRPr>
          </a:p>
        </p:txBody>
      </p:sp>
      <p:sp>
        <p:nvSpPr>
          <p:cNvPr id="6" name="object 6"/>
          <p:cNvSpPr txBox="1"/>
          <p:nvPr/>
        </p:nvSpPr>
        <p:spPr>
          <a:xfrm>
            <a:off x="4754245" y="4680140"/>
            <a:ext cx="3279775" cy="559435"/>
          </a:xfrm>
          <a:prstGeom prst="rect">
            <a:avLst/>
          </a:prstGeom>
        </p:spPr>
        <p:txBody>
          <a:bodyPr vert="horz" wrap="square" lIns="0" tIns="50800" rIns="0" bIns="0" rtlCol="0">
            <a:spAutoFit/>
          </a:bodyPr>
          <a:lstStyle/>
          <a:p>
            <a:pPr marL="240665" indent="-227965">
              <a:lnSpc>
                <a:spcPct val="100000"/>
              </a:lnSpc>
              <a:spcBef>
                <a:spcPts val="400"/>
              </a:spcBef>
              <a:buFont typeface="Arial MT"/>
              <a:buChar char="•"/>
              <a:tabLst>
                <a:tab pos="240665" algn="l"/>
              </a:tabLst>
            </a:pPr>
            <a:r>
              <a:rPr sz="1500" b="1" dirty="0">
                <a:latin typeface="Calibri"/>
                <a:cs typeface="Calibri"/>
              </a:rPr>
              <a:t>Class</a:t>
            </a:r>
            <a:r>
              <a:rPr sz="1500" b="1" spc="10" dirty="0">
                <a:latin typeface="Calibri"/>
                <a:cs typeface="Calibri"/>
              </a:rPr>
              <a:t> </a:t>
            </a:r>
            <a:r>
              <a:rPr sz="1500" b="1" dirty="0">
                <a:latin typeface="Calibri"/>
                <a:cs typeface="Calibri"/>
              </a:rPr>
              <a:t>1</a:t>
            </a:r>
            <a:r>
              <a:rPr sz="1500" b="1" spc="-25" dirty="0">
                <a:latin typeface="Calibri"/>
                <a:cs typeface="Calibri"/>
              </a:rPr>
              <a:t> </a:t>
            </a:r>
            <a:r>
              <a:rPr sz="1500" dirty="0">
                <a:latin typeface="Calibri"/>
                <a:cs typeface="Calibri"/>
              </a:rPr>
              <a:t>(Successful</a:t>
            </a:r>
            <a:r>
              <a:rPr sz="1500" spc="-25" dirty="0">
                <a:latin typeface="Calibri"/>
                <a:cs typeface="Calibri"/>
              </a:rPr>
              <a:t> </a:t>
            </a:r>
            <a:r>
              <a:rPr sz="1500" spc="-10" dirty="0">
                <a:latin typeface="Calibri"/>
                <a:cs typeface="Calibri"/>
              </a:rPr>
              <a:t>Launches):</a:t>
            </a:r>
            <a:r>
              <a:rPr sz="1500" spc="-75" dirty="0">
                <a:latin typeface="Calibri"/>
                <a:cs typeface="Calibri"/>
              </a:rPr>
              <a:t> </a:t>
            </a:r>
            <a:r>
              <a:rPr sz="1500" spc="-20" dirty="0">
                <a:latin typeface="Calibri"/>
                <a:cs typeface="Calibri"/>
              </a:rPr>
              <a:t>76.9%</a:t>
            </a:r>
            <a:endParaRPr sz="1500">
              <a:latin typeface="Calibri"/>
              <a:cs typeface="Calibri"/>
            </a:endParaRPr>
          </a:p>
          <a:p>
            <a:pPr marL="240665" indent="-227965">
              <a:lnSpc>
                <a:spcPct val="100000"/>
              </a:lnSpc>
              <a:spcBef>
                <a:spcPts val="300"/>
              </a:spcBef>
              <a:buFont typeface="Arial MT"/>
              <a:buChar char="•"/>
              <a:tabLst>
                <a:tab pos="240665" algn="l"/>
              </a:tabLst>
            </a:pPr>
            <a:r>
              <a:rPr sz="1500" b="1" dirty="0">
                <a:latin typeface="Calibri"/>
                <a:cs typeface="Calibri"/>
              </a:rPr>
              <a:t>Class</a:t>
            </a:r>
            <a:r>
              <a:rPr sz="1500" b="1" spc="50" dirty="0">
                <a:latin typeface="Calibri"/>
                <a:cs typeface="Calibri"/>
              </a:rPr>
              <a:t> </a:t>
            </a:r>
            <a:r>
              <a:rPr sz="1500" b="1" dirty="0">
                <a:latin typeface="Calibri"/>
                <a:cs typeface="Calibri"/>
              </a:rPr>
              <a:t>0</a:t>
            </a:r>
            <a:r>
              <a:rPr sz="1500" b="1" spc="5" dirty="0">
                <a:latin typeface="Calibri"/>
                <a:cs typeface="Calibri"/>
              </a:rPr>
              <a:t> </a:t>
            </a:r>
            <a:r>
              <a:rPr sz="1500" spc="-10" dirty="0">
                <a:latin typeface="Calibri"/>
                <a:cs typeface="Calibri"/>
              </a:rPr>
              <a:t>(Unsuccessful</a:t>
            </a:r>
            <a:r>
              <a:rPr sz="1500" spc="5" dirty="0">
                <a:latin typeface="Calibri"/>
                <a:cs typeface="Calibri"/>
              </a:rPr>
              <a:t> </a:t>
            </a:r>
            <a:r>
              <a:rPr sz="1500" spc="-10" dirty="0">
                <a:latin typeface="Calibri"/>
                <a:cs typeface="Calibri"/>
              </a:rPr>
              <a:t>Launches):</a:t>
            </a:r>
            <a:r>
              <a:rPr sz="1500" spc="-50" dirty="0">
                <a:latin typeface="Calibri"/>
                <a:cs typeface="Calibri"/>
              </a:rPr>
              <a:t> </a:t>
            </a:r>
            <a:r>
              <a:rPr sz="1500" spc="-20" dirty="0">
                <a:latin typeface="Calibri"/>
                <a:cs typeface="Calibri"/>
              </a:rPr>
              <a:t>23.1%</a:t>
            </a:r>
            <a:endParaRPr sz="1500">
              <a:latin typeface="Calibri"/>
              <a:cs typeface="Calibri"/>
            </a:endParaRPr>
          </a:p>
        </p:txBody>
      </p:sp>
      <p:sp>
        <p:nvSpPr>
          <p:cNvPr id="7" name="object 7"/>
          <p:cNvSpPr txBox="1"/>
          <p:nvPr/>
        </p:nvSpPr>
        <p:spPr>
          <a:xfrm>
            <a:off x="4296790" y="5319395"/>
            <a:ext cx="6773545" cy="464184"/>
          </a:xfrm>
          <a:prstGeom prst="rect">
            <a:avLst/>
          </a:prstGeom>
        </p:spPr>
        <p:txBody>
          <a:bodyPr vert="horz" wrap="square" lIns="0" tIns="12700" rIns="0" bIns="0" rtlCol="0">
            <a:spAutoFit/>
          </a:bodyPr>
          <a:lstStyle/>
          <a:p>
            <a:pPr marL="240665" indent="-227965">
              <a:lnSpc>
                <a:spcPts val="1725"/>
              </a:lnSpc>
              <a:spcBef>
                <a:spcPts val="100"/>
              </a:spcBef>
              <a:buFont typeface="Arial MT"/>
              <a:buChar char="•"/>
              <a:tabLst>
                <a:tab pos="240665" algn="l"/>
              </a:tabLst>
            </a:pPr>
            <a:r>
              <a:rPr sz="1500" dirty="0">
                <a:latin typeface="Calibri"/>
                <a:cs typeface="Calibri"/>
              </a:rPr>
              <a:t>The</a:t>
            </a:r>
            <a:r>
              <a:rPr sz="1500" spc="-5" dirty="0">
                <a:latin typeface="Calibri"/>
                <a:cs typeface="Calibri"/>
              </a:rPr>
              <a:t> </a:t>
            </a:r>
            <a:r>
              <a:rPr sz="1500" dirty="0">
                <a:latin typeface="Calibri"/>
                <a:cs typeface="Calibri"/>
              </a:rPr>
              <a:t>high</a:t>
            </a:r>
            <a:r>
              <a:rPr sz="1500" spc="-35" dirty="0">
                <a:latin typeface="Calibri"/>
                <a:cs typeface="Calibri"/>
              </a:rPr>
              <a:t> </a:t>
            </a:r>
            <a:r>
              <a:rPr sz="1500" dirty="0">
                <a:latin typeface="Calibri"/>
                <a:cs typeface="Calibri"/>
              </a:rPr>
              <a:t>success</a:t>
            </a:r>
            <a:r>
              <a:rPr sz="1500" spc="5" dirty="0">
                <a:latin typeface="Calibri"/>
                <a:cs typeface="Calibri"/>
              </a:rPr>
              <a:t> </a:t>
            </a:r>
            <a:r>
              <a:rPr sz="1500" dirty="0">
                <a:latin typeface="Calibri"/>
                <a:cs typeface="Calibri"/>
              </a:rPr>
              <a:t>rate (76.9%)</a:t>
            </a:r>
            <a:r>
              <a:rPr sz="1500" spc="-10" dirty="0">
                <a:latin typeface="Calibri"/>
                <a:cs typeface="Calibri"/>
              </a:rPr>
              <a:t> </a:t>
            </a:r>
            <a:r>
              <a:rPr sz="1500" dirty="0">
                <a:latin typeface="Calibri"/>
                <a:cs typeface="Calibri"/>
              </a:rPr>
              <a:t>for</a:t>
            </a:r>
            <a:r>
              <a:rPr sz="1500" spc="-35" dirty="0">
                <a:latin typeface="Calibri"/>
                <a:cs typeface="Calibri"/>
              </a:rPr>
              <a:t> </a:t>
            </a:r>
            <a:r>
              <a:rPr sz="1500" b="1" dirty="0">
                <a:latin typeface="Calibri"/>
                <a:cs typeface="Calibri"/>
              </a:rPr>
              <a:t>Class</a:t>
            </a:r>
            <a:r>
              <a:rPr sz="1500" b="1" spc="5" dirty="0">
                <a:latin typeface="Calibri"/>
                <a:cs typeface="Calibri"/>
              </a:rPr>
              <a:t> </a:t>
            </a:r>
            <a:r>
              <a:rPr sz="1500" b="1" dirty="0">
                <a:latin typeface="Calibri"/>
                <a:cs typeface="Calibri"/>
              </a:rPr>
              <a:t>1</a:t>
            </a:r>
            <a:r>
              <a:rPr sz="1500" b="1" spc="-50" dirty="0">
                <a:latin typeface="Calibri"/>
                <a:cs typeface="Calibri"/>
              </a:rPr>
              <a:t> </a:t>
            </a:r>
            <a:r>
              <a:rPr sz="1500" dirty="0">
                <a:latin typeface="Calibri"/>
                <a:cs typeface="Calibri"/>
              </a:rPr>
              <a:t>launches</a:t>
            </a:r>
            <a:r>
              <a:rPr sz="1500" spc="5" dirty="0">
                <a:latin typeface="Calibri"/>
                <a:cs typeface="Calibri"/>
              </a:rPr>
              <a:t> </a:t>
            </a:r>
            <a:r>
              <a:rPr sz="1500" spc="-20" dirty="0">
                <a:latin typeface="Calibri"/>
                <a:cs typeface="Calibri"/>
              </a:rPr>
              <a:t>underscores</a:t>
            </a:r>
            <a:r>
              <a:rPr sz="1500" spc="-60" dirty="0">
                <a:latin typeface="Calibri"/>
                <a:cs typeface="Calibri"/>
              </a:rPr>
              <a:t> </a:t>
            </a:r>
            <a:r>
              <a:rPr sz="1500" dirty="0">
                <a:latin typeface="Calibri"/>
                <a:cs typeface="Calibri"/>
              </a:rPr>
              <a:t>the</a:t>
            </a:r>
            <a:r>
              <a:rPr sz="1500" spc="-65" dirty="0">
                <a:latin typeface="Calibri"/>
                <a:cs typeface="Calibri"/>
              </a:rPr>
              <a:t> </a:t>
            </a:r>
            <a:r>
              <a:rPr sz="1500" spc="-10" dirty="0">
                <a:latin typeface="Calibri"/>
                <a:cs typeface="Calibri"/>
              </a:rPr>
              <a:t>effectiveness</a:t>
            </a:r>
            <a:r>
              <a:rPr sz="1500" spc="-60" dirty="0">
                <a:latin typeface="Calibri"/>
                <a:cs typeface="Calibri"/>
              </a:rPr>
              <a:t> </a:t>
            </a:r>
            <a:r>
              <a:rPr sz="1500" spc="-25" dirty="0">
                <a:latin typeface="Calibri"/>
                <a:cs typeface="Calibri"/>
              </a:rPr>
              <a:t>and</a:t>
            </a:r>
            <a:endParaRPr sz="1500">
              <a:latin typeface="Calibri"/>
              <a:cs typeface="Calibri"/>
            </a:endParaRPr>
          </a:p>
          <a:p>
            <a:pPr marL="241300">
              <a:lnSpc>
                <a:spcPts val="1725"/>
              </a:lnSpc>
            </a:pPr>
            <a:r>
              <a:rPr sz="1500" spc="-10" dirty="0">
                <a:latin typeface="Calibri"/>
                <a:cs typeface="Calibri"/>
              </a:rPr>
              <a:t>reliability</a:t>
            </a:r>
            <a:r>
              <a:rPr sz="1500" spc="-40" dirty="0">
                <a:latin typeface="Calibri"/>
                <a:cs typeface="Calibri"/>
              </a:rPr>
              <a:t> </a:t>
            </a:r>
            <a:r>
              <a:rPr sz="1500" dirty="0">
                <a:latin typeface="Calibri"/>
                <a:cs typeface="Calibri"/>
              </a:rPr>
              <a:t>of</a:t>
            </a:r>
            <a:r>
              <a:rPr sz="1500" spc="-40" dirty="0">
                <a:latin typeface="Calibri"/>
                <a:cs typeface="Calibri"/>
              </a:rPr>
              <a:t> </a:t>
            </a:r>
            <a:r>
              <a:rPr sz="1500" dirty="0">
                <a:latin typeface="Calibri"/>
                <a:cs typeface="Calibri"/>
              </a:rPr>
              <a:t>the</a:t>
            </a:r>
            <a:r>
              <a:rPr sz="1500" spc="-25" dirty="0">
                <a:latin typeface="Calibri"/>
                <a:cs typeface="Calibri"/>
              </a:rPr>
              <a:t> </a:t>
            </a:r>
            <a:r>
              <a:rPr sz="1500" dirty="0">
                <a:latin typeface="Calibri"/>
                <a:cs typeface="Calibri"/>
              </a:rPr>
              <a:t>KSC</a:t>
            </a:r>
            <a:r>
              <a:rPr sz="1500" spc="70" dirty="0">
                <a:latin typeface="Calibri"/>
                <a:cs typeface="Calibri"/>
              </a:rPr>
              <a:t> </a:t>
            </a:r>
            <a:r>
              <a:rPr sz="1500" spc="-25" dirty="0">
                <a:latin typeface="Calibri"/>
                <a:cs typeface="Calibri"/>
              </a:rPr>
              <a:t>LC-</a:t>
            </a:r>
            <a:r>
              <a:rPr sz="1500" dirty="0">
                <a:latin typeface="Calibri"/>
                <a:cs typeface="Calibri"/>
              </a:rPr>
              <a:t>39A </a:t>
            </a:r>
            <a:r>
              <a:rPr sz="1500" spc="-20" dirty="0">
                <a:latin typeface="Calibri"/>
                <a:cs typeface="Calibri"/>
              </a:rPr>
              <a:t>site.</a:t>
            </a:r>
            <a:endParaRPr sz="1500">
              <a:latin typeface="Calibri"/>
              <a:cs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0247" y="826135"/>
            <a:ext cx="2983230" cy="1475740"/>
          </a:xfrm>
          <a:prstGeom prst="rect">
            <a:avLst/>
          </a:prstGeom>
        </p:spPr>
        <p:txBody>
          <a:bodyPr vert="horz" wrap="square" lIns="0" tIns="67945" rIns="0" bIns="0" rtlCol="0">
            <a:spAutoFit/>
          </a:bodyPr>
          <a:lstStyle/>
          <a:p>
            <a:pPr marL="12700" marR="5080">
              <a:lnSpc>
                <a:spcPts val="3679"/>
              </a:lnSpc>
              <a:spcBef>
                <a:spcPts val="535"/>
              </a:spcBef>
            </a:pPr>
            <a:r>
              <a:rPr sz="3350" dirty="0">
                <a:solidFill>
                  <a:srgbClr val="000000"/>
                </a:solidFill>
                <a:latin typeface="Calibri Light"/>
                <a:cs typeface="Calibri Light"/>
              </a:rPr>
              <a:t>Key</a:t>
            </a:r>
            <a:r>
              <a:rPr sz="3350" spc="-10" dirty="0">
                <a:solidFill>
                  <a:srgbClr val="000000"/>
                </a:solidFill>
                <a:latin typeface="Calibri Light"/>
                <a:cs typeface="Calibri Light"/>
              </a:rPr>
              <a:t> </a:t>
            </a:r>
            <a:r>
              <a:rPr sz="3350" dirty="0">
                <a:solidFill>
                  <a:srgbClr val="000000"/>
                </a:solidFill>
                <a:latin typeface="Calibri Light"/>
                <a:cs typeface="Calibri Light"/>
              </a:rPr>
              <a:t>Insights</a:t>
            </a:r>
            <a:r>
              <a:rPr sz="3350" spc="20" dirty="0">
                <a:solidFill>
                  <a:srgbClr val="000000"/>
                </a:solidFill>
                <a:latin typeface="Calibri Light"/>
                <a:cs typeface="Calibri Light"/>
              </a:rPr>
              <a:t> </a:t>
            </a:r>
            <a:r>
              <a:rPr sz="3350" spc="-20" dirty="0">
                <a:solidFill>
                  <a:srgbClr val="000000"/>
                </a:solidFill>
                <a:latin typeface="Calibri Light"/>
                <a:cs typeface="Calibri Light"/>
              </a:rPr>
              <a:t>from </a:t>
            </a:r>
            <a:r>
              <a:rPr sz="3350" dirty="0">
                <a:solidFill>
                  <a:srgbClr val="000000"/>
                </a:solidFill>
                <a:latin typeface="Calibri Light"/>
                <a:cs typeface="Calibri Light"/>
              </a:rPr>
              <a:t>SpaceX</a:t>
            </a:r>
            <a:r>
              <a:rPr sz="3350" spc="110" dirty="0">
                <a:solidFill>
                  <a:srgbClr val="000000"/>
                </a:solidFill>
                <a:latin typeface="Calibri Light"/>
                <a:cs typeface="Calibri Light"/>
              </a:rPr>
              <a:t> </a:t>
            </a:r>
            <a:r>
              <a:rPr sz="3350" spc="-10" dirty="0">
                <a:solidFill>
                  <a:srgbClr val="000000"/>
                </a:solidFill>
                <a:latin typeface="Calibri Light"/>
                <a:cs typeface="Calibri Light"/>
              </a:rPr>
              <a:t>Launch </a:t>
            </a:r>
            <a:r>
              <a:rPr sz="3350" dirty="0">
                <a:solidFill>
                  <a:srgbClr val="000000"/>
                </a:solidFill>
                <a:latin typeface="Calibri Light"/>
                <a:cs typeface="Calibri Light"/>
              </a:rPr>
              <a:t>Data</a:t>
            </a:r>
            <a:r>
              <a:rPr sz="3350" spc="-35" dirty="0">
                <a:solidFill>
                  <a:srgbClr val="000000"/>
                </a:solidFill>
                <a:latin typeface="Calibri Light"/>
                <a:cs typeface="Calibri Light"/>
              </a:rPr>
              <a:t> </a:t>
            </a:r>
            <a:r>
              <a:rPr sz="3350" spc="-10" dirty="0">
                <a:solidFill>
                  <a:srgbClr val="000000"/>
                </a:solidFill>
                <a:latin typeface="Calibri Light"/>
                <a:cs typeface="Calibri Light"/>
              </a:rPr>
              <a:t>Dashboard</a:t>
            </a:r>
            <a:endParaRPr sz="3350">
              <a:latin typeface="Calibri Light"/>
              <a:cs typeface="Calibri Light"/>
            </a:endParaRPr>
          </a:p>
        </p:txBody>
      </p:sp>
      <p:grpSp>
        <p:nvGrpSpPr>
          <p:cNvPr id="3" name="object 3"/>
          <p:cNvGrpSpPr/>
          <p:nvPr/>
        </p:nvGrpSpPr>
        <p:grpSpPr>
          <a:xfrm>
            <a:off x="628446" y="2536412"/>
            <a:ext cx="3286760" cy="86995"/>
            <a:chOff x="628446" y="2536412"/>
            <a:chExt cx="3286760" cy="86995"/>
          </a:xfrm>
        </p:grpSpPr>
        <p:sp>
          <p:nvSpPr>
            <p:cNvPr id="4" name="object 4"/>
            <p:cNvSpPr/>
            <p:nvPr/>
          </p:nvSpPr>
          <p:spPr>
            <a:xfrm>
              <a:off x="647700" y="2560500"/>
              <a:ext cx="3248660" cy="41275"/>
            </a:xfrm>
            <a:custGeom>
              <a:avLst/>
              <a:gdLst/>
              <a:ahLst/>
              <a:cxnLst/>
              <a:rect l="l" t="t" r="r" b="b"/>
              <a:pathLst>
                <a:path w="3248660" h="41275">
                  <a:moveTo>
                    <a:pt x="949776" y="28"/>
                  </a:moveTo>
                  <a:lnTo>
                    <a:pt x="908617" y="0"/>
                  </a:lnTo>
                  <a:lnTo>
                    <a:pt x="868796" y="772"/>
                  </a:lnTo>
                  <a:lnTo>
                    <a:pt x="828237" y="2192"/>
                  </a:lnTo>
                  <a:lnTo>
                    <a:pt x="681380" y="8787"/>
                  </a:lnTo>
                  <a:lnTo>
                    <a:pt x="557024" y="13502"/>
                  </a:lnTo>
                  <a:lnTo>
                    <a:pt x="408641" y="19688"/>
                  </a:lnTo>
                  <a:lnTo>
                    <a:pt x="365138" y="21166"/>
                  </a:lnTo>
                  <a:lnTo>
                    <a:pt x="322275" y="22155"/>
                  </a:lnTo>
                  <a:lnTo>
                    <a:pt x="278650" y="22539"/>
                  </a:lnTo>
                  <a:lnTo>
                    <a:pt x="232860" y="22199"/>
                  </a:lnTo>
                  <a:lnTo>
                    <a:pt x="183503" y="21018"/>
                  </a:lnTo>
                  <a:lnTo>
                    <a:pt x="129176" y="18878"/>
                  </a:lnTo>
                  <a:lnTo>
                    <a:pt x="68475" y="15661"/>
                  </a:lnTo>
                  <a:lnTo>
                    <a:pt x="0" y="11249"/>
                  </a:lnTo>
                  <a:lnTo>
                    <a:pt x="368" y="18488"/>
                  </a:lnTo>
                  <a:lnTo>
                    <a:pt x="838" y="21282"/>
                  </a:lnTo>
                  <a:lnTo>
                    <a:pt x="0" y="30299"/>
                  </a:lnTo>
                  <a:lnTo>
                    <a:pt x="45362" y="30022"/>
                  </a:lnTo>
                  <a:lnTo>
                    <a:pt x="90248" y="30127"/>
                  </a:lnTo>
                  <a:lnTo>
                    <a:pt x="135110" y="30523"/>
                  </a:lnTo>
                  <a:lnTo>
                    <a:pt x="274084" y="32535"/>
                  </a:lnTo>
                  <a:lnTo>
                    <a:pt x="374923" y="33650"/>
                  </a:lnTo>
                  <a:lnTo>
                    <a:pt x="429158" y="33864"/>
                  </a:lnTo>
                  <a:lnTo>
                    <a:pt x="486542" y="33728"/>
                  </a:lnTo>
                  <a:lnTo>
                    <a:pt x="547528" y="33149"/>
                  </a:lnTo>
                  <a:lnTo>
                    <a:pt x="612568" y="32037"/>
                  </a:lnTo>
                  <a:lnTo>
                    <a:pt x="750859" y="28722"/>
                  </a:lnTo>
                  <a:lnTo>
                    <a:pt x="813691" y="28037"/>
                  </a:lnTo>
                  <a:lnTo>
                    <a:pt x="871372" y="28072"/>
                  </a:lnTo>
                  <a:lnTo>
                    <a:pt x="924660" y="28657"/>
                  </a:lnTo>
                  <a:lnTo>
                    <a:pt x="974313" y="29619"/>
                  </a:lnTo>
                  <a:lnTo>
                    <a:pt x="1109052" y="33053"/>
                  </a:lnTo>
                  <a:lnTo>
                    <a:pt x="1151752" y="33808"/>
                  </a:lnTo>
                  <a:lnTo>
                    <a:pt x="1194611" y="34081"/>
                  </a:lnTo>
                  <a:lnTo>
                    <a:pt x="1238386" y="33702"/>
                  </a:lnTo>
                  <a:lnTo>
                    <a:pt x="1283837" y="32499"/>
                  </a:lnTo>
                  <a:lnTo>
                    <a:pt x="1386092" y="27577"/>
                  </a:lnTo>
                  <a:lnTo>
                    <a:pt x="1433891" y="25827"/>
                  </a:lnTo>
                  <a:lnTo>
                    <a:pt x="1477030" y="24906"/>
                  </a:lnTo>
                  <a:lnTo>
                    <a:pt x="1517422" y="24673"/>
                  </a:lnTo>
                  <a:lnTo>
                    <a:pt x="1556977" y="24983"/>
                  </a:lnTo>
                  <a:lnTo>
                    <a:pt x="1745064" y="28820"/>
                  </a:lnTo>
                  <a:lnTo>
                    <a:pt x="1809111" y="29715"/>
                  </a:lnTo>
                  <a:lnTo>
                    <a:pt x="1883791" y="30299"/>
                  </a:lnTo>
                  <a:lnTo>
                    <a:pt x="1946653" y="30200"/>
                  </a:lnTo>
                  <a:lnTo>
                    <a:pt x="2008365" y="29419"/>
                  </a:lnTo>
                  <a:lnTo>
                    <a:pt x="2068759" y="28132"/>
                  </a:lnTo>
                  <a:lnTo>
                    <a:pt x="2127670" y="26511"/>
                  </a:lnTo>
                  <a:lnTo>
                    <a:pt x="2293826" y="21393"/>
                  </a:lnTo>
                  <a:lnTo>
                    <a:pt x="2345130" y="20182"/>
                  </a:lnTo>
                  <a:lnTo>
                    <a:pt x="2394115" y="19509"/>
                  </a:lnTo>
                  <a:lnTo>
                    <a:pt x="2440615" y="19547"/>
                  </a:lnTo>
                  <a:lnTo>
                    <a:pt x="2484462" y="20471"/>
                  </a:lnTo>
                  <a:lnTo>
                    <a:pt x="2525490" y="22455"/>
                  </a:lnTo>
                  <a:lnTo>
                    <a:pt x="2563531" y="25673"/>
                  </a:lnTo>
                  <a:lnTo>
                    <a:pt x="2598420" y="30299"/>
                  </a:lnTo>
                  <a:lnTo>
                    <a:pt x="2637678" y="35217"/>
                  </a:lnTo>
                  <a:lnTo>
                    <a:pt x="2683041" y="38509"/>
                  </a:lnTo>
                  <a:lnTo>
                    <a:pt x="2733329" y="40397"/>
                  </a:lnTo>
                  <a:lnTo>
                    <a:pt x="2787366" y="41100"/>
                  </a:lnTo>
                  <a:lnTo>
                    <a:pt x="2843974" y="40836"/>
                  </a:lnTo>
                  <a:lnTo>
                    <a:pt x="2901974" y="39826"/>
                  </a:lnTo>
                  <a:lnTo>
                    <a:pt x="2960188" y="38289"/>
                  </a:lnTo>
                  <a:lnTo>
                    <a:pt x="3171637" y="31264"/>
                  </a:lnTo>
                  <a:lnTo>
                    <a:pt x="3213257" y="30387"/>
                  </a:lnTo>
                  <a:lnTo>
                    <a:pt x="3248025" y="30299"/>
                  </a:lnTo>
                  <a:lnTo>
                    <a:pt x="3248405" y="21155"/>
                  </a:lnTo>
                  <a:lnTo>
                    <a:pt x="3247771" y="15948"/>
                  </a:lnTo>
                  <a:lnTo>
                    <a:pt x="3248025" y="11249"/>
                  </a:lnTo>
                  <a:lnTo>
                    <a:pt x="3194449" y="16484"/>
                  </a:lnTo>
                  <a:lnTo>
                    <a:pt x="3139700" y="19729"/>
                  </a:lnTo>
                  <a:lnTo>
                    <a:pt x="3084174" y="21271"/>
                  </a:lnTo>
                  <a:lnTo>
                    <a:pt x="3028265" y="21397"/>
                  </a:lnTo>
                  <a:lnTo>
                    <a:pt x="2972369" y="20393"/>
                  </a:lnTo>
                  <a:lnTo>
                    <a:pt x="2916880" y="18546"/>
                  </a:lnTo>
                  <a:lnTo>
                    <a:pt x="2862193" y="16142"/>
                  </a:lnTo>
                  <a:lnTo>
                    <a:pt x="2706901" y="8455"/>
                  </a:lnTo>
                  <a:lnTo>
                    <a:pt x="2659376" y="6689"/>
                  </a:lnTo>
                  <a:lnTo>
                    <a:pt x="2614630" y="5799"/>
                  </a:lnTo>
                  <a:lnTo>
                    <a:pt x="2573057" y="6072"/>
                  </a:lnTo>
                  <a:lnTo>
                    <a:pt x="2535052" y="7793"/>
                  </a:lnTo>
                  <a:lnTo>
                    <a:pt x="2458042" y="15697"/>
                  </a:lnTo>
                  <a:lnTo>
                    <a:pt x="2409773" y="18217"/>
                  </a:lnTo>
                  <a:lnTo>
                    <a:pt x="2357332" y="19143"/>
                  </a:lnTo>
                  <a:lnTo>
                    <a:pt x="2301846" y="18813"/>
                  </a:lnTo>
                  <a:lnTo>
                    <a:pt x="2244445" y="17562"/>
                  </a:lnTo>
                  <a:lnTo>
                    <a:pt x="2186257" y="15726"/>
                  </a:lnTo>
                  <a:lnTo>
                    <a:pt x="2072033" y="11644"/>
                  </a:lnTo>
                  <a:lnTo>
                    <a:pt x="2018254" y="10070"/>
                  </a:lnTo>
                  <a:lnTo>
                    <a:pt x="1968201" y="9256"/>
                  </a:lnTo>
                  <a:lnTo>
                    <a:pt x="1923004" y="9537"/>
                  </a:lnTo>
                  <a:lnTo>
                    <a:pt x="1883791" y="11249"/>
                  </a:lnTo>
                  <a:lnTo>
                    <a:pt x="1850698" y="13415"/>
                  </a:lnTo>
                  <a:lnTo>
                    <a:pt x="1813107" y="15515"/>
                  </a:lnTo>
                  <a:lnTo>
                    <a:pt x="1771452" y="17481"/>
                  </a:lnTo>
                  <a:lnTo>
                    <a:pt x="1726167" y="19247"/>
                  </a:lnTo>
                  <a:lnTo>
                    <a:pt x="1677686" y="20746"/>
                  </a:lnTo>
                  <a:lnTo>
                    <a:pt x="1626446" y="21913"/>
                  </a:lnTo>
                  <a:lnTo>
                    <a:pt x="1572879" y="22679"/>
                  </a:lnTo>
                  <a:lnTo>
                    <a:pt x="1517420" y="22979"/>
                  </a:lnTo>
                  <a:lnTo>
                    <a:pt x="1460505" y="22746"/>
                  </a:lnTo>
                  <a:lnTo>
                    <a:pt x="1402568" y="21913"/>
                  </a:lnTo>
                  <a:lnTo>
                    <a:pt x="1344043" y="20413"/>
                  </a:lnTo>
                  <a:lnTo>
                    <a:pt x="1285365" y="18180"/>
                  </a:lnTo>
                  <a:lnTo>
                    <a:pt x="1226969" y="15148"/>
                  </a:lnTo>
                  <a:lnTo>
                    <a:pt x="1102028" y="6469"/>
                  </a:lnTo>
                  <a:lnTo>
                    <a:pt x="1044406" y="3108"/>
                  </a:lnTo>
                  <a:lnTo>
                    <a:pt x="994347" y="1013"/>
                  </a:lnTo>
                  <a:lnTo>
                    <a:pt x="949776" y="28"/>
                  </a:lnTo>
                  <a:close/>
                </a:path>
              </a:pathLst>
            </a:custGeom>
            <a:solidFill>
              <a:srgbClr val="EC7C30"/>
            </a:solidFill>
          </p:spPr>
          <p:txBody>
            <a:bodyPr wrap="square" lIns="0" tIns="0" rIns="0" bIns="0" rtlCol="0"/>
            <a:lstStyle/>
            <a:p>
              <a:endParaRPr/>
            </a:p>
          </p:txBody>
        </p:sp>
        <p:sp>
          <p:nvSpPr>
            <p:cNvPr id="5" name="object 5"/>
            <p:cNvSpPr/>
            <p:nvPr/>
          </p:nvSpPr>
          <p:spPr>
            <a:xfrm>
              <a:off x="647496" y="2555462"/>
              <a:ext cx="3248660" cy="48895"/>
            </a:xfrm>
            <a:custGeom>
              <a:avLst/>
              <a:gdLst/>
              <a:ahLst/>
              <a:cxnLst/>
              <a:rect l="l" t="t" r="r" b="b"/>
              <a:pathLst>
                <a:path w="3248660" h="48894">
                  <a:moveTo>
                    <a:pt x="203" y="16287"/>
                  </a:moveTo>
                  <a:lnTo>
                    <a:pt x="59712" y="11068"/>
                  </a:lnTo>
                  <a:lnTo>
                    <a:pt x="118295" y="6886"/>
                  </a:lnTo>
                  <a:lnTo>
                    <a:pt x="175789" y="3714"/>
                  </a:lnTo>
                  <a:lnTo>
                    <a:pt x="232030" y="1527"/>
                  </a:lnTo>
                  <a:lnTo>
                    <a:pt x="286856" y="298"/>
                  </a:lnTo>
                  <a:lnTo>
                    <a:pt x="340104" y="0"/>
                  </a:lnTo>
                  <a:lnTo>
                    <a:pt x="391610" y="606"/>
                  </a:lnTo>
                  <a:lnTo>
                    <a:pt x="441213" y="2091"/>
                  </a:lnTo>
                  <a:lnTo>
                    <a:pt x="488748" y="4429"/>
                  </a:lnTo>
                  <a:lnTo>
                    <a:pt x="534053" y="7591"/>
                  </a:lnTo>
                  <a:lnTo>
                    <a:pt x="576965" y="11553"/>
                  </a:lnTo>
                  <a:lnTo>
                    <a:pt x="617321" y="16287"/>
                  </a:lnTo>
                  <a:lnTo>
                    <a:pt x="654127" y="20343"/>
                  </a:lnTo>
                  <a:lnTo>
                    <a:pt x="692612" y="23174"/>
                  </a:lnTo>
                  <a:lnTo>
                    <a:pt x="732916" y="24929"/>
                  </a:lnTo>
                  <a:lnTo>
                    <a:pt x="775179" y="25758"/>
                  </a:lnTo>
                  <a:lnTo>
                    <a:pt x="819543" y="25811"/>
                  </a:lnTo>
                  <a:lnTo>
                    <a:pt x="866147" y="25239"/>
                  </a:lnTo>
                  <a:lnTo>
                    <a:pt x="915132" y="24190"/>
                  </a:lnTo>
                  <a:lnTo>
                    <a:pt x="966638" y="22815"/>
                  </a:lnTo>
                  <a:lnTo>
                    <a:pt x="1020806" y="21263"/>
                  </a:lnTo>
                  <a:lnTo>
                    <a:pt x="1077775" y="19685"/>
                  </a:lnTo>
                  <a:lnTo>
                    <a:pt x="1137688" y="18229"/>
                  </a:lnTo>
                  <a:lnTo>
                    <a:pt x="1200682" y="17047"/>
                  </a:lnTo>
                  <a:lnTo>
                    <a:pt x="1266901" y="16287"/>
                  </a:lnTo>
                  <a:lnTo>
                    <a:pt x="1332636" y="16044"/>
                  </a:lnTo>
                  <a:lnTo>
                    <a:pt x="1394409" y="16238"/>
                  </a:lnTo>
                  <a:lnTo>
                    <a:pt x="1452696" y="16761"/>
                  </a:lnTo>
                  <a:lnTo>
                    <a:pt x="1507975" y="17505"/>
                  </a:lnTo>
                  <a:lnTo>
                    <a:pt x="1560725" y="18361"/>
                  </a:lnTo>
                  <a:lnTo>
                    <a:pt x="1611424" y="19223"/>
                  </a:lnTo>
                  <a:lnTo>
                    <a:pt x="1660549" y="19980"/>
                  </a:lnTo>
                  <a:lnTo>
                    <a:pt x="1708578" y="20526"/>
                  </a:lnTo>
                  <a:lnTo>
                    <a:pt x="1755990" y="20751"/>
                  </a:lnTo>
                  <a:lnTo>
                    <a:pt x="1803262" y="20548"/>
                  </a:lnTo>
                  <a:lnTo>
                    <a:pt x="1850871" y="19809"/>
                  </a:lnTo>
                  <a:lnTo>
                    <a:pt x="1899298" y="18424"/>
                  </a:lnTo>
                  <a:lnTo>
                    <a:pt x="1949018" y="16287"/>
                  </a:lnTo>
                  <a:lnTo>
                    <a:pt x="2000571" y="14354"/>
                  </a:lnTo>
                  <a:lnTo>
                    <a:pt x="2053886" y="13514"/>
                  </a:lnTo>
                  <a:lnTo>
                    <a:pt x="2108524" y="13556"/>
                  </a:lnTo>
                  <a:lnTo>
                    <a:pt x="2164046" y="14271"/>
                  </a:lnTo>
                  <a:lnTo>
                    <a:pt x="2220014" y="15448"/>
                  </a:lnTo>
                  <a:lnTo>
                    <a:pt x="2275987" y="16877"/>
                  </a:lnTo>
                  <a:lnTo>
                    <a:pt x="2331529" y="18348"/>
                  </a:lnTo>
                  <a:lnTo>
                    <a:pt x="2386200" y="19652"/>
                  </a:lnTo>
                  <a:lnTo>
                    <a:pt x="2439561" y="20576"/>
                  </a:lnTo>
                  <a:lnTo>
                    <a:pt x="2491174" y="20912"/>
                  </a:lnTo>
                  <a:lnTo>
                    <a:pt x="2540600" y="20450"/>
                  </a:lnTo>
                  <a:lnTo>
                    <a:pt x="2587400" y="18978"/>
                  </a:lnTo>
                  <a:lnTo>
                    <a:pt x="2631135" y="16287"/>
                  </a:lnTo>
                  <a:lnTo>
                    <a:pt x="2679012" y="13326"/>
                  </a:lnTo>
                  <a:lnTo>
                    <a:pt x="2730856" y="11604"/>
                  </a:lnTo>
                  <a:lnTo>
                    <a:pt x="2785670" y="10912"/>
                  </a:lnTo>
                  <a:lnTo>
                    <a:pt x="2842458" y="11038"/>
                  </a:lnTo>
                  <a:lnTo>
                    <a:pt x="2900223" y="11773"/>
                  </a:lnTo>
                  <a:lnTo>
                    <a:pt x="2957969" y="12906"/>
                  </a:lnTo>
                  <a:lnTo>
                    <a:pt x="3014699" y="14227"/>
                  </a:lnTo>
                  <a:lnTo>
                    <a:pt x="3069416" y="15525"/>
                  </a:lnTo>
                  <a:lnTo>
                    <a:pt x="3121125" y="16591"/>
                  </a:lnTo>
                  <a:lnTo>
                    <a:pt x="3168827" y="17213"/>
                  </a:lnTo>
                  <a:lnTo>
                    <a:pt x="3211527" y="17182"/>
                  </a:lnTo>
                  <a:lnTo>
                    <a:pt x="3248228" y="16287"/>
                  </a:lnTo>
                  <a:lnTo>
                    <a:pt x="3247466" y="24796"/>
                  </a:lnTo>
                  <a:lnTo>
                    <a:pt x="3247847" y="28860"/>
                  </a:lnTo>
                  <a:lnTo>
                    <a:pt x="3248228" y="35337"/>
                  </a:lnTo>
                  <a:lnTo>
                    <a:pt x="3209201" y="36115"/>
                  </a:lnTo>
                  <a:lnTo>
                    <a:pt x="3164075" y="36344"/>
                  </a:lnTo>
                  <a:lnTo>
                    <a:pt x="3113913" y="36130"/>
                  </a:lnTo>
                  <a:lnTo>
                    <a:pt x="3059777" y="35582"/>
                  </a:lnTo>
                  <a:lnTo>
                    <a:pt x="3002729" y="34806"/>
                  </a:lnTo>
                  <a:lnTo>
                    <a:pt x="2943833" y="33911"/>
                  </a:lnTo>
                  <a:lnTo>
                    <a:pt x="2884150" y="33004"/>
                  </a:lnTo>
                  <a:lnTo>
                    <a:pt x="2824744" y="32192"/>
                  </a:lnTo>
                  <a:lnTo>
                    <a:pt x="2766676" y="31582"/>
                  </a:lnTo>
                  <a:lnTo>
                    <a:pt x="2711008" y="31283"/>
                  </a:lnTo>
                  <a:lnTo>
                    <a:pt x="2658805" y="31401"/>
                  </a:lnTo>
                  <a:lnTo>
                    <a:pt x="2611127" y="32045"/>
                  </a:lnTo>
                  <a:lnTo>
                    <a:pt x="2569037" y="33321"/>
                  </a:lnTo>
                  <a:lnTo>
                    <a:pt x="2533599" y="35337"/>
                  </a:lnTo>
                  <a:lnTo>
                    <a:pt x="2500283" y="37023"/>
                  </a:lnTo>
                  <a:lnTo>
                    <a:pt x="2424431" y="36758"/>
                  </a:lnTo>
                  <a:lnTo>
                    <a:pt x="2382084" y="35326"/>
                  </a:lnTo>
                  <a:lnTo>
                    <a:pt x="2336917" y="33375"/>
                  </a:lnTo>
                  <a:lnTo>
                    <a:pt x="2289023" y="31165"/>
                  </a:lnTo>
                  <a:lnTo>
                    <a:pt x="2238498" y="28955"/>
                  </a:lnTo>
                  <a:lnTo>
                    <a:pt x="2185437" y="27006"/>
                  </a:lnTo>
                  <a:lnTo>
                    <a:pt x="2129933" y="25578"/>
                  </a:lnTo>
                  <a:lnTo>
                    <a:pt x="2072081" y="24929"/>
                  </a:lnTo>
                  <a:lnTo>
                    <a:pt x="2011978" y="25321"/>
                  </a:lnTo>
                  <a:lnTo>
                    <a:pt x="1949716" y="27013"/>
                  </a:lnTo>
                  <a:lnTo>
                    <a:pt x="1885390" y="30265"/>
                  </a:lnTo>
                  <a:lnTo>
                    <a:pt x="1819097" y="35337"/>
                  </a:lnTo>
                  <a:lnTo>
                    <a:pt x="1751268" y="40941"/>
                  </a:lnTo>
                  <a:lnTo>
                    <a:pt x="1691665" y="44826"/>
                  </a:lnTo>
                  <a:lnTo>
                    <a:pt x="1638857" y="47204"/>
                  </a:lnTo>
                  <a:lnTo>
                    <a:pt x="1591412" y="48292"/>
                  </a:lnTo>
                  <a:lnTo>
                    <a:pt x="1547897" y="48302"/>
                  </a:lnTo>
                  <a:lnTo>
                    <a:pt x="1506882" y="47450"/>
                  </a:lnTo>
                  <a:lnTo>
                    <a:pt x="1466935" y="45949"/>
                  </a:lnTo>
                  <a:lnTo>
                    <a:pt x="1426623" y="44015"/>
                  </a:lnTo>
                  <a:lnTo>
                    <a:pt x="1384516" y="41861"/>
                  </a:lnTo>
                  <a:lnTo>
                    <a:pt x="1339181" y="39702"/>
                  </a:lnTo>
                  <a:lnTo>
                    <a:pt x="1289186" y="37752"/>
                  </a:lnTo>
                  <a:lnTo>
                    <a:pt x="1233100" y="36226"/>
                  </a:lnTo>
                  <a:lnTo>
                    <a:pt x="1169492" y="35337"/>
                  </a:lnTo>
                  <a:lnTo>
                    <a:pt x="1131004" y="35189"/>
                  </a:lnTo>
                  <a:lnTo>
                    <a:pt x="1092163" y="35286"/>
                  </a:lnTo>
                  <a:lnTo>
                    <a:pt x="1052859" y="35595"/>
                  </a:lnTo>
                  <a:lnTo>
                    <a:pt x="1012983" y="36082"/>
                  </a:lnTo>
                  <a:lnTo>
                    <a:pt x="972424" y="36715"/>
                  </a:lnTo>
                  <a:lnTo>
                    <a:pt x="931072" y="37461"/>
                  </a:lnTo>
                  <a:lnTo>
                    <a:pt x="888817" y="38287"/>
                  </a:lnTo>
                  <a:lnTo>
                    <a:pt x="845550" y="39159"/>
                  </a:lnTo>
                  <a:lnTo>
                    <a:pt x="801160" y="40044"/>
                  </a:lnTo>
                  <a:lnTo>
                    <a:pt x="755537" y="40910"/>
                  </a:lnTo>
                  <a:lnTo>
                    <a:pt x="708571" y="41723"/>
                  </a:lnTo>
                  <a:lnTo>
                    <a:pt x="660152" y="42451"/>
                  </a:lnTo>
                  <a:lnTo>
                    <a:pt x="610171" y="43060"/>
                  </a:lnTo>
                  <a:lnTo>
                    <a:pt x="558517" y="43516"/>
                  </a:lnTo>
                  <a:lnTo>
                    <a:pt x="505080" y="43788"/>
                  </a:lnTo>
                  <a:lnTo>
                    <a:pt x="449750" y="43842"/>
                  </a:lnTo>
                  <a:lnTo>
                    <a:pt x="392418" y="43645"/>
                  </a:lnTo>
                  <a:lnTo>
                    <a:pt x="332972" y="43164"/>
                  </a:lnTo>
                  <a:lnTo>
                    <a:pt x="271304" y="42365"/>
                  </a:lnTo>
                  <a:lnTo>
                    <a:pt x="207303" y="41216"/>
                  </a:lnTo>
                  <a:lnTo>
                    <a:pt x="140859" y="39684"/>
                  </a:lnTo>
                  <a:lnTo>
                    <a:pt x="71862" y="37735"/>
                  </a:lnTo>
                  <a:lnTo>
                    <a:pt x="203" y="35337"/>
                  </a:lnTo>
                  <a:lnTo>
                    <a:pt x="152" y="29241"/>
                  </a:lnTo>
                  <a:lnTo>
                    <a:pt x="0" y="23018"/>
                  </a:lnTo>
                  <a:lnTo>
                    <a:pt x="203" y="16287"/>
                  </a:lnTo>
                  <a:close/>
                </a:path>
              </a:pathLst>
            </a:custGeom>
            <a:ln w="38100">
              <a:solidFill>
                <a:srgbClr val="EC7C30"/>
              </a:solidFill>
            </a:ln>
          </p:spPr>
          <p:txBody>
            <a:bodyPr wrap="square" lIns="0" tIns="0" rIns="0" bIns="0" rtlCol="0"/>
            <a:lstStyle/>
            <a:p>
              <a:endParaRPr/>
            </a:p>
          </p:txBody>
        </p:sp>
      </p:grpSp>
      <p:sp>
        <p:nvSpPr>
          <p:cNvPr id="6" name="object 6"/>
          <p:cNvSpPr txBox="1"/>
          <p:nvPr/>
        </p:nvSpPr>
        <p:spPr>
          <a:xfrm>
            <a:off x="720407" y="2569019"/>
            <a:ext cx="3255010" cy="2219325"/>
          </a:xfrm>
          <a:prstGeom prst="rect">
            <a:avLst/>
          </a:prstGeom>
        </p:spPr>
        <p:txBody>
          <a:bodyPr vert="horz" wrap="square" lIns="0" tIns="58419" rIns="0" bIns="0" rtlCol="0">
            <a:spAutoFit/>
          </a:bodyPr>
          <a:lstStyle/>
          <a:p>
            <a:pPr marL="12700">
              <a:lnSpc>
                <a:spcPct val="100000"/>
              </a:lnSpc>
              <a:spcBef>
                <a:spcPts val="459"/>
              </a:spcBef>
            </a:pPr>
            <a:r>
              <a:rPr sz="1200" b="1" dirty="0">
                <a:latin typeface="Calibri"/>
                <a:cs typeface="Calibri"/>
              </a:rPr>
              <a:t>Launch</a:t>
            </a:r>
            <a:r>
              <a:rPr sz="1200" b="1" spc="-35" dirty="0">
                <a:latin typeface="Calibri"/>
                <a:cs typeface="Calibri"/>
              </a:rPr>
              <a:t> </a:t>
            </a:r>
            <a:r>
              <a:rPr sz="1200" b="1" dirty="0">
                <a:latin typeface="Calibri"/>
                <a:cs typeface="Calibri"/>
              </a:rPr>
              <a:t>Site</a:t>
            </a:r>
            <a:r>
              <a:rPr sz="1200" b="1" spc="-65" dirty="0">
                <a:latin typeface="Calibri"/>
                <a:cs typeface="Calibri"/>
              </a:rPr>
              <a:t> </a:t>
            </a:r>
            <a:r>
              <a:rPr sz="1200" b="1" dirty="0">
                <a:latin typeface="Calibri"/>
                <a:cs typeface="Calibri"/>
              </a:rPr>
              <a:t>Success</a:t>
            </a:r>
            <a:r>
              <a:rPr sz="1200" b="1" spc="-20" dirty="0">
                <a:latin typeface="Calibri"/>
                <a:cs typeface="Calibri"/>
              </a:rPr>
              <a:t> </a:t>
            </a:r>
            <a:r>
              <a:rPr sz="1200" b="1" spc="-10" dirty="0">
                <a:latin typeface="Calibri"/>
                <a:cs typeface="Calibri"/>
              </a:rPr>
              <a:t>Rates:</a:t>
            </a:r>
            <a:endParaRPr sz="1200">
              <a:latin typeface="Calibri"/>
              <a:cs typeface="Calibri"/>
            </a:endParaRPr>
          </a:p>
          <a:p>
            <a:pPr marL="698500" marR="16510" indent="-228600">
              <a:lnSpc>
                <a:spcPts val="1280"/>
              </a:lnSpc>
              <a:spcBef>
                <a:spcPts val="540"/>
              </a:spcBef>
              <a:buFont typeface="Courier New"/>
              <a:buChar char="o"/>
              <a:tabLst>
                <a:tab pos="698500" algn="l"/>
              </a:tabLst>
            </a:pPr>
            <a:r>
              <a:rPr sz="1200" b="1" dirty="0">
                <a:latin typeface="Calibri"/>
                <a:cs typeface="Calibri"/>
              </a:rPr>
              <a:t>CCAFS</a:t>
            </a:r>
            <a:r>
              <a:rPr sz="1200" b="1" spc="-35" dirty="0">
                <a:latin typeface="Calibri"/>
                <a:cs typeface="Calibri"/>
              </a:rPr>
              <a:t> </a:t>
            </a:r>
            <a:r>
              <a:rPr sz="1200" b="1" spc="-10" dirty="0">
                <a:latin typeface="Calibri"/>
                <a:cs typeface="Calibri"/>
              </a:rPr>
              <a:t>LC-</a:t>
            </a:r>
            <a:r>
              <a:rPr sz="1200" b="1" dirty="0">
                <a:latin typeface="Calibri"/>
                <a:cs typeface="Calibri"/>
              </a:rPr>
              <a:t>40 </a:t>
            </a:r>
            <a:r>
              <a:rPr sz="1200" dirty="0">
                <a:latin typeface="Calibri"/>
                <a:cs typeface="Calibri"/>
              </a:rPr>
              <a:t>has</a:t>
            </a:r>
            <a:r>
              <a:rPr sz="1200" spc="-15" dirty="0">
                <a:latin typeface="Calibri"/>
                <a:cs typeface="Calibri"/>
              </a:rPr>
              <a:t> </a:t>
            </a:r>
            <a:r>
              <a:rPr sz="1200" dirty="0">
                <a:latin typeface="Calibri"/>
                <a:cs typeface="Calibri"/>
              </a:rPr>
              <a:t>the</a:t>
            </a:r>
            <a:r>
              <a:rPr sz="1200" spc="-55" dirty="0">
                <a:latin typeface="Calibri"/>
                <a:cs typeface="Calibri"/>
              </a:rPr>
              <a:t> </a:t>
            </a:r>
            <a:r>
              <a:rPr sz="1200" dirty="0">
                <a:latin typeface="Calibri"/>
                <a:cs typeface="Calibri"/>
              </a:rPr>
              <a:t>highest</a:t>
            </a:r>
            <a:r>
              <a:rPr sz="1200" spc="-20" dirty="0">
                <a:latin typeface="Calibri"/>
                <a:cs typeface="Calibri"/>
              </a:rPr>
              <a:t> </a:t>
            </a:r>
            <a:r>
              <a:rPr sz="1200" dirty="0">
                <a:latin typeface="Calibri"/>
                <a:cs typeface="Calibri"/>
              </a:rPr>
              <a:t>success</a:t>
            </a:r>
            <a:r>
              <a:rPr sz="1200" spc="-10" dirty="0">
                <a:latin typeface="Calibri"/>
                <a:cs typeface="Calibri"/>
              </a:rPr>
              <a:t> </a:t>
            </a:r>
            <a:r>
              <a:rPr sz="1200" spc="-20" dirty="0">
                <a:latin typeface="Calibri"/>
                <a:cs typeface="Calibri"/>
              </a:rPr>
              <a:t>rate </a:t>
            </a:r>
            <a:r>
              <a:rPr sz="1200" dirty="0">
                <a:latin typeface="Calibri"/>
                <a:cs typeface="Calibri"/>
              </a:rPr>
              <a:t>with</a:t>
            </a:r>
            <a:r>
              <a:rPr sz="1200" spc="-20" dirty="0">
                <a:latin typeface="Calibri"/>
                <a:cs typeface="Calibri"/>
              </a:rPr>
              <a:t> </a:t>
            </a:r>
            <a:r>
              <a:rPr sz="1200" dirty="0">
                <a:latin typeface="Calibri"/>
                <a:cs typeface="Calibri"/>
              </a:rPr>
              <a:t>43.7%</a:t>
            </a:r>
            <a:r>
              <a:rPr sz="1200" spc="-20" dirty="0">
                <a:latin typeface="Calibri"/>
                <a:cs typeface="Calibri"/>
              </a:rPr>
              <a:t> </a:t>
            </a:r>
            <a:r>
              <a:rPr sz="1200" dirty="0">
                <a:latin typeface="Calibri"/>
                <a:cs typeface="Calibri"/>
              </a:rPr>
              <a:t>of</a:t>
            </a:r>
            <a:r>
              <a:rPr sz="1200" spc="-55" dirty="0">
                <a:latin typeface="Calibri"/>
                <a:cs typeface="Calibri"/>
              </a:rPr>
              <a:t> </a:t>
            </a:r>
            <a:r>
              <a:rPr sz="1200" dirty="0">
                <a:latin typeface="Calibri"/>
                <a:cs typeface="Calibri"/>
              </a:rPr>
              <a:t>successful</a:t>
            </a:r>
            <a:r>
              <a:rPr sz="1200" spc="30" dirty="0">
                <a:latin typeface="Calibri"/>
                <a:cs typeface="Calibri"/>
              </a:rPr>
              <a:t> </a:t>
            </a:r>
            <a:r>
              <a:rPr sz="1200" spc="-10" dirty="0">
                <a:latin typeface="Calibri"/>
                <a:cs typeface="Calibri"/>
              </a:rPr>
              <a:t>launches.</a:t>
            </a:r>
            <a:endParaRPr sz="1200">
              <a:latin typeface="Calibri"/>
              <a:cs typeface="Calibri"/>
            </a:endParaRPr>
          </a:p>
          <a:p>
            <a:pPr marL="698500" marR="5080" indent="-228600">
              <a:lnSpc>
                <a:spcPct val="91200"/>
              </a:lnSpc>
              <a:spcBef>
                <a:spcPts val="470"/>
              </a:spcBef>
              <a:buFont typeface="Courier New"/>
              <a:buChar char="o"/>
              <a:tabLst>
                <a:tab pos="698500" algn="l"/>
              </a:tabLst>
            </a:pPr>
            <a:r>
              <a:rPr sz="1200" dirty="0">
                <a:latin typeface="Calibri"/>
                <a:cs typeface="Calibri"/>
              </a:rPr>
              <a:t>This</a:t>
            </a:r>
            <a:r>
              <a:rPr sz="1200" spc="-20" dirty="0">
                <a:latin typeface="Calibri"/>
                <a:cs typeface="Calibri"/>
              </a:rPr>
              <a:t> </a:t>
            </a:r>
            <a:r>
              <a:rPr sz="1200" dirty="0">
                <a:latin typeface="Calibri"/>
                <a:cs typeface="Calibri"/>
              </a:rPr>
              <a:t>suggests</a:t>
            </a:r>
            <a:r>
              <a:rPr sz="1200" spc="-20" dirty="0">
                <a:latin typeface="Calibri"/>
                <a:cs typeface="Calibri"/>
              </a:rPr>
              <a:t> </a:t>
            </a:r>
            <a:r>
              <a:rPr sz="1200" dirty="0">
                <a:latin typeface="Calibri"/>
                <a:cs typeface="Calibri"/>
              </a:rPr>
              <a:t>that</a:t>
            </a:r>
            <a:r>
              <a:rPr sz="1200" spc="10" dirty="0">
                <a:latin typeface="Calibri"/>
                <a:cs typeface="Calibri"/>
              </a:rPr>
              <a:t> </a:t>
            </a:r>
            <a:r>
              <a:rPr sz="1200" b="1" dirty="0">
                <a:latin typeface="Calibri"/>
                <a:cs typeface="Calibri"/>
              </a:rPr>
              <a:t>CCAFS</a:t>
            </a:r>
            <a:r>
              <a:rPr sz="1200" b="1" spc="-45" dirty="0">
                <a:latin typeface="Calibri"/>
                <a:cs typeface="Calibri"/>
              </a:rPr>
              <a:t> </a:t>
            </a:r>
            <a:r>
              <a:rPr sz="1200" b="1" spc="-10" dirty="0">
                <a:latin typeface="Calibri"/>
                <a:cs typeface="Calibri"/>
              </a:rPr>
              <a:t>LC-</a:t>
            </a:r>
            <a:r>
              <a:rPr sz="1200" b="1" dirty="0">
                <a:latin typeface="Calibri"/>
                <a:cs typeface="Calibri"/>
              </a:rPr>
              <a:t>40</a:t>
            </a:r>
            <a:r>
              <a:rPr sz="1200" b="1" spc="-10" dirty="0">
                <a:latin typeface="Calibri"/>
                <a:cs typeface="Calibri"/>
              </a:rPr>
              <a:t> </a:t>
            </a:r>
            <a:r>
              <a:rPr sz="1200" dirty="0">
                <a:latin typeface="Calibri"/>
                <a:cs typeface="Calibri"/>
              </a:rPr>
              <a:t>is</a:t>
            </a:r>
            <a:r>
              <a:rPr sz="1200" spc="-15" dirty="0">
                <a:latin typeface="Calibri"/>
                <a:cs typeface="Calibri"/>
              </a:rPr>
              <a:t> </a:t>
            </a:r>
            <a:r>
              <a:rPr sz="1200" spc="-25" dirty="0">
                <a:latin typeface="Calibri"/>
                <a:cs typeface="Calibri"/>
              </a:rPr>
              <a:t>the </a:t>
            </a:r>
            <a:r>
              <a:rPr sz="1200" dirty="0">
                <a:latin typeface="Calibri"/>
                <a:cs typeface="Calibri"/>
              </a:rPr>
              <a:t>most</a:t>
            </a:r>
            <a:r>
              <a:rPr sz="1200" spc="-60" dirty="0">
                <a:latin typeface="Calibri"/>
                <a:cs typeface="Calibri"/>
              </a:rPr>
              <a:t> </a:t>
            </a:r>
            <a:r>
              <a:rPr sz="1200" dirty="0">
                <a:latin typeface="Calibri"/>
                <a:cs typeface="Calibri"/>
              </a:rPr>
              <a:t>reliable</a:t>
            </a:r>
            <a:r>
              <a:rPr sz="1200" spc="-70" dirty="0">
                <a:latin typeface="Calibri"/>
                <a:cs typeface="Calibri"/>
              </a:rPr>
              <a:t> </a:t>
            </a:r>
            <a:r>
              <a:rPr sz="1200" dirty="0">
                <a:latin typeface="Calibri"/>
                <a:cs typeface="Calibri"/>
              </a:rPr>
              <a:t>launch</a:t>
            </a:r>
            <a:r>
              <a:rPr sz="1200" spc="-50" dirty="0">
                <a:latin typeface="Calibri"/>
                <a:cs typeface="Calibri"/>
              </a:rPr>
              <a:t> </a:t>
            </a:r>
            <a:r>
              <a:rPr sz="1200" dirty="0">
                <a:latin typeface="Calibri"/>
                <a:cs typeface="Calibri"/>
              </a:rPr>
              <a:t>site</a:t>
            </a:r>
            <a:r>
              <a:rPr sz="1200" spc="-20" dirty="0">
                <a:latin typeface="Calibri"/>
                <a:cs typeface="Calibri"/>
              </a:rPr>
              <a:t> </a:t>
            </a:r>
            <a:r>
              <a:rPr sz="1200" dirty="0">
                <a:latin typeface="Calibri"/>
                <a:cs typeface="Calibri"/>
              </a:rPr>
              <a:t>among</a:t>
            </a:r>
            <a:r>
              <a:rPr sz="1200" spc="5" dirty="0">
                <a:latin typeface="Calibri"/>
                <a:cs typeface="Calibri"/>
              </a:rPr>
              <a:t> </a:t>
            </a:r>
            <a:r>
              <a:rPr sz="1200" dirty="0">
                <a:latin typeface="Calibri"/>
                <a:cs typeface="Calibri"/>
              </a:rPr>
              <a:t>the</a:t>
            </a:r>
            <a:r>
              <a:rPr sz="1200" spc="-20" dirty="0">
                <a:latin typeface="Calibri"/>
                <a:cs typeface="Calibri"/>
              </a:rPr>
              <a:t> ones </a:t>
            </a:r>
            <a:r>
              <a:rPr sz="1200" spc="-10" dirty="0">
                <a:latin typeface="Calibri"/>
                <a:cs typeface="Calibri"/>
              </a:rPr>
              <a:t>analyzed.</a:t>
            </a:r>
            <a:endParaRPr sz="1200">
              <a:latin typeface="Calibri"/>
              <a:cs typeface="Calibri"/>
            </a:endParaRPr>
          </a:p>
          <a:p>
            <a:pPr marL="698500" marR="177165" indent="-228600">
              <a:lnSpc>
                <a:spcPct val="90400"/>
              </a:lnSpc>
              <a:spcBef>
                <a:spcPts val="500"/>
              </a:spcBef>
              <a:buFont typeface="Courier New"/>
              <a:buChar char="o"/>
              <a:tabLst>
                <a:tab pos="698500" algn="l"/>
              </a:tabLst>
            </a:pPr>
            <a:r>
              <a:rPr sz="1200" dirty="0">
                <a:latin typeface="Calibri"/>
                <a:cs typeface="Calibri"/>
              </a:rPr>
              <a:t>Other</a:t>
            </a:r>
            <a:r>
              <a:rPr sz="1200" spc="-15" dirty="0">
                <a:latin typeface="Calibri"/>
                <a:cs typeface="Calibri"/>
              </a:rPr>
              <a:t> </a:t>
            </a:r>
            <a:r>
              <a:rPr sz="1200" dirty="0">
                <a:latin typeface="Calibri"/>
                <a:cs typeface="Calibri"/>
              </a:rPr>
              <a:t>sites</a:t>
            </a:r>
            <a:r>
              <a:rPr sz="1200" spc="-30" dirty="0">
                <a:latin typeface="Calibri"/>
                <a:cs typeface="Calibri"/>
              </a:rPr>
              <a:t> </a:t>
            </a:r>
            <a:r>
              <a:rPr sz="1200" dirty="0">
                <a:latin typeface="Calibri"/>
                <a:cs typeface="Calibri"/>
              </a:rPr>
              <a:t>like</a:t>
            </a:r>
            <a:r>
              <a:rPr sz="1200" spc="-30" dirty="0">
                <a:latin typeface="Calibri"/>
                <a:cs typeface="Calibri"/>
              </a:rPr>
              <a:t> </a:t>
            </a:r>
            <a:r>
              <a:rPr sz="1200" b="1" dirty="0">
                <a:latin typeface="Calibri"/>
                <a:cs typeface="Calibri"/>
              </a:rPr>
              <a:t>KSC</a:t>
            </a:r>
            <a:r>
              <a:rPr sz="1200" b="1" spc="-40" dirty="0">
                <a:latin typeface="Calibri"/>
                <a:cs typeface="Calibri"/>
              </a:rPr>
              <a:t> </a:t>
            </a:r>
            <a:r>
              <a:rPr sz="1200" b="1" dirty="0">
                <a:latin typeface="Calibri"/>
                <a:cs typeface="Calibri"/>
              </a:rPr>
              <a:t>LC-39A,</a:t>
            </a:r>
            <a:r>
              <a:rPr sz="1200" b="1" spc="-20" dirty="0">
                <a:latin typeface="Calibri"/>
                <a:cs typeface="Calibri"/>
              </a:rPr>
              <a:t> VAFB</a:t>
            </a:r>
            <a:r>
              <a:rPr sz="1200" b="1" spc="-50" dirty="0">
                <a:latin typeface="Calibri"/>
                <a:cs typeface="Calibri"/>
              </a:rPr>
              <a:t> </a:t>
            </a:r>
            <a:r>
              <a:rPr sz="1200" b="1" spc="-20" dirty="0">
                <a:latin typeface="Calibri"/>
                <a:cs typeface="Calibri"/>
              </a:rPr>
              <a:t>SLC- </a:t>
            </a:r>
            <a:r>
              <a:rPr sz="1200" b="1" dirty="0">
                <a:latin typeface="Calibri"/>
                <a:cs typeface="Calibri"/>
              </a:rPr>
              <a:t>4E,</a:t>
            </a:r>
            <a:r>
              <a:rPr sz="1200" b="1" spc="-5" dirty="0">
                <a:latin typeface="Calibri"/>
                <a:cs typeface="Calibri"/>
              </a:rPr>
              <a:t> </a:t>
            </a:r>
            <a:r>
              <a:rPr sz="1200" dirty="0">
                <a:latin typeface="Calibri"/>
                <a:cs typeface="Calibri"/>
              </a:rPr>
              <a:t>and</a:t>
            </a:r>
            <a:r>
              <a:rPr sz="1200" spc="-10" dirty="0">
                <a:latin typeface="Calibri"/>
                <a:cs typeface="Calibri"/>
              </a:rPr>
              <a:t> </a:t>
            </a:r>
            <a:r>
              <a:rPr sz="1200" b="1" dirty="0">
                <a:latin typeface="Calibri"/>
                <a:cs typeface="Calibri"/>
              </a:rPr>
              <a:t>CCAFS</a:t>
            </a:r>
            <a:r>
              <a:rPr sz="1200" b="1" spc="-25" dirty="0">
                <a:latin typeface="Calibri"/>
                <a:cs typeface="Calibri"/>
              </a:rPr>
              <a:t> </a:t>
            </a:r>
            <a:r>
              <a:rPr sz="1200" b="1" spc="-20" dirty="0">
                <a:latin typeface="Calibri"/>
                <a:cs typeface="Calibri"/>
              </a:rPr>
              <a:t>SLC-</a:t>
            </a:r>
            <a:r>
              <a:rPr sz="1200" b="1" dirty="0">
                <a:latin typeface="Calibri"/>
                <a:cs typeface="Calibri"/>
              </a:rPr>
              <a:t>40</a:t>
            </a:r>
            <a:r>
              <a:rPr sz="1200" b="1" spc="10" dirty="0">
                <a:latin typeface="Calibri"/>
                <a:cs typeface="Calibri"/>
              </a:rPr>
              <a:t> </a:t>
            </a:r>
            <a:r>
              <a:rPr sz="1200" dirty="0">
                <a:latin typeface="Calibri"/>
                <a:cs typeface="Calibri"/>
              </a:rPr>
              <a:t>have</a:t>
            </a:r>
            <a:r>
              <a:rPr sz="1200" spc="-50" dirty="0">
                <a:latin typeface="Calibri"/>
                <a:cs typeface="Calibri"/>
              </a:rPr>
              <a:t> </a:t>
            </a:r>
            <a:r>
              <a:rPr sz="1200" spc="-20" dirty="0">
                <a:latin typeface="Calibri"/>
                <a:cs typeface="Calibri"/>
              </a:rPr>
              <a:t>lower </a:t>
            </a:r>
            <a:r>
              <a:rPr sz="1200" dirty="0">
                <a:latin typeface="Calibri"/>
                <a:cs typeface="Calibri"/>
              </a:rPr>
              <a:t>success</a:t>
            </a:r>
            <a:r>
              <a:rPr sz="1200" spc="-10" dirty="0">
                <a:latin typeface="Calibri"/>
                <a:cs typeface="Calibri"/>
              </a:rPr>
              <a:t> rates,</a:t>
            </a:r>
            <a:r>
              <a:rPr sz="1200" spc="10" dirty="0">
                <a:latin typeface="Calibri"/>
                <a:cs typeface="Calibri"/>
              </a:rPr>
              <a:t> </a:t>
            </a:r>
            <a:r>
              <a:rPr sz="1200" spc="-10" dirty="0">
                <a:latin typeface="Calibri"/>
                <a:cs typeface="Calibri"/>
              </a:rPr>
              <a:t>indicating</a:t>
            </a:r>
            <a:r>
              <a:rPr sz="1200" spc="-25" dirty="0">
                <a:latin typeface="Calibri"/>
                <a:cs typeface="Calibri"/>
              </a:rPr>
              <a:t> </a:t>
            </a:r>
            <a:r>
              <a:rPr sz="1200" spc="-10" dirty="0">
                <a:latin typeface="Calibri"/>
                <a:cs typeface="Calibri"/>
              </a:rPr>
              <a:t>variability </a:t>
            </a:r>
            <a:r>
              <a:rPr sz="1200" spc="-25" dirty="0">
                <a:latin typeface="Calibri"/>
                <a:cs typeface="Calibri"/>
              </a:rPr>
              <a:t>in </a:t>
            </a:r>
            <a:r>
              <a:rPr sz="1200" dirty="0">
                <a:latin typeface="Calibri"/>
                <a:cs typeface="Calibri"/>
              </a:rPr>
              <a:t>launch</a:t>
            </a:r>
            <a:r>
              <a:rPr sz="1200" spc="-15" dirty="0">
                <a:latin typeface="Calibri"/>
                <a:cs typeface="Calibri"/>
              </a:rPr>
              <a:t> </a:t>
            </a:r>
            <a:r>
              <a:rPr sz="1200" dirty="0">
                <a:latin typeface="Calibri"/>
                <a:cs typeface="Calibri"/>
              </a:rPr>
              <a:t>success </a:t>
            </a:r>
            <a:r>
              <a:rPr sz="1200" spc="-10" dirty="0">
                <a:latin typeface="Calibri"/>
                <a:cs typeface="Calibri"/>
              </a:rPr>
              <a:t>across</a:t>
            </a:r>
            <a:r>
              <a:rPr sz="1200" dirty="0">
                <a:latin typeface="Calibri"/>
                <a:cs typeface="Calibri"/>
              </a:rPr>
              <a:t> </a:t>
            </a:r>
            <a:r>
              <a:rPr sz="1200" spc="-10" dirty="0">
                <a:latin typeface="Calibri"/>
                <a:cs typeface="Calibri"/>
              </a:rPr>
              <a:t>different sites.</a:t>
            </a:r>
            <a:endParaRPr sz="1200">
              <a:latin typeface="Calibri"/>
              <a:cs typeface="Calibri"/>
            </a:endParaRPr>
          </a:p>
          <a:p>
            <a:pPr marL="12700">
              <a:lnSpc>
                <a:spcPct val="100000"/>
              </a:lnSpc>
              <a:spcBef>
                <a:spcPts val="815"/>
              </a:spcBef>
            </a:pPr>
            <a:r>
              <a:rPr sz="1200" b="1" spc="-10" dirty="0">
                <a:latin typeface="Calibri"/>
                <a:cs typeface="Calibri"/>
              </a:rPr>
              <a:t>Booster</a:t>
            </a:r>
            <a:r>
              <a:rPr sz="1200" b="1" spc="-45" dirty="0">
                <a:latin typeface="Calibri"/>
                <a:cs typeface="Calibri"/>
              </a:rPr>
              <a:t> </a:t>
            </a:r>
            <a:r>
              <a:rPr sz="1200" b="1" spc="-10" dirty="0">
                <a:latin typeface="Calibri"/>
                <a:cs typeface="Calibri"/>
              </a:rPr>
              <a:t>Version</a:t>
            </a:r>
            <a:r>
              <a:rPr sz="1200" b="1" spc="35" dirty="0">
                <a:latin typeface="Calibri"/>
                <a:cs typeface="Calibri"/>
              </a:rPr>
              <a:t> </a:t>
            </a:r>
            <a:r>
              <a:rPr sz="1200" b="1" spc="-10" dirty="0">
                <a:latin typeface="Calibri"/>
                <a:cs typeface="Calibri"/>
              </a:rPr>
              <a:t>Performance:</a:t>
            </a:r>
            <a:endParaRPr sz="1200">
              <a:latin typeface="Calibri"/>
              <a:cs typeface="Calibri"/>
            </a:endParaRPr>
          </a:p>
        </p:txBody>
      </p:sp>
      <p:sp>
        <p:nvSpPr>
          <p:cNvPr id="7" name="object 7"/>
          <p:cNvSpPr txBox="1"/>
          <p:nvPr/>
        </p:nvSpPr>
        <p:spPr>
          <a:xfrm>
            <a:off x="1177925" y="4808854"/>
            <a:ext cx="2696210" cy="1820545"/>
          </a:xfrm>
          <a:prstGeom prst="rect">
            <a:avLst/>
          </a:prstGeom>
        </p:spPr>
        <p:txBody>
          <a:bodyPr vert="horz" wrap="square" lIns="0" tIns="29845" rIns="0" bIns="0" rtlCol="0">
            <a:spAutoFit/>
          </a:bodyPr>
          <a:lstStyle/>
          <a:p>
            <a:pPr marL="241300" marR="23495" indent="-228600">
              <a:lnSpc>
                <a:spcPct val="90400"/>
              </a:lnSpc>
              <a:spcBef>
                <a:spcPts val="235"/>
              </a:spcBef>
              <a:buFont typeface="Courier New"/>
              <a:buChar char="o"/>
              <a:tabLst>
                <a:tab pos="241300" algn="l"/>
              </a:tabLst>
            </a:pPr>
            <a:r>
              <a:rPr sz="1200" b="1" spc="-10" dirty="0">
                <a:latin typeface="Calibri"/>
                <a:cs typeface="Calibri"/>
              </a:rPr>
              <a:t>Booster</a:t>
            </a:r>
            <a:r>
              <a:rPr sz="1200" b="1" spc="-30" dirty="0">
                <a:latin typeface="Calibri"/>
                <a:cs typeface="Calibri"/>
              </a:rPr>
              <a:t> </a:t>
            </a:r>
            <a:r>
              <a:rPr sz="1200" b="1" spc="-10" dirty="0">
                <a:latin typeface="Calibri"/>
                <a:cs typeface="Calibri"/>
              </a:rPr>
              <a:t>version</a:t>
            </a:r>
            <a:r>
              <a:rPr sz="1200" b="1" spc="-25" dirty="0">
                <a:latin typeface="Calibri"/>
                <a:cs typeface="Calibri"/>
              </a:rPr>
              <a:t> </a:t>
            </a:r>
            <a:r>
              <a:rPr sz="1200" b="1" dirty="0">
                <a:latin typeface="Calibri"/>
                <a:cs typeface="Calibri"/>
              </a:rPr>
              <a:t>“FT”</a:t>
            </a:r>
            <a:r>
              <a:rPr sz="1200" b="1" spc="10" dirty="0">
                <a:latin typeface="Calibri"/>
                <a:cs typeface="Calibri"/>
              </a:rPr>
              <a:t> </a:t>
            </a:r>
            <a:r>
              <a:rPr sz="1200" spc="-10" dirty="0">
                <a:latin typeface="Calibri"/>
                <a:cs typeface="Calibri"/>
              </a:rPr>
              <a:t>appears</a:t>
            </a:r>
            <a:r>
              <a:rPr sz="1200" dirty="0">
                <a:latin typeface="Calibri"/>
                <a:cs typeface="Calibri"/>
              </a:rPr>
              <a:t> to</a:t>
            </a:r>
            <a:r>
              <a:rPr sz="1200" spc="55" dirty="0">
                <a:latin typeface="Calibri"/>
                <a:cs typeface="Calibri"/>
              </a:rPr>
              <a:t> </a:t>
            </a:r>
            <a:r>
              <a:rPr sz="1200" dirty="0">
                <a:latin typeface="Calibri"/>
                <a:cs typeface="Calibri"/>
              </a:rPr>
              <a:t>be</a:t>
            </a:r>
            <a:r>
              <a:rPr sz="1200" spc="25" dirty="0">
                <a:latin typeface="Calibri"/>
                <a:cs typeface="Calibri"/>
              </a:rPr>
              <a:t> </a:t>
            </a:r>
            <a:r>
              <a:rPr sz="1200" spc="-25" dirty="0">
                <a:latin typeface="Calibri"/>
                <a:cs typeface="Calibri"/>
              </a:rPr>
              <a:t>the </a:t>
            </a:r>
            <a:r>
              <a:rPr sz="1200" spc="-10" dirty="0">
                <a:latin typeface="Calibri"/>
                <a:cs typeface="Calibri"/>
              </a:rPr>
              <a:t>most frequently</a:t>
            </a:r>
            <a:r>
              <a:rPr sz="1200" spc="5" dirty="0">
                <a:latin typeface="Calibri"/>
                <a:cs typeface="Calibri"/>
              </a:rPr>
              <a:t> </a:t>
            </a:r>
            <a:r>
              <a:rPr sz="1200" dirty="0">
                <a:latin typeface="Calibri"/>
                <a:cs typeface="Calibri"/>
              </a:rPr>
              <a:t>used</a:t>
            </a:r>
            <a:r>
              <a:rPr sz="1200" spc="-5" dirty="0">
                <a:latin typeface="Calibri"/>
                <a:cs typeface="Calibri"/>
              </a:rPr>
              <a:t> </a:t>
            </a:r>
            <a:r>
              <a:rPr sz="1200" dirty="0">
                <a:latin typeface="Calibri"/>
                <a:cs typeface="Calibri"/>
              </a:rPr>
              <a:t>and</a:t>
            </a:r>
            <a:r>
              <a:rPr sz="1200" spc="-5" dirty="0">
                <a:latin typeface="Calibri"/>
                <a:cs typeface="Calibri"/>
              </a:rPr>
              <a:t> </a:t>
            </a:r>
            <a:r>
              <a:rPr sz="1200" dirty="0">
                <a:latin typeface="Calibri"/>
                <a:cs typeface="Calibri"/>
              </a:rPr>
              <a:t>has</a:t>
            </a:r>
            <a:r>
              <a:rPr sz="1200" spc="5" dirty="0">
                <a:latin typeface="Calibri"/>
                <a:cs typeface="Calibri"/>
              </a:rPr>
              <a:t> </a:t>
            </a:r>
            <a:r>
              <a:rPr sz="1200" dirty="0">
                <a:latin typeface="Calibri"/>
                <a:cs typeface="Calibri"/>
              </a:rPr>
              <a:t>a</a:t>
            </a:r>
            <a:r>
              <a:rPr sz="1200" spc="-30" dirty="0">
                <a:latin typeface="Calibri"/>
                <a:cs typeface="Calibri"/>
              </a:rPr>
              <a:t> </a:t>
            </a:r>
            <a:r>
              <a:rPr sz="1200" spc="-20" dirty="0">
                <a:latin typeface="Calibri"/>
                <a:cs typeface="Calibri"/>
              </a:rPr>
              <a:t>high </a:t>
            </a:r>
            <a:r>
              <a:rPr sz="1200" dirty="0">
                <a:latin typeface="Calibri"/>
                <a:cs typeface="Calibri"/>
              </a:rPr>
              <a:t>success </a:t>
            </a:r>
            <a:r>
              <a:rPr sz="1200" spc="-20" dirty="0">
                <a:latin typeface="Calibri"/>
                <a:cs typeface="Calibri"/>
              </a:rPr>
              <a:t>rate</a:t>
            </a:r>
            <a:r>
              <a:rPr sz="1200" spc="-50" dirty="0">
                <a:latin typeface="Calibri"/>
                <a:cs typeface="Calibri"/>
              </a:rPr>
              <a:t> </a:t>
            </a:r>
            <a:r>
              <a:rPr sz="1200" dirty="0">
                <a:latin typeface="Calibri"/>
                <a:cs typeface="Calibri"/>
              </a:rPr>
              <a:t>across </a:t>
            </a:r>
            <a:r>
              <a:rPr sz="1200" spc="-10" dirty="0">
                <a:latin typeface="Calibri"/>
                <a:cs typeface="Calibri"/>
              </a:rPr>
              <a:t>various</a:t>
            </a:r>
            <a:r>
              <a:rPr sz="1200" dirty="0">
                <a:latin typeface="Calibri"/>
                <a:cs typeface="Calibri"/>
              </a:rPr>
              <a:t> </a:t>
            </a:r>
            <a:r>
              <a:rPr sz="1200" spc="-10" dirty="0">
                <a:latin typeface="Calibri"/>
                <a:cs typeface="Calibri"/>
              </a:rPr>
              <a:t>payload masses.</a:t>
            </a:r>
            <a:endParaRPr sz="1200">
              <a:latin typeface="Calibri"/>
              <a:cs typeface="Calibri"/>
            </a:endParaRPr>
          </a:p>
          <a:p>
            <a:pPr marL="241300" marR="10795" indent="-228600">
              <a:lnSpc>
                <a:spcPct val="88600"/>
              </a:lnSpc>
              <a:spcBef>
                <a:spcPts val="530"/>
              </a:spcBef>
              <a:buFont typeface="Courier New"/>
              <a:buChar char="o"/>
              <a:tabLst>
                <a:tab pos="241300" algn="l"/>
              </a:tabLst>
            </a:pPr>
            <a:r>
              <a:rPr sz="1200" b="1" spc="-10" dirty="0">
                <a:latin typeface="Calibri"/>
                <a:cs typeface="Calibri"/>
              </a:rPr>
              <a:t>Booster</a:t>
            </a:r>
            <a:r>
              <a:rPr sz="1200" b="1" spc="-35" dirty="0">
                <a:latin typeface="Calibri"/>
                <a:cs typeface="Calibri"/>
              </a:rPr>
              <a:t> </a:t>
            </a:r>
            <a:r>
              <a:rPr sz="1200" b="1" spc="-10" dirty="0">
                <a:latin typeface="Calibri"/>
                <a:cs typeface="Calibri"/>
              </a:rPr>
              <a:t>version</a:t>
            </a:r>
            <a:r>
              <a:rPr sz="1200" b="1" spc="-25" dirty="0">
                <a:latin typeface="Calibri"/>
                <a:cs typeface="Calibri"/>
              </a:rPr>
              <a:t> </a:t>
            </a:r>
            <a:r>
              <a:rPr sz="1200" b="1" dirty="0">
                <a:latin typeface="Calibri"/>
                <a:cs typeface="Calibri"/>
              </a:rPr>
              <a:t>“v1.0”</a:t>
            </a:r>
            <a:r>
              <a:rPr sz="1200" b="1" spc="50" dirty="0">
                <a:latin typeface="Calibri"/>
                <a:cs typeface="Calibri"/>
              </a:rPr>
              <a:t> </a:t>
            </a:r>
            <a:r>
              <a:rPr sz="1200" dirty="0">
                <a:latin typeface="Calibri"/>
                <a:cs typeface="Calibri"/>
              </a:rPr>
              <a:t>has </a:t>
            </a:r>
            <a:r>
              <a:rPr sz="1200" spc="-20" dirty="0">
                <a:latin typeface="Calibri"/>
                <a:cs typeface="Calibri"/>
              </a:rPr>
              <a:t>fewer </a:t>
            </a:r>
            <a:r>
              <a:rPr sz="1200" dirty="0">
                <a:latin typeface="Calibri"/>
                <a:cs typeface="Calibri"/>
              </a:rPr>
              <a:t>launches</a:t>
            </a:r>
            <a:r>
              <a:rPr sz="1200" spc="-45" dirty="0">
                <a:latin typeface="Calibri"/>
                <a:cs typeface="Calibri"/>
              </a:rPr>
              <a:t> </a:t>
            </a:r>
            <a:r>
              <a:rPr sz="1200" dirty="0">
                <a:latin typeface="Calibri"/>
                <a:cs typeface="Calibri"/>
              </a:rPr>
              <a:t>and</a:t>
            </a:r>
            <a:r>
              <a:rPr sz="1200" spc="-55" dirty="0">
                <a:latin typeface="Calibri"/>
                <a:cs typeface="Calibri"/>
              </a:rPr>
              <a:t> </a:t>
            </a:r>
            <a:r>
              <a:rPr sz="1200" dirty="0">
                <a:latin typeface="Calibri"/>
                <a:cs typeface="Calibri"/>
              </a:rPr>
              <a:t>may</a:t>
            </a:r>
            <a:r>
              <a:rPr sz="1200" spc="-45" dirty="0">
                <a:latin typeface="Calibri"/>
                <a:cs typeface="Calibri"/>
              </a:rPr>
              <a:t> </a:t>
            </a:r>
            <a:r>
              <a:rPr sz="1200" dirty="0">
                <a:latin typeface="Calibri"/>
                <a:cs typeface="Calibri"/>
              </a:rPr>
              <a:t>require</a:t>
            </a:r>
            <a:r>
              <a:rPr sz="1200" spc="-30" dirty="0">
                <a:latin typeface="Calibri"/>
                <a:cs typeface="Calibri"/>
              </a:rPr>
              <a:t> </a:t>
            </a:r>
            <a:r>
              <a:rPr sz="1200" spc="-10" dirty="0">
                <a:latin typeface="Calibri"/>
                <a:cs typeface="Calibri"/>
              </a:rPr>
              <a:t>further </a:t>
            </a:r>
            <a:r>
              <a:rPr sz="1200" dirty="0">
                <a:latin typeface="Calibri"/>
                <a:cs typeface="Calibri"/>
              </a:rPr>
              <a:t>analysis</a:t>
            </a:r>
            <a:r>
              <a:rPr sz="1200" spc="-15" dirty="0">
                <a:latin typeface="Calibri"/>
                <a:cs typeface="Calibri"/>
              </a:rPr>
              <a:t> </a:t>
            </a:r>
            <a:r>
              <a:rPr sz="1200" dirty="0">
                <a:latin typeface="Calibri"/>
                <a:cs typeface="Calibri"/>
              </a:rPr>
              <a:t>to</a:t>
            </a:r>
            <a:r>
              <a:rPr sz="1200" spc="-25" dirty="0">
                <a:latin typeface="Calibri"/>
                <a:cs typeface="Calibri"/>
              </a:rPr>
              <a:t> </a:t>
            </a:r>
            <a:r>
              <a:rPr sz="1200" spc="-10" dirty="0">
                <a:latin typeface="Calibri"/>
                <a:cs typeface="Calibri"/>
              </a:rPr>
              <a:t>understand</a:t>
            </a:r>
            <a:r>
              <a:rPr sz="1200" spc="-25" dirty="0">
                <a:latin typeface="Calibri"/>
                <a:cs typeface="Calibri"/>
              </a:rPr>
              <a:t> </a:t>
            </a:r>
            <a:r>
              <a:rPr sz="1200" dirty="0">
                <a:latin typeface="Calibri"/>
                <a:cs typeface="Calibri"/>
              </a:rPr>
              <a:t>its</a:t>
            </a:r>
            <a:r>
              <a:rPr sz="1200" spc="-10" dirty="0">
                <a:latin typeface="Calibri"/>
                <a:cs typeface="Calibri"/>
              </a:rPr>
              <a:t> performance.</a:t>
            </a:r>
            <a:endParaRPr sz="1200">
              <a:latin typeface="Calibri"/>
              <a:cs typeface="Calibri"/>
            </a:endParaRPr>
          </a:p>
          <a:p>
            <a:pPr marL="241300" marR="5080" indent="-228600">
              <a:lnSpc>
                <a:spcPct val="91300"/>
              </a:lnSpc>
              <a:spcBef>
                <a:spcPts val="484"/>
              </a:spcBef>
              <a:buFont typeface="Courier New"/>
              <a:buChar char="o"/>
              <a:tabLst>
                <a:tab pos="241300" algn="l"/>
              </a:tabLst>
            </a:pPr>
            <a:r>
              <a:rPr sz="1200" dirty="0">
                <a:latin typeface="Calibri"/>
                <a:cs typeface="Calibri"/>
              </a:rPr>
              <a:t>Overall,</a:t>
            </a:r>
            <a:r>
              <a:rPr sz="1200" spc="-5" dirty="0">
                <a:latin typeface="Calibri"/>
                <a:cs typeface="Calibri"/>
              </a:rPr>
              <a:t> </a:t>
            </a:r>
            <a:r>
              <a:rPr sz="1200" spc="-10" dirty="0">
                <a:latin typeface="Calibri"/>
                <a:cs typeface="Calibri"/>
              </a:rPr>
              <a:t>booster</a:t>
            </a:r>
            <a:r>
              <a:rPr sz="1200" spc="-45" dirty="0">
                <a:latin typeface="Calibri"/>
                <a:cs typeface="Calibri"/>
              </a:rPr>
              <a:t> </a:t>
            </a:r>
            <a:r>
              <a:rPr sz="1200" dirty="0">
                <a:latin typeface="Calibri"/>
                <a:cs typeface="Calibri"/>
              </a:rPr>
              <a:t>versions</a:t>
            </a:r>
            <a:r>
              <a:rPr sz="1200" spc="-25" dirty="0">
                <a:latin typeface="Calibri"/>
                <a:cs typeface="Calibri"/>
              </a:rPr>
              <a:t> </a:t>
            </a:r>
            <a:r>
              <a:rPr sz="1200" dirty="0">
                <a:latin typeface="Calibri"/>
                <a:cs typeface="Calibri"/>
              </a:rPr>
              <a:t>do</a:t>
            </a:r>
            <a:r>
              <a:rPr sz="1200" spc="-35" dirty="0">
                <a:latin typeface="Calibri"/>
                <a:cs typeface="Calibri"/>
              </a:rPr>
              <a:t> </a:t>
            </a:r>
            <a:r>
              <a:rPr sz="1200" dirty="0">
                <a:latin typeface="Calibri"/>
                <a:cs typeface="Calibri"/>
              </a:rPr>
              <a:t>not</a:t>
            </a:r>
            <a:r>
              <a:rPr sz="1200" spc="-30" dirty="0">
                <a:latin typeface="Calibri"/>
                <a:cs typeface="Calibri"/>
              </a:rPr>
              <a:t> </a:t>
            </a:r>
            <a:r>
              <a:rPr sz="1200" dirty="0">
                <a:latin typeface="Calibri"/>
                <a:cs typeface="Calibri"/>
              </a:rPr>
              <a:t>show</a:t>
            </a:r>
            <a:r>
              <a:rPr sz="1200" spc="-35" dirty="0">
                <a:latin typeface="Calibri"/>
                <a:cs typeface="Calibri"/>
              </a:rPr>
              <a:t> </a:t>
            </a:r>
            <a:r>
              <a:rPr sz="1200" spc="-50" dirty="0">
                <a:latin typeface="Calibri"/>
                <a:cs typeface="Calibri"/>
              </a:rPr>
              <a:t>a </a:t>
            </a:r>
            <a:r>
              <a:rPr sz="1200" dirty="0">
                <a:latin typeface="Calibri"/>
                <a:cs typeface="Calibri"/>
              </a:rPr>
              <a:t>clear</a:t>
            </a:r>
            <a:r>
              <a:rPr sz="1200" spc="-45" dirty="0">
                <a:latin typeface="Calibri"/>
                <a:cs typeface="Calibri"/>
              </a:rPr>
              <a:t> </a:t>
            </a:r>
            <a:r>
              <a:rPr sz="1200" dirty="0">
                <a:latin typeface="Calibri"/>
                <a:cs typeface="Calibri"/>
              </a:rPr>
              <a:t>trend</a:t>
            </a:r>
            <a:r>
              <a:rPr sz="1200" spc="-35" dirty="0">
                <a:latin typeface="Calibri"/>
                <a:cs typeface="Calibri"/>
              </a:rPr>
              <a:t> </a:t>
            </a:r>
            <a:r>
              <a:rPr sz="1200" dirty="0">
                <a:latin typeface="Calibri"/>
                <a:cs typeface="Calibri"/>
              </a:rPr>
              <a:t>that</a:t>
            </a:r>
            <a:r>
              <a:rPr sz="1200" spc="-30" dirty="0">
                <a:latin typeface="Calibri"/>
                <a:cs typeface="Calibri"/>
              </a:rPr>
              <a:t> </a:t>
            </a:r>
            <a:r>
              <a:rPr sz="1200" dirty="0">
                <a:latin typeface="Calibri"/>
                <a:cs typeface="Calibri"/>
              </a:rPr>
              <a:t>higher</a:t>
            </a:r>
            <a:r>
              <a:rPr sz="1200" spc="-45" dirty="0">
                <a:latin typeface="Calibri"/>
                <a:cs typeface="Calibri"/>
              </a:rPr>
              <a:t> </a:t>
            </a:r>
            <a:r>
              <a:rPr sz="1200" dirty="0">
                <a:latin typeface="Calibri"/>
                <a:cs typeface="Calibri"/>
              </a:rPr>
              <a:t>payload</a:t>
            </a:r>
            <a:r>
              <a:rPr sz="1200" spc="-30" dirty="0">
                <a:latin typeface="Calibri"/>
                <a:cs typeface="Calibri"/>
              </a:rPr>
              <a:t> </a:t>
            </a:r>
            <a:r>
              <a:rPr sz="1200" spc="-10" dirty="0">
                <a:latin typeface="Calibri"/>
                <a:cs typeface="Calibri"/>
              </a:rPr>
              <a:t>masses correlate</a:t>
            </a:r>
            <a:r>
              <a:rPr sz="1200" spc="15" dirty="0">
                <a:latin typeface="Calibri"/>
                <a:cs typeface="Calibri"/>
              </a:rPr>
              <a:t> </a:t>
            </a:r>
            <a:r>
              <a:rPr sz="1200" dirty="0">
                <a:latin typeface="Calibri"/>
                <a:cs typeface="Calibri"/>
              </a:rPr>
              <a:t>with</a:t>
            </a:r>
            <a:r>
              <a:rPr sz="1200" spc="-10" dirty="0">
                <a:latin typeface="Calibri"/>
                <a:cs typeface="Calibri"/>
              </a:rPr>
              <a:t> lower</a:t>
            </a:r>
            <a:r>
              <a:rPr sz="1200" spc="-25" dirty="0">
                <a:latin typeface="Calibri"/>
                <a:cs typeface="Calibri"/>
              </a:rPr>
              <a:t> </a:t>
            </a:r>
            <a:r>
              <a:rPr sz="1200" dirty="0">
                <a:latin typeface="Calibri"/>
                <a:cs typeface="Calibri"/>
              </a:rPr>
              <a:t>success</a:t>
            </a:r>
            <a:r>
              <a:rPr sz="1200" spc="-5" dirty="0">
                <a:latin typeface="Calibri"/>
                <a:cs typeface="Calibri"/>
              </a:rPr>
              <a:t> </a:t>
            </a:r>
            <a:r>
              <a:rPr sz="1200" spc="-10" dirty="0">
                <a:latin typeface="Calibri"/>
                <a:cs typeface="Calibri"/>
              </a:rPr>
              <a:t>rates.</a:t>
            </a:r>
            <a:endParaRPr sz="1200">
              <a:latin typeface="Calibri"/>
              <a:cs typeface="Calibri"/>
            </a:endParaRPr>
          </a:p>
        </p:txBody>
      </p:sp>
      <p:pic>
        <p:nvPicPr>
          <p:cNvPr id="8" name="object 8"/>
          <p:cNvPicPr/>
          <p:nvPr/>
        </p:nvPicPr>
        <p:blipFill>
          <a:blip r:embed="rId2" cstate="print"/>
          <a:stretch>
            <a:fillRect/>
          </a:stretch>
        </p:blipFill>
        <p:spPr>
          <a:xfrm>
            <a:off x="4324350" y="342900"/>
            <a:ext cx="7724775" cy="6362700"/>
          </a:xfrm>
          <a:prstGeom prst="rect">
            <a:avLst/>
          </a:prstGeom>
        </p:spPr>
      </p:pic>
      <p:sp>
        <p:nvSpPr>
          <p:cNvPr id="9" name="object 9"/>
          <p:cNvSpPr txBox="1"/>
          <p:nvPr/>
        </p:nvSpPr>
        <p:spPr>
          <a:xfrm>
            <a:off x="11101451" y="6434454"/>
            <a:ext cx="177800"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Calibri"/>
                <a:cs typeface="Calibri"/>
              </a:rPr>
              <a:t>47</a:t>
            </a:r>
            <a:endParaRPr sz="1200">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sp>
          <p:nvSpPr>
            <p:cNvPr id="4" name="object 4"/>
            <p:cNvSpPr/>
            <p:nvPr/>
          </p:nvSpPr>
          <p:spPr>
            <a:xfrm>
              <a:off x="800100" y="2533650"/>
              <a:ext cx="1057275" cy="361950"/>
            </a:xfrm>
            <a:custGeom>
              <a:avLst/>
              <a:gdLst/>
              <a:ahLst/>
              <a:cxnLst/>
              <a:rect l="l" t="t" r="r" b="b"/>
              <a:pathLst>
                <a:path w="1057275" h="361950">
                  <a:moveTo>
                    <a:pt x="1057275" y="0"/>
                  </a:moveTo>
                  <a:lnTo>
                    <a:pt x="0" y="0"/>
                  </a:lnTo>
                  <a:lnTo>
                    <a:pt x="0" y="361950"/>
                  </a:lnTo>
                  <a:lnTo>
                    <a:pt x="1057275" y="361950"/>
                  </a:lnTo>
                  <a:lnTo>
                    <a:pt x="1057275" y="0"/>
                  </a:lnTo>
                  <a:close/>
                </a:path>
              </a:pathLst>
            </a:custGeom>
            <a:solidFill>
              <a:srgbClr val="0947CA"/>
            </a:solidFill>
          </p:spPr>
          <p:txBody>
            <a:bodyPr wrap="square" lIns="0" tIns="0" rIns="0" bIns="0" rtlCol="0"/>
            <a:lstStyle/>
            <a:p>
              <a:endParaRPr/>
            </a:p>
          </p:txBody>
        </p:sp>
      </p:grpSp>
      <p:sp>
        <p:nvSpPr>
          <p:cNvPr id="5" name="object 5"/>
          <p:cNvSpPr txBox="1"/>
          <p:nvPr/>
        </p:nvSpPr>
        <p:spPr>
          <a:xfrm>
            <a:off x="877252" y="2547302"/>
            <a:ext cx="88646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Section</a:t>
            </a:r>
            <a:r>
              <a:rPr sz="1800" spc="35" dirty="0">
                <a:solidFill>
                  <a:srgbClr val="FFFFFF"/>
                </a:solidFill>
                <a:latin typeface="Calibri"/>
                <a:cs typeface="Calibri"/>
              </a:rPr>
              <a:t> </a:t>
            </a:r>
            <a:r>
              <a:rPr sz="1800" spc="-50" dirty="0">
                <a:solidFill>
                  <a:srgbClr val="FFFFFF"/>
                </a:solidFill>
                <a:latin typeface="Calibri"/>
                <a:cs typeface="Calibri"/>
              </a:rPr>
              <a:t>5</a:t>
            </a:r>
            <a:endParaRPr sz="1800">
              <a:latin typeface="Calibri"/>
              <a:cs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0247" y="568388"/>
            <a:ext cx="3329940" cy="1479550"/>
          </a:xfrm>
          <a:prstGeom prst="rect">
            <a:avLst/>
          </a:prstGeom>
        </p:spPr>
        <p:txBody>
          <a:bodyPr vert="horz" wrap="square" lIns="0" tIns="102235" rIns="0" bIns="0" rtlCol="0">
            <a:spAutoFit/>
          </a:bodyPr>
          <a:lstStyle/>
          <a:p>
            <a:pPr marL="12700" marR="5080">
              <a:lnSpc>
                <a:spcPts val="5410"/>
              </a:lnSpc>
              <a:spcBef>
                <a:spcPts val="805"/>
              </a:spcBef>
            </a:pPr>
            <a:r>
              <a:rPr sz="5000" spc="-20" dirty="0">
                <a:solidFill>
                  <a:srgbClr val="000000"/>
                </a:solidFill>
                <a:latin typeface="Calibri Light"/>
                <a:cs typeface="Calibri Light"/>
              </a:rPr>
              <a:t>Classification </a:t>
            </a:r>
            <a:r>
              <a:rPr sz="5000" spc="-10" dirty="0">
                <a:solidFill>
                  <a:srgbClr val="000000"/>
                </a:solidFill>
                <a:latin typeface="Calibri Light"/>
                <a:cs typeface="Calibri Light"/>
              </a:rPr>
              <a:t>Accuracy</a:t>
            </a:r>
            <a:endParaRPr sz="5000">
              <a:latin typeface="Calibri Light"/>
              <a:cs typeface="Calibri Light"/>
            </a:endParaRPr>
          </a:p>
        </p:txBody>
      </p:sp>
      <p:grpSp>
        <p:nvGrpSpPr>
          <p:cNvPr id="3" name="object 3"/>
          <p:cNvGrpSpPr/>
          <p:nvPr/>
        </p:nvGrpSpPr>
        <p:grpSpPr>
          <a:xfrm>
            <a:off x="628446" y="2336387"/>
            <a:ext cx="3286760" cy="86995"/>
            <a:chOff x="628446" y="2336387"/>
            <a:chExt cx="3286760" cy="86995"/>
          </a:xfrm>
        </p:grpSpPr>
        <p:sp>
          <p:nvSpPr>
            <p:cNvPr id="4" name="object 4"/>
            <p:cNvSpPr/>
            <p:nvPr/>
          </p:nvSpPr>
          <p:spPr>
            <a:xfrm>
              <a:off x="647700" y="2360475"/>
              <a:ext cx="3248660" cy="41275"/>
            </a:xfrm>
            <a:custGeom>
              <a:avLst/>
              <a:gdLst/>
              <a:ahLst/>
              <a:cxnLst/>
              <a:rect l="l" t="t" r="r" b="b"/>
              <a:pathLst>
                <a:path w="3248660" h="41275">
                  <a:moveTo>
                    <a:pt x="949776" y="28"/>
                  </a:moveTo>
                  <a:lnTo>
                    <a:pt x="908617" y="0"/>
                  </a:lnTo>
                  <a:lnTo>
                    <a:pt x="868796" y="772"/>
                  </a:lnTo>
                  <a:lnTo>
                    <a:pt x="828237" y="2192"/>
                  </a:lnTo>
                  <a:lnTo>
                    <a:pt x="681380" y="8787"/>
                  </a:lnTo>
                  <a:lnTo>
                    <a:pt x="557024" y="13502"/>
                  </a:lnTo>
                  <a:lnTo>
                    <a:pt x="408641" y="19688"/>
                  </a:lnTo>
                  <a:lnTo>
                    <a:pt x="365138" y="21166"/>
                  </a:lnTo>
                  <a:lnTo>
                    <a:pt x="322275" y="22155"/>
                  </a:lnTo>
                  <a:lnTo>
                    <a:pt x="278650" y="22539"/>
                  </a:lnTo>
                  <a:lnTo>
                    <a:pt x="232860" y="22199"/>
                  </a:lnTo>
                  <a:lnTo>
                    <a:pt x="183503" y="21018"/>
                  </a:lnTo>
                  <a:lnTo>
                    <a:pt x="129176" y="18878"/>
                  </a:lnTo>
                  <a:lnTo>
                    <a:pt x="68475" y="15661"/>
                  </a:lnTo>
                  <a:lnTo>
                    <a:pt x="0" y="11249"/>
                  </a:lnTo>
                  <a:lnTo>
                    <a:pt x="368" y="18488"/>
                  </a:lnTo>
                  <a:lnTo>
                    <a:pt x="838" y="21282"/>
                  </a:lnTo>
                  <a:lnTo>
                    <a:pt x="0" y="30299"/>
                  </a:lnTo>
                  <a:lnTo>
                    <a:pt x="45362" y="30022"/>
                  </a:lnTo>
                  <a:lnTo>
                    <a:pt x="90248" y="30127"/>
                  </a:lnTo>
                  <a:lnTo>
                    <a:pt x="135110" y="30523"/>
                  </a:lnTo>
                  <a:lnTo>
                    <a:pt x="274084" y="32535"/>
                  </a:lnTo>
                  <a:lnTo>
                    <a:pt x="374923" y="33650"/>
                  </a:lnTo>
                  <a:lnTo>
                    <a:pt x="429158" y="33864"/>
                  </a:lnTo>
                  <a:lnTo>
                    <a:pt x="486542" y="33728"/>
                  </a:lnTo>
                  <a:lnTo>
                    <a:pt x="547528" y="33149"/>
                  </a:lnTo>
                  <a:lnTo>
                    <a:pt x="612568" y="32037"/>
                  </a:lnTo>
                  <a:lnTo>
                    <a:pt x="750859" y="28722"/>
                  </a:lnTo>
                  <a:lnTo>
                    <a:pt x="813691" y="28037"/>
                  </a:lnTo>
                  <a:lnTo>
                    <a:pt x="871372" y="28072"/>
                  </a:lnTo>
                  <a:lnTo>
                    <a:pt x="924660" y="28657"/>
                  </a:lnTo>
                  <a:lnTo>
                    <a:pt x="974313" y="29619"/>
                  </a:lnTo>
                  <a:lnTo>
                    <a:pt x="1109052" y="33053"/>
                  </a:lnTo>
                  <a:lnTo>
                    <a:pt x="1151752" y="33808"/>
                  </a:lnTo>
                  <a:lnTo>
                    <a:pt x="1194611" y="34081"/>
                  </a:lnTo>
                  <a:lnTo>
                    <a:pt x="1238386" y="33702"/>
                  </a:lnTo>
                  <a:lnTo>
                    <a:pt x="1283837" y="32499"/>
                  </a:lnTo>
                  <a:lnTo>
                    <a:pt x="1386092" y="27577"/>
                  </a:lnTo>
                  <a:lnTo>
                    <a:pt x="1433891" y="25827"/>
                  </a:lnTo>
                  <a:lnTo>
                    <a:pt x="1477030" y="24906"/>
                  </a:lnTo>
                  <a:lnTo>
                    <a:pt x="1517422" y="24673"/>
                  </a:lnTo>
                  <a:lnTo>
                    <a:pt x="1556977" y="24983"/>
                  </a:lnTo>
                  <a:lnTo>
                    <a:pt x="1745064" y="28820"/>
                  </a:lnTo>
                  <a:lnTo>
                    <a:pt x="1809111" y="29715"/>
                  </a:lnTo>
                  <a:lnTo>
                    <a:pt x="1883791" y="30299"/>
                  </a:lnTo>
                  <a:lnTo>
                    <a:pt x="1946653" y="30200"/>
                  </a:lnTo>
                  <a:lnTo>
                    <a:pt x="2008365" y="29419"/>
                  </a:lnTo>
                  <a:lnTo>
                    <a:pt x="2068759" y="28132"/>
                  </a:lnTo>
                  <a:lnTo>
                    <a:pt x="2127670" y="26511"/>
                  </a:lnTo>
                  <a:lnTo>
                    <a:pt x="2293826" y="21393"/>
                  </a:lnTo>
                  <a:lnTo>
                    <a:pt x="2345130" y="20182"/>
                  </a:lnTo>
                  <a:lnTo>
                    <a:pt x="2394115" y="19509"/>
                  </a:lnTo>
                  <a:lnTo>
                    <a:pt x="2440615" y="19547"/>
                  </a:lnTo>
                  <a:lnTo>
                    <a:pt x="2484462" y="20471"/>
                  </a:lnTo>
                  <a:lnTo>
                    <a:pt x="2525490" y="22455"/>
                  </a:lnTo>
                  <a:lnTo>
                    <a:pt x="2563531" y="25673"/>
                  </a:lnTo>
                  <a:lnTo>
                    <a:pt x="2598420" y="30299"/>
                  </a:lnTo>
                  <a:lnTo>
                    <a:pt x="2637678" y="35217"/>
                  </a:lnTo>
                  <a:lnTo>
                    <a:pt x="2683041" y="38509"/>
                  </a:lnTo>
                  <a:lnTo>
                    <a:pt x="2733329" y="40397"/>
                  </a:lnTo>
                  <a:lnTo>
                    <a:pt x="2787366" y="41100"/>
                  </a:lnTo>
                  <a:lnTo>
                    <a:pt x="2843974" y="40836"/>
                  </a:lnTo>
                  <a:lnTo>
                    <a:pt x="2901974" y="39826"/>
                  </a:lnTo>
                  <a:lnTo>
                    <a:pt x="2960188" y="38289"/>
                  </a:lnTo>
                  <a:lnTo>
                    <a:pt x="3171637" y="31264"/>
                  </a:lnTo>
                  <a:lnTo>
                    <a:pt x="3213257" y="30387"/>
                  </a:lnTo>
                  <a:lnTo>
                    <a:pt x="3248025" y="30299"/>
                  </a:lnTo>
                  <a:lnTo>
                    <a:pt x="3248405" y="21155"/>
                  </a:lnTo>
                  <a:lnTo>
                    <a:pt x="3247771" y="15948"/>
                  </a:lnTo>
                  <a:lnTo>
                    <a:pt x="3248025" y="11249"/>
                  </a:lnTo>
                  <a:lnTo>
                    <a:pt x="3194449" y="16484"/>
                  </a:lnTo>
                  <a:lnTo>
                    <a:pt x="3139700" y="19729"/>
                  </a:lnTo>
                  <a:lnTo>
                    <a:pt x="3084174" y="21271"/>
                  </a:lnTo>
                  <a:lnTo>
                    <a:pt x="3028265" y="21397"/>
                  </a:lnTo>
                  <a:lnTo>
                    <a:pt x="2972369" y="20393"/>
                  </a:lnTo>
                  <a:lnTo>
                    <a:pt x="2916880" y="18546"/>
                  </a:lnTo>
                  <a:lnTo>
                    <a:pt x="2862193" y="16142"/>
                  </a:lnTo>
                  <a:lnTo>
                    <a:pt x="2706901" y="8455"/>
                  </a:lnTo>
                  <a:lnTo>
                    <a:pt x="2659376" y="6689"/>
                  </a:lnTo>
                  <a:lnTo>
                    <a:pt x="2614630" y="5799"/>
                  </a:lnTo>
                  <a:lnTo>
                    <a:pt x="2573057" y="6072"/>
                  </a:lnTo>
                  <a:lnTo>
                    <a:pt x="2535052" y="7793"/>
                  </a:lnTo>
                  <a:lnTo>
                    <a:pt x="2458042" y="15697"/>
                  </a:lnTo>
                  <a:lnTo>
                    <a:pt x="2409773" y="18217"/>
                  </a:lnTo>
                  <a:lnTo>
                    <a:pt x="2357332" y="19143"/>
                  </a:lnTo>
                  <a:lnTo>
                    <a:pt x="2301846" y="18813"/>
                  </a:lnTo>
                  <a:lnTo>
                    <a:pt x="2244445" y="17562"/>
                  </a:lnTo>
                  <a:lnTo>
                    <a:pt x="2186257" y="15726"/>
                  </a:lnTo>
                  <a:lnTo>
                    <a:pt x="2072033" y="11644"/>
                  </a:lnTo>
                  <a:lnTo>
                    <a:pt x="2018254" y="10070"/>
                  </a:lnTo>
                  <a:lnTo>
                    <a:pt x="1968201" y="9256"/>
                  </a:lnTo>
                  <a:lnTo>
                    <a:pt x="1923004" y="9537"/>
                  </a:lnTo>
                  <a:lnTo>
                    <a:pt x="1883791" y="11249"/>
                  </a:lnTo>
                  <a:lnTo>
                    <a:pt x="1850698" y="13415"/>
                  </a:lnTo>
                  <a:lnTo>
                    <a:pt x="1813107" y="15515"/>
                  </a:lnTo>
                  <a:lnTo>
                    <a:pt x="1771452" y="17481"/>
                  </a:lnTo>
                  <a:lnTo>
                    <a:pt x="1726167" y="19247"/>
                  </a:lnTo>
                  <a:lnTo>
                    <a:pt x="1677686" y="20746"/>
                  </a:lnTo>
                  <a:lnTo>
                    <a:pt x="1626446" y="21913"/>
                  </a:lnTo>
                  <a:lnTo>
                    <a:pt x="1572879" y="22679"/>
                  </a:lnTo>
                  <a:lnTo>
                    <a:pt x="1517420" y="22979"/>
                  </a:lnTo>
                  <a:lnTo>
                    <a:pt x="1460505" y="22746"/>
                  </a:lnTo>
                  <a:lnTo>
                    <a:pt x="1402568" y="21913"/>
                  </a:lnTo>
                  <a:lnTo>
                    <a:pt x="1344043" y="20413"/>
                  </a:lnTo>
                  <a:lnTo>
                    <a:pt x="1285365" y="18180"/>
                  </a:lnTo>
                  <a:lnTo>
                    <a:pt x="1226969" y="15148"/>
                  </a:lnTo>
                  <a:lnTo>
                    <a:pt x="1102028" y="6469"/>
                  </a:lnTo>
                  <a:lnTo>
                    <a:pt x="1044406" y="3108"/>
                  </a:lnTo>
                  <a:lnTo>
                    <a:pt x="994347" y="1013"/>
                  </a:lnTo>
                  <a:lnTo>
                    <a:pt x="949776" y="28"/>
                  </a:lnTo>
                  <a:close/>
                </a:path>
              </a:pathLst>
            </a:custGeom>
            <a:solidFill>
              <a:srgbClr val="EC7C30"/>
            </a:solidFill>
          </p:spPr>
          <p:txBody>
            <a:bodyPr wrap="square" lIns="0" tIns="0" rIns="0" bIns="0" rtlCol="0"/>
            <a:lstStyle/>
            <a:p>
              <a:endParaRPr/>
            </a:p>
          </p:txBody>
        </p:sp>
        <p:sp>
          <p:nvSpPr>
            <p:cNvPr id="5" name="object 5"/>
            <p:cNvSpPr/>
            <p:nvPr/>
          </p:nvSpPr>
          <p:spPr>
            <a:xfrm>
              <a:off x="647496" y="2355437"/>
              <a:ext cx="3248660" cy="48895"/>
            </a:xfrm>
            <a:custGeom>
              <a:avLst/>
              <a:gdLst/>
              <a:ahLst/>
              <a:cxnLst/>
              <a:rect l="l" t="t" r="r" b="b"/>
              <a:pathLst>
                <a:path w="3248660" h="48894">
                  <a:moveTo>
                    <a:pt x="203" y="16287"/>
                  </a:moveTo>
                  <a:lnTo>
                    <a:pt x="59712" y="11068"/>
                  </a:lnTo>
                  <a:lnTo>
                    <a:pt x="118295" y="6886"/>
                  </a:lnTo>
                  <a:lnTo>
                    <a:pt x="175789" y="3714"/>
                  </a:lnTo>
                  <a:lnTo>
                    <a:pt x="232030" y="1527"/>
                  </a:lnTo>
                  <a:lnTo>
                    <a:pt x="286856" y="298"/>
                  </a:lnTo>
                  <a:lnTo>
                    <a:pt x="340104" y="0"/>
                  </a:lnTo>
                  <a:lnTo>
                    <a:pt x="391610" y="606"/>
                  </a:lnTo>
                  <a:lnTo>
                    <a:pt x="441213" y="2091"/>
                  </a:lnTo>
                  <a:lnTo>
                    <a:pt x="488748" y="4429"/>
                  </a:lnTo>
                  <a:lnTo>
                    <a:pt x="534053" y="7591"/>
                  </a:lnTo>
                  <a:lnTo>
                    <a:pt x="576965" y="11553"/>
                  </a:lnTo>
                  <a:lnTo>
                    <a:pt x="617321" y="16287"/>
                  </a:lnTo>
                  <a:lnTo>
                    <a:pt x="654127" y="20343"/>
                  </a:lnTo>
                  <a:lnTo>
                    <a:pt x="692612" y="23174"/>
                  </a:lnTo>
                  <a:lnTo>
                    <a:pt x="732916" y="24929"/>
                  </a:lnTo>
                  <a:lnTo>
                    <a:pt x="775179" y="25758"/>
                  </a:lnTo>
                  <a:lnTo>
                    <a:pt x="819543" y="25811"/>
                  </a:lnTo>
                  <a:lnTo>
                    <a:pt x="866147" y="25239"/>
                  </a:lnTo>
                  <a:lnTo>
                    <a:pt x="915132" y="24190"/>
                  </a:lnTo>
                  <a:lnTo>
                    <a:pt x="966638" y="22815"/>
                  </a:lnTo>
                  <a:lnTo>
                    <a:pt x="1020806" y="21263"/>
                  </a:lnTo>
                  <a:lnTo>
                    <a:pt x="1077775" y="19685"/>
                  </a:lnTo>
                  <a:lnTo>
                    <a:pt x="1137688" y="18229"/>
                  </a:lnTo>
                  <a:lnTo>
                    <a:pt x="1200682" y="17047"/>
                  </a:lnTo>
                  <a:lnTo>
                    <a:pt x="1266901" y="16287"/>
                  </a:lnTo>
                  <a:lnTo>
                    <a:pt x="1332636" y="16044"/>
                  </a:lnTo>
                  <a:lnTo>
                    <a:pt x="1394409" y="16238"/>
                  </a:lnTo>
                  <a:lnTo>
                    <a:pt x="1452696" y="16761"/>
                  </a:lnTo>
                  <a:lnTo>
                    <a:pt x="1507975" y="17505"/>
                  </a:lnTo>
                  <a:lnTo>
                    <a:pt x="1560725" y="18361"/>
                  </a:lnTo>
                  <a:lnTo>
                    <a:pt x="1611424" y="19223"/>
                  </a:lnTo>
                  <a:lnTo>
                    <a:pt x="1660549" y="19980"/>
                  </a:lnTo>
                  <a:lnTo>
                    <a:pt x="1708578" y="20526"/>
                  </a:lnTo>
                  <a:lnTo>
                    <a:pt x="1755990" y="20751"/>
                  </a:lnTo>
                  <a:lnTo>
                    <a:pt x="1803262" y="20548"/>
                  </a:lnTo>
                  <a:lnTo>
                    <a:pt x="1850871" y="19809"/>
                  </a:lnTo>
                  <a:lnTo>
                    <a:pt x="1899298" y="18424"/>
                  </a:lnTo>
                  <a:lnTo>
                    <a:pt x="1949018" y="16287"/>
                  </a:lnTo>
                  <a:lnTo>
                    <a:pt x="2000571" y="14354"/>
                  </a:lnTo>
                  <a:lnTo>
                    <a:pt x="2053886" y="13514"/>
                  </a:lnTo>
                  <a:lnTo>
                    <a:pt x="2108524" y="13556"/>
                  </a:lnTo>
                  <a:lnTo>
                    <a:pt x="2164046" y="14271"/>
                  </a:lnTo>
                  <a:lnTo>
                    <a:pt x="2220014" y="15448"/>
                  </a:lnTo>
                  <a:lnTo>
                    <a:pt x="2275987" y="16877"/>
                  </a:lnTo>
                  <a:lnTo>
                    <a:pt x="2331529" y="18348"/>
                  </a:lnTo>
                  <a:lnTo>
                    <a:pt x="2386200" y="19652"/>
                  </a:lnTo>
                  <a:lnTo>
                    <a:pt x="2439561" y="20576"/>
                  </a:lnTo>
                  <a:lnTo>
                    <a:pt x="2491174" y="20912"/>
                  </a:lnTo>
                  <a:lnTo>
                    <a:pt x="2540600" y="20450"/>
                  </a:lnTo>
                  <a:lnTo>
                    <a:pt x="2587400" y="18978"/>
                  </a:lnTo>
                  <a:lnTo>
                    <a:pt x="2631135" y="16287"/>
                  </a:lnTo>
                  <a:lnTo>
                    <a:pt x="2679012" y="13326"/>
                  </a:lnTo>
                  <a:lnTo>
                    <a:pt x="2730856" y="11604"/>
                  </a:lnTo>
                  <a:lnTo>
                    <a:pt x="2785670" y="10912"/>
                  </a:lnTo>
                  <a:lnTo>
                    <a:pt x="2842458" y="11038"/>
                  </a:lnTo>
                  <a:lnTo>
                    <a:pt x="2900223" y="11773"/>
                  </a:lnTo>
                  <a:lnTo>
                    <a:pt x="2957969" y="12906"/>
                  </a:lnTo>
                  <a:lnTo>
                    <a:pt x="3014699" y="14227"/>
                  </a:lnTo>
                  <a:lnTo>
                    <a:pt x="3069416" y="15525"/>
                  </a:lnTo>
                  <a:lnTo>
                    <a:pt x="3121125" y="16591"/>
                  </a:lnTo>
                  <a:lnTo>
                    <a:pt x="3168827" y="17213"/>
                  </a:lnTo>
                  <a:lnTo>
                    <a:pt x="3211527" y="17182"/>
                  </a:lnTo>
                  <a:lnTo>
                    <a:pt x="3248228" y="16287"/>
                  </a:lnTo>
                  <a:lnTo>
                    <a:pt x="3247466" y="24796"/>
                  </a:lnTo>
                  <a:lnTo>
                    <a:pt x="3247847" y="28860"/>
                  </a:lnTo>
                  <a:lnTo>
                    <a:pt x="3248228" y="35337"/>
                  </a:lnTo>
                  <a:lnTo>
                    <a:pt x="3209201" y="36115"/>
                  </a:lnTo>
                  <a:lnTo>
                    <a:pt x="3164075" y="36344"/>
                  </a:lnTo>
                  <a:lnTo>
                    <a:pt x="3113913" y="36130"/>
                  </a:lnTo>
                  <a:lnTo>
                    <a:pt x="3059777" y="35582"/>
                  </a:lnTo>
                  <a:lnTo>
                    <a:pt x="3002729" y="34806"/>
                  </a:lnTo>
                  <a:lnTo>
                    <a:pt x="2943833" y="33911"/>
                  </a:lnTo>
                  <a:lnTo>
                    <a:pt x="2884150" y="33004"/>
                  </a:lnTo>
                  <a:lnTo>
                    <a:pt x="2824744" y="32192"/>
                  </a:lnTo>
                  <a:lnTo>
                    <a:pt x="2766676" y="31582"/>
                  </a:lnTo>
                  <a:lnTo>
                    <a:pt x="2711008" y="31283"/>
                  </a:lnTo>
                  <a:lnTo>
                    <a:pt x="2658805" y="31401"/>
                  </a:lnTo>
                  <a:lnTo>
                    <a:pt x="2611127" y="32045"/>
                  </a:lnTo>
                  <a:lnTo>
                    <a:pt x="2569037" y="33321"/>
                  </a:lnTo>
                  <a:lnTo>
                    <a:pt x="2533599" y="35337"/>
                  </a:lnTo>
                  <a:lnTo>
                    <a:pt x="2500283" y="37023"/>
                  </a:lnTo>
                  <a:lnTo>
                    <a:pt x="2424431" y="36758"/>
                  </a:lnTo>
                  <a:lnTo>
                    <a:pt x="2382084" y="35326"/>
                  </a:lnTo>
                  <a:lnTo>
                    <a:pt x="2336917" y="33375"/>
                  </a:lnTo>
                  <a:lnTo>
                    <a:pt x="2289023" y="31165"/>
                  </a:lnTo>
                  <a:lnTo>
                    <a:pt x="2238498" y="28955"/>
                  </a:lnTo>
                  <a:lnTo>
                    <a:pt x="2185437" y="27006"/>
                  </a:lnTo>
                  <a:lnTo>
                    <a:pt x="2129933" y="25578"/>
                  </a:lnTo>
                  <a:lnTo>
                    <a:pt x="2072081" y="24929"/>
                  </a:lnTo>
                  <a:lnTo>
                    <a:pt x="2011978" y="25321"/>
                  </a:lnTo>
                  <a:lnTo>
                    <a:pt x="1949716" y="27013"/>
                  </a:lnTo>
                  <a:lnTo>
                    <a:pt x="1885390" y="30265"/>
                  </a:lnTo>
                  <a:lnTo>
                    <a:pt x="1819097" y="35337"/>
                  </a:lnTo>
                  <a:lnTo>
                    <a:pt x="1751268" y="40941"/>
                  </a:lnTo>
                  <a:lnTo>
                    <a:pt x="1691665" y="44826"/>
                  </a:lnTo>
                  <a:lnTo>
                    <a:pt x="1638857" y="47204"/>
                  </a:lnTo>
                  <a:lnTo>
                    <a:pt x="1591412" y="48292"/>
                  </a:lnTo>
                  <a:lnTo>
                    <a:pt x="1547897" y="48302"/>
                  </a:lnTo>
                  <a:lnTo>
                    <a:pt x="1506882" y="47450"/>
                  </a:lnTo>
                  <a:lnTo>
                    <a:pt x="1466935" y="45949"/>
                  </a:lnTo>
                  <a:lnTo>
                    <a:pt x="1426623" y="44015"/>
                  </a:lnTo>
                  <a:lnTo>
                    <a:pt x="1384516" y="41861"/>
                  </a:lnTo>
                  <a:lnTo>
                    <a:pt x="1339181" y="39702"/>
                  </a:lnTo>
                  <a:lnTo>
                    <a:pt x="1289186" y="37752"/>
                  </a:lnTo>
                  <a:lnTo>
                    <a:pt x="1233100" y="36226"/>
                  </a:lnTo>
                  <a:lnTo>
                    <a:pt x="1169492" y="35337"/>
                  </a:lnTo>
                  <a:lnTo>
                    <a:pt x="1131004" y="35189"/>
                  </a:lnTo>
                  <a:lnTo>
                    <a:pt x="1092163" y="35286"/>
                  </a:lnTo>
                  <a:lnTo>
                    <a:pt x="1052859" y="35595"/>
                  </a:lnTo>
                  <a:lnTo>
                    <a:pt x="1012983" y="36082"/>
                  </a:lnTo>
                  <a:lnTo>
                    <a:pt x="972424" y="36715"/>
                  </a:lnTo>
                  <a:lnTo>
                    <a:pt x="931072" y="37461"/>
                  </a:lnTo>
                  <a:lnTo>
                    <a:pt x="888817" y="38287"/>
                  </a:lnTo>
                  <a:lnTo>
                    <a:pt x="845550" y="39159"/>
                  </a:lnTo>
                  <a:lnTo>
                    <a:pt x="801160" y="40044"/>
                  </a:lnTo>
                  <a:lnTo>
                    <a:pt x="755537" y="40910"/>
                  </a:lnTo>
                  <a:lnTo>
                    <a:pt x="708571" y="41723"/>
                  </a:lnTo>
                  <a:lnTo>
                    <a:pt x="660152" y="42451"/>
                  </a:lnTo>
                  <a:lnTo>
                    <a:pt x="610171" y="43060"/>
                  </a:lnTo>
                  <a:lnTo>
                    <a:pt x="558517" y="43516"/>
                  </a:lnTo>
                  <a:lnTo>
                    <a:pt x="505080" y="43788"/>
                  </a:lnTo>
                  <a:lnTo>
                    <a:pt x="449750" y="43842"/>
                  </a:lnTo>
                  <a:lnTo>
                    <a:pt x="392418" y="43645"/>
                  </a:lnTo>
                  <a:lnTo>
                    <a:pt x="332972" y="43164"/>
                  </a:lnTo>
                  <a:lnTo>
                    <a:pt x="271304" y="42365"/>
                  </a:lnTo>
                  <a:lnTo>
                    <a:pt x="207303" y="41216"/>
                  </a:lnTo>
                  <a:lnTo>
                    <a:pt x="140859" y="39684"/>
                  </a:lnTo>
                  <a:lnTo>
                    <a:pt x="71862" y="37735"/>
                  </a:lnTo>
                  <a:lnTo>
                    <a:pt x="203" y="35337"/>
                  </a:lnTo>
                  <a:lnTo>
                    <a:pt x="152" y="29241"/>
                  </a:lnTo>
                  <a:lnTo>
                    <a:pt x="0" y="23018"/>
                  </a:lnTo>
                  <a:lnTo>
                    <a:pt x="203" y="16287"/>
                  </a:lnTo>
                  <a:close/>
                </a:path>
              </a:pathLst>
            </a:custGeom>
            <a:ln w="38100">
              <a:solidFill>
                <a:srgbClr val="EC7C30"/>
              </a:solidFill>
            </a:ln>
          </p:spPr>
          <p:txBody>
            <a:bodyPr wrap="square" lIns="0" tIns="0" rIns="0" bIns="0" rtlCol="0"/>
            <a:lstStyle/>
            <a:p>
              <a:endParaRPr/>
            </a:p>
          </p:txBody>
        </p:sp>
      </p:grpSp>
      <p:sp>
        <p:nvSpPr>
          <p:cNvPr id="6" name="object 6"/>
          <p:cNvSpPr txBox="1"/>
          <p:nvPr/>
        </p:nvSpPr>
        <p:spPr>
          <a:xfrm>
            <a:off x="710247" y="2650172"/>
            <a:ext cx="4634865" cy="3075940"/>
          </a:xfrm>
          <a:prstGeom prst="rect">
            <a:avLst/>
          </a:prstGeom>
        </p:spPr>
        <p:txBody>
          <a:bodyPr vert="horz" wrap="square" lIns="0" tIns="41275" rIns="0" bIns="0" rtlCol="0">
            <a:spAutoFit/>
          </a:bodyPr>
          <a:lstStyle/>
          <a:p>
            <a:pPr marL="241300" marR="5080" indent="-229235">
              <a:lnSpc>
                <a:spcPct val="92200"/>
              </a:lnSpc>
              <a:spcBef>
                <a:spcPts val="325"/>
              </a:spcBef>
              <a:buFont typeface="Arial MT"/>
              <a:buChar char="•"/>
              <a:tabLst>
                <a:tab pos="241300" algn="l"/>
              </a:tabLst>
            </a:pPr>
            <a:r>
              <a:rPr sz="2150" dirty="0">
                <a:latin typeface="Calibri"/>
                <a:cs typeface="Calibri"/>
              </a:rPr>
              <a:t>Based</a:t>
            </a:r>
            <a:r>
              <a:rPr sz="2150" spc="60" dirty="0">
                <a:latin typeface="Calibri"/>
                <a:cs typeface="Calibri"/>
              </a:rPr>
              <a:t> </a:t>
            </a:r>
            <a:r>
              <a:rPr sz="2150" dirty="0">
                <a:latin typeface="Calibri"/>
                <a:cs typeface="Calibri"/>
              </a:rPr>
              <a:t>on</a:t>
            </a:r>
            <a:r>
              <a:rPr sz="2150" spc="65" dirty="0">
                <a:latin typeface="Calibri"/>
                <a:cs typeface="Calibri"/>
              </a:rPr>
              <a:t> </a:t>
            </a:r>
            <a:r>
              <a:rPr sz="2150" dirty="0">
                <a:latin typeface="Calibri"/>
                <a:cs typeface="Calibri"/>
              </a:rPr>
              <a:t>the</a:t>
            </a:r>
            <a:r>
              <a:rPr sz="2150" spc="45" dirty="0">
                <a:latin typeface="Calibri"/>
                <a:cs typeface="Calibri"/>
              </a:rPr>
              <a:t> </a:t>
            </a:r>
            <a:r>
              <a:rPr sz="2150" dirty="0">
                <a:latin typeface="Calibri"/>
                <a:cs typeface="Calibri"/>
              </a:rPr>
              <a:t>results,</a:t>
            </a:r>
            <a:r>
              <a:rPr sz="2150" spc="65" dirty="0">
                <a:latin typeface="Calibri"/>
                <a:cs typeface="Calibri"/>
              </a:rPr>
              <a:t> </a:t>
            </a:r>
            <a:r>
              <a:rPr sz="2150" dirty="0">
                <a:latin typeface="Calibri"/>
                <a:cs typeface="Calibri"/>
              </a:rPr>
              <a:t>the</a:t>
            </a:r>
            <a:r>
              <a:rPr sz="2150" spc="45" dirty="0">
                <a:latin typeface="Calibri"/>
                <a:cs typeface="Calibri"/>
              </a:rPr>
              <a:t> </a:t>
            </a:r>
            <a:r>
              <a:rPr sz="2150" dirty="0">
                <a:latin typeface="Calibri"/>
                <a:cs typeface="Calibri"/>
              </a:rPr>
              <a:t>Decision</a:t>
            </a:r>
            <a:r>
              <a:rPr sz="2150" spc="60" dirty="0">
                <a:latin typeface="Calibri"/>
                <a:cs typeface="Calibri"/>
              </a:rPr>
              <a:t> </a:t>
            </a:r>
            <a:r>
              <a:rPr sz="2150" spc="-20" dirty="0">
                <a:latin typeface="Calibri"/>
                <a:cs typeface="Calibri"/>
              </a:rPr>
              <a:t>Tree </a:t>
            </a:r>
            <a:r>
              <a:rPr sz="2150" dirty="0">
                <a:latin typeface="Calibri"/>
                <a:cs typeface="Calibri"/>
              </a:rPr>
              <a:t>model</a:t>
            </a:r>
            <a:r>
              <a:rPr sz="2150" spc="40" dirty="0">
                <a:latin typeface="Calibri"/>
                <a:cs typeface="Calibri"/>
              </a:rPr>
              <a:t> </a:t>
            </a:r>
            <a:r>
              <a:rPr sz="2150" dirty="0">
                <a:latin typeface="Calibri"/>
                <a:cs typeface="Calibri"/>
              </a:rPr>
              <a:t>has</a:t>
            </a:r>
            <a:r>
              <a:rPr sz="2150" spc="65" dirty="0">
                <a:latin typeface="Calibri"/>
                <a:cs typeface="Calibri"/>
              </a:rPr>
              <a:t> </a:t>
            </a:r>
            <a:r>
              <a:rPr sz="2150" dirty="0">
                <a:latin typeface="Calibri"/>
                <a:cs typeface="Calibri"/>
              </a:rPr>
              <a:t>the</a:t>
            </a:r>
            <a:r>
              <a:rPr sz="2150" spc="60" dirty="0">
                <a:latin typeface="Calibri"/>
                <a:cs typeface="Calibri"/>
              </a:rPr>
              <a:t> </a:t>
            </a:r>
            <a:r>
              <a:rPr sz="2150" dirty="0">
                <a:latin typeface="Calibri"/>
                <a:cs typeface="Calibri"/>
              </a:rPr>
              <a:t>highest</a:t>
            </a:r>
            <a:r>
              <a:rPr sz="2150" spc="110" dirty="0">
                <a:latin typeface="Calibri"/>
                <a:cs typeface="Calibri"/>
              </a:rPr>
              <a:t> </a:t>
            </a:r>
            <a:r>
              <a:rPr sz="2150" spc="-10" dirty="0">
                <a:latin typeface="Calibri"/>
                <a:cs typeface="Calibri"/>
              </a:rPr>
              <a:t>classification </a:t>
            </a:r>
            <a:r>
              <a:rPr sz="2150" dirty="0">
                <a:latin typeface="Calibri"/>
                <a:cs typeface="Calibri"/>
              </a:rPr>
              <a:t>accuracy</a:t>
            </a:r>
            <a:r>
              <a:rPr sz="2150" spc="25" dirty="0">
                <a:latin typeface="Calibri"/>
                <a:cs typeface="Calibri"/>
              </a:rPr>
              <a:t> </a:t>
            </a:r>
            <a:r>
              <a:rPr sz="2150" dirty="0">
                <a:latin typeface="Calibri"/>
                <a:cs typeface="Calibri"/>
              </a:rPr>
              <a:t>on</a:t>
            </a:r>
            <a:r>
              <a:rPr sz="2150" spc="30" dirty="0">
                <a:latin typeface="Calibri"/>
                <a:cs typeface="Calibri"/>
              </a:rPr>
              <a:t> </a:t>
            </a:r>
            <a:r>
              <a:rPr sz="2150" dirty="0">
                <a:latin typeface="Calibri"/>
                <a:cs typeface="Calibri"/>
              </a:rPr>
              <a:t>the</a:t>
            </a:r>
            <a:r>
              <a:rPr sz="2150" spc="10" dirty="0">
                <a:latin typeface="Calibri"/>
                <a:cs typeface="Calibri"/>
              </a:rPr>
              <a:t> </a:t>
            </a:r>
            <a:r>
              <a:rPr sz="2150" dirty="0">
                <a:latin typeface="Calibri"/>
                <a:cs typeface="Calibri"/>
              </a:rPr>
              <a:t>test</a:t>
            </a:r>
            <a:r>
              <a:rPr sz="2150" spc="60" dirty="0">
                <a:latin typeface="Calibri"/>
                <a:cs typeface="Calibri"/>
              </a:rPr>
              <a:t> </a:t>
            </a:r>
            <a:r>
              <a:rPr sz="2150" dirty="0">
                <a:latin typeface="Calibri"/>
                <a:cs typeface="Calibri"/>
              </a:rPr>
              <a:t>data,</a:t>
            </a:r>
            <a:r>
              <a:rPr sz="2150" spc="30" dirty="0">
                <a:latin typeface="Calibri"/>
                <a:cs typeface="Calibri"/>
              </a:rPr>
              <a:t> </a:t>
            </a:r>
            <a:r>
              <a:rPr sz="2150" dirty="0">
                <a:latin typeface="Calibri"/>
                <a:cs typeface="Calibri"/>
              </a:rPr>
              <a:t>achieving</a:t>
            </a:r>
            <a:r>
              <a:rPr sz="2150" spc="70" dirty="0">
                <a:latin typeface="Calibri"/>
                <a:cs typeface="Calibri"/>
              </a:rPr>
              <a:t> </a:t>
            </a:r>
            <a:r>
              <a:rPr sz="2150" spc="-25" dirty="0">
                <a:latin typeface="Calibri"/>
                <a:cs typeface="Calibri"/>
              </a:rPr>
              <a:t>an </a:t>
            </a:r>
            <a:r>
              <a:rPr sz="2150" dirty="0">
                <a:latin typeface="Calibri"/>
                <a:cs typeface="Calibri"/>
              </a:rPr>
              <a:t>accuracy</a:t>
            </a:r>
            <a:r>
              <a:rPr sz="2150" spc="65" dirty="0">
                <a:latin typeface="Calibri"/>
                <a:cs typeface="Calibri"/>
              </a:rPr>
              <a:t> </a:t>
            </a:r>
            <a:r>
              <a:rPr sz="2150" dirty="0">
                <a:latin typeface="Calibri"/>
                <a:cs typeface="Calibri"/>
              </a:rPr>
              <a:t>of</a:t>
            </a:r>
            <a:r>
              <a:rPr sz="2150" spc="90" dirty="0">
                <a:latin typeface="Calibri"/>
                <a:cs typeface="Calibri"/>
              </a:rPr>
              <a:t> </a:t>
            </a:r>
            <a:r>
              <a:rPr sz="2150" dirty="0">
                <a:latin typeface="Calibri"/>
                <a:cs typeface="Calibri"/>
              </a:rPr>
              <a:t>0.9444.</a:t>
            </a:r>
            <a:r>
              <a:rPr sz="2150" spc="60" dirty="0">
                <a:latin typeface="Calibri"/>
                <a:cs typeface="Calibri"/>
              </a:rPr>
              <a:t> </a:t>
            </a:r>
            <a:r>
              <a:rPr sz="2150" dirty="0">
                <a:latin typeface="Calibri"/>
                <a:cs typeface="Calibri"/>
              </a:rPr>
              <a:t>This</a:t>
            </a:r>
            <a:r>
              <a:rPr sz="2150" spc="60" dirty="0">
                <a:latin typeface="Calibri"/>
                <a:cs typeface="Calibri"/>
              </a:rPr>
              <a:t> </a:t>
            </a:r>
            <a:r>
              <a:rPr sz="2150" dirty="0">
                <a:latin typeface="Calibri"/>
                <a:cs typeface="Calibri"/>
              </a:rPr>
              <a:t>suggests</a:t>
            </a:r>
            <a:r>
              <a:rPr sz="2150" spc="60" dirty="0">
                <a:latin typeface="Calibri"/>
                <a:cs typeface="Calibri"/>
              </a:rPr>
              <a:t> </a:t>
            </a:r>
            <a:r>
              <a:rPr sz="2150" spc="-20" dirty="0">
                <a:latin typeface="Calibri"/>
                <a:cs typeface="Calibri"/>
              </a:rPr>
              <a:t>that </a:t>
            </a:r>
            <a:r>
              <a:rPr sz="2150" dirty="0">
                <a:latin typeface="Calibri"/>
                <a:cs typeface="Calibri"/>
              </a:rPr>
              <a:t>the</a:t>
            </a:r>
            <a:r>
              <a:rPr sz="2150" spc="90" dirty="0">
                <a:latin typeface="Calibri"/>
                <a:cs typeface="Calibri"/>
              </a:rPr>
              <a:t> </a:t>
            </a:r>
            <a:r>
              <a:rPr sz="2150" dirty="0">
                <a:latin typeface="Calibri"/>
                <a:cs typeface="Calibri"/>
              </a:rPr>
              <a:t>Decision</a:t>
            </a:r>
            <a:r>
              <a:rPr sz="2150" spc="40" dirty="0">
                <a:latin typeface="Calibri"/>
                <a:cs typeface="Calibri"/>
              </a:rPr>
              <a:t> </a:t>
            </a:r>
            <a:r>
              <a:rPr sz="2150" spc="-10" dirty="0">
                <a:latin typeface="Calibri"/>
                <a:cs typeface="Calibri"/>
              </a:rPr>
              <a:t>Tree</a:t>
            </a:r>
            <a:r>
              <a:rPr sz="2150" spc="20" dirty="0">
                <a:latin typeface="Calibri"/>
                <a:cs typeface="Calibri"/>
              </a:rPr>
              <a:t> </a:t>
            </a:r>
            <a:r>
              <a:rPr sz="2150" dirty="0">
                <a:latin typeface="Calibri"/>
                <a:cs typeface="Calibri"/>
              </a:rPr>
              <a:t>model</a:t>
            </a:r>
            <a:r>
              <a:rPr sz="2150" spc="5" dirty="0">
                <a:latin typeface="Calibri"/>
                <a:cs typeface="Calibri"/>
              </a:rPr>
              <a:t> </a:t>
            </a:r>
            <a:r>
              <a:rPr sz="2150" dirty="0">
                <a:latin typeface="Calibri"/>
                <a:cs typeface="Calibri"/>
              </a:rPr>
              <a:t>is</a:t>
            </a:r>
            <a:r>
              <a:rPr sz="2150" spc="35" dirty="0">
                <a:latin typeface="Calibri"/>
                <a:cs typeface="Calibri"/>
              </a:rPr>
              <a:t> </a:t>
            </a:r>
            <a:r>
              <a:rPr sz="2150" spc="-10" dirty="0">
                <a:latin typeface="Calibri"/>
                <a:cs typeface="Calibri"/>
              </a:rPr>
              <a:t>better </a:t>
            </a:r>
            <a:r>
              <a:rPr sz="2150" dirty="0">
                <a:latin typeface="Calibri"/>
                <a:cs typeface="Calibri"/>
              </a:rPr>
              <a:t>suited</a:t>
            </a:r>
            <a:r>
              <a:rPr sz="2150" spc="55" dirty="0">
                <a:latin typeface="Calibri"/>
                <a:cs typeface="Calibri"/>
              </a:rPr>
              <a:t> </a:t>
            </a:r>
            <a:r>
              <a:rPr sz="2150" dirty="0">
                <a:latin typeface="Calibri"/>
                <a:cs typeface="Calibri"/>
              </a:rPr>
              <a:t>for</a:t>
            </a:r>
            <a:r>
              <a:rPr sz="2150" spc="-15" dirty="0">
                <a:latin typeface="Calibri"/>
                <a:cs typeface="Calibri"/>
              </a:rPr>
              <a:t> </a:t>
            </a:r>
            <a:r>
              <a:rPr sz="2150" dirty="0">
                <a:latin typeface="Calibri"/>
                <a:cs typeface="Calibri"/>
              </a:rPr>
              <a:t>this</a:t>
            </a:r>
            <a:r>
              <a:rPr sz="2150" spc="60" dirty="0">
                <a:latin typeface="Calibri"/>
                <a:cs typeface="Calibri"/>
              </a:rPr>
              <a:t> </a:t>
            </a:r>
            <a:r>
              <a:rPr sz="2150" dirty="0">
                <a:latin typeface="Calibri"/>
                <a:cs typeface="Calibri"/>
              </a:rPr>
              <a:t>dataset</a:t>
            </a:r>
            <a:r>
              <a:rPr sz="2150" spc="25" dirty="0">
                <a:latin typeface="Calibri"/>
                <a:cs typeface="Calibri"/>
              </a:rPr>
              <a:t> </a:t>
            </a:r>
            <a:r>
              <a:rPr sz="2150" dirty="0">
                <a:latin typeface="Calibri"/>
                <a:cs typeface="Calibri"/>
              </a:rPr>
              <a:t>compared</a:t>
            </a:r>
            <a:r>
              <a:rPr sz="2150" spc="65" dirty="0">
                <a:latin typeface="Calibri"/>
                <a:cs typeface="Calibri"/>
              </a:rPr>
              <a:t> </a:t>
            </a:r>
            <a:r>
              <a:rPr sz="2150" spc="-25" dirty="0">
                <a:latin typeface="Calibri"/>
                <a:cs typeface="Calibri"/>
              </a:rPr>
              <a:t>to </a:t>
            </a:r>
            <a:r>
              <a:rPr sz="2150" dirty="0">
                <a:latin typeface="Calibri"/>
                <a:cs typeface="Calibri"/>
              </a:rPr>
              <a:t>Logistic</a:t>
            </a:r>
            <a:r>
              <a:rPr sz="2150" spc="75" dirty="0">
                <a:latin typeface="Calibri"/>
                <a:cs typeface="Calibri"/>
              </a:rPr>
              <a:t> </a:t>
            </a:r>
            <a:r>
              <a:rPr sz="2150" dirty="0">
                <a:latin typeface="Calibri"/>
                <a:cs typeface="Calibri"/>
              </a:rPr>
              <a:t>Regression,</a:t>
            </a:r>
            <a:r>
              <a:rPr sz="2150" spc="85" dirty="0">
                <a:latin typeface="Calibri"/>
                <a:cs typeface="Calibri"/>
              </a:rPr>
              <a:t> </a:t>
            </a:r>
            <a:r>
              <a:rPr sz="2150" dirty="0">
                <a:latin typeface="Calibri"/>
                <a:cs typeface="Calibri"/>
              </a:rPr>
              <a:t>Support</a:t>
            </a:r>
            <a:r>
              <a:rPr sz="2150" spc="125" dirty="0">
                <a:latin typeface="Calibri"/>
                <a:cs typeface="Calibri"/>
              </a:rPr>
              <a:t> </a:t>
            </a:r>
            <a:r>
              <a:rPr sz="2150" spc="-10" dirty="0">
                <a:latin typeface="Calibri"/>
                <a:cs typeface="Calibri"/>
              </a:rPr>
              <a:t>Vector </a:t>
            </a:r>
            <a:r>
              <a:rPr sz="2150" dirty="0">
                <a:latin typeface="Calibri"/>
                <a:cs typeface="Calibri"/>
              </a:rPr>
              <a:t>Machine,</a:t>
            </a:r>
            <a:r>
              <a:rPr sz="2150" spc="75" dirty="0">
                <a:latin typeface="Calibri"/>
                <a:cs typeface="Calibri"/>
              </a:rPr>
              <a:t> </a:t>
            </a:r>
            <a:r>
              <a:rPr sz="2150" dirty="0">
                <a:latin typeface="Calibri"/>
                <a:cs typeface="Calibri"/>
              </a:rPr>
              <a:t>and</a:t>
            </a:r>
            <a:r>
              <a:rPr sz="2150" spc="75" dirty="0">
                <a:latin typeface="Calibri"/>
                <a:cs typeface="Calibri"/>
              </a:rPr>
              <a:t> </a:t>
            </a:r>
            <a:r>
              <a:rPr sz="2150" dirty="0">
                <a:latin typeface="Calibri"/>
                <a:cs typeface="Calibri"/>
              </a:rPr>
              <a:t>K</a:t>
            </a:r>
            <a:r>
              <a:rPr sz="2150" spc="95" dirty="0">
                <a:latin typeface="Calibri"/>
                <a:cs typeface="Calibri"/>
              </a:rPr>
              <a:t> </a:t>
            </a:r>
            <a:r>
              <a:rPr sz="2150" dirty="0">
                <a:latin typeface="Calibri"/>
                <a:cs typeface="Calibri"/>
              </a:rPr>
              <a:t>Nearest</a:t>
            </a:r>
            <a:r>
              <a:rPr sz="2150" spc="40" dirty="0">
                <a:latin typeface="Calibri"/>
                <a:cs typeface="Calibri"/>
              </a:rPr>
              <a:t> </a:t>
            </a:r>
            <a:r>
              <a:rPr sz="2150" dirty="0">
                <a:latin typeface="Calibri"/>
                <a:cs typeface="Calibri"/>
              </a:rPr>
              <a:t>Neighbors,</a:t>
            </a:r>
            <a:r>
              <a:rPr sz="2150" spc="80" dirty="0">
                <a:latin typeface="Calibri"/>
                <a:cs typeface="Calibri"/>
              </a:rPr>
              <a:t> </a:t>
            </a:r>
            <a:r>
              <a:rPr sz="2150" spc="-25" dirty="0">
                <a:latin typeface="Calibri"/>
                <a:cs typeface="Calibri"/>
              </a:rPr>
              <a:t>all </a:t>
            </a:r>
            <a:r>
              <a:rPr sz="2150" dirty="0">
                <a:latin typeface="Calibri"/>
                <a:cs typeface="Calibri"/>
              </a:rPr>
              <a:t>of which</a:t>
            </a:r>
            <a:r>
              <a:rPr sz="2150" spc="60" dirty="0">
                <a:latin typeface="Calibri"/>
                <a:cs typeface="Calibri"/>
              </a:rPr>
              <a:t> </a:t>
            </a:r>
            <a:r>
              <a:rPr sz="2150" dirty="0">
                <a:latin typeface="Calibri"/>
                <a:cs typeface="Calibri"/>
              </a:rPr>
              <a:t>achieved</a:t>
            </a:r>
            <a:r>
              <a:rPr sz="2150" spc="60" dirty="0">
                <a:latin typeface="Calibri"/>
                <a:cs typeface="Calibri"/>
              </a:rPr>
              <a:t> </a:t>
            </a:r>
            <a:r>
              <a:rPr sz="2150" dirty="0">
                <a:latin typeface="Calibri"/>
                <a:cs typeface="Calibri"/>
              </a:rPr>
              <a:t>an</a:t>
            </a:r>
            <a:r>
              <a:rPr sz="2150" spc="60" dirty="0">
                <a:latin typeface="Calibri"/>
                <a:cs typeface="Calibri"/>
              </a:rPr>
              <a:t> </a:t>
            </a:r>
            <a:r>
              <a:rPr sz="2150" dirty="0">
                <a:latin typeface="Calibri"/>
                <a:cs typeface="Calibri"/>
              </a:rPr>
              <a:t>accuracy</a:t>
            </a:r>
            <a:r>
              <a:rPr sz="2150" spc="75" dirty="0">
                <a:latin typeface="Calibri"/>
                <a:cs typeface="Calibri"/>
              </a:rPr>
              <a:t> </a:t>
            </a:r>
            <a:r>
              <a:rPr sz="2150" spc="-25" dirty="0">
                <a:latin typeface="Calibri"/>
                <a:cs typeface="Calibri"/>
              </a:rPr>
              <a:t>of </a:t>
            </a:r>
            <a:r>
              <a:rPr sz="2150" spc="-10" dirty="0">
                <a:latin typeface="Calibri"/>
                <a:cs typeface="Calibri"/>
              </a:rPr>
              <a:t>0.8333.</a:t>
            </a:r>
            <a:endParaRPr sz="2150">
              <a:latin typeface="Calibri"/>
              <a:cs typeface="Calibri"/>
            </a:endParaRPr>
          </a:p>
        </p:txBody>
      </p:sp>
      <p:pic>
        <p:nvPicPr>
          <p:cNvPr id="7" name="object 7"/>
          <p:cNvPicPr/>
          <p:nvPr/>
        </p:nvPicPr>
        <p:blipFill>
          <a:blip r:embed="rId2" cstate="print"/>
          <a:stretch>
            <a:fillRect/>
          </a:stretch>
        </p:blipFill>
        <p:spPr>
          <a:xfrm>
            <a:off x="5898582" y="1769616"/>
            <a:ext cx="5628079" cy="3533704"/>
          </a:xfrm>
          <a:prstGeom prst="rect">
            <a:avLst/>
          </a:prstGeom>
        </p:spPr>
      </p:pic>
      <p:sp>
        <p:nvSpPr>
          <p:cNvPr id="8" name="object 8"/>
          <p:cNvSpPr txBox="1"/>
          <p:nvPr/>
        </p:nvSpPr>
        <p:spPr>
          <a:xfrm>
            <a:off x="11101451" y="6434454"/>
            <a:ext cx="177800"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Calibri"/>
                <a:cs typeface="Calibri"/>
              </a:rPr>
              <a:t>49</a:t>
            </a:r>
            <a:endParaRPr sz="1200">
              <a:latin typeface="Calibri"/>
              <a:cs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16691" y="6090602"/>
            <a:ext cx="273050" cy="266065"/>
          </a:xfrm>
          <a:prstGeom prst="rect">
            <a:avLst/>
          </a:prstGeom>
        </p:spPr>
        <p:txBody>
          <a:bodyPr vert="horz" wrap="square" lIns="0" tIns="15875" rIns="0" bIns="0" rtlCol="0">
            <a:spAutoFit/>
          </a:bodyPr>
          <a:lstStyle/>
          <a:p>
            <a:pPr marL="12700">
              <a:lnSpc>
                <a:spcPct val="100000"/>
              </a:lnSpc>
              <a:spcBef>
                <a:spcPts val="125"/>
              </a:spcBef>
            </a:pPr>
            <a:r>
              <a:rPr sz="1550" spc="80" dirty="0">
                <a:solidFill>
                  <a:srgbClr val="1C7CDB"/>
                </a:solidFill>
                <a:latin typeface="Microsoft Sans Serif"/>
                <a:cs typeface="Microsoft Sans Serif"/>
              </a:rPr>
              <a:t>50</a:t>
            </a:r>
            <a:endParaRPr sz="1550">
              <a:latin typeface="Microsoft Sans Serif"/>
              <a:cs typeface="Microsoft Sans Serif"/>
            </a:endParaRPr>
          </a:p>
        </p:txBody>
      </p:sp>
      <p:sp>
        <p:nvSpPr>
          <p:cNvPr id="3" name="object 3"/>
          <p:cNvSpPr txBox="1"/>
          <p:nvPr/>
        </p:nvSpPr>
        <p:spPr>
          <a:xfrm>
            <a:off x="578484" y="1371187"/>
            <a:ext cx="5690870" cy="4939030"/>
          </a:xfrm>
          <a:prstGeom prst="rect">
            <a:avLst/>
          </a:prstGeom>
        </p:spPr>
        <p:txBody>
          <a:bodyPr vert="horz" wrap="square" lIns="0" tIns="158115" rIns="0" bIns="0" rtlCol="0">
            <a:spAutoFit/>
          </a:bodyPr>
          <a:lstStyle/>
          <a:p>
            <a:pPr marL="12700">
              <a:lnSpc>
                <a:spcPct val="100000"/>
              </a:lnSpc>
              <a:spcBef>
                <a:spcPts val="1245"/>
              </a:spcBef>
            </a:pPr>
            <a:r>
              <a:rPr sz="2000" b="1" dirty="0">
                <a:solidFill>
                  <a:srgbClr val="525252"/>
                </a:solidFill>
                <a:latin typeface="Calibri"/>
                <a:cs typeface="Calibri"/>
              </a:rPr>
              <a:t>Explanation</a:t>
            </a:r>
            <a:r>
              <a:rPr sz="2000" b="1" spc="-75" dirty="0">
                <a:solidFill>
                  <a:srgbClr val="525252"/>
                </a:solidFill>
                <a:latin typeface="Calibri"/>
                <a:cs typeface="Calibri"/>
              </a:rPr>
              <a:t> </a:t>
            </a:r>
            <a:r>
              <a:rPr sz="2000" b="1" dirty="0">
                <a:solidFill>
                  <a:srgbClr val="525252"/>
                </a:solidFill>
                <a:latin typeface="Calibri"/>
                <a:cs typeface="Calibri"/>
              </a:rPr>
              <a:t>and</a:t>
            </a:r>
            <a:r>
              <a:rPr sz="2000" b="1" spc="-10" dirty="0">
                <a:solidFill>
                  <a:srgbClr val="525252"/>
                </a:solidFill>
                <a:latin typeface="Calibri"/>
                <a:cs typeface="Calibri"/>
              </a:rPr>
              <a:t> Insights</a:t>
            </a:r>
            <a:endParaRPr sz="2000">
              <a:latin typeface="Calibri"/>
              <a:cs typeface="Calibri"/>
            </a:endParaRPr>
          </a:p>
          <a:p>
            <a:pPr marL="241300" marR="17780" indent="-229235">
              <a:lnSpc>
                <a:spcPts val="1730"/>
              </a:lnSpc>
              <a:spcBef>
                <a:spcPts val="1075"/>
              </a:spcBef>
            </a:pPr>
            <a:r>
              <a:rPr sz="1550" b="1" dirty="0">
                <a:solidFill>
                  <a:srgbClr val="525252"/>
                </a:solidFill>
                <a:latin typeface="Calibri"/>
                <a:cs typeface="Calibri"/>
              </a:rPr>
              <a:t>High</a:t>
            </a:r>
            <a:r>
              <a:rPr sz="1550" b="1" spc="80" dirty="0">
                <a:solidFill>
                  <a:srgbClr val="525252"/>
                </a:solidFill>
                <a:latin typeface="Calibri"/>
                <a:cs typeface="Calibri"/>
              </a:rPr>
              <a:t> </a:t>
            </a:r>
            <a:r>
              <a:rPr sz="1550" b="1" dirty="0">
                <a:solidFill>
                  <a:srgbClr val="525252"/>
                </a:solidFill>
                <a:latin typeface="Calibri"/>
                <a:cs typeface="Calibri"/>
              </a:rPr>
              <a:t>Accuracy</a:t>
            </a:r>
            <a:r>
              <a:rPr sz="1550" dirty="0">
                <a:solidFill>
                  <a:srgbClr val="525252"/>
                </a:solidFill>
                <a:latin typeface="Calibri"/>
                <a:cs typeface="Calibri"/>
              </a:rPr>
              <a:t>:</a:t>
            </a:r>
            <a:r>
              <a:rPr sz="1550" spc="140" dirty="0">
                <a:solidFill>
                  <a:srgbClr val="525252"/>
                </a:solidFill>
                <a:latin typeface="Calibri"/>
                <a:cs typeface="Calibri"/>
              </a:rPr>
              <a:t> </a:t>
            </a:r>
            <a:r>
              <a:rPr sz="1550" dirty="0">
                <a:solidFill>
                  <a:srgbClr val="525252"/>
                </a:solidFill>
                <a:latin typeface="Calibri"/>
                <a:cs typeface="Calibri"/>
              </a:rPr>
              <a:t>The</a:t>
            </a:r>
            <a:r>
              <a:rPr sz="1550" spc="155" dirty="0">
                <a:solidFill>
                  <a:srgbClr val="525252"/>
                </a:solidFill>
                <a:latin typeface="Calibri"/>
                <a:cs typeface="Calibri"/>
              </a:rPr>
              <a:t> </a:t>
            </a:r>
            <a:r>
              <a:rPr sz="1550" dirty="0">
                <a:solidFill>
                  <a:srgbClr val="525252"/>
                </a:solidFill>
                <a:latin typeface="Calibri"/>
                <a:cs typeface="Calibri"/>
              </a:rPr>
              <a:t>model</a:t>
            </a:r>
            <a:r>
              <a:rPr sz="1550" spc="35" dirty="0">
                <a:solidFill>
                  <a:srgbClr val="525252"/>
                </a:solidFill>
                <a:latin typeface="Calibri"/>
                <a:cs typeface="Calibri"/>
              </a:rPr>
              <a:t> </a:t>
            </a:r>
            <a:r>
              <a:rPr sz="1550" dirty="0">
                <a:solidFill>
                  <a:srgbClr val="525252"/>
                </a:solidFill>
                <a:latin typeface="Calibri"/>
                <a:cs typeface="Calibri"/>
              </a:rPr>
              <a:t>achieved</a:t>
            </a:r>
            <a:r>
              <a:rPr sz="1550" spc="100" dirty="0">
                <a:solidFill>
                  <a:srgbClr val="525252"/>
                </a:solidFill>
                <a:latin typeface="Calibri"/>
                <a:cs typeface="Calibri"/>
              </a:rPr>
              <a:t> </a:t>
            </a:r>
            <a:r>
              <a:rPr sz="1550" dirty="0">
                <a:solidFill>
                  <a:srgbClr val="525252"/>
                </a:solidFill>
                <a:latin typeface="Calibri"/>
                <a:cs typeface="Calibri"/>
              </a:rPr>
              <a:t>a</a:t>
            </a:r>
            <a:r>
              <a:rPr sz="1550" spc="105" dirty="0">
                <a:solidFill>
                  <a:srgbClr val="525252"/>
                </a:solidFill>
                <a:latin typeface="Calibri"/>
                <a:cs typeface="Calibri"/>
              </a:rPr>
              <a:t> </a:t>
            </a:r>
            <a:r>
              <a:rPr sz="1550" dirty="0">
                <a:solidFill>
                  <a:srgbClr val="525252"/>
                </a:solidFill>
                <a:latin typeface="Calibri"/>
                <a:cs typeface="Calibri"/>
              </a:rPr>
              <a:t>high</a:t>
            </a:r>
            <a:r>
              <a:rPr sz="1550" spc="100" dirty="0">
                <a:solidFill>
                  <a:srgbClr val="525252"/>
                </a:solidFill>
                <a:latin typeface="Calibri"/>
                <a:cs typeface="Calibri"/>
              </a:rPr>
              <a:t> </a:t>
            </a:r>
            <a:r>
              <a:rPr sz="1550" dirty="0">
                <a:solidFill>
                  <a:srgbClr val="525252"/>
                </a:solidFill>
                <a:latin typeface="Calibri"/>
                <a:cs typeface="Calibri"/>
              </a:rPr>
              <a:t>accuracy</a:t>
            </a:r>
            <a:r>
              <a:rPr sz="1550" spc="60" dirty="0">
                <a:solidFill>
                  <a:srgbClr val="525252"/>
                </a:solidFill>
                <a:latin typeface="Calibri"/>
                <a:cs typeface="Calibri"/>
              </a:rPr>
              <a:t> </a:t>
            </a:r>
            <a:r>
              <a:rPr sz="1550" dirty="0">
                <a:solidFill>
                  <a:srgbClr val="525252"/>
                </a:solidFill>
                <a:latin typeface="Calibri"/>
                <a:cs typeface="Calibri"/>
              </a:rPr>
              <a:t>score</a:t>
            </a:r>
            <a:r>
              <a:rPr sz="1550" spc="65" dirty="0">
                <a:solidFill>
                  <a:srgbClr val="525252"/>
                </a:solidFill>
                <a:latin typeface="Calibri"/>
                <a:cs typeface="Calibri"/>
              </a:rPr>
              <a:t> </a:t>
            </a:r>
            <a:r>
              <a:rPr sz="1550" dirty="0">
                <a:solidFill>
                  <a:srgbClr val="525252"/>
                </a:solidFill>
                <a:latin typeface="Calibri"/>
                <a:cs typeface="Calibri"/>
              </a:rPr>
              <a:t>of</a:t>
            </a:r>
            <a:r>
              <a:rPr sz="1550" spc="70" dirty="0">
                <a:solidFill>
                  <a:srgbClr val="525252"/>
                </a:solidFill>
                <a:latin typeface="Calibri"/>
                <a:cs typeface="Calibri"/>
              </a:rPr>
              <a:t> </a:t>
            </a:r>
            <a:r>
              <a:rPr sz="1550" spc="-10" dirty="0">
                <a:solidFill>
                  <a:srgbClr val="525252"/>
                </a:solidFill>
                <a:latin typeface="Calibri"/>
                <a:cs typeface="Calibri"/>
              </a:rPr>
              <a:t>94.44%, </a:t>
            </a:r>
            <a:r>
              <a:rPr sz="1550" dirty="0">
                <a:solidFill>
                  <a:srgbClr val="525252"/>
                </a:solidFill>
                <a:latin typeface="Calibri"/>
                <a:cs typeface="Calibri"/>
              </a:rPr>
              <a:t>with</a:t>
            </a:r>
            <a:r>
              <a:rPr sz="1550" spc="90" dirty="0">
                <a:solidFill>
                  <a:srgbClr val="525252"/>
                </a:solidFill>
                <a:latin typeface="Calibri"/>
                <a:cs typeface="Calibri"/>
              </a:rPr>
              <a:t> </a:t>
            </a:r>
            <a:r>
              <a:rPr sz="1550" dirty="0">
                <a:solidFill>
                  <a:srgbClr val="525252"/>
                </a:solidFill>
                <a:latin typeface="Calibri"/>
                <a:cs typeface="Calibri"/>
              </a:rPr>
              <a:t>a</a:t>
            </a:r>
            <a:r>
              <a:rPr sz="1550" spc="95" dirty="0">
                <a:solidFill>
                  <a:srgbClr val="525252"/>
                </a:solidFill>
                <a:latin typeface="Calibri"/>
                <a:cs typeface="Calibri"/>
              </a:rPr>
              <a:t> </a:t>
            </a:r>
            <a:r>
              <a:rPr sz="1550" dirty="0">
                <a:solidFill>
                  <a:srgbClr val="525252"/>
                </a:solidFill>
                <a:latin typeface="Calibri"/>
                <a:cs typeface="Calibri"/>
              </a:rPr>
              <a:t>significant</a:t>
            </a:r>
            <a:r>
              <a:rPr sz="1550" spc="95" dirty="0">
                <a:solidFill>
                  <a:srgbClr val="525252"/>
                </a:solidFill>
                <a:latin typeface="Calibri"/>
                <a:cs typeface="Calibri"/>
              </a:rPr>
              <a:t> </a:t>
            </a:r>
            <a:r>
              <a:rPr sz="1550" dirty="0">
                <a:solidFill>
                  <a:srgbClr val="525252"/>
                </a:solidFill>
                <a:latin typeface="Calibri"/>
                <a:cs typeface="Calibri"/>
              </a:rPr>
              <a:t>number</a:t>
            </a:r>
            <a:r>
              <a:rPr sz="1550" spc="75" dirty="0">
                <a:solidFill>
                  <a:srgbClr val="525252"/>
                </a:solidFill>
                <a:latin typeface="Calibri"/>
                <a:cs typeface="Calibri"/>
              </a:rPr>
              <a:t> </a:t>
            </a:r>
            <a:r>
              <a:rPr sz="1550" dirty="0">
                <a:solidFill>
                  <a:srgbClr val="525252"/>
                </a:solidFill>
                <a:latin typeface="Calibri"/>
                <a:cs typeface="Calibri"/>
              </a:rPr>
              <a:t>of</a:t>
            </a:r>
            <a:r>
              <a:rPr sz="1550" spc="60" dirty="0">
                <a:solidFill>
                  <a:srgbClr val="525252"/>
                </a:solidFill>
                <a:latin typeface="Calibri"/>
                <a:cs typeface="Calibri"/>
              </a:rPr>
              <a:t> </a:t>
            </a:r>
            <a:r>
              <a:rPr sz="1550" dirty="0">
                <a:solidFill>
                  <a:srgbClr val="525252"/>
                </a:solidFill>
                <a:latin typeface="Calibri"/>
                <a:cs typeface="Calibri"/>
              </a:rPr>
              <a:t>true</a:t>
            </a:r>
            <a:r>
              <a:rPr sz="1550" spc="60" dirty="0">
                <a:solidFill>
                  <a:srgbClr val="525252"/>
                </a:solidFill>
                <a:latin typeface="Calibri"/>
                <a:cs typeface="Calibri"/>
              </a:rPr>
              <a:t> </a:t>
            </a:r>
            <a:r>
              <a:rPr sz="1550" dirty="0">
                <a:solidFill>
                  <a:srgbClr val="525252"/>
                </a:solidFill>
                <a:latin typeface="Calibri"/>
                <a:cs typeface="Calibri"/>
              </a:rPr>
              <a:t>positives</a:t>
            </a:r>
            <a:r>
              <a:rPr sz="1550" spc="85" dirty="0">
                <a:solidFill>
                  <a:srgbClr val="525252"/>
                </a:solidFill>
                <a:latin typeface="Calibri"/>
                <a:cs typeface="Calibri"/>
              </a:rPr>
              <a:t> </a:t>
            </a:r>
            <a:r>
              <a:rPr sz="1550" dirty="0">
                <a:solidFill>
                  <a:srgbClr val="525252"/>
                </a:solidFill>
                <a:latin typeface="Calibri"/>
                <a:cs typeface="Calibri"/>
              </a:rPr>
              <a:t>and</a:t>
            </a:r>
            <a:r>
              <a:rPr sz="1550" spc="100" dirty="0">
                <a:solidFill>
                  <a:srgbClr val="525252"/>
                </a:solidFill>
                <a:latin typeface="Calibri"/>
                <a:cs typeface="Calibri"/>
              </a:rPr>
              <a:t> </a:t>
            </a:r>
            <a:r>
              <a:rPr sz="1550" dirty="0">
                <a:solidFill>
                  <a:srgbClr val="525252"/>
                </a:solidFill>
                <a:latin typeface="Calibri"/>
                <a:cs typeface="Calibri"/>
              </a:rPr>
              <a:t>true</a:t>
            </a:r>
            <a:r>
              <a:rPr sz="1550" spc="150" dirty="0">
                <a:solidFill>
                  <a:srgbClr val="525252"/>
                </a:solidFill>
                <a:latin typeface="Calibri"/>
                <a:cs typeface="Calibri"/>
              </a:rPr>
              <a:t> </a:t>
            </a:r>
            <a:r>
              <a:rPr sz="1550" spc="-10" dirty="0">
                <a:solidFill>
                  <a:srgbClr val="525252"/>
                </a:solidFill>
                <a:latin typeface="Calibri"/>
                <a:cs typeface="Calibri"/>
              </a:rPr>
              <a:t>negatives, </a:t>
            </a:r>
            <a:r>
              <a:rPr sz="1550" dirty="0">
                <a:solidFill>
                  <a:srgbClr val="525252"/>
                </a:solidFill>
                <a:latin typeface="Calibri"/>
                <a:cs typeface="Calibri"/>
              </a:rPr>
              <a:t>demonstrating</a:t>
            </a:r>
            <a:r>
              <a:rPr sz="1550" spc="75" dirty="0">
                <a:solidFill>
                  <a:srgbClr val="525252"/>
                </a:solidFill>
                <a:latin typeface="Calibri"/>
                <a:cs typeface="Calibri"/>
              </a:rPr>
              <a:t> </a:t>
            </a:r>
            <a:r>
              <a:rPr sz="1550" dirty="0">
                <a:solidFill>
                  <a:srgbClr val="525252"/>
                </a:solidFill>
                <a:latin typeface="Calibri"/>
                <a:cs typeface="Calibri"/>
              </a:rPr>
              <a:t>its</a:t>
            </a:r>
            <a:r>
              <a:rPr sz="1550" spc="60" dirty="0">
                <a:solidFill>
                  <a:srgbClr val="525252"/>
                </a:solidFill>
                <a:latin typeface="Calibri"/>
                <a:cs typeface="Calibri"/>
              </a:rPr>
              <a:t> </a:t>
            </a:r>
            <a:r>
              <a:rPr sz="1550" dirty="0">
                <a:solidFill>
                  <a:srgbClr val="525252"/>
                </a:solidFill>
                <a:latin typeface="Calibri"/>
                <a:cs typeface="Calibri"/>
              </a:rPr>
              <a:t>effectiveness</a:t>
            </a:r>
            <a:r>
              <a:rPr sz="1550" spc="140" dirty="0">
                <a:solidFill>
                  <a:srgbClr val="525252"/>
                </a:solidFill>
                <a:latin typeface="Calibri"/>
                <a:cs typeface="Calibri"/>
              </a:rPr>
              <a:t> </a:t>
            </a:r>
            <a:r>
              <a:rPr sz="1550" dirty="0">
                <a:solidFill>
                  <a:srgbClr val="525252"/>
                </a:solidFill>
                <a:latin typeface="Calibri"/>
                <a:cs typeface="Calibri"/>
              </a:rPr>
              <a:t>in</a:t>
            </a:r>
            <a:r>
              <a:rPr sz="1550" spc="70" dirty="0">
                <a:solidFill>
                  <a:srgbClr val="525252"/>
                </a:solidFill>
                <a:latin typeface="Calibri"/>
                <a:cs typeface="Calibri"/>
              </a:rPr>
              <a:t> </a:t>
            </a:r>
            <a:r>
              <a:rPr sz="1550" dirty="0">
                <a:solidFill>
                  <a:srgbClr val="525252"/>
                </a:solidFill>
                <a:latin typeface="Calibri"/>
                <a:cs typeface="Calibri"/>
              </a:rPr>
              <a:t>predicting</a:t>
            </a:r>
            <a:r>
              <a:rPr sz="1550" spc="80" dirty="0">
                <a:solidFill>
                  <a:srgbClr val="525252"/>
                </a:solidFill>
                <a:latin typeface="Calibri"/>
                <a:cs typeface="Calibri"/>
              </a:rPr>
              <a:t> </a:t>
            </a:r>
            <a:r>
              <a:rPr sz="1550" dirty="0">
                <a:solidFill>
                  <a:srgbClr val="525252"/>
                </a:solidFill>
                <a:latin typeface="Calibri"/>
                <a:cs typeface="Calibri"/>
              </a:rPr>
              <a:t>Falcon</a:t>
            </a:r>
            <a:r>
              <a:rPr sz="1550" spc="70" dirty="0">
                <a:solidFill>
                  <a:srgbClr val="525252"/>
                </a:solidFill>
                <a:latin typeface="Calibri"/>
                <a:cs typeface="Calibri"/>
              </a:rPr>
              <a:t> </a:t>
            </a:r>
            <a:r>
              <a:rPr sz="1550" dirty="0">
                <a:solidFill>
                  <a:srgbClr val="525252"/>
                </a:solidFill>
                <a:latin typeface="Calibri"/>
                <a:cs typeface="Calibri"/>
              </a:rPr>
              <a:t>9</a:t>
            </a:r>
            <a:r>
              <a:rPr sz="1550" spc="105" dirty="0">
                <a:solidFill>
                  <a:srgbClr val="525252"/>
                </a:solidFill>
                <a:latin typeface="Calibri"/>
                <a:cs typeface="Calibri"/>
              </a:rPr>
              <a:t> </a:t>
            </a:r>
            <a:r>
              <a:rPr sz="1550" dirty="0">
                <a:solidFill>
                  <a:srgbClr val="525252"/>
                </a:solidFill>
                <a:latin typeface="Calibri"/>
                <a:cs typeface="Calibri"/>
              </a:rPr>
              <a:t>first</a:t>
            </a:r>
            <a:r>
              <a:rPr sz="1550" spc="65" dirty="0">
                <a:solidFill>
                  <a:srgbClr val="525252"/>
                </a:solidFill>
                <a:latin typeface="Calibri"/>
                <a:cs typeface="Calibri"/>
              </a:rPr>
              <a:t> </a:t>
            </a:r>
            <a:r>
              <a:rPr sz="1550" spc="-10" dirty="0">
                <a:solidFill>
                  <a:srgbClr val="525252"/>
                </a:solidFill>
                <a:latin typeface="Calibri"/>
                <a:cs typeface="Calibri"/>
              </a:rPr>
              <a:t>stage landings.</a:t>
            </a:r>
            <a:endParaRPr sz="1550">
              <a:latin typeface="Calibri"/>
              <a:cs typeface="Calibri"/>
            </a:endParaRPr>
          </a:p>
          <a:p>
            <a:pPr marL="241300" marR="5080" indent="-229235">
              <a:lnSpc>
                <a:spcPts val="1730"/>
              </a:lnSpc>
              <a:spcBef>
                <a:spcPts val="965"/>
              </a:spcBef>
            </a:pPr>
            <a:r>
              <a:rPr sz="1550" b="1" dirty="0">
                <a:solidFill>
                  <a:srgbClr val="525252"/>
                </a:solidFill>
                <a:latin typeface="Calibri"/>
                <a:cs typeface="Calibri"/>
              </a:rPr>
              <a:t>No</a:t>
            </a:r>
            <a:r>
              <a:rPr sz="1550" b="1" spc="65" dirty="0">
                <a:solidFill>
                  <a:srgbClr val="525252"/>
                </a:solidFill>
                <a:latin typeface="Calibri"/>
                <a:cs typeface="Calibri"/>
              </a:rPr>
              <a:t> </a:t>
            </a:r>
            <a:r>
              <a:rPr sz="1550" b="1" dirty="0">
                <a:solidFill>
                  <a:srgbClr val="525252"/>
                </a:solidFill>
                <a:latin typeface="Calibri"/>
                <a:cs typeface="Calibri"/>
              </a:rPr>
              <a:t>False</a:t>
            </a:r>
            <a:r>
              <a:rPr sz="1550" b="1" spc="40" dirty="0">
                <a:solidFill>
                  <a:srgbClr val="525252"/>
                </a:solidFill>
                <a:latin typeface="Calibri"/>
                <a:cs typeface="Calibri"/>
              </a:rPr>
              <a:t> </a:t>
            </a:r>
            <a:r>
              <a:rPr sz="1550" b="1" dirty="0">
                <a:solidFill>
                  <a:srgbClr val="525252"/>
                </a:solidFill>
                <a:latin typeface="Calibri"/>
                <a:cs typeface="Calibri"/>
              </a:rPr>
              <a:t>Negatives</a:t>
            </a:r>
            <a:r>
              <a:rPr sz="1550" dirty="0">
                <a:solidFill>
                  <a:srgbClr val="525252"/>
                </a:solidFill>
                <a:latin typeface="Calibri"/>
                <a:cs typeface="Calibri"/>
              </a:rPr>
              <a:t>:</a:t>
            </a:r>
            <a:r>
              <a:rPr sz="1550" spc="120" dirty="0">
                <a:solidFill>
                  <a:srgbClr val="525252"/>
                </a:solidFill>
                <a:latin typeface="Calibri"/>
                <a:cs typeface="Calibri"/>
              </a:rPr>
              <a:t> </a:t>
            </a:r>
            <a:r>
              <a:rPr sz="1550" dirty="0">
                <a:solidFill>
                  <a:srgbClr val="525252"/>
                </a:solidFill>
                <a:latin typeface="Calibri"/>
                <a:cs typeface="Calibri"/>
              </a:rPr>
              <a:t>The</a:t>
            </a:r>
            <a:r>
              <a:rPr sz="1550" spc="140" dirty="0">
                <a:solidFill>
                  <a:srgbClr val="525252"/>
                </a:solidFill>
                <a:latin typeface="Calibri"/>
                <a:cs typeface="Calibri"/>
              </a:rPr>
              <a:t> </a:t>
            </a:r>
            <a:r>
              <a:rPr sz="1550" dirty="0">
                <a:solidFill>
                  <a:srgbClr val="525252"/>
                </a:solidFill>
                <a:latin typeface="Calibri"/>
                <a:cs typeface="Calibri"/>
              </a:rPr>
              <a:t>absence</a:t>
            </a:r>
            <a:r>
              <a:rPr sz="1550" spc="60" dirty="0">
                <a:solidFill>
                  <a:srgbClr val="525252"/>
                </a:solidFill>
                <a:latin typeface="Calibri"/>
                <a:cs typeface="Calibri"/>
              </a:rPr>
              <a:t> </a:t>
            </a:r>
            <a:r>
              <a:rPr sz="1550" dirty="0">
                <a:solidFill>
                  <a:srgbClr val="525252"/>
                </a:solidFill>
                <a:latin typeface="Calibri"/>
                <a:cs typeface="Calibri"/>
              </a:rPr>
              <a:t>of</a:t>
            </a:r>
            <a:r>
              <a:rPr sz="1550" spc="55" dirty="0">
                <a:solidFill>
                  <a:srgbClr val="525252"/>
                </a:solidFill>
                <a:latin typeface="Calibri"/>
                <a:cs typeface="Calibri"/>
              </a:rPr>
              <a:t> </a:t>
            </a:r>
            <a:r>
              <a:rPr sz="1550" dirty="0">
                <a:solidFill>
                  <a:srgbClr val="525252"/>
                </a:solidFill>
                <a:latin typeface="Calibri"/>
                <a:cs typeface="Calibri"/>
              </a:rPr>
              <a:t>false</a:t>
            </a:r>
            <a:r>
              <a:rPr sz="1550" spc="145" dirty="0">
                <a:solidFill>
                  <a:srgbClr val="525252"/>
                </a:solidFill>
                <a:latin typeface="Calibri"/>
                <a:cs typeface="Calibri"/>
              </a:rPr>
              <a:t> </a:t>
            </a:r>
            <a:r>
              <a:rPr sz="1550" dirty="0">
                <a:solidFill>
                  <a:srgbClr val="525252"/>
                </a:solidFill>
                <a:latin typeface="Calibri"/>
                <a:cs typeface="Calibri"/>
              </a:rPr>
              <a:t>negatives</a:t>
            </a:r>
            <a:r>
              <a:rPr sz="1550" spc="75" dirty="0">
                <a:solidFill>
                  <a:srgbClr val="525252"/>
                </a:solidFill>
                <a:latin typeface="Calibri"/>
                <a:cs typeface="Calibri"/>
              </a:rPr>
              <a:t> </a:t>
            </a:r>
            <a:r>
              <a:rPr sz="1550" dirty="0">
                <a:solidFill>
                  <a:srgbClr val="525252"/>
                </a:solidFill>
                <a:latin typeface="Calibri"/>
                <a:cs typeface="Calibri"/>
              </a:rPr>
              <a:t>indicates</a:t>
            </a:r>
            <a:r>
              <a:rPr sz="1550" spc="75" dirty="0">
                <a:solidFill>
                  <a:srgbClr val="525252"/>
                </a:solidFill>
                <a:latin typeface="Calibri"/>
                <a:cs typeface="Calibri"/>
              </a:rPr>
              <a:t> </a:t>
            </a:r>
            <a:r>
              <a:rPr sz="1550" dirty="0">
                <a:solidFill>
                  <a:srgbClr val="525252"/>
                </a:solidFill>
                <a:latin typeface="Calibri"/>
                <a:cs typeface="Calibri"/>
              </a:rPr>
              <a:t>that</a:t>
            </a:r>
            <a:r>
              <a:rPr sz="1550" spc="85" dirty="0">
                <a:solidFill>
                  <a:srgbClr val="525252"/>
                </a:solidFill>
                <a:latin typeface="Calibri"/>
                <a:cs typeface="Calibri"/>
              </a:rPr>
              <a:t> </a:t>
            </a:r>
            <a:r>
              <a:rPr sz="1550" spc="-25" dirty="0">
                <a:solidFill>
                  <a:srgbClr val="525252"/>
                </a:solidFill>
                <a:latin typeface="Calibri"/>
                <a:cs typeface="Calibri"/>
              </a:rPr>
              <a:t>the </a:t>
            </a:r>
            <a:r>
              <a:rPr sz="1550" dirty="0">
                <a:solidFill>
                  <a:srgbClr val="525252"/>
                </a:solidFill>
                <a:latin typeface="Calibri"/>
                <a:cs typeface="Calibri"/>
              </a:rPr>
              <a:t>model</a:t>
            </a:r>
            <a:r>
              <a:rPr sz="1550" spc="155" dirty="0">
                <a:solidFill>
                  <a:srgbClr val="525252"/>
                </a:solidFill>
                <a:latin typeface="Calibri"/>
                <a:cs typeface="Calibri"/>
              </a:rPr>
              <a:t> </a:t>
            </a:r>
            <a:r>
              <a:rPr sz="1550" dirty="0">
                <a:solidFill>
                  <a:srgbClr val="525252"/>
                </a:solidFill>
                <a:latin typeface="Calibri"/>
                <a:cs typeface="Calibri"/>
              </a:rPr>
              <a:t>reliably</a:t>
            </a:r>
            <a:r>
              <a:rPr sz="1550" spc="85" dirty="0">
                <a:solidFill>
                  <a:srgbClr val="525252"/>
                </a:solidFill>
                <a:latin typeface="Calibri"/>
                <a:cs typeface="Calibri"/>
              </a:rPr>
              <a:t> </a:t>
            </a:r>
            <a:r>
              <a:rPr sz="1550" dirty="0">
                <a:solidFill>
                  <a:srgbClr val="525252"/>
                </a:solidFill>
                <a:latin typeface="Calibri"/>
                <a:cs typeface="Calibri"/>
              </a:rPr>
              <a:t>predicts</a:t>
            </a:r>
            <a:r>
              <a:rPr sz="1550" spc="110" dirty="0">
                <a:solidFill>
                  <a:srgbClr val="525252"/>
                </a:solidFill>
                <a:latin typeface="Calibri"/>
                <a:cs typeface="Calibri"/>
              </a:rPr>
              <a:t> </a:t>
            </a:r>
            <a:r>
              <a:rPr sz="1550" dirty="0">
                <a:solidFill>
                  <a:srgbClr val="525252"/>
                </a:solidFill>
                <a:latin typeface="Calibri"/>
                <a:cs typeface="Calibri"/>
              </a:rPr>
              <a:t>successful</a:t>
            </a:r>
            <a:r>
              <a:rPr sz="1550" spc="50" dirty="0">
                <a:solidFill>
                  <a:srgbClr val="525252"/>
                </a:solidFill>
                <a:latin typeface="Calibri"/>
                <a:cs typeface="Calibri"/>
              </a:rPr>
              <a:t> </a:t>
            </a:r>
            <a:r>
              <a:rPr sz="1550" dirty="0">
                <a:solidFill>
                  <a:srgbClr val="525252"/>
                </a:solidFill>
                <a:latin typeface="Calibri"/>
                <a:cs typeface="Calibri"/>
              </a:rPr>
              <a:t>landings.</a:t>
            </a:r>
            <a:r>
              <a:rPr sz="1550" spc="110" dirty="0">
                <a:solidFill>
                  <a:srgbClr val="525252"/>
                </a:solidFill>
                <a:latin typeface="Calibri"/>
                <a:cs typeface="Calibri"/>
              </a:rPr>
              <a:t> </a:t>
            </a:r>
            <a:r>
              <a:rPr sz="1550" dirty="0">
                <a:solidFill>
                  <a:srgbClr val="525252"/>
                </a:solidFill>
                <a:latin typeface="Calibri"/>
                <a:cs typeface="Calibri"/>
              </a:rPr>
              <a:t>This</a:t>
            </a:r>
            <a:r>
              <a:rPr sz="1550" spc="120" dirty="0">
                <a:solidFill>
                  <a:srgbClr val="525252"/>
                </a:solidFill>
                <a:latin typeface="Calibri"/>
                <a:cs typeface="Calibri"/>
              </a:rPr>
              <a:t> </a:t>
            </a:r>
            <a:r>
              <a:rPr sz="1550" dirty="0">
                <a:solidFill>
                  <a:srgbClr val="525252"/>
                </a:solidFill>
                <a:latin typeface="Calibri"/>
                <a:cs typeface="Calibri"/>
              </a:rPr>
              <a:t>is</a:t>
            </a:r>
            <a:r>
              <a:rPr sz="1550" spc="114" dirty="0">
                <a:solidFill>
                  <a:srgbClr val="525252"/>
                </a:solidFill>
                <a:latin typeface="Calibri"/>
                <a:cs typeface="Calibri"/>
              </a:rPr>
              <a:t> </a:t>
            </a:r>
            <a:r>
              <a:rPr sz="1550" dirty="0">
                <a:solidFill>
                  <a:srgbClr val="525252"/>
                </a:solidFill>
                <a:latin typeface="Calibri"/>
                <a:cs typeface="Calibri"/>
              </a:rPr>
              <a:t>crucial</a:t>
            </a:r>
            <a:r>
              <a:rPr sz="1550" spc="155" dirty="0">
                <a:solidFill>
                  <a:srgbClr val="525252"/>
                </a:solidFill>
                <a:latin typeface="Calibri"/>
                <a:cs typeface="Calibri"/>
              </a:rPr>
              <a:t> </a:t>
            </a:r>
            <a:r>
              <a:rPr sz="1550" spc="-25" dirty="0">
                <a:solidFill>
                  <a:srgbClr val="525252"/>
                </a:solidFill>
                <a:latin typeface="Calibri"/>
                <a:cs typeface="Calibri"/>
              </a:rPr>
              <a:t>for </a:t>
            </a:r>
            <a:r>
              <a:rPr sz="1550" dirty="0">
                <a:solidFill>
                  <a:srgbClr val="525252"/>
                </a:solidFill>
                <a:latin typeface="Calibri"/>
                <a:cs typeface="Calibri"/>
              </a:rPr>
              <a:t>ensuring</a:t>
            </a:r>
            <a:r>
              <a:rPr sz="1550" spc="120" dirty="0">
                <a:solidFill>
                  <a:srgbClr val="525252"/>
                </a:solidFill>
                <a:latin typeface="Calibri"/>
                <a:cs typeface="Calibri"/>
              </a:rPr>
              <a:t> </a:t>
            </a:r>
            <a:r>
              <a:rPr sz="1550" dirty="0">
                <a:solidFill>
                  <a:srgbClr val="525252"/>
                </a:solidFill>
                <a:latin typeface="Calibri"/>
                <a:cs typeface="Calibri"/>
              </a:rPr>
              <a:t>readiness</a:t>
            </a:r>
            <a:r>
              <a:rPr sz="1550" spc="95" dirty="0">
                <a:solidFill>
                  <a:srgbClr val="525252"/>
                </a:solidFill>
                <a:latin typeface="Calibri"/>
                <a:cs typeface="Calibri"/>
              </a:rPr>
              <a:t> </a:t>
            </a:r>
            <a:r>
              <a:rPr sz="1550" dirty="0">
                <a:solidFill>
                  <a:srgbClr val="525252"/>
                </a:solidFill>
                <a:latin typeface="Calibri"/>
                <a:cs typeface="Calibri"/>
              </a:rPr>
              <a:t>and</a:t>
            </a:r>
            <a:r>
              <a:rPr sz="1550" spc="110" dirty="0">
                <a:solidFill>
                  <a:srgbClr val="525252"/>
                </a:solidFill>
                <a:latin typeface="Calibri"/>
                <a:cs typeface="Calibri"/>
              </a:rPr>
              <a:t> </a:t>
            </a:r>
            <a:r>
              <a:rPr sz="1550" dirty="0">
                <a:solidFill>
                  <a:srgbClr val="525252"/>
                </a:solidFill>
                <a:latin typeface="Calibri"/>
                <a:cs typeface="Calibri"/>
              </a:rPr>
              <a:t>safety</a:t>
            </a:r>
            <a:r>
              <a:rPr sz="1550" spc="155" dirty="0">
                <a:solidFill>
                  <a:srgbClr val="525252"/>
                </a:solidFill>
                <a:latin typeface="Calibri"/>
                <a:cs typeface="Calibri"/>
              </a:rPr>
              <a:t> </a:t>
            </a:r>
            <a:r>
              <a:rPr sz="1550" dirty="0">
                <a:solidFill>
                  <a:srgbClr val="525252"/>
                </a:solidFill>
                <a:latin typeface="Calibri"/>
                <a:cs typeface="Calibri"/>
              </a:rPr>
              <a:t>in</a:t>
            </a:r>
            <a:r>
              <a:rPr sz="1550" spc="105" dirty="0">
                <a:solidFill>
                  <a:srgbClr val="525252"/>
                </a:solidFill>
                <a:latin typeface="Calibri"/>
                <a:cs typeface="Calibri"/>
              </a:rPr>
              <a:t> </a:t>
            </a:r>
            <a:r>
              <a:rPr sz="1550" dirty="0">
                <a:solidFill>
                  <a:srgbClr val="525252"/>
                </a:solidFill>
                <a:latin typeface="Calibri"/>
                <a:cs typeface="Calibri"/>
              </a:rPr>
              <a:t>aerospace</a:t>
            </a:r>
            <a:r>
              <a:rPr sz="1550" spc="75" dirty="0">
                <a:solidFill>
                  <a:srgbClr val="525252"/>
                </a:solidFill>
                <a:latin typeface="Calibri"/>
                <a:cs typeface="Calibri"/>
              </a:rPr>
              <a:t> </a:t>
            </a:r>
            <a:r>
              <a:rPr sz="1550" dirty="0">
                <a:solidFill>
                  <a:srgbClr val="525252"/>
                </a:solidFill>
                <a:latin typeface="Calibri"/>
                <a:cs typeface="Calibri"/>
              </a:rPr>
              <a:t>operations,</a:t>
            </a:r>
            <a:r>
              <a:rPr sz="1550" spc="90" dirty="0">
                <a:solidFill>
                  <a:srgbClr val="525252"/>
                </a:solidFill>
                <a:latin typeface="Calibri"/>
                <a:cs typeface="Calibri"/>
              </a:rPr>
              <a:t> </a:t>
            </a:r>
            <a:r>
              <a:rPr sz="1550" dirty="0">
                <a:solidFill>
                  <a:srgbClr val="525252"/>
                </a:solidFill>
                <a:latin typeface="Calibri"/>
                <a:cs typeface="Calibri"/>
              </a:rPr>
              <a:t>as</a:t>
            </a:r>
            <a:r>
              <a:rPr sz="1550" spc="95" dirty="0">
                <a:solidFill>
                  <a:srgbClr val="525252"/>
                </a:solidFill>
                <a:latin typeface="Calibri"/>
                <a:cs typeface="Calibri"/>
              </a:rPr>
              <a:t> </a:t>
            </a:r>
            <a:r>
              <a:rPr sz="1550" spc="-10" dirty="0">
                <a:solidFill>
                  <a:srgbClr val="525252"/>
                </a:solidFill>
                <a:latin typeface="Calibri"/>
                <a:cs typeface="Calibri"/>
              </a:rPr>
              <a:t>every </a:t>
            </a:r>
            <a:r>
              <a:rPr sz="1550" dirty="0">
                <a:solidFill>
                  <a:srgbClr val="525252"/>
                </a:solidFill>
                <a:latin typeface="Calibri"/>
                <a:cs typeface="Calibri"/>
              </a:rPr>
              <a:t>actual</a:t>
            </a:r>
            <a:r>
              <a:rPr sz="1550" spc="95" dirty="0">
                <a:solidFill>
                  <a:srgbClr val="525252"/>
                </a:solidFill>
                <a:latin typeface="Calibri"/>
                <a:cs typeface="Calibri"/>
              </a:rPr>
              <a:t> </a:t>
            </a:r>
            <a:r>
              <a:rPr sz="1550" dirty="0">
                <a:solidFill>
                  <a:srgbClr val="525252"/>
                </a:solidFill>
                <a:latin typeface="Calibri"/>
                <a:cs typeface="Calibri"/>
              </a:rPr>
              <a:t>successful</a:t>
            </a:r>
            <a:r>
              <a:rPr sz="1550" spc="95" dirty="0">
                <a:solidFill>
                  <a:srgbClr val="525252"/>
                </a:solidFill>
                <a:latin typeface="Calibri"/>
                <a:cs typeface="Calibri"/>
              </a:rPr>
              <a:t> </a:t>
            </a:r>
            <a:r>
              <a:rPr sz="1550" dirty="0">
                <a:solidFill>
                  <a:srgbClr val="525252"/>
                </a:solidFill>
                <a:latin typeface="Calibri"/>
                <a:cs typeface="Calibri"/>
              </a:rPr>
              <a:t>landing</a:t>
            </a:r>
            <a:r>
              <a:rPr sz="1550" spc="85" dirty="0">
                <a:solidFill>
                  <a:srgbClr val="525252"/>
                </a:solidFill>
                <a:latin typeface="Calibri"/>
                <a:cs typeface="Calibri"/>
              </a:rPr>
              <a:t> </a:t>
            </a:r>
            <a:r>
              <a:rPr sz="1550" dirty="0">
                <a:solidFill>
                  <a:srgbClr val="525252"/>
                </a:solidFill>
                <a:latin typeface="Calibri"/>
                <a:cs typeface="Calibri"/>
              </a:rPr>
              <a:t>was</a:t>
            </a:r>
            <a:r>
              <a:rPr sz="1550" spc="160" dirty="0">
                <a:solidFill>
                  <a:srgbClr val="525252"/>
                </a:solidFill>
                <a:latin typeface="Calibri"/>
                <a:cs typeface="Calibri"/>
              </a:rPr>
              <a:t> </a:t>
            </a:r>
            <a:r>
              <a:rPr sz="1550" dirty="0">
                <a:solidFill>
                  <a:srgbClr val="525252"/>
                </a:solidFill>
                <a:latin typeface="Calibri"/>
                <a:cs typeface="Calibri"/>
              </a:rPr>
              <a:t>accurately</a:t>
            </a:r>
            <a:r>
              <a:rPr sz="1550" spc="130" dirty="0">
                <a:solidFill>
                  <a:srgbClr val="525252"/>
                </a:solidFill>
                <a:latin typeface="Calibri"/>
                <a:cs typeface="Calibri"/>
              </a:rPr>
              <a:t> </a:t>
            </a:r>
            <a:r>
              <a:rPr sz="1550" spc="-10" dirty="0">
                <a:solidFill>
                  <a:srgbClr val="525252"/>
                </a:solidFill>
                <a:latin typeface="Calibri"/>
                <a:cs typeface="Calibri"/>
              </a:rPr>
              <a:t>identified.</a:t>
            </a:r>
            <a:endParaRPr sz="1550">
              <a:latin typeface="Calibri"/>
              <a:cs typeface="Calibri"/>
            </a:endParaRPr>
          </a:p>
          <a:p>
            <a:pPr marL="241300" marR="285750" indent="-229235">
              <a:lnSpc>
                <a:spcPts val="1730"/>
              </a:lnSpc>
              <a:spcBef>
                <a:spcPts val="1040"/>
              </a:spcBef>
            </a:pPr>
            <a:r>
              <a:rPr sz="1550" b="1" dirty="0">
                <a:solidFill>
                  <a:srgbClr val="525252"/>
                </a:solidFill>
                <a:latin typeface="Calibri"/>
                <a:cs typeface="Calibri"/>
              </a:rPr>
              <a:t>Manageable</a:t>
            </a:r>
            <a:r>
              <a:rPr sz="1550" b="1" spc="35" dirty="0">
                <a:solidFill>
                  <a:srgbClr val="525252"/>
                </a:solidFill>
                <a:latin typeface="Calibri"/>
                <a:cs typeface="Calibri"/>
              </a:rPr>
              <a:t> </a:t>
            </a:r>
            <a:r>
              <a:rPr sz="1550" b="1" dirty="0">
                <a:solidFill>
                  <a:srgbClr val="525252"/>
                </a:solidFill>
                <a:latin typeface="Calibri"/>
                <a:cs typeface="Calibri"/>
              </a:rPr>
              <a:t>False</a:t>
            </a:r>
            <a:r>
              <a:rPr sz="1550" b="1" spc="35" dirty="0">
                <a:solidFill>
                  <a:srgbClr val="525252"/>
                </a:solidFill>
                <a:latin typeface="Calibri"/>
                <a:cs typeface="Calibri"/>
              </a:rPr>
              <a:t> </a:t>
            </a:r>
            <a:r>
              <a:rPr sz="1550" b="1" dirty="0">
                <a:solidFill>
                  <a:srgbClr val="525252"/>
                </a:solidFill>
                <a:latin typeface="Calibri"/>
                <a:cs typeface="Calibri"/>
              </a:rPr>
              <a:t>Positives</a:t>
            </a:r>
            <a:r>
              <a:rPr sz="1550" dirty="0">
                <a:solidFill>
                  <a:srgbClr val="525252"/>
                </a:solidFill>
                <a:latin typeface="Calibri"/>
                <a:cs typeface="Calibri"/>
              </a:rPr>
              <a:t>:</a:t>
            </a:r>
            <a:r>
              <a:rPr sz="1550" spc="114" dirty="0">
                <a:solidFill>
                  <a:srgbClr val="525252"/>
                </a:solidFill>
                <a:latin typeface="Calibri"/>
                <a:cs typeface="Calibri"/>
              </a:rPr>
              <a:t> </a:t>
            </a:r>
            <a:r>
              <a:rPr sz="1550" dirty="0">
                <a:solidFill>
                  <a:srgbClr val="525252"/>
                </a:solidFill>
                <a:latin typeface="Calibri"/>
                <a:cs typeface="Calibri"/>
              </a:rPr>
              <a:t>While</a:t>
            </a:r>
            <a:r>
              <a:rPr sz="1550" spc="135" dirty="0">
                <a:solidFill>
                  <a:srgbClr val="525252"/>
                </a:solidFill>
                <a:latin typeface="Calibri"/>
                <a:cs typeface="Calibri"/>
              </a:rPr>
              <a:t> </a:t>
            </a:r>
            <a:r>
              <a:rPr sz="1550" dirty="0">
                <a:solidFill>
                  <a:srgbClr val="525252"/>
                </a:solidFill>
                <a:latin typeface="Calibri"/>
                <a:cs typeface="Calibri"/>
              </a:rPr>
              <a:t>there</a:t>
            </a:r>
            <a:r>
              <a:rPr sz="1550" spc="140" dirty="0">
                <a:solidFill>
                  <a:srgbClr val="525252"/>
                </a:solidFill>
                <a:latin typeface="Calibri"/>
                <a:cs typeface="Calibri"/>
              </a:rPr>
              <a:t> </a:t>
            </a:r>
            <a:r>
              <a:rPr sz="1550" dirty="0">
                <a:solidFill>
                  <a:srgbClr val="525252"/>
                </a:solidFill>
                <a:latin typeface="Calibri"/>
                <a:cs typeface="Calibri"/>
              </a:rPr>
              <a:t>is</a:t>
            </a:r>
            <a:r>
              <a:rPr sz="1550" spc="155" dirty="0">
                <a:solidFill>
                  <a:srgbClr val="525252"/>
                </a:solidFill>
                <a:latin typeface="Calibri"/>
                <a:cs typeface="Calibri"/>
              </a:rPr>
              <a:t> </a:t>
            </a:r>
            <a:r>
              <a:rPr sz="1550" dirty="0">
                <a:solidFill>
                  <a:srgbClr val="525252"/>
                </a:solidFill>
                <a:latin typeface="Calibri"/>
                <a:cs typeface="Calibri"/>
              </a:rPr>
              <a:t>1</a:t>
            </a:r>
            <a:r>
              <a:rPr sz="1550" spc="30" dirty="0">
                <a:solidFill>
                  <a:srgbClr val="525252"/>
                </a:solidFill>
                <a:latin typeface="Calibri"/>
                <a:cs typeface="Calibri"/>
              </a:rPr>
              <a:t> </a:t>
            </a:r>
            <a:r>
              <a:rPr sz="1550" dirty="0">
                <a:solidFill>
                  <a:srgbClr val="525252"/>
                </a:solidFill>
                <a:latin typeface="Calibri"/>
                <a:cs typeface="Calibri"/>
              </a:rPr>
              <a:t>false</a:t>
            </a:r>
            <a:r>
              <a:rPr sz="1550" spc="50" dirty="0">
                <a:solidFill>
                  <a:srgbClr val="525252"/>
                </a:solidFill>
                <a:latin typeface="Calibri"/>
                <a:cs typeface="Calibri"/>
              </a:rPr>
              <a:t> </a:t>
            </a:r>
            <a:r>
              <a:rPr sz="1550" dirty="0">
                <a:solidFill>
                  <a:srgbClr val="525252"/>
                </a:solidFill>
                <a:latin typeface="Calibri"/>
                <a:cs typeface="Calibri"/>
              </a:rPr>
              <a:t>positive,</a:t>
            </a:r>
            <a:r>
              <a:rPr sz="1550" spc="70" dirty="0">
                <a:solidFill>
                  <a:srgbClr val="525252"/>
                </a:solidFill>
                <a:latin typeface="Calibri"/>
                <a:cs typeface="Calibri"/>
              </a:rPr>
              <a:t> </a:t>
            </a:r>
            <a:r>
              <a:rPr sz="1550" dirty="0">
                <a:solidFill>
                  <a:srgbClr val="525252"/>
                </a:solidFill>
                <a:latin typeface="Calibri"/>
                <a:cs typeface="Calibri"/>
              </a:rPr>
              <a:t>this</a:t>
            </a:r>
            <a:r>
              <a:rPr sz="1550" spc="70" dirty="0">
                <a:solidFill>
                  <a:srgbClr val="525252"/>
                </a:solidFill>
                <a:latin typeface="Calibri"/>
                <a:cs typeface="Calibri"/>
              </a:rPr>
              <a:t> </a:t>
            </a:r>
            <a:r>
              <a:rPr sz="1550" spc="-25" dirty="0">
                <a:solidFill>
                  <a:srgbClr val="525252"/>
                </a:solidFill>
                <a:latin typeface="Calibri"/>
                <a:cs typeface="Calibri"/>
              </a:rPr>
              <a:t>is </a:t>
            </a:r>
            <a:r>
              <a:rPr sz="1550" dirty="0">
                <a:solidFill>
                  <a:srgbClr val="525252"/>
                </a:solidFill>
                <a:latin typeface="Calibri"/>
                <a:cs typeface="Calibri"/>
              </a:rPr>
              <a:t>less</a:t>
            </a:r>
            <a:r>
              <a:rPr sz="1550" spc="85" dirty="0">
                <a:solidFill>
                  <a:srgbClr val="525252"/>
                </a:solidFill>
                <a:latin typeface="Calibri"/>
                <a:cs typeface="Calibri"/>
              </a:rPr>
              <a:t> </a:t>
            </a:r>
            <a:r>
              <a:rPr sz="1550" dirty="0">
                <a:solidFill>
                  <a:srgbClr val="525252"/>
                </a:solidFill>
                <a:latin typeface="Calibri"/>
                <a:cs typeface="Calibri"/>
              </a:rPr>
              <a:t>critical</a:t>
            </a:r>
            <a:r>
              <a:rPr sz="1550" spc="125" dirty="0">
                <a:solidFill>
                  <a:srgbClr val="525252"/>
                </a:solidFill>
                <a:latin typeface="Calibri"/>
                <a:cs typeface="Calibri"/>
              </a:rPr>
              <a:t> </a:t>
            </a:r>
            <a:r>
              <a:rPr sz="1550" dirty="0">
                <a:solidFill>
                  <a:srgbClr val="525252"/>
                </a:solidFill>
                <a:latin typeface="Calibri"/>
                <a:cs typeface="Calibri"/>
              </a:rPr>
              <a:t>than</a:t>
            </a:r>
            <a:r>
              <a:rPr sz="1550" spc="95" dirty="0">
                <a:solidFill>
                  <a:srgbClr val="525252"/>
                </a:solidFill>
                <a:latin typeface="Calibri"/>
                <a:cs typeface="Calibri"/>
              </a:rPr>
              <a:t> </a:t>
            </a:r>
            <a:r>
              <a:rPr sz="1550" dirty="0">
                <a:solidFill>
                  <a:srgbClr val="525252"/>
                </a:solidFill>
                <a:latin typeface="Calibri"/>
                <a:cs typeface="Calibri"/>
              </a:rPr>
              <a:t>false</a:t>
            </a:r>
            <a:r>
              <a:rPr sz="1550" spc="65" dirty="0">
                <a:solidFill>
                  <a:srgbClr val="525252"/>
                </a:solidFill>
                <a:latin typeface="Calibri"/>
                <a:cs typeface="Calibri"/>
              </a:rPr>
              <a:t> </a:t>
            </a:r>
            <a:r>
              <a:rPr sz="1550" dirty="0">
                <a:solidFill>
                  <a:srgbClr val="525252"/>
                </a:solidFill>
                <a:latin typeface="Calibri"/>
                <a:cs typeface="Calibri"/>
              </a:rPr>
              <a:t>negatives</a:t>
            </a:r>
            <a:r>
              <a:rPr sz="1550" spc="85" dirty="0">
                <a:solidFill>
                  <a:srgbClr val="525252"/>
                </a:solidFill>
                <a:latin typeface="Calibri"/>
                <a:cs typeface="Calibri"/>
              </a:rPr>
              <a:t> </a:t>
            </a:r>
            <a:r>
              <a:rPr sz="1550" dirty="0">
                <a:solidFill>
                  <a:srgbClr val="525252"/>
                </a:solidFill>
                <a:latin typeface="Calibri"/>
                <a:cs typeface="Calibri"/>
              </a:rPr>
              <a:t>in</a:t>
            </a:r>
            <a:r>
              <a:rPr sz="1550" spc="100" dirty="0">
                <a:solidFill>
                  <a:srgbClr val="525252"/>
                </a:solidFill>
                <a:latin typeface="Calibri"/>
                <a:cs typeface="Calibri"/>
              </a:rPr>
              <a:t> </a:t>
            </a:r>
            <a:r>
              <a:rPr sz="1550" dirty="0">
                <a:solidFill>
                  <a:srgbClr val="525252"/>
                </a:solidFill>
                <a:latin typeface="Calibri"/>
                <a:cs typeface="Calibri"/>
              </a:rPr>
              <a:t>aerospace</a:t>
            </a:r>
            <a:r>
              <a:rPr sz="1550" spc="65" dirty="0">
                <a:solidFill>
                  <a:srgbClr val="525252"/>
                </a:solidFill>
                <a:latin typeface="Calibri"/>
                <a:cs typeface="Calibri"/>
              </a:rPr>
              <a:t> </a:t>
            </a:r>
            <a:r>
              <a:rPr sz="1550" dirty="0">
                <a:solidFill>
                  <a:srgbClr val="525252"/>
                </a:solidFill>
                <a:latin typeface="Calibri"/>
                <a:cs typeface="Calibri"/>
              </a:rPr>
              <a:t>operations.</a:t>
            </a:r>
            <a:r>
              <a:rPr sz="1550" spc="165" dirty="0">
                <a:solidFill>
                  <a:srgbClr val="525252"/>
                </a:solidFill>
                <a:latin typeface="Calibri"/>
                <a:cs typeface="Calibri"/>
              </a:rPr>
              <a:t> </a:t>
            </a:r>
            <a:r>
              <a:rPr sz="1550" spc="-10" dirty="0">
                <a:solidFill>
                  <a:srgbClr val="525252"/>
                </a:solidFill>
                <a:latin typeface="Calibri"/>
                <a:cs typeface="Calibri"/>
              </a:rPr>
              <a:t>Over- </a:t>
            </a:r>
            <a:r>
              <a:rPr sz="1550" dirty="0">
                <a:solidFill>
                  <a:srgbClr val="525252"/>
                </a:solidFill>
                <a:latin typeface="Calibri"/>
                <a:cs typeface="Calibri"/>
              </a:rPr>
              <a:t>preparation</a:t>
            </a:r>
            <a:r>
              <a:rPr sz="1550" spc="80" dirty="0">
                <a:solidFill>
                  <a:srgbClr val="525252"/>
                </a:solidFill>
                <a:latin typeface="Calibri"/>
                <a:cs typeface="Calibri"/>
              </a:rPr>
              <a:t> </a:t>
            </a:r>
            <a:r>
              <a:rPr sz="1550" dirty="0">
                <a:solidFill>
                  <a:srgbClr val="525252"/>
                </a:solidFill>
                <a:latin typeface="Calibri"/>
                <a:cs typeface="Calibri"/>
              </a:rPr>
              <a:t>(due</a:t>
            </a:r>
            <a:r>
              <a:rPr sz="1550" spc="45" dirty="0">
                <a:solidFill>
                  <a:srgbClr val="525252"/>
                </a:solidFill>
                <a:latin typeface="Calibri"/>
                <a:cs typeface="Calibri"/>
              </a:rPr>
              <a:t> </a:t>
            </a:r>
            <a:r>
              <a:rPr sz="1550" dirty="0">
                <a:solidFill>
                  <a:srgbClr val="525252"/>
                </a:solidFill>
                <a:latin typeface="Calibri"/>
                <a:cs typeface="Calibri"/>
              </a:rPr>
              <a:t>to</a:t>
            </a:r>
            <a:r>
              <a:rPr sz="1550" spc="80" dirty="0">
                <a:solidFill>
                  <a:srgbClr val="525252"/>
                </a:solidFill>
                <a:latin typeface="Calibri"/>
                <a:cs typeface="Calibri"/>
              </a:rPr>
              <a:t> </a:t>
            </a:r>
            <a:r>
              <a:rPr sz="1550" dirty="0">
                <a:solidFill>
                  <a:srgbClr val="525252"/>
                </a:solidFill>
                <a:latin typeface="Calibri"/>
                <a:cs typeface="Calibri"/>
              </a:rPr>
              <a:t>false</a:t>
            </a:r>
            <a:r>
              <a:rPr sz="1550" spc="45" dirty="0">
                <a:solidFill>
                  <a:srgbClr val="525252"/>
                </a:solidFill>
                <a:latin typeface="Calibri"/>
                <a:cs typeface="Calibri"/>
              </a:rPr>
              <a:t> </a:t>
            </a:r>
            <a:r>
              <a:rPr sz="1550" dirty="0">
                <a:solidFill>
                  <a:srgbClr val="525252"/>
                </a:solidFill>
                <a:latin typeface="Calibri"/>
                <a:cs typeface="Calibri"/>
              </a:rPr>
              <a:t>positives)</a:t>
            </a:r>
            <a:r>
              <a:rPr sz="1550" spc="145" dirty="0">
                <a:solidFill>
                  <a:srgbClr val="525252"/>
                </a:solidFill>
                <a:latin typeface="Calibri"/>
                <a:cs typeface="Calibri"/>
              </a:rPr>
              <a:t> </a:t>
            </a:r>
            <a:r>
              <a:rPr sz="1550" dirty="0">
                <a:solidFill>
                  <a:srgbClr val="525252"/>
                </a:solidFill>
                <a:latin typeface="Calibri"/>
                <a:cs typeface="Calibri"/>
              </a:rPr>
              <a:t>is</a:t>
            </a:r>
            <a:r>
              <a:rPr sz="1550" spc="160" dirty="0">
                <a:solidFill>
                  <a:srgbClr val="525252"/>
                </a:solidFill>
                <a:latin typeface="Calibri"/>
                <a:cs typeface="Calibri"/>
              </a:rPr>
              <a:t> </a:t>
            </a:r>
            <a:r>
              <a:rPr sz="1550" dirty="0">
                <a:solidFill>
                  <a:srgbClr val="525252"/>
                </a:solidFill>
                <a:latin typeface="Calibri"/>
                <a:cs typeface="Calibri"/>
              </a:rPr>
              <a:t>more</a:t>
            </a:r>
            <a:r>
              <a:rPr sz="1550" spc="135" dirty="0">
                <a:solidFill>
                  <a:srgbClr val="525252"/>
                </a:solidFill>
                <a:latin typeface="Calibri"/>
                <a:cs typeface="Calibri"/>
              </a:rPr>
              <a:t> </a:t>
            </a:r>
            <a:r>
              <a:rPr sz="1550" dirty="0">
                <a:solidFill>
                  <a:srgbClr val="525252"/>
                </a:solidFill>
                <a:latin typeface="Calibri"/>
                <a:cs typeface="Calibri"/>
              </a:rPr>
              <a:t>manageable</a:t>
            </a:r>
            <a:r>
              <a:rPr sz="1550" spc="45" dirty="0">
                <a:solidFill>
                  <a:srgbClr val="525252"/>
                </a:solidFill>
                <a:latin typeface="Calibri"/>
                <a:cs typeface="Calibri"/>
              </a:rPr>
              <a:t> </a:t>
            </a:r>
            <a:r>
              <a:rPr sz="1550" spc="-20" dirty="0">
                <a:solidFill>
                  <a:srgbClr val="525252"/>
                </a:solidFill>
                <a:latin typeface="Calibri"/>
                <a:cs typeface="Calibri"/>
              </a:rPr>
              <a:t>than </a:t>
            </a:r>
            <a:r>
              <a:rPr sz="1550" dirty="0">
                <a:solidFill>
                  <a:srgbClr val="525252"/>
                </a:solidFill>
                <a:latin typeface="Calibri"/>
                <a:cs typeface="Calibri"/>
              </a:rPr>
              <a:t>under-preparation,</a:t>
            </a:r>
            <a:r>
              <a:rPr sz="1550" spc="125" dirty="0">
                <a:solidFill>
                  <a:srgbClr val="525252"/>
                </a:solidFill>
                <a:latin typeface="Calibri"/>
                <a:cs typeface="Calibri"/>
              </a:rPr>
              <a:t> </a:t>
            </a:r>
            <a:r>
              <a:rPr sz="1550" dirty="0">
                <a:solidFill>
                  <a:srgbClr val="525252"/>
                </a:solidFill>
                <a:latin typeface="Calibri"/>
                <a:cs typeface="Calibri"/>
              </a:rPr>
              <a:t>making</a:t>
            </a:r>
            <a:r>
              <a:rPr sz="1550" spc="160" dirty="0">
                <a:solidFill>
                  <a:srgbClr val="525252"/>
                </a:solidFill>
                <a:latin typeface="Calibri"/>
                <a:cs typeface="Calibri"/>
              </a:rPr>
              <a:t> </a:t>
            </a:r>
            <a:r>
              <a:rPr sz="1550" dirty="0">
                <a:solidFill>
                  <a:srgbClr val="525252"/>
                </a:solidFill>
                <a:latin typeface="Calibri"/>
                <a:cs typeface="Calibri"/>
              </a:rPr>
              <a:t>the</a:t>
            </a:r>
            <a:r>
              <a:rPr sz="1550" spc="204" dirty="0">
                <a:solidFill>
                  <a:srgbClr val="525252"/>
                </a:solidFill>
                <a:latin typeface="Calibri"/>
                <a:cs typeface="Calibri"/>
              </a:rPr>
              <a:t> </a:t>
            </a:r>
            <a:r>
              <a:rPr sz="1550" dirty="0">
                <a:solidFill>
                  <a:srgbClr val="525252"/>
                </a:solidFill>
                <a:latin typeface="Calibri"/>
                <a:cs typeface="Calibri"/>
              </a:rPr>
              <a:t>model's</a:t>
            </a:r>
            <a:r>
              <a:rPr sz="1550" spc="135" dirty="0">
                <a:solidFill>
                  <a:srgbClr val="525252"/>
                </a:solidFill>
                <a:latin typeface="Calibri"/>
                <a:cs typeface="Calibri"/>
              </a:rPr>
              <a:t> </a:t>
            </a:r>
            <a:r>
              <a:rPr sz="1550" dirty="0">
                <a:solidFill>
                  <a:srgbClr val="525252"/>
                </a:solidFill>
                <a:latin typeface="Calibri"/>
                <a:cs typeface="Calibri"/>
              </a:rPr>
              <a:t>performance</a:t>
            </a:r>
            <a:r>
              <a:rPr sz="1550" spc="110" dirty="0">
                <a:solidFill>
                  <a:srgbClr val="525252"/>
                </a:solidFill>
                <a:latin typeface="Calibri"/>
                <a:cs typeface="Calibri"/>
              </a:rPr>
              <a:t> </a:t>
            </a:r>
            <a:r>
              <a:rPr sz="1550" spc="-10" dirty="0">
                <a:solidFill>
                  <a:srgbClr val="525252"/>
                </a:solidFill>
                <a:latin typeface="Calibri"/>
                <a:cs typeface="Calibri"/>
              </a:rPr>
              <a:t>highly </a:t>
            </a:r>
            <a:r>
              <a:rPr sz="1550" dirty="0">
                <a:solidFill>
                  <a:srgbClr val="525252"/>
                </a:solidFill>
                <a:latin typeface="Calibri"/>
                <a:cs typeface="Calibri"/>
              </a:rPr>
              <a:t>acceptable</a:t>
            </a:r>
            <a:r>
              <a:rPr sz="1550" spc="95" dirty="0">
                <a:solidFill>
                  <a:srgbClr val="525252"/>
                </a:solidFill>
                <a:latin typeface="Calibri"/>
                <a:cs typeface="Calibri"/>
              </a:rPr>
              <a:t> </a:t>
            </a:r>
            <a:r>
              <a:rPr sz="1550" dirty="0">
                <a:solidFill>
                  <a:srgbClr val="525252"/>
                </a:solidFill>
                <a:latin typeface="Calibri"/>
                <a:cs typeface="Calibri"/>
              </a:rPr>
              <a:t>for</a:t>
            </a:r>
            <a:r>
              <a:rPr sz="1550" spc="110" dirty="0">
                <a:solidFill>
                  <a:srgbClr val="525252"/>
                </a:solidFill>
                <a:latin typeface="Calibri"/>
                <a:cs typeface="Calibri"/>
              </a:rPr>
              <a:t> </a:t>
            </a:r>
            <a:r>
              <a:rPr sz="1550" dirty="0">
                <a:solidFill>
                  <a:srgbClr val="525252"/>
                </a:solidFill>
                <a:latin typeface="Calibri"/>
                <a:cs typeface="Calibri"/>
              </a:rPr>
              <a:t>practical</a:t>
            </a:r>
            <a:r>
              <a:rPr sz="1550" spc="65" dirty="0">
                <a:solidFill>
                  <a:srgbClr val="525252"/>
                </a:solidFill>
                <a:latin typeface="Calibri"/>
                <a:cs typeface="Calibri"/>
              </a:rPr>
              <a:t> </a:t>
            </a:r>
            <a:r>
              <a:rPr sz="1550" spc="-10" dirty="0">
                <a:solidFill>
                  <a:srgbClr val="525252"/>
                </a:solidFill>
                <a:latin typeface="Calibri"/>
                <a:cs typeface="Calibri"/>
              </a:rPr>
              <a:t>applications.</a:t>
            </a:r>
            <a:endParaRPr sz="1550">
              <a:latin typeface="Calibri"/>
              <a:cs typeface="Calibri"/>
            </a:endParaRPr>
          </a:p>
          <a:p>
            <a:pPr marL="241300" marR="120650" indent="-229235">
              <a:lnSpc>
                <a:spcPts val="1730"/>
              </a:lnSpc>
              <a:spcBef>
                <a:spcPts val="965"/>
              </a:spcBef>
            </a:pPr>
            <a:r>
              <a:rPr sz="1550" b="1" dirty="0">
                <a:solidFill>
                  <a:srgbClr val="525252"/>
                </a:solidFill>
                <a:latin typeface="Calibri"/>
                <a:cs typeface="Calibri"/>
              </a:rPr>
              <a:t>Balanced</a:t>
            </a:r>
            <a:r>
              <a:rPr sz="1550" b="1" spc="185" dirty="0">
                <a:solidFill>
                  <a:srgbClr val="525252"/>
                </a:solidFill>
                <a:latin typeface="Calibri"/>
                <a:cs typeface="Calibri"/>
              </a:rPr>
              <a:t> </a:t>
            </a:r>
            <a:r>
              <a:rPr sz="1550" b="1" dirty="0">
                <a:solidFill>
                  <a:srgbClr val="525252"/>
                </a:solidFill>
                <a:latin typeface="Calibri"/>
                <a:cs typeface="Calibri"/>
              </a:rPr>
              <a:t>Performance</a:t>
            </a:r>
            <a:r>
              <a:rPr sz="1550" dirty="0">
                <a:solidFill>
                  <a:srgbClr val="525252"/>
                </a:solidFill>
                <a:latin typeface="Calibri"/>
                <a:cs typeface="Calibri"/>
              </a:rPr>
              <a:t>:</a:t>
            </a:r>
            <a:r>
              <a:rPr sz="1550" spc="150" dirty="0">
                <a:solidFill>
                  <a:srgbClr val="525252"/>
                </a:solidFill>
                <a:latin typeface="Calibri"/>
                <a:cs typeface="Calibri"/>
              </a:rPr>
              <a:t> </a:t>
            </a:r>
            <a:r>
              <a:rPr sz="1550" dirty="0">
                <a:solidFill>
                  <a:srgbClr val="525252"/>
                </a:solidFill>
                <a:latin typeface="Calibri"/>
                <a:cs typeface="Calibri"/>
              </a:rPr>
              <a:t>The</a:t>
            </a:r>
            <a:r>
              <a:rPr sz="1550" spc="160" dirty="0">
                <a:solidFill>
                  <a:srgbClr val="525252"/>
                </a:solidFill>
                <a:latin typeface="Calibri"/>
                <a:cs typeface="Calibri"/>
              </a:rPr>
              <a:t> </a:t>
            </a:r>
            <a:r>
              <a:rPr sz="1550" dirty="0">
                <a:solidFill>
                  <a:srgbClr val="525252"/>
                </a:solidFill>
                <a:latin typeface="Calibri"/>
                <a:cs typeface="Calibri"/>
              </a:rPr>
              <a:t>model</a:t>
            </a:r>
            <a:r>
              <a:rPr sz="1550" spc="45" dirty="0">
                <a:solidFill>
                  <a:srgbClr val="525252"/>
                </a:solidFill>
                <a:latin typeface="Calibri"/>
                <a:cs typeface="Calibri"/>
              </a:rPr>
              <a:t> </a:t>
            </a:r>
            <a:r>
              <a:rPr sz="1550" dirty="0">
                <a:solidFill>
                  <a:srgbClr val="525252"/>
                </a:solidFill>
                <a:latin typeface="Calibri"/>
                <a:cs typeface="Calibri"/>
              </a:rPr>
              <a:t>shows</a:t>
            </a:r>
            <a:r>
              <a:rPr sz="1550" spc="90" dirty="0">
                <a:solidFill>
                  <a:srgbClr val="525252"/>
                </a:solidFill>
                <a:latin typeface="Calibri"/>
                <a:cs typeface="Calibri"/>
              </a:rPr>
              <a:t> </a:t>
            </a:r>
            <a:r>
              <a:rPr sz="1550" dirty="0">
                <a:solidFill>
                  <a:srgbClr val="525252"/>
                </a:solidFill>
                <a:latin typeface="Calibri"/>
                <a:cs typeface="Calibri"/>
              </a:rPr>
              <a:t>a</a:t>
            </a:r>
            <a:r>
              <a:rPr sz="1550" spc="110" dirty="0">
                <a:solidFill>
                  <a:srgbClr val="525252"/>
                </a:solidFill>
                <a:latin typeface="Calibri"/>
                <a:cs typeface="Calibri"/>
              </a:rPr>
              <a:t> </a:t>
            </a:r>
            <a:r>
              <a:rPr sz="1550" dirty="0">
                <a:solidFill>
                  <a:srgbClr val="525252"/>
                </a:solidFill>
                <a:latin typeface="Calibri"/>
                <a:cs typeface="Calibri"/>
              </a:rPr>
              <a:t>balanced</a:t>
            </a:r>
            <a:r>
              <a:rPr sz="1550" spc="114" dirty="0">
                <a:solidFill>
                  <a:srgbClr val="525252"/>
                </a:solidFill>
                <a:latin typeface="Calibri"/>
                <a:cs typeface="Calibri"/>
              </a:rPr>
              <a:t> </a:t>
            </a:r>
            <a:r>
              <a:rPr sz="1550" spc="-10" dirty="0">
                <a:solidFill>
                  <a:srgbClr val="525252"/>
                </a:solidFill>
                <a:latin typeface="Calibri"/>
                <a:cs typeface="Calibri"/>
              </a:rPr>
              <a:t>performance </a:t>
            </a:r>
            <a:r>
              <a:rPr sz="1550" dirty="0">
                <a:solidFill>
                  <a:srgbClr val="525252"/>
                </a:solidFill>
                <a:latin typeface="Calibri"/>
                <a:cs typeface="Calibri"/>
              </a:rPr>
              <a:t>with</a:t>
            </a:r>
            <a:r>
              <a:rPr sz="1550" spc="70" dirty="0">
                <a:solidFill>
                  <a:srgbClr val="525252"/>
                </a:solidFill>
                <a:latin typeface="Calibri"/>
                <a:cs typeface="Calibri"/>
              </a:rPr>
              <a:t> </a:t>
            </a:r>
            <a:r>
              <a:rPr sz="1550" dirty="0">
                <a:solidFill>
                  <a:srgbClr val="525252"/>
                </a:solidFill>
                <a:latin typeface="Calibri"/>
                <a:cs typeface="Calibri"/>
              </a:rPr>
              <a:t>a</a:t>
            </a:r>
            <a:r>
              <a:rPr sz="1550" spc="80" dirty="0">
                <a:solidFill>
                  <a:srgbClr val="525252"/>
                </a:solidFill>
                <a:latin typeface="Calibri"/>
                <a:cs typeface="Calibri"/>
              </a:rPr>
              <a:t> </a:t>
            </a:r>
            <a:r>
              <a:rPr sz="1550" dirty="0">
                <a:solidFill>
                  <a:srgbClr val="525252"/>
                </a:solidFill>
                <a:latin typeface="Calibri"/>
                <a:cs typeface="Calibri"/>
              </a:rPr>
              <a:t>slight</a:t>
            </a:r>
            <a:r>
              <a:rPr sz="1550" spc="75" dirty="0">
                <a:solidFill>
                  <a:srgbClr val="525252"/>
                </a:solidFill>
                <a:latin typeface="Calibri"/>
                <a:cs typeface="Calibri"/>
              </a:rPr>
              <a:t> </a:t>
            </a:r>
            <a:r>
              <a:rPr sz="1550" dirty="0">
                <a:solidFill>
                  <a:srgbClr val="525252"/>
                </a:solidFill>
                <a:latin typeface="Calibri"/>
                <a:cs typeface="Calibri"/>
              </a:rPr>
              <a:t>bias</a:t>
            </a:r>
            <a:r>
              <a:rPr sz="1550" spc="155" dirty="0">
                <a:solidFill>
                  <a:srgbClr val="525252"/>
                </a:solidFill>
                <a:latin typeface="Calibri"/>
                <a:cs typeface="Calibri"/>
              </a:rPr>
              <a:t> </a:t>
            </a:r>
            <a:r>
              <a:rPr sz="1550" dirty="0">
                <a:solidFill>
                  <a:srgbClr val="525252"/>
                </a:solidFill>
                <a:latin typeface="Calibri"/>
                <a:cs typeface="Calibri"/>
              </a:rPr>
              <a:t>towards</a:t>
            </a:r>
            <a:r>
              <a:rPr sz="1550" spc="150" dirty="0">
                <a:solidFill>
                  <a:srgbClr val="525252"/>
                </a:solidFill>
                <a:latin typeface="Calibri"/>
                <a:cs typeface="Calibri"/>
              </a:rPr>
              <a:t> </a:t>
            </a:r>
            <a:r>
              <a:rPr sz="1550" dirty="0">
                <a:solidFill>
                  <a:srgbClr val="525252"/>
                </a:solidFill>
                <a:latin typeface="Calibri"/>
                <a:cs typeface="Calibri"/>
              </a:rPr>
              <a:t>predicting</a:t>
            </a:r>
            <a:r>
              <a:rPr sz="1550" spc="90" dirty="0">
                <a:solidFill>
                  <a:srgbClr val="525252"/>
                </a:solidFill>
                <a:latin typeface="Calibri"/>
                <a:cs typeface="Calibri"/>
              </a:rPr>
              <a:t> </a:t>
            </a:r>
            <a:r>
              <a:rPr sz="1550" dirty="0">
                <a:solidFill>
                  <a:srgbClr val="525252"/>
                </a:solidFill>
                <a:latin typeface="Calibri"/>
                <a:cs typeface="Calibri"/>
              </a:rPr>
              <a:t>successful</a:t>
            </a:r>
            <a:r>
              <a:rPr sz="1550" spc="95" dirty="0">
                <a:solidFill>
                  <a:srgbClr val="525252"/>
                </a:solidFill>
                <a:latin typeface="Calibri"/>
                <a:cs typeface="Calibri"/>
              </a:rPr>
              <a:t> </a:t>
            </a:r>
            <a:r>
              <a:rPr sz="1550" dirty="0">
                <a:solidFill>
                  <a:srgbClr val="525252"/>
                </a:solidFill>
                <a:latin typeface="Calibri"/>
                <a:cs typeface="Calibri"/>
              </a:rPr>
              <a:t>landings.</a:t>
            </a:r>
            <a:r>
              <a:rPr sz="1550" spc="55" dirty="0">
                <a:solidFill>
                  <a:srgbClr val="525252"/>
                </a:solidFill>
                <a:latin typeface="Calibri"/>
                <a:cs typeface="Calibri"/>
              </a:rPr>
              <a:t> </a:t>
            </a:r>
            <a:r>
              <a:rPr sz="1550" spc="-20" dirty="0">
                <a:solidFill>
                  <a:srgbClr val="525252"/>
                </a:solidFill>
                <a:latin typeface="Calibri"/>
                <a:cs typeface="Calibri"/>
              </a:rPr>
              <a:t>This </a:t>
            </a:r>
            <a:r>
              <a:rPr sz="1550" dirty="0">
                <a:solidFill>
                  <a:srgbClr val="525252"/>
                </a:solidFill>
                <a:latin typeface="Calibri"/>
                <a:cs typeface="Calibri"/>
              </a:rPr>
              <a:t>aligns</a:t>
            </a:r>
            <a:r>
              <a:rPr sz="1550" spc="75" dirty="0">
                <a:solidFill>
                  <a:srgbClr val="525252"/>
                </a:solidFill>
                <a:latin typeface="Calibri"/>
                <a:cs typeface="Calibri"/>
              </a:rPr>
              <a:t> </a:t>
            </a:r>
            <a:r>
              <a:rPr sz="1550" dirty="0">
                <a:solidFill>
                  <a:srgbClr val="525252"/>
                </a:solidFill>
                <a:latin typeface="Calibri"/>
                <a:cs typeface="Calibri"/>
              </a:rPr>
              <a:t>well</a:t>
            </a:r>
            <a:r>
              <a:rPr sz="1550" spc="20" dirty="0">
                <a:solidFill>
                  <a:srgbClr val="525252"/>
                </a:solidFill>
                <a:latin typeface="Calibri"/>
                <a:cs typeface="Calibri"/>
              </a:rPr>
              <a:t> </a:t>
            </a:r>
            <a:r>
              <a:rPr sz="1550" dirty="0">
                <a:solidFill>
                  <a:srgbClr val="525252"/>
                </a:solidFill>
                <a:latin typeface="Calibri"/>
                <a:cs typeface="Calibri"/>
              </a:rPr>
              <a:t>with</a:t>
            </a:r>
            <a:r>
              <a:rPr sz="1550" spc="90" dirty="0">
                <a:solidFill>
                  <a:srgbClr val="525252"/>
                </a:solidFill>
                <a:latin typeface="Calibri"/>
                <a:cs typeface="Calibri"/>
              </a:rPr>
              <a:t> </a:t>
            </a:r>
            <a:r>
              <a:rPr sz="1550" dirty="0">
                <a:solidFill>
                  <a:srgbClr val="525252"/>
                </a:solidFill>
                <a:latin typeface="Calibri"/>
                <a:cs typeface="Calibri"/>
              </a:rPr>
              <a:t>practical</a:t>
            </a:r>
            <a:r>
              <a:rPr sz="1550" spc="110" dirty="0">
                <a:solidFill>
                  <a:srgbClr val="525252"/>
                </a:solidFill>
                <a:latin typeface="Calibri"/>
                <a:cs typeface="Calibri"/>
              </a:rPr>
              <a:t> </a:t>
            </a:r>
            <a:r>
              <a:rPr sz="1550" dirty="0">
                <a:solidFill>
                  <a:srgbClr val="525252"/>
                </a:solidFill>
                <a:latin typeface="Calibri"/>
                <a:cs typeface="Calibri"/>
              </a:rPr>
              <a:t>needs</a:t>
            </a:r>
            <a:r>
              <a:rPr sz="1550" spc="75" dirty="0">
                <a:solidFill>
                  <a:srgbClr val="525252"/>
                </a:solidFill>
                <a:latin typeface="Calibri"/>
                <a:cs typeface="Calibri"/>
              </a:rPr>
              <a:t> </a:t>
            </a:r>
            <a:r>
              <a:rPr sz="1550" dirty="0">
                <a:solidFill>
                  <a:srgbClr val="525252"/>
                </a:solidFill>
                <a:latin typeface="Calibri"/>
                <a:cs typeface="Calibri"/>
              </a:rPr>
              <a:t>in</a:t>
            </a:r>
            <a:r>
              <a:rPr sz="1550" spc="95" dirty="0">
                <a:solidFill>
                  <a:srgbClr val="525252"/>
                </a:solidFill>
                <a:latin typeface="Calibri"/>
                <a:cs typeface="Calibri"/>
              </a:rPr>
              <a:t> </a:t>
            </a:r>
            <a:r>
              <a:rPr sz="1550" dirty="0">
                <a:solidFill>
                  <a:srgbClr val="525252"/>
                </a:solidFill>
                <a:latin typeface="Calibri"/>
                <a:cs typeface="Calibri"/>
              </a:rPr>
              <a:t>the</a:t>
            </a:r>
            <a:r>
              <a:rPr sz="1550" spc="45" dirty="0">
                <a:solidFill>
                  <a:srgbClr val="525252"/>
                </a:solidFill>
                <a:latin typeface="Calibri"/>
                <a:cs typeface="Calibri"/>
              </a:rPr>
              <a:t> </a:t>
            </a:r>
            <a:r>
              <a:rPr sz="1550" dirty="0">
                <a:solidFill>
                  <a:srgbClr val="525252"/>
                </a:solidFill>
                <a:latin typeface="Calibri"/>
                <a:cs typeface="Calibri"/>
              </a:rPr>
              <a:t>aerospace</a:t>
            </a:r>
            <a:r>
              <a:rPr sz="1550" spc="145" dirty="0">
                <a:solidFill>
                  <a:srgbClr val="525252"/>
                </a:solidFill>
                <a:latin typeface="Calibri"/>
                <a:cs typeface="Calibri"/>
              </a:rPr>
              <a:t> </a:t>
            </a:r>
            <a:r>
              <a:rPr sz="1550" dirty="0">
                <a:solidFill>
                  <a:srgbClr val="525252"/>
                </a:solidFill>
                <a:latin typeface="Calibri"/>
                <a:cs typeface="Calibri"/>
              </a:rPr>
              <a:t>industry,</a:t>
            </a:r>
            <a:r>
              <a:rPr sz="1550" spc="70" dirty="0">
                <a:solidFill>
                  <a:srgbClr val="525252"/>
                </a:solidFill>
                <a:latin typeface="Calibri"/>
                <a:cs typeface="Calibri"/>
              </a:rPr>
              <a:t> </a:t>
            </a:r>
            <a:r>
              <a:rPr sz="1550" spc="-10" dirty="0">
                <a:solidFill>
                  <a:srgbClr val="525252"/>
                </a:solidFill>
                <a:latin typeface="Calibri"/>
                <a:cs typeface="Calibri"/>
              </a:rPr>
              <a:t>where </a:t>
            </a:r>
            <a:r>
              <a:rPr sz="1550" dirty="0">
                <a:solidFill>
                  <a:srgbClr val="525252"/>
                </a:solidFill>
                <a:latin typeface="Calibri"/>
                <a:cs typeface="Calibri"/>
              </a:rPr>
              <a:t>ensuring</a:t>
            </a:r>
            <a:r>
              <a:rPr sz="1550" spc="130" dirty="0">
                <a:solidFill>
                  <a:srgbClr val="525252"/>
                </a:solidFill>
                <a:latin typeface="Calibri"/>
                <a:cs typeface="Calibri"/>
              </a:rPr>
              <a:t> </a:t>
            </a:r>
            <a:r>
              <a:rPr sz="1550" dirty="0">
                <a:solidFill>
                  <a:srgbClr val="525252"/>
                </a:solidFill>
                <a:latin typeface="Calibri"/>
                <a:cs typeface="Calibri"/>
              </a:rPr>
              <a:t>successful</a:t>
            </a:r>
            <a:r>
              <a:rPr sz="1550" spc="135" dirty="0">
                <a:solidFill>
                  <a:srgbClr val="525252"/>
                </a:solidFill>
                <a:latin typeface="Calibri"/>
                <a:cs typeface="Calibri"/>
              </a:rPr>
              <a:t> </a:t>
            </a:r>
            <a:r>
              <a:rPr sz="1550" dirty="0">
                <a:solidFill>
                  <a:srgbClr val="525252"/>
                </a:solidFill>
                <a:latin typeface="Calibri"/>
                <a:cs typeface="Calibri"/>
              </a:rPr>
              <a:t>landings</a:t>
            </a:r>
            <a:r>
              <a:rPr sz="1550" spc="110" dirty="0">
                <a:solidFill>
                  <a:srgbClr val="525252"/>
                </a:solidFill>
                <a:latin typeface="Calibri"/>
                <a:cs typeface="Calibri"/>
              </a:rPr>
              <a:t> </a:t>
            </a:r>
            <a:r>
              <a:rPr sz="1550" dirty="0">
                <a:solidFill>
                  <a:srgbClr val="525252"/>
                </a:solidFill>
                <a:latin typeface="Calibri"/>
                <a:cs typeface="Calibri"/>
              </a:rPr>
              <a:t>is</a:t>
            </a:r>
            <a:r>
              <a:rPr sz="1550" spc="105" dirty="0">
                <a:solidFill>
                  <a:srgbClr val="525252"/>
                </a:solidFill>
                <a:latin typeface="Calibri"/>
                <a:cs typeface="Calibri"/>
              </a:rPr>
              <a:t> </a:t>
            </a:r>
            <a:r>
              <a:rPr sz="1550" dirty="0">
                <a:solidFill>
                  <a:srgbClr val="525252"/>
                </a:solidFill>
                <a:latin typeface="Calibri"/>
                <a:cs typeface="Calibri"/>
              </a:rPr>
              <a:t>of</a:t>
            </a:r>
            <a:r>
              <a:rPr sz="1550" spc="185" dirty="0">
                <a:solidFill>
                  <a:srgbClr val="525252"/>
                </a:solidFill>
                <a:latin typeface="Calibri"/>
                <a:cs typeface="Calibri"/>
              </a:rPr>
              <a:t> </a:t>
            </a:r>
            <a:r>
              <a:rPr sz="1550" dirty="0">
                <a:solidFill>
                  <a:srgbClr val="525252"/>
                </a:solidFill>
                <a:latin typeface="Calibri"/>
                <a:cs typeface="Calibri"/>
              </a:rPr>
              <a:t>paramount</a:t>
            </a:r>
            <a:r>
              <a:rPr sz="1550" spc="114" dirty="0">
                <a:solidFill>
                  <a:srgbClr val="525252"/>
                </a:solidFill>
                <a:latin typeface="Calibri"/>
                <a:cs typeface="Calibri"/>
              </a:rPr>
              <a:t> </a:t>
            </a:r>
            <a:r>
              <a:rPr sz="1550" dirty="0">
                <a:solidFill>
                  <a:srgbClr val="525252"/>
                </a:solidFill>
                <a:latin typeface="Calibri"/>
                <a:cs typeface="Calibri"/>
              </a:rPr>
              <a:t>importance</a:t>
            </a:r>
            <a:r>
              <a:rPr sz="1550" spc="80" dirty="0">
                <a:solidFill>
                  <a:srgbClr val="525252"/>
                </a:solidFill>
                <a:latin typeface="Calibri"/>
                <a:cs typeface="Calibri"/>
              </a:rPr>
              <a:t> </a:t>
            </a:r>
            <a:r>
              <a:rPr sz="1550" dirty="0">
                <a:solidFill>
                  <a:srgbClr val="525252"/>
                </a:solidFill>
                <a:latin typeface="Calibri"/>
                <a:cs typeface="Calibri"/>
              </a:rPr>
              <a:t>for</a:t>
            </a:r>
            <a:r>
              <a:rPr sz="1550" spc="95" dirty="0">
                <a:solidFill>
                  <a:srgbClr val="525252"/>
                </a:solidFill>
                <a:latin typeface="Calibri"/>
                <a:cs typeface="Calibri"/>
              </a:rPr>
              <a:t> </a:t>
            </a:r>
            <a:r>
              <a:rPr sz="1550" spc="-20" dirty="0">
                <a:solidFill>
                  <a:srgbClr val="525252"/>
                </a:solidFill>
                <a:latin typeface="Calibri"/>
                <a:cs typeface="Calibri"/>
              </a:rPr>
              <a:t>cost </a:t>
            </a:r>
            <a:r>
              <a:rPr sz="1550" dirty="0">
                <a:solidFill>
                  <a:srgbClr val="525252"/>
                </a:solidFill>
                <a:latin typeface="Calibri"/>
                <a:cs typeface="Calibri"/>
              </a:rPr>
              <a:t>estimation</a:t>
            </a:r>
            <a:r>
              <a:rPr sz="1550" spc="90" dirty="0">
                <a:solidFill>
                  <a:srgbClr val="525252"/>
                </a:solidFill>
                <a:latin typeface="Calibri"/>
                <a:cs typeface="Calibri"/>
              </a:rPr>
              <a:t> </a:t>
            </a:r>
            <a:r>
              <a:rPr sz="1550" dirty="0">
                <a:solidFill>
                  <a:srgbClr val="525252"/>
                </a:solidFill>
                <a:latin typeface="Calibri"/>
                <a:cs typeface="Calibri"/>
              </a:rPr>
              <a:t>and</a:t>
            </a:r>
            <a:r>
              <a:rPr sz="1550" spc="85" dirty="0">
                <a:solidFill>
                  <a:srgbClr val="525252"/>
                </a:solidFill>
                <a:latin typeface="Calibri"/>
                <a:cs typeface="Calibri"/>
              </a:rPr>
              <a:t> </a:t>
            </a:r>
            <a:r>
              <a:rPr sz="1550" spc="-10" dirty="0">
                <a:solidFill>
                  <a:srgbClr val="525252"/>
                </a:solidFill>
                <a:latin typeface="Calibri"/>
                <a:cs typeface="Calibri"/>
              </a:rPr>
              <a:t>planning.</a:t>
            </a:r>
            <a:endParaRPr sz="1550">
              <a:latin typeface="Calibri"/>
              <a:cs typeface="Calibri"/>
            </a:endParaRPr>
          </a:p>
        </p:txBody>
      </p:sp>
      <p:sp>
        <p:nvSpPr>
          <p:cNvPr id="4" name="object 4"/>
          <p:cNvSpPr txBox="1">
            <a:spLocks noGrp="1"/>
          </p:cNvSpPr>
          <p:nvPr>
            <p:ph type="title"/>
          </p:nvPr>
        </p:nvSpPr>
        <p:spPr>
          <a:xfrm>
            <a:off x="849312" y="420624"/>
            <a:ext cx="3389629" cy="586740"/>
          </a:xfrm>
          <a:prstGeom prst="rect">
            <a:avLst/>
          </a:prstGeom>
        </p:spPr>
        <p:txBody>
          <a:bodyPr vert="horz" wrap="square" lIns="0" tIns="16510" rIns="0" bIns="0" rtlCol="0">
            <a:spAutoFit/>
          </a:bodyPr>
          <a:lstStyle/>
          <a:p>
            <a:pPr marL="12700">
              <a:lnSpc>
                <a:spcPct val="100000"/>
              </a:lnSpc>
              <a:spcBef>
                <a:spcPts val="130"/>
              </a:spcBef>
            </a:pPr>
            <a:r>
              <a:rPr spc="-55" dirty="0"/>
              <a:t>Confusion</a:t>
            </a:r>
            <a:r>
              <a:rPr spc="-185" dirty="0"/>
              <a:t> </a:t>
            </a:r>
            <a:r>
              <a:rPr spc="-30" dirty="0"/>
              <a:t>Matrix</a:t>
            </a:r>
          </a:p>
        </p:txBody>
      </p:sp>
      <p:pic>
        <p:nvPicPr>
          <p:cNvPr id="5" name="object 5"/>
          <p:cNvPicPr/>
          <p:nvPr/>
        </p:nvPicPr>
        <p:blipFill>
          <a:blip r:embed="rId2" cstate="print"/>
          <a:stretch>
            <a:fillRect/>
          </a:stretch>
        </p:blipFill>
        <p:spPr>
          <a:xfrm>
            <a:off x="6762750" y="1809750"/>
            <a:ext cx="4819650" cy="41148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312" y="1511617"/>
            <a:ext cx="10356850" cy="3863975"/>
          </a:xfrm>
          <a:prstGeom prst="rect">
            <a:avLst/>
          </a:prstGeom>
        </p:spPr>
        <p:txBody>
          <a:bodyPr vert="horz" wrap="square" lIns="0" tIns="48895" rIns="0" bIns="0" rtlCol="0">
            <a:spAutoFit/>
          </a:bodyPr>
          <a:lstStyle/>
          <a:p>
            <a:pPr marL="12700" marR="88900">
              <a:lnSpc>
                <a:spcPct val="89200"/>
              </a:lnSpc>
              <a:spcBef>
                <a:spcPts val="385"/>
              </a:spcBef>
            </a:pPr>
            <a:r>
              <a:rPr sz="2000" b="1" dirty="0">
                <a:solidFill>
                  <a:srgbClr val="292929"/>
                </a:solidFill>
                <a:latin typeface="Calibri"/>
                <a:cs typeface="Calibri"/>
              </a:rPr>
              <a:t>Point</a:t>
            </a:r>
            <a:r>
              <a:rPr sz="2000" b="1" spc="-60" dirty="0">
                <a:solidFill>
                  <a:srgbClr val="292929"/>
                </a:solidFill>
                <a:latin typeface="Calibri"/>
                <a:cs typeface="Calibri"/>
              </a:rPr>
              <a:t> </a:t>
            </a:r>
            <a:r>
              <a:rPr sz="2000" b="1" dirty="0">
                <a:solidFill>
                  <a:srgbClr val="292929"/>
                </a:solidFill>
                <a:latin typeface="Calibri"/>
                <a:cs typeface="Calibri"/>
              </a:rPr>
              <a:t>1:</a:t>
            </a:r>
            <a:r>
              <a:rPr sz="2000" b="1" spc="-30" dirty="0">
                <a:solidFill>
                  <a:srgbClr val="292929"/>
                </a:solidFill>
                <a:latin typeface="Calibri"/>
                <a:cs typeface="Calibri"/>
              </a:rPr>
              <a:t> </a:t>
            </a:r>
            <a:r>
              <a:rPr sz="2000" dirty="0">
                <a:solidFill>
                  <a:srgbClr val="292929"/>
                </a:solidFill>
                <a:latin typeface="Calibri"/>
                <a:cs typeface="Calibri"/>
              </a:rPr>
              <a:t>Our</a:t>
            </a:r>
            <a:r>
              <a:rPr sz="2000" spc="-60" dirty="0">
                <a:solidFill>
                  <a:srgbClr val="292929"/>
                </a:solidFill>
                <a:latin typeface="Calibri"/>
                <a:cs typeface="Calibri"/>
              </a:rPr>
              <a:t> </a:t>
            </a:r>
            <a:r>
              <a:rPr sz="2000" dirty="0">
                <a:solidFill>
                  <a:srgbClr val="292929"/>
                </a:solidFill>
                <a:latin typeface="Calibri"/>
                <a:cs typeface="Calibri"/>
              </a:rPr>
              <a:t>analysis</a:t>
            </a:r>
            <a:r>
              <a:rPr sz="2000" spc="-10" dirty="0">
                <a:solidFill>
                  <a:srgbClr val="292929"/>
                </a:solidFill>
                <a:latin typeface="Calibri"/>
                <a:cs typeface="Calibri"/>
              </a:rPr>
              <a:t> revealed</a:t>
            </a:r>
            <a:r>
              <a:rPr sz="2000" spc="-45" dirty="0">
                <a:solidFill>
                  <a:srgbClr val="292929"/>
                </a:solidFill>
                <a:latin typeface="Calibri"/>
                <a:cs typeface="Calibri"/>
              </a:rPr>
              <a:t> </a:t>
            </a:r>
            <a:r>
              <a:rPr sz="2000" dirty="0">
                <a:solidFill>
                  <a:srgbClr val="292929"/>
                </a:solidFill>
                <a:latin typeface="Calibri"/>
                <a:cs typeface="Calibri"/>
              </a:rPr>
              <a:t>that</a:t>
            </a:r>
            <a:r>
              <a:rPr sz="2000" spc="-40" dirty="0">
                <a:solidFill>
                  <a:srgbClr val="292929"/>
                </a:solidFill>
                <a:latin typeface="Calibri"/>
                <a:cs typeface="Calibri"/>
              </a:rPr>
              <a:t> </a:t>
            </a:r>
            <a:r>
              <a:rPr sz="2000" dirty="0">
                <a:solidFill>
                  <a:srgbClr val="292929"/>
                </a:solidFill>
                <a:latin typeface="Calibri"/>
                <a:cs typeface="Calibri"/>
              </a:rPr>
              <a:t>the</a:t>
            </a:r>
            <a:r>
              <a:rPr sz="2000" spc="-65" dirty="0">
                <a:solidFill>
                  <a:srgbClr val="292929"/>
                </a:solidFill>
                <a:latin typeface="Calibri"/>
                <a:cs typeface="Calibri"/>
              </a:rPr>
              <a:t> </a:t>
            </a:r>
            <a:r>
              <a:rPr sz="2000" dirty="0">
                <a:solidFill>
                  <a:srgbClr val="292929"/>
                </a:solidFill>
                <a:latin typeface="Calibri"/>
                <a:cs typeface="Calibri"/>
              </a:rPr>
              <a:t>"CCAFS</a:t>
            </a:r>
            <a:r>
              <a:rPr sz="2000" spc="-65" dirty="0">
                <a:solidFill>
                  <a:srgbClr val="292929"/>
                </a:solidFill>
                <a:latin typeface="Calibri"/>
                <a:cs typeface="Calibri"/>
              </a:rPr>
              <a:t> </a:t>
            </a:r>
            <a:r>
              <a:rPr sz="2000" spc="-20" dirty="0">
                <a:solidFill>
                  <a:srgbClr val="292929"/>
                </a:solidFill>
                <a:latin typeface="Calibri"/>
                <a:cs typeface="Calibri"/>
              </a:rPr>
              <a:t>LC-</a:t>
            </a:r>
            <a:r>
              <a:rPr sz="2000" dirty="0">
                <a:solidFill>
                  <a:srgbClr val="292929"/>
                </a:solidFill>
                <a:latin typeface="Calibri"/>
                <a:cs typeface="Calibri"/>
              </a:rPr>
              <a:t>40"</a:t>
            </a:r>
            <a:r>
              <a:rPr sz="2000" spc="-20" dirty="0">
                <a:solidFill>
                  <a:srgbClr val="292929"/>
                </a:solidFill>
                <a:latin typeface="Calibri"/>
                <a:cs typeface="Calibri"/>
              </a:rPr>
              <a:t> </a:t>
            </a:r>
            <a:r>
              <a:rPr sz="2000" dirty="0">
                <a:solidFill>
                  <a:srgbClr val="292929"/>
                </a:solidFill>
                <a:latin typeface="Calibri"/>
                <a:cs typeface="Calibri"/>
              </a:rPr>
              <a:t>launch</a:t>
            </a:r>
            <a:r>
              <a:rPr sz="2000" spc="-45" dirty="0">
                <a:solidFill>
                  <a:srgbClr val="292929"/>
                </a:solidFill>
                <a:latin typeface="Calibri"/>
                <a:cs typeface="Calibri"/>
              </a:rPr>
              <a:t> </a:t>
            </a:r>
            <a:r>
              <a:rPr sz="2000" dirty="0">
                <a:solidFill>
                  <a:srgbClr val="292929"/>
                </a:solidFill>
                <a:latin typeface="Calibri"/>
                <a:cs typeface="Calibri"/>
              </a:rPr>
              <a:t>site has</a:t>
            </a:r>
            <a:r>
              <a:rPr sz="2000" spc="-75" dirty="0">
                <a:solidFill>
                  <a:srgbClr val="292929"/>
                </a:solidFill>
                <a:latin typeface="Calibri"/>
                <a:cs typeface="Calibri"/>
              </a:rPr>
              <a:t> </a:t>
            </a:r>
            <a:r>
              <a:rPr sz="2000" dirty="0">
                <a:solidFill>
                  <a:srgbClr val="292929"/>
                </a:solidFill>
                <a:latin typeface="Calibri"/>
                <a:cs typeface="Calibri"/>
              </a:rPr>
              <a:t>the</a:t>
            </a:r>
            <a:r>
              <a:rPr sz="2000" spc="-60" dirty="0">
                <a:solidFill>
                  <a:srgbClr val="292929"/>
                </a:solidFill>
                <a:latin typeface="Calibri"/>
                <a:cs typeface="Calibri"/>
              </a:rPr>
              <a:t> </a:t>
            </a:r>
            <a:r>
              <a:rPr sz="2000" dirty="0">
                <a:solidFill>
                  <a:srgbClr val="292929"/>
                </a:solidFill>
                <a:latin typeface="Calibri"/>
                <a:cs typeface="Calibri"/>
              </a:rPr>
              <a:t>highest</a:t>
            </a:r>
            <a:r>
              <a:rPr sz="2000" spc="-40" dirty="0">
                <a:solidFill>
                  <a:srgbClr val="292929"/>
                </a:solidFill>
                <a:latin typeface="Calibri"/>
                <a:cs typeface="Calibri"/>
              </a:rPr>
              <a:t> </a:t>
            </a:r>
            <a:r>
              <a:rPr sz="2000" dirty="0">
                <a:solidFill>
                  <a:srgbClr val="292929"/>
                </a:solidFill>
                <a:latin typeface="Calibri"/>
                <a:cs typeface="Calibri"/>
              </a:rPr>
              <a:t>success</a:t>
            </a:r>
            <a:r>
              <a:rPr sz="2000" spc="-70" dirty="0">
                <a:solidFill>
                  <a:srgbClr val="292929"/>
                </a:solidFill>
                <a:latin typeface="Calibri"/>
                <a:cs typeface="Calibri"/>
              </a:rPr>
              <a:t> </a:t>
            </a:r>
            <a:r>
              <a:rPr sz="2000" spc="-20" dirty="0">
                <a:solidFill>
                  <a:srgbClr val="292929"/>
                </a:solidFill>
                <a:latin typeface="Calibri"/>
                <a:cs typeface="Calibri"/>
              </a:rPr>
              <a:t>rate </a:t>
            </a:r>
            <a:r>
              <a:rPr sz="2000" dirty="0">
                <a:solidFill>
                  <a:srgbClr val="292929"/>
                </a:solidFill>
                <a:latin typeface="Calibri"/>
                <a:cs typeface="Calibri"/>
              </a:rPr>
              <a:t>among</a:t>
            </a:r>
            <a:r>
              <a:rPr sz="2000" spc="-5" dirty="0">
                <a:solidFill>
                  <a:srgbClr val="292929"/>
                </a:solidFill>
                <a:latin typeface="Calibri"/>
                <a:cs typeface="Calibri"/>
              </a:rPr>
              <a:t> </a:t>
            </a:r>
            <a:r>
              <a:rPr sz="2000" dirty="0">
                <a:solidFill>
                  <a:srgbClr val="292929"/>
                </a:solidFill>
                <a:latin typeface="Calibri"/>
                <a:cs typeface="Calibri"/>
              </a:rPr>
              <a:t>all</a:t>
            </a:r>
            <a:r>
              <a:rPr sz="2000" spc="-40" dirty="0">
                <a:solidFill>
                  <a:srgbClr val="292929"/>
                </a:solidFill>
                <a:latin typeface="Calibri"/>
                <a:cs typeface="Calibri"/>
              </a:rPr>
              <a:t> </a:t>
            </a:r>
            <a:r>
              <a:rPr sz="2000" dirty="0">
                <a:solidFill>
                  <a:srgbClr val="292929"/>
                </a:solidFill>
                <a:latin typeface="Calibri"/>
                <a:cs typeface="Calibri"/>
              </a:rPr>
              <a:t>sites,</a:t>
            </a:r>
            <a:r>
              <a:rPr sz="2000" spc="-5" dirty="0">
                <a:solidFill>
                  <a:srgbClr val="292929"/>
                </a:solidFill>
                <a:latin typeface="Calibri"/>
                <a:cs typeface="Calibri"/>
              </a:rPr>
              <a:t> </a:t>
            </a:r>
            <a:r>
              <a:rPr sz="2000" spc="-10" dirty="0">
                <a:solidFill>
                  <a:srgbClr val="292929"/>
                </a:solidFill>
                <a:latin typeface="Calibri"/>
                <a:cs typeface="Calibri"/>
              </a:rPr>
              <a:t>accounting</a:t>
            </a:r>
            <a:r>
              <a:rPr sz="2000" spc="-70" dirty="0">
                <a:solidFill>
                  <a:srgbClr val="292929"/>
                </a:solidFill>
                <a:latin typeface="Calibri"/>
                <a:cs typeface="Calibri"/>
              </a:rPr>
              <a:t> </a:t>
            </a:r>
            <a:r>
              <a:rPr sz="2000" dirty="0">
                <a:solidFill>
                  <a:srgbClr val="292929"/>
                </a:solidFill>
                <a:latin typeface="Calibri"/>
                <a:cs typeface="Calibri"/>
              </a:rPr>
              <a:t>for</a:t>
            </a:r>
            <a:r>
              <a:rPr sz="2000" spc="-55" dirty="0">
                <a:solidFill>
                  <a:srgbClr val="292929"/>
                </a:solidFill>
                <a:latin typeface="Calibri"/>
                <a:cs typeface="Calibri"/>
              </a:rPr>
              <a:t> </a:t>
            </a:r>
            <a:r>
              <a:rPr sz="2000" dirty="0">
                <a:solidFill>
                  <a:srgbClr val="292929"/>
                </a:solidFill>
                <a:latin typeface="Calibri"/>
                <a:cs typeface="Calibri"/>
              </a:rPr>
              <a:t>43.7%</a:t>
            </a:r>
            <a:r>
              <a:rPr sz="2000" spc="-50" dirty="0">
                <a:solidFill>
                  <a:srgbClr val="292929"/>
                </a:solidFill>
                <a:latin typeface="Calibri"/>
                <a:cs typeface="Calibri"/>
              </a:rPr>
              <a:t> </a:t>
            </a:r>
            <a:r>
              <a:rPr sz="2000" dirty="0">
                <a:solidFill>
                  <a:srgbClr val="292929"/>
                </a:solidFill>
                <a:latin typeface="Calibri"/>
                <a:cs typeface="Calibri"/>
              </a:rPr>
              <a:t>of</a:t>
            </a:r>
            <a:r>
              <a:rPr sz="2000" spc="-35" dirty="0">
                <a:solidFill>
                  <a:srgbClr val="292929"/>
                </a:solidFill>
                <a:latin typeface="Calibri"/>
                <a:cs typeface="Calibri"/>
              </a:rPr>
              <a:t> </a:t>
            </a:r>
            <a:r>
              <a:rPr sz="2000" spc="-10" dirty="0">
                <a:solidFill>
                  <a:srgbClr val="292929"/>
                </a:solidFill>
                <a:latin typeface="Calibri"/>
                <a:cs typeface="Calibri"/>
              </a:rPr>
              <a:t>successful</a:t>
            </a:r>
            <a:r>
              <a:rPr sz="2000" spc="-40" dirty="0">
                <a:solidFill>
                  <a:srgbClr val="292929"/>
                </a:solidFill>
                <a:latin typeface="Calibri"/>
                <a:cs typeface="Calibri"/>
              </a:rPr>
              <a:t> </a:t>
            </a:r>
            <a:r>
              <a:rPr sz="2000" dirty="0">
                <a:solidFill>
                  <a:srgbClr val="292929"/>
                </a:solidFill>
                <a:latin typeface="Calibri"/>
                <a:cs typeface="Calibri"/>
              </a:rPr>
              <a:t>launches.</a:t>
            </a:r>
            <a:r>
              <a:rPr sz="2000" spc="-10" dirty="0">
                <a:solidFill>
                  <a:srgbClr val="292929"/>
                </a:solidFill>
                <a:latin typeface="Calibri"/>
                <a:cs typeface="Calibri"/>
              </a:rPr>
              <a:t> </a:t>
            </a:r>
            <a:r>
              <a:rPr sz="2000" dirty="0">
                <a:solidFill>
                  <a:srgbClr val="292929"/>
                </a:solidFill>
                <a:latin typeface="Calibri"/>
                <a:cs typeface="Calibri"/>
              </a:rPr>
              <a:t>This</a:t>
            </a:r>
            <a:r>
              <a:rPr sz="2000" spc="10" dirty="0">
                <a:solidFill>
                  <a:srgbClr val="292929"/>
                </a:solidFill>
                <a:latin typeface="Calibri"/>
                <a:cs typeface="Calibri"/>
              </a:rPr>
              <a:t> </a:t>
            </a:r>
            <a:r>
              <a:rPr sz="2000" spc="-10" dirty="0">
                <a:solidFill>
                  <a:srgbClr val="292929"/>
                </a:solidFill>
                <a:latin typeface="Calibri"/>
                <a:cs typeface="Calibri"/>
              </a:rPr>
              <a:t>indicates</a:t>
            </a:r>
            <a:r>
              <a:rPr sz="2000" spc="-60" dirty="0">
                <a:solidFill>
                  <a:srgbClr val="292929"/>
                </a:solidFill>
                <a:latin typeface="Calibri"/>
                <a:cs typeface="Calibri"/>
              </a:rPr>
              <a:t> </a:t>
            </a:r>
            <a:r>
              <a:rPr sz="2000" dirty="0">
                <a:solidFill>
                  <a:srgbClr val="292929"/>
                </a:solidFill>
                <a:latin typeface="Calibri"/>
                <a:cs typeface="Calibri"/>
              </a:rPr>
              <a:t>that</a:t>
            </a:r>
            <a:r>
              <a:rPr sz="2000" spc="-20" dirty="0">
                <a:solidFill>
                  <a:srgbClr val="292929"/>
                </a:solidFill>
                <a:latin typeface="Calibri"/>
                <a:cs typeface="Calibri"/>
              </a:rPr>
              <a:t> </a:t>
            </a:r>
            <a:r>
              <a:rPr sz="2000" dirty="0">
                <a:solidFill>
                  <a:srgbClr val="292929"/>
                </a:solidFill>
                <a:latin typeface="Calibri"/>
                <a:cs typeface="Calibri"/>
              </a:rPr>
              <a:t>this</a:t>
            </a:r>
            <a:r>
              <a:rPr sz="2000" spc="10" dirty="0">
                <a:solidFill>
                  <a:srgbClr val="292929"/>
                </a:solidFill>
                <a:latin typeface="Calibri"/>
                <a:cs typeface="Calibri"/>
              </a:rPr>
              <a:t> </a:t>
            </a:r>
            <a:r>
              <a:rPr sz="2000" dirty="0">
                <a:solidFill>
                  <a:srgbClr val="292929"/>
                </a:solidFill>
                <a:latin typeface="Calibri"/>
                <a:cs typeface="Calibri"/>
              </a:rPr>
              <a:t>site</a:t>
            </a:r>
            <a:r>
              <a:rPr sz="2000" spc="-60" dirty="0">
                <a:solidFill>
                  <a:srgbClr val="292929"/>
                </a:solidFill>
                <a:latin typeface="Calibri"/>
                <a:cs typeface="Calibri"/>
              </a:rPr>
              <a:t> </a:t>
            </a:r>
            <a:r>
              <a:rPr sz="2000" dirty="0">
                <a:solidFill>
                  <a:srgbClr val="292929"/>
                </a:solidFill>
                <a:latin typeface="Calibri"/>
                <a:cs typeface="Calibri"/>
              </a:rPr>
              <a:t>might</a:t>
            </a:r>
            <a:r>
              <a:rPr sz="2000" spc="-25" dirty="0">
                <a:solidFill>
                  <a:srgbClr val="292929"/>
                </a:solidFill>
                <a:latin typeface="Calibri"/>
                <a:cs typeface="Calibri"/>
              </a:rPr>
              <a:t> </a:t>
            </a:r>
            <a:r>
              <a:rPr sz="2000" spc="-20" dirty="0">
                <a:solidFill>
                  <a:srgbClr val="292929"/>
                </a:solidFill>
                <a:latin typeface="Calibri"/>
                <a:cs typeface="Calibri"/>
              </a:rPr>
              <a:t>have </a:t>
            </a:r>
            <a:r>
              <a:rPr sz="2000" dirty="0">
                <a:solidFill>
                  <a:srgbClr val="292929"/>
                </a:solidFill>
                <a:latin typeface="Calibri"/>
                <a:cs typeface="Calibri"/>
              </a:rPr>
              <a:t>optimal</a:t>
            </a:r>
            <a:r>
              <a:rPr sz="2000" spc="-40" dirty="0">
                <a:solidFill>
                  <a:srgbClr val="292929"/>
                </a:solidFill>
                <a:latin typeface="Calibri"/>
                <a:cs typeface="Calibri"/>
              </a:rPr>
              <a:t> </a:t>
            </a:r>
            <a:r>
              <a:rPr sz="2000" dirty="0">
                <a:solidFill>
                  <a:srgbClr val="292929"/>
                </a:solidFill>
                <a:latin typeface="Calibri"/>
                <a:cs typeface="Calibri"/>
              </a:rPr>
              <a:t>conditions</a:t>
            </a:r>
            <a:r>
              <a:rPr sz="2000" spc="-65" dirty="0">
                <a:solidFill>
                  <a:srgbClr val="292929"/>
                </a:solidFill>
                <a:latin typeface="Calibri"/>
                <a:cs typeface="Calibri"/>
              </a:rPr>
              <a:t> </a:t>
            </a:r>
            <a:r>
              <a:rPr sz="2000" dirty="0">
                <a:solidFill>
                  <a:srgbClr val="292929"/>
                </a:solidFill>
                <a:latin typeface="Calibri"/>
                <a:cs typeface="Calibri"/>
              </a:rPr>
              <a:t>or</a:t>
            </a:r>
            <a:r>
              <a:rPr sz="2000" spc="20" dirty="0">
                <a:solidFill>
                  <a:srgbClr val="292929"/>
                </a:solidFill>
                <a:latin typeface="Calibri"/>
                <a:cs typeface="Calibri"/>
              </a:rPr>
              <a:t> </a:t>
            </a:r>
            <a:r>
              <a:rPr sz="2000" spc="-10" dirty="0">
                <a:solidFill>
                  <a:srgbClr val="292929"/>
                </a:solidFill>
                <a:latin typeface="Calibri"/>
                <a:cs typeface="Calibri"/>
              </a:rPr>
              <a:t>processes</a:t>
            </a:r>
            <a:r>
              <a:rPr sz="2000" spc="-65" dirty="0">
                <a:solidFill>
                  <a:srgbClr val="292929"/>
                </a:solidFill>
                <a:latin typeface="Calibri"/>
                <a:cs typeface="Calibri"/>
              </a:rPr>
              <a:t> </a:t>
            </a:r>
            <a:r>
              <a:rPr sz="2000" dirty="0">
                <a:solidFill>
                  <a:srgbClr val="292929"/>
                </a:solidFill>
                <a:latin typeface="Calibri"/>
                <a:cs typeface="Calibri"/>
              </a:rPr>
              <a:t>that</a:t>
            </a:r>
            <a:r>
              <a:rPr sz="2000" spc="-25" dirty="0">
                <a:solidFill>
                  <a:srgbClr val="292929"/>
                </a:solidFill>
                <a:latin typeface="Calibri"/>
                <a:cs typeface="Calibri"/>
              </a:rPr>
              <a:t> </a:t>
            </a:r>
            <a:r>
              <a:rPr sz="2000" spc="-10" dirty="0">
                <a:solidFill>
                  <a:srgbClr val="292929"/>
                </a:solidFill>
                <a:latin typeface="Calibri"/>
                <a:cs typeface="Calibri"/>
              </a:rPr>
              <a:t>contribute</a:t>
            </a:r>
            <a:r>
              <a:rPr sz="2000" spc="-60" dirty="0">
                <a:solidFill>
                  <a:srgbClr val="292929"/>
                </a:solidFill>
                <a:latin typeface="Calibri"/>
                <a:cs typeface="Calibri"/>
              </a:rPr>
              <a:t> </a:t>
            </a:r>
            <a:r>
              <a:rPr sz="2000" dirty="0">
                <a:solidFill>
                  <a:srgbClr val="292929"/>
                </a:solidFill>
                <a:latin typeface="Calibri"/>
                <a:cs typeface="Calibri"/>
              </a:rPr>
              <a:t>to</a:t>
            </a:r>
            <a:r>
              <a:rPr sz="2000" spc="-40" dirty="0">
                <a:solidFill>
                  <a:srgbClr val="292929"/>
                </a:solidFill>
                <a:latin typeface="Calibri"/>
                <a:cs typeface="Calibri"/>
              </a:rPr>
              <a:t> </a:t>
            </a:r>
            <a:r>
              <a:rPr sz="2000" dirty="0">
                <a:solidFill>
                  <a:srgbClr val="292929"/>
                </a:solidFill>
                <a:latin typeface="Calibri"/>
                <a:cs typeface="Calibri"/>
              </a:rPr>
              <a:t>a</a:t>
            </a:r>
            <a:r>
              <a:rPr sz="2000" spc="-20" dirty="0">
                <a:solidFill>
                  <a:srgbClr val="292929"/>
                </a:solidFill>
                <a:latin typeface="Calibri"/>
                <a:cs typeface="Calibri"/>
              </a:rPr>
              <a:t> </a:t>
            </a:r>
            <a:r>
              <a:rPr sz="2000" dirty="0">
                <a:solidFill>
                  <a:srgbClr val="292929"/>
                </a:solidFill>
                <a:latin typeface="Calibri"/>
                <a:cs typeface="Calibri"/>
              </a:rPr>
              <a:t>higher</a:t>
            </a:r>
            <a:r>
              <a:rPr sz="2000" spc="-55" dirty="0">
                <a:solidFill>
                  <a:srgbClr val="292929"/>
                </a:solidFill>
                <a:latin typeface="Calibri"/>
                <a:cs typeface="Calibri"/>
              </a:rPr>
              <a:t> </a:t>
            </a:r>
            <a:r>
              <a:rPr sz="2000" dirty="0">
                <a:solidFill>
                  <a:srgbClr val="292929"/>
                </a:solidFill>
                <a:latin typeface="Calibri"/>
                <a:cs typeface="Calibri"/>
              </a:rPr>
              <a:t>success</a:t>
            </a:r>
            <a:r>
              <a:rPr sz="2000" spc="-65" dirty="0">
                <a:solidFill>
                  <a:srgbClr val="292929"/>
                </a:solidFill>
                <a:latin typeface="Calibri"/>
                <a:cs typeface="Calibri"/>
              </a:rPr>
              <a:t> </a:t>
            </a:r>
            <a:r>
              <a:rPr sz="2000" spc="-10" dirty="0">
                <a:solidFill>
                  <a:srgbClr val="292929"/>
                </a:solidFill>
                <a:latin typeface="Calibri"/>
                <a:cs typeface="Calibri"/>
              </a:rPr>
              <a:t>rate.</a:t>
            </a:r>
            <a:endParaRPr sz="2000">
              <a:latin typeface="Calibri"/>
              <a:cs typeface="Calibri"/>
            </a:endParaRPr>
          </a:p>
          <a:p>
            <a:pPr>
              <a:lnSpc>
                <a:spcPct val="100000"/>
              </a:lnSpc>
              <a:spcBef>
                <a:spcPts val="1789"/>
              </a:spcBef>
            </a:pPr>
            <a:endParaRPr sz="2000">
              <a:latin typeface="Calibri"/>
              <a:cs typeface="Calibri"/>
            </a:endParaRPr>
          </a:p>
          <a:p>
            <a:pPr marL="12700" marR="44450">
              <a:lnSpc>
                <a:spcPct val="89700"/>
              </a:lnSpc>
            </a:pPr>
            <a:r>
              <a:rPr sz="2000" b="1" dirty="0">
                <a:solidFill>
                  <a:srgbClr val="292929"/>
                </a:solidFill>
                <a:latin typeface="Calibri"/>
                <a:cs typeface="Calibri"/>
              </a:rPr>
              <a:t>Point</a:t>
            </a:r>
            <a:r>
              <a:rPr sz="2000" b="1" spc="-60" dirty="0">
                <a:solidFill>
                  <a:srgbClr val="292929"/>
                </a:solidFill>
                <a:latin typeface="Calibri"/>
                <a:cs typeface="Calibri"/>
              </a:rPr>
              <a:t> </a:t>
            </a:r>
            <a:r>
              <a:rPr sz="2000" b="1" dirty="0">
                <a:solidFill>
                  <a:srgbClr val="292929"/>
                </a:solidFill>
                <a:latin typeface="Calibri"/>
                <a:cs typeface="Calibri"/>
              </a:rPr>
              <a:t>2:</a:t>
            </a:r>
            <a:r>
              <a:rPr sz="2000" b="1" spc="-25" dirty="0">
                <a:solidFill>
                  <a:srgbClr val="292929"/>
                </a:solidFill>
                <a:latin typeface="Calibri"/>
                <a:cs typeface="Calibri"/>
              </a:rPr>
              <a:t> </a:t>
            </a:r>
            <a:r>
              <a:rPr sz="2000" dirty="0">
                <a:solidFill>
                  <a:srgbClr val="292929"/>
                </a:solidFill>
                <a:latin typeface="Calibri"/>
                <a:cs typeface="Calibri"/>
              </a:rPr>
              <a:t>The</a:t>
            </a:r>
            <a:r>
              <a:rPr sz="2000" spc="-60" dirty="0">
                <a:solidFill>
                  <a:srgbClr val="292929"/>
                </a:solidFill>
                <a:latin typeface="Calibri"/>
                <a:cs typeface="Calibri"/>
              </a:rPr>
              <a:t> </a:t>
            </a:r>
            <a:r>
              <a:rPr sz="2000" dirty="0">
                <a:solidFill>
                  <a:srgbClr val="292929"/>
                </a:solidFill>
                <a:latin typeface="Calibri"/>
                <a:cs typeface="Calibri"/>
              </a:rPr>
              <a:t>scatter plot</a:t>
            </a:r>
            <a:r>
              <a:rPr sz="2000" spc="-40" dirty="0">
                <a:solidFill>
                  <a:srgbClr val="292929"/>
                </a:solidFill>
                <a:latin typeface="Calibri"/>
                <a:cs typeface="Calibri"/>
              </a:rPr>
              <a:t> </a:t>
            </a:r>
            <a:r>
              <a:rPr sz="2000" spc="-10" dirty="0">
                <a:solidFill>
                  <a:srgbClr val="292929"/>
                </a:solidFill>
                <a:latin typeface="Calibri"/>
                <a:cs typeface="Calibri"/>
              </a:rPr>
              <a:t>analysis</a:t>
            </a:r>
            <a:r>
              <a:rPr sz="2000" spc="-70" dirty="0">
                <a:solidFill>
                  <a:srgbClr val="292929"/>
                </a:solidFill>
                <a:latin typeface="Calibri"/>
                <a:cs typeface="Calibri"/>
              </a:rPr>
              <a:t> </a:t>
            </a:r>
            <a:r>
              <a:rPr sz="2000" dirty="0">
                <a:solidFill>
                  <a:srgbClr val="292929"/>
                </a:solidFill>
                <a:latin typeface="Calibri"/>
                <a:cs typeface="Calibri"/>
              </a:rPr>
              <a:t>showed</a:t>
            </a:r>
            <a:r>
              <a:rPr sz="2000" spc="-45" dirty="0">
                <a:solidFill>
                  <a:srgbClr val="292929"/>
                </a:solidFill>
                <a:latin typeface="Calibri"/>
                <a:cs typeface="Calibri"/>
              </a:rPr>
              <a:t> </a:t>
            </a:r>
            <a:r>
              <a:rPr sz="2000" dirty="0">
                <a:solidFill>
                  <a:srgbClr val="292929"/>
                </a:solidFill>
                <a:latin typeface="Calibri"/>
                <a:cs typeface="Calibri"/>
              </a:rPr>
              <a:t>that</a:t>
            </a:r>
            <a:r>
              <a:rPr sz="2000" spc="-35" dirty="0">
                <a:solidFill>
                  <a:srgbClr val="292929"/>
                </a:solidFill>
                <a:latin typeface="Calibri"/>
                <a:cs typeface="Calibri"/>
              </a:rPr>
              <a:t> </a:t>
            </a:r>
            <a:r>
              <a:rPr sz="2000" dirty="0">
                <a:solidFill>
                  <a:srgbClr val="292929"/>
                </a:solidFill>
                <a:latin typeface="Calibri"/>
                <a:cs typeface="Calibri"/>
              </a:rPr>
              <a:t>the</a:t>
            </a:r>
            <a:r>
              <a:rPr sz="2000" spc="-65" dirty="0">
                <a:solidFill>
                  <a:srgbClr val="292929"/>
                </a:solidFill>
                <a:latin typeface="Calibri"/>
                <a:cs typeface="Calibri"/>
              </a:rPr>
              <a:t> </a:t>
            </a:r>
            <a:r>
              <a:rPr sz="2000" dirty="0">
                <a:solidFill>
                  <a:srgbClr val="292929"/>
                </a:solidFill>
                <a:latin typeface="Calibri"/>
                <a:cs typeface="Calibri"/>
              </a:rPr>
              <a:t>"FT"</a:t>
            </a:r>
            <a:r>
              <a:rPr sz="2000" spc="-25" dirty="0">
                <a:solidFill>
                  <a:srgbClr val="292929"/>
                </a:solidFill>
                <a:latin typeface="Calibri"/>
                <a:cs typeface="Calibri"/>
              </a:rPr>
              <a:t> </a:t>
            </a:r>
            <a:r>
              <a:rPr sz="2000" spc="-10" dirty="0">
                <a:solidFill>
                  <a:srgbClr val="292929"/>
                </a:solidFill>
                <a:latin typeface="Calibri"/>
                <a:cs typeface="Calibri"/>
              </a:rPr>
              <a:t>booster</a:t>
            </a:r>
            <a:r>
              <a:rPr sz="2000" spc="-60" dirty="0">
                <a:solidFill>
                  <a:srgbClr val="292929"/>
                </a:solidFill>
                <a:latin typeface="Calibri"/>
                <a:cs typeface="Calibri"/>
              </a:rPr>
              <a:t> </a:t>
            </a:r>
            <a:r>
              <a:rPr sz="2000" dirty="0">
                <a:solidFill>
                  <a:srgbClr val="292929"/>
                </a:solidFill>
                <a:latin typeface="Calibri"/>
                <a:cs typeface="Calibri"/>
              </a:rPr>
              <a:t>version</a:t>
            </a:r>
            <a:r>
              <a:rPr sz="2000" spc="-45" dirty="0">
                <a:solidFill>
                  <a:srgbClr val="292929"/>
                </a:solidFill>
                <a:latin typeface="Calibri"/>
                <a:cs typeface="Calibri"/>
              </a:rPr>
              <a:t> </a:t>
            </a:r>
            <a:r>
              <a:rPr sz="2000" dirty="0">
                <a:solidFill>
                  <a:srgbClr val="292929"/>
                </a:solidFill>
                <a:latin typeface="Calibri"/>
                <a:cs typeface="Calibri"/>
              </a:rPr>
              <a:t>has</a:t>
            </a:r>
            <a:r>
              <a:rPr sz="2000" spc="-70" dirty="0">
                <a:solidFill>
                  <a:srgbClr val="292929"/>
                </a:solidFill>
                <a:latin typeface="Calibri"/>
                <a:cs typeface="Calibri"/>
              </a:rPr>
              <a:t> </a:t>
            </a:r>
            <a:r>
              <a:rPr sz="2000" dirty="0">
                <a:solidFill>
                  <a:srgbClr val="292929"/>
                </a:solidFill>
                <a:latin typeface="Calibri"/>
                <a:cs typeface="Calibri"/>
              </a:rPr>
              <a:t>a</a:t>
            </a:r>
            <a:r>
              <a:rPr sz="2000" spc="-30" dirty="0">
                <a:solidFill>
                  <a:srgbClr val="292929"/>
                </a:solidFill>
                <a:latin typeface="Calibri"/>
                <a:cs typeface="Calibri"/>
              </a:rPr>
              <a:t> </a:t>
            </a:r>
            <a:r>
              <a:rPr sz="2000" dirty="0">
                <a:solidFill>
                  <a:srgbClr val="292929"/>
                </a:solidFill>
                <a:latin typeface="Calibri"/>
                <a:cs typeface="Calibri"/>
              </a:rPr>
              <a:t>high</a:t>
            </a:r>
            <a:r>
              <a:rPr sz="2000" spc="-45" dirty="0">
                <a:solidFill>
                  <a:srgbClr val="292929"/>
                </a:solidFill>
                <a:latin typeface="Calibri"/>
                <a:cs typeface="Calibri"/>
              </a:rPr>
              <a:t> </a:t>
            </a:r>
            <a:r>
              <a:rPr sz="2000" dirty="0">
                <a:solidFill>
                  <a:srgbClr val="292929"/>
                </a:solidFill>
                <a:latin typeface="Calibri"/>
                <a:cs typeface="Calibri"/>
              </a:rPr>
              <a:t>success</a:t>
            </a:r>
            <a:r>
              <a:rPr sz="2000" spc="-70" dirty="0">
                <a:solidFill>
                  <a:srgbClr val="292929"/>
                </a:solidFill>
                <a:latin typeface="Calibri"/>
                <a:cs typeface="Calibri"/>
              </a:rPr>
              <a:t> </a:t>
            </a:r>
            <a:r>
              <a:rPr sz="2000" spc="-20" dirty="0">
                <a:solidFill>
                  <a:srgbClr val="292929"/>
                </a:solidFill>
                <a:latin typeface="Calibri"/>
                <a:cs typeface="Calibri"/>
              </a:rPr>
              <a:t>rate</a:t>
            </a:r>
            <a:r>
              <a:rPr sz="2000" spc="500" dirty="0">
                <a:solidFill>
                  <a:srgbClr val="292929"/>
                </a:solidFill>
                <a:latin typeface="Calibri"/>
                <a:cs typeface="Calibri"/>
              </a:rPr>
              <a:t> </a:t>
            </a:r>
            <a:r>
              <a:rPr sz="2000" dirty="0">
                <a:solidFill>
                  <a:srgbClr val="292929"/>
                </a:solidFill>
                <a:latin typeface="Calibri"/>
                <a:cs typeface="Calibri"/>
              </a:rPr>
              <a:t>across</a:t>
            </a:r>
            <a:r>
              <a:rPr sz="2000" spc="-65" dirty="0">
                <a:solidFill>
                  <a:srgbClr val="292929"/>
                </a:solidFill>
                <a:latin typeface="Calibri"/>
                <a:cs typeface="Calibri"/>
              </a:rPr>
              <a:t> </a:t>
            </a:r>
            <a:r>
              <a:rPr sz="2000" dirty="0">
                <a:solidFill>
                  <a:srgbClr val="292929"/>
                </a:solidFill>
                <a:latin typeface="Calibri"/>
                <a:cs typeface="Calibri"/>
              </a:rPr>
              <a:t>various</a:t>
            </a:r>
            <a:r>
              <a:rPr sz="2000" spc="15" dirty="0">
                <a:solidFill>
                  <a:srgbClr val="292929"/>
                </a:solidFill>
                <a:latin typeface="Calibri"/>
                <a:cs typeface="Calibri"/>
              </a:rPr>
              <a:t> </a:t>
            </a:r>
            <a:r>
              <a:rPr sz="2000" spc="-10" dirty="0">
                <a:solidFill>
                  <a:srgbClr val="292929"/>
                </a:solidFill>
                <a:latin typeface="Calibri"/>
                <a:cs typeface="Calibri"/>
              </a:rPr>
              <a:t>payload</a:t>
            </a:r>
            <a:r>
              <a:rPr sz="2000" spc="-35" dirty="0">
                <a:solidFill>
                  <a:srgbClr val="292929"/>
                </a:solidFill>
                <a:latin typeface="Calibri"/>
                <a:cs typeface="Calibri"/>
              </a:rPr>
              <a:t> </a:t>
            </a:r>
            <a:r>
              <a:rPr sz="2000" dirty="0">
                <a:solidFill>
                  <a:srgbClr val="292929"/>
                </a:solidFill>
                <a:latin typeface="Calibri"/>
                <a:cs typeface="Calibri"/>
              </a:rPr>
              <a:t>masses, </a:t>
            </a:r>
            <a:r>
              <a:rPr sz="2000" spc="-20" dirty="0">
                <a:solidFill>
                  <a:srgbClr val="292929"/>
                </a:solidFill>
                <a:latin typeface="Calibri"/>
                <a:cs typeface="Calibri"/>
              </a:rPr>
              <a:t>demonstrating</a:t>
            </a:r>
            <a:r>
              <a:rPr sz="2000" spc="-70" dirty="0">
                <a:solidFill>
                  <a:srgbClr val="292929"/>
                </a:solidFill>
                <a:latin typeface="Calibri"/>
                <a:cs typeface="Calibri"/>
              </a:rPr>
              <a:t> </a:t>
            </a:r>
            <a:r>
              <a:rPr sz="2000" dirty="0">
                <a:solidFill>
                  <a:srgbClr val="292929"/>
                </a:solidFill>
                <a:latin typeface="Calibri"/>
                <a:cs typeface="Calibri"/>
              </a:rPr>
              <a:t>its</a:t>
            </a:r>
            <a:r>
              <a:rPr sz="2000" spc="-60" dirty="0">
                <a:solidFill>
                  <a:srgbClr val="292929"/>
                </a:solidFill>
                <a:latin typeface="Calibri"/>
                <a:cs typeface="Calibri"/>
              </a:rPr>
              <a:t> </a:t>
            </a:r>
            <a:r>
              <a:rPr sz="2000" dirty="0">
                <a:solidFill>
                  <a:srgbClr val="292929"/>
                </a:solidFill>
                <a:latin typeface="Calibri"/>
                <a:cs typeface="Calibri"/>
              </a:rPr>
              <a:t>reliability</a:t>
            </a:r>
            <a:r>
              <a:rPr sz="2000" spc="-35" dirty="0">
                <a:solidFill>
                  <a:srgbClr val="292929"/>
                </a:solidFill>
                <a:latin typeface="Calibri"/>
                <a:cs typeface="Calibri"/>
              </a:rPr>
              <a:t> </a:t>
            </a:r>
            <a:r>
              <a:rPr sz="2000" dirty="0">
                <a:solidFill>
                  <a:srgbClr val="292929"/>
                </a:solidFill>
                <a:latin typeface="Calibri"/>
                <a:cs typeface="Calibri"/>
              </a:rPr>
              <a:t>and</a:t>
            </a:r>
            <a:r>
              <a:rPr sz="2000" spc="-35" dirty="0">
                <a:solidFill>
                  <a:srgbClr val="292929"/>
                </a:solidFill>
                <a:latin typeface="Calibri"/>
                <a:cs typeface="Calibri"/>
              </a:rPr>
              <a:t> </a:t>
            </a:r>
            <a:r>
              <a:rPr sz="2000" spc="-10" dirty="0">
                <a:solidFill>
                  <a:srgbClr val="292929"/>
                </a:solidFill>
                <a:latin typeface="Calibri"/>
                <a:cs typeface="Calibri"/>
              </a:rPr>
              <a:t>robustness</a:t>
            </a:r>
            <a:r>
              <a:rPr sz="2000" spc="-60" dirty="0">
                <a:solidFill>
                  <a:srgbClr val="292929"/>
                </a:solidFill>
                <a:latin typeface="Calibri"/>
                <a:cs typeface="Calibri"/>
              </a:rPr>
              <a:t> </a:t>
            </a:r>
            <a:r>
              <a:rPr sz="2000" dirty="0">
                <a:solidFill>
                  <a:srgbClr val="292929"/>
                </a:solidFill>
                <a:latin typeface="Calibri"/>
                <a:cs typeface="Calibri"/>
              </a:rPr>
              <a:t>compared</a:t>
            </a:r>
            <a:r>
              <a:rPr sz="2000" spc="-30" dirty="0">
                <a:solidFill>
                  <a:srgbClr val="292929"/>
                </a:solidFill>
                <a:latin typeface="Calibri"/>
                <a:cs typeface="Calibri"/>
              </a:rPr>
              <a:t> </a:t>
            </a:r>
            <a:r>
              <a:rPr sz="2000" dirty="0">
                <a:solidFill>
                  <a:srgbClr val="292929"/>
                </a:solidFill>
                <a:latin typeface="Calibri"/>
                <a:cs typeface="Calibri"/>
              </a:rPr>
              <a:t>to</a:t>
            </a:r>
            <a:r>
              <a:rPr sz="2000" spc="-40" dirty="0">
                <a:solidFill>
                  <a:srgbClr val="292929"/>
                </a:solidFill>
                <a:latin typeface="Calibri"/>
                <a:cs typeface="Calibri"/>
              </a:rPr>
              <a:t> </a:t>
            </a:r>
            <a:r>
              <a:rPr sz="2000" spc="-10" dirty="0">
                <a:solidFill>
                  <a:srgbClr val="292929"/>
                </a:solidFill>
                <a:latin typeface="Calibri"/>
                <a:cs typeface="Calibri"/>
              </a:rPr>
              <a:t>other </a:t>
            </a:r>
            <a:r>
              <a:rPr sz="2000" dirty="0">
                <a:solidFill>
                  <a:srgbClr val="292929"/>
                </a:solidFill>
                <a:latin typeface="Calibri"/>
                <a:cs typeface="Calibri"/>
              </a:rPr>
              <a:t>booster</a:t>
            </a:r>
            <a:r>
              <a:rPr sz="2000" spc="-15" dirty="0">
                <a:solidFill>
                  <a:srgbClr val="292929"/>
                </a:solidFill>
                <a:latin typeface="Calibri"/>
                <a:cs typeface="Calibri"/>
              </a:rPr>
              <a:t> </a:t>
            </a:r>
            <a:r>
              <a:rPr sz="2000" spc="-10" dirty="0">
                <a:solidFill>
                  <a:srgbClr val="292929"/>
                </a:solidFill>
                <a:latin typeface="Calibri"/>
                <a:cs typeface="Calibri"/>
              </a:rPr>
              <a:t>versions.</a:t>
            </a:r>
            <a:r>
              <a:rPr sz="2000" spc="-100" dirty="0">
                <a:solidFill>
                  <a:srgbClr val="292929"/>
                </a:solidFill>
                <a:latin typeface="Calibri"/>
                <a:cs typeface="Calibri"/>
              </a:rPr>
              <a:t> </a:t>
            </a:r>
            <a:r>
              <a:rPr sz="2000" dirty="0">
                <a:solidFill>
                  <a:srgbClr val="292929"/>
                </a:solidFill>
                <a:latin typeface="Calibri"/>
                <a:cs typeface="Calibri"/>
              </a:rPr>
              <a:t>This</a:t>
            </a:r>
            <a:r>
              <a:rPr sz="2000" spc="-85" dirty="0">
                <a:solidFill>
                  <a:srgbClr val="292929"/>
                </a:solidFill>
                <a:latin typeface="Calibri"/>
                <a:cs typeface="Calibri"/>
              </a:rPr>
              <a:t> </a:t>
            </a:r>
            <a:r>
              <a:rPr sz="2000" dirty="0">
                <a:solidFill>
                  <a:srgbClr val="292929"/>
                </a:solidFill>
                <a:latin typeface="Calibri"/>
                <a:cs typeface="Calibri"/>
              </a:rPr>
              <a:t>suggests</a:t>
            </a:r>
            <a:r>
              <a:rPr sz="2000" spc="-25" dirty="0">
                <a:solidFill>
                  <a:srgbClr val="292929"/>
                </a:solidFill>
                <a:latin typeface="Calibri"/>
                <a:cs typeface="Calibri"/>
              </a:rPr>
              <a:t> </a:t>
            </a:r>
            <a:r>
              <a:rPr sz="2000" dirty="0">
                <a:solidFill>
                  <a:srgbClr val="292929"/>
                </a:solidFill>
                <a:latin typeface="Calibri"/>
                <a:cs typeface="Calibri"/>
              </a:rPr>
              <a:t>that</a:t>
            </a:r>
            <a:r>
              <a:rPr sz="2000" spc="-55" dirty="0">
                <a:solidFill>
                  <a:srgbClr val="292929"/>
                </a:solidFill>
                <a:latin typeface="Calibri"/>
                <a:cs typeface="Calibri"/>
              </a:rPr>
              <a:t> </a:t>
            </a:r>
            <a:r>
              <a:rPr sz="2000" dirty="0">
                <a:solidFill>
                  <a:srgbClr val="292929"/>
                </a:solidFill>
                <a:latin typeface="Calibri"/>
                <a:cs typeface="Calibri"/>
              </a:rPr>
              <a:t>future</a:t>
            </a:r>
            <a:r>
              <a:rPr sz="2000" spc="-15" dirty="0">
                <a:solidFill>
                  <a:srgbClr val="292929"/>
                </a:solidFill>
                <a:latin typeface="Calibri"/>
                <a:cs typeface="Calibri"/>
              </a:rPr>
              <a:t> </a:t>
            </a:r>
            <a:r>
              <a:rPr sz="2000" dirty="0">
                <a:solidFill>
                  <a:srgbClr val="292929"/>
                </a:solidFill>
                <a:latin typeface="Calibri"/>
                <a:cs typeface="Calibri"/>
              </a:rPr>
              <a:t>missions</a:t>
            </a:r>
            <a:r>
              <a:rPr sz="2000" spc="-20" dirty="0">
                <a:solidFill>
                  <a:srgbClr val="292929"/>
                </a:solidFill>
                <a:latin typeface="Calibri"/>
                <a:cs typeface="Calibri"/>
              </a:rPr>
              <a:t> </a:t>
            </a:r>
            <a:r>
              <a:rPr sz="2000" dirty="0">
                <a:solidFill>
                  <a:srgbClr val="292929"/>
                </a:solidFill>
                <a:latin typeface="Calibri"/>
                <a:cs typeface="Calibri"/>
              </a:rPr>
              <a:t>might</a:t>
            </a:r>
            <a:r>
              <a:rPr sz="2000" spc="-50" dirty="0">
                <a:solidFill>
                  <a:srgbClr val="292929"/>
                </a:solidFill>
                <a:latin typeface="Calibri"/>
                <a:cs typeface="Calibri"/>
              </a:rPr>
              <a:t> </a:t>
            </a:r>
            <a:r>
              <a:rPr sz="2000" dirty="0">
                <a:solidFill>
                  <a:srgbClr val="292929"/>
                </a:solidFill>
                <a:latin typeface="Calibri"/>
                <a:cs typeface="Calibri"/>
              </a:rPr>
              <a:t>benefit</a:t>
            </a:r>
            <a:r>
              <a:rPr sz="2000" spc="-55" dirty="0">
                <a:solidFill>
                  <a:srgbClr val="292929"/>
                </a:solidFill>
                <a:latin typeface="Calibri"/>
                <a:cs typeface="Calibri"/>
              </a:rPr>
              <a:t> </a:t>
            </a:r>
            <a:r>
              <a:rPr sz="2000" dirty="0">
                <a:solidFill>
                  <a:srgbClr val="292929"/>
                </a:solidFill>
                <a:latin typeface="Calibri"/>
                <a:cs typeface="Calibri"/>
              </a:rPr>
              <a:t>from</a:t>
            </a:r>
            <a:r>
              <a:rPr sz="2000" spc="-25" dirty="0">
                <a:solidFill>
                  <a:srgbClr val="292929"/>
                </a:solidFill>
                <a:latin typeface="Calibri"/>
                <a:cs typeface="Calibri"/>
              </a:rPr>
              <a:t> </a:t>
            </a:r>
            <a:r>
              <a:rPr sz="2000" dirty="0">
                <a:solidFill>
                  <a:srgbClr val="292929"/>
                </a:solidFill>
                <a:latin typeface="Calibri"/>
                <a:cs typeface="Calibri"/>
              </a:rPr>
              <a:t>utilizing</a:t>
            </a:r>
            <a:r>
              <a:rPr sz="2000" spc="-95" dirty="0">
                <a:solidFill>
                  <a:srgbClr val="292929"/>
                </a:solidFill>
                <a:latin typeface="Calibri"/>
                <a:cs typeface="Calibri"/>
              </a:rPr>
              <a:t> </a:t>
            </a:r>
            <a:r>
              <a:rPr sz="2000" dirty="0">
                <a:solidFill>
                  <a:srgbClr val="292929"/>
                </a:solidFill>
                <a:latin typeface="Calibri"/>
                <a:cs typeface="Calibri"/>
              </a:rPr>
              <a:t>this</a:t>
            </a:r>
            <a:r>
              <a:rPr sz="2000" spc="-85" dirty="0">
                <a:solidFill>
                  <a:srgbClr val="292929"/>
                </a:solidFill>
                <a:latin typeface="Calibri"/>
                <a:cs typeface="Calibri"/>
              </a:rPr>
              <a:t> </a:t>
            </a:r>
            <a:r>
              <a:rPr sz="2000" dirty="0">
                <a:solidFill>
                  <a:srgbClr val="292929"/>
                </a:solidFill>
                <a:latin typeface="Calibri"/>
                <a:cs typeface="Calibri"/>
              </a:rPr>
              <a:t>booster</a:t>
            </a:r>
            <a:r>
              <a:rPr sz="2000" spc="-10" dirty="0">
                <a:solidFill>
                  <a:srgbClr val="292929"/>
                </a:solidFill>
                <a:latin typeface="Calibri"/>
                <a:cs typeface="Calibri"/>
              </a:rPr>
              <a:t> version </a:t>
            </a:r>
            <a:r>
              <a:rPr sz="2000" dirty="0">
                <a:solidFill>
                  <a:srgbClr val="292929"/>
                </a:solidFill>
                <a:latin typeface="Calibri"/>
                <a:cs typeface="Calibri"/>
              </a:rPr>
              <a:t>for</a:t>
            </a:r>
            <a:r>
              <a:rPr sz="2000" spc="-75" dirty="0">
                <a:solidFill>
                  <a:srgbClr val="292929"/>
                </a:solidFill>
                <a:latin typeface="Calibri"/>
                <a:cs typeface="Calibri"/>
              </a:rPr>
              <a:t> </a:t>
            </a:r>
            <a:r>
              <a:rPr sz="2000" spc="-10" dirty="0">
                <a:solidFill>
                  <a:srgbClr val="292929"/>
                </a:solidFill>
                <a:latin typeface="Calibri"/>
                <a:cs typeface="Calibri"/>
              </a:rPr>
              <a:t>improved</a:t>
            </a:r>
            <a:r>
              <a:rPr sz="2000" spc="-50" dirty="0">
                <a:solidFill>
                  <a:srgbClr val="292929"/>
                </a:solidFill>
                <a:latin typeface="Calibri"/>
                <a:cs typeface="Calibri"/>
              </a:rPr>
              <a:t> </a:t>
            </a:r>
            <a:r>
              <a:rPr sz="2000" dirty="0">
                <a:solidFill>
                  <a:srgbClr val="292929"/>
                </a:solidFill>
                <a:latin typeface="Calibri"/>
                <a:cs typeface="Calibri"/>
              </a:rPr>
              <a:t>success</a:t>
            </a:r>
            <a:r>
              <a:rPr sz="2000" spc="-15" dirty="0">
                <a:solidFill>
                  <a:srgbClr val="292929"/>
                </a:solidFill>
                <a:latin typeface="Calibri"/>
                <a:cs typeface="Calibri"/>
              </a:rPr>
              <a:t> </a:t>
            </a:r>
            <a:r>
              <a:rPr sz="2000" spc="-10" dirty="0">
                <a:solidFill>
                  <a:srgbClr val="292929"/>
                </a:solidFill>
                <a:latin typeface="Calibri"/>
                <a:cs typeface="Calibri"/>
              </a:rPr>
              <a:t>rates.</a:t>
            </a:r>
            <a:endParaRPr sz="2000">
              <a:latin typeface="Calibri"/>
              <a:cs typeface="Calibri"/>
            </a:endParaRPr>
          </a:p>
          <a:p>
            <a:pPr>
              <a:lnSpc>
                <a:spcPct val="100000"/>
              </a:lnSpc>
              <a:spcBef>
                <a:spcPts val="1685"/>
              </a:spcBef>
            </a:pPr>
            <a:endParaRPr sz="2000">
              <a:latin typeface="Calibri"/>
              <a:cs typeface="Calibri"/>
            </a:endParaRPr>
          </a:p>
          <a:p>
            <a:pPr marL="12700" marR="5080">
              <a:lnSpc>
                <a:spcPct val="90800"/>
              </a:lnSpc>
            </a:pPr>
            <a:r>
              <a:rPr sz="2000" b="1" dirty="0">
                <a:solidFill>
                  <a:srgbClr val="292929"/>
                </a:solidFill>
                <a:latin typeface="Calibri"/>
                <a:cs typeface="Calibri"/>
              </a:rPr>
              <a:t>Point</a:t>
            </a:r>
            <a:r>
              <a:rPr sz="2000" b="1" spc="-75" dirty="0">
                <a:solidFill>
                  <a:srgbClr val="292929"/>
                </a:solidFill>
                <a:latin typeface="Calibri"/>
                <a:cs typeface="Calibri"/>
              </a:rPr>
              <a:t> </a:t>
            </a:r>
            <a:r>
              <a:rPr sz="2000" b="1" dirty="0">
                <a:solidFill>
                  <a:srgbClr val="292929"/>
                </a:solidFill>
                <a:latin typeface="Calibri"/>
                <a:cs typeface="Calibri"/>
              </a:rPr>
              <a:t>3:</a:t>
            </a:r>
            <a:r>
              <a:rPr sz="2000" b="1" spc="-40" dirty="0">
                <a:solidFill>
                  <a:srgbClr val="292929"/>
                </a:solidFill>
                <a:latin typeface="Calibri"/>
                <a:cs typeface="Calibri"/>
              </a:rPr>
              <a:t> </a:t>
            </a:r>
            <a:r>
              <a:rPr sz="2000" dirty="0">
                <a:solidFill>
                  <a:srgbClr val="292929"/>
                </a:solidFill>
                <a:latin typeface="Calibri"/>
                <a:cs typeface="Calibri"/>
              </a:rPr>
              <a:t>No</a:t>
            </a:r>
            <a:r>
              <a:rPr sz="2000" spc="-60" dirty="0">
                <a:solidFill>
                  <a:srgbClr val="292929"/>
                </a:solidFill>
                <a:latin typeface="Calibri"/>
                <a:cs typeface="Calibri"/>
              </a:rPr>
              <a:t> </a:t>
            </a:r>
            <a:r>
              <a:rPr sz="2000" dirty="0">
                <a:solidFill>
                  <a:srgbClr val="292929"/>
                </a:solidFill>
                <a:latin typeface="Calibri"/>
                <a:cs typeface="Calibri"/>
              </a:rPr>
              <a:t>clear</a:t>
            </a:r>
            <a:r>
              <a:rPr sz="2000" spc="-80" dirty="0">
                <a:solidFill>
                  <a:srgbClr val="292929"/>
                </a:solidFill>
                <a:latin typeface="Calibri"/>
                <a:cs typeface="Calibri"/>
              </a:rPr>
              <a:t> </a:t>
            </a:r>
            <a:r>
              <a:rPr sz="2000" dirty="0">
                <a:solidFill>
                  <a:srgbClr val="292929"/>
                </a:solidFill>
                <a:latin typeface="Calibri"/>
                <a:cs typeface="Calibri"/>
              </a:rPr>
              <a:t>pattern</a:t>
            </a:r>
            <a:r>
              <a:rPr sz="2000" spc="-55" dirty="0">
                <a:solidFill>
                  <a:srgbClr val="292929"/>
                </a:solidFill>
                <a:latin typeface="Calibri"/>
                <a:cs typeface="Calibri"/>
              </a:rPr>
              <a:t> </a:t>
            </a:r>
            <a:r>
              <a:rPr sz="2000" dirty="0">
                <a:solidFill>
                  <a:srgbClr val="292929"/>
                </a:solidFill>
                <a:latin typeface="Calibri"/>
                <a:cs typeface="Calibri"/>
              </a:rPr>
              <a:t>was</a:t>
            </a:r>
            <a:r>
              <a:rPr sz="2000" spc="-25" dirty="0">
                <a:solidFill>
                  <a:srgbClr val="292929"/>
                </a:solidFill>
                <a:latin typeface="Calibri"/>
                <a:cs typeface="Calibri"/>
              </a:rPr>
              <a:t> </a:t>
            </a:r>
            <a:r>
              <a:rPr sz="2000" dirty="0">
                <a:solidFill>
                  <a:srgbClr val="292929"/>
                </a:solidFill>
                <a:latin typeface="Calibri"/>
                <a:cs typeface="Calibri"/>
              </a:rPr>
              <a:t>observed</a:t>
            </a:r>
            <a:r>
              <a:rPr sz="2000" spc="-55" dirty="0">
                <a:solidFill>
                  <a:srgbClr val="292929"/>
                </a:solidFill>
                <a:latin typeface="Calibri"/>
                <a:cs typeface="Calibri"/>
              </a:rPr>
              <a:t> </a:t>
            </a:r>
            <a:r>
              <a:rPr sz="2000" dirty="0">
                <a:solidFill>
                  <a:srgbClr val="292929"/>
                </a:solidFill>
                <a:latin typeface="Calibri"/>
                <a:cs typeface="Calibri"/>
              </a:rPr>
              <a:t>linking</a:t>
            </a:r>
            <a:r>
              <a:rPr sz="2000" spc="-100" dirty="0">
                <a:solidFill>
                  <a:srgbClr val="292929"/>
                </a:solidFill>
                <a:latin typeface="Calibri"/>
                <a:cs typeface="Calibri"/>
              </a:rPr>
              <a:t> </a:t>
            </a:r>
            <a:r>
              <a:rPr sz="2000" dirty="0">
                <a:solidFill>
                  <a:srgbClr val="292929"/>
                </a:solidFill>
                <a:latin typeface="Calibri"/>
                <a:cs typeface="Calibri"/>
              </a:rPr>
              <a:t>higher</a:t>
            </a:r>
            <a:r>
              <a:rPr sz="2000" spc="-15" dirty="0">
                <a:solidFill>
                  <a:srgbClr val="292929"/>
                </a:solidFill>
                <a:latin typeface="Calibri"/>
                <a:cs typeface="Calibri"/>
              </a:rPr>
              <a:t> </a:t>
            </a:r>
            <a:r>
              <a:rPr sz="2000" spc="-10" dirty="0">
                <a:solidFill>
                  <a:srgbClr val="292929"/>
                </a:solidFill>
                <a:latin typeface="Calibri"/>
                <a:cs typeface="Calibri"/>
              </a:rPr>
              <a:t>payload</a:t>
            </a:r>
            <a:r>
              <a:rPr sz="2000" spc="-55" dirty="0">
                <a:solidFill>
                  <a:srgbClr val="292929"/>
                </a:solidFill>
                <a:latin typeface="Calibri"/>
                <a:cs typeface="Calibri"/>
              </a:rPr>
              <a:t> </a:t>
            </a:r>
            <a:r>
              <a:rPr sz="2000" dirty="0">
                <a:solidFill>
                  <a:srgbClr val="292929"/>
                </a:solidFill>
                <a:latin typeface="Calibri"/>
                <a:cs typeface="Calibri"/>
              </a:rPr>
              <a:t>masses</a:t>
            </a:r>
            <a:r>
              <a:rPr sz="2000" spc="-25" dirty="0">
                <a:solidFill>
                  <a:srgbClr val="292929"/>
                </a:solidFill>
                <a:latin typeface="Calibri"/>
                <a:cs typeface="Calibri"/>
              </a:rPr>
              <a:t> </a:t>
            </a:r>
            <a:r>
              <a:rPr sz="2000" dirty="0">
                <a:solidFill>
                  <a:srgbClr val="292929"/>
                </a:solidFill>
                <a:latin typeface="Calibri"/>
                <a:cs typeface="Calibri"/>
              </a:rPr>
              <a:t>to</a:t>
            </a:r>
            <a:r>
              <a:rPr sz="2000" spc="-65" dirty="0">
                <a:solidFill>
                  <a:srgbClr val="292929"/>
                </a:solidFill>
                <a:latin typeface="Calibri"/>
                <a:cs typeface="Calibri"/>
              </a:rPr>
              <a:t> </a:t>
            </a:r>
            <a:r>
              <a:rPr sz="2000" dirty="0">
                <a:solidFill>
                  <a:srgbClr val="292929"/>
                </a:solidFill>
                <a:latin typeface="Calibri"/>
                <a:cs typeface="Calibri"/>
              </a:rPr>
              <a:t>lower</a:t>
            </a:r>
            <a:r>
              <a:rPr sz="2000" spc="-75" dirty="0">
                <a:solidFill>
                  <a:srgbClr val="292929"/>
                </a:solidFill>
                <a:latin typeface="Calibri"/>
                <a:cs typeface="Calibri"/>
              </a:rPr>
              <a:t> </a:t>
            </a:r>
            <a:r>
              <a:rPr sz="2000" dirty="0">
                <a:solidFill>
                  <a:srgbClr val="292929"/>
                </a:solidFill>
                <a:latin typeface="Calibri"/>
                <a:cs typeface="Calibri"/>
              </a:rPr>
              <a:t>success</a:t>
            </a:r>
            <a:r>
              <a:rPr sz="2000" spc="-25" dirty="0">
                <a:solidFill>
                  <a:srgbClr val="292929"/>
                </a:solidFill>
                <a:latin typeface="Calibri"/>
                <a:cs typeface="Calibri"/>
              </a:rPr>
              <a:t> </a:t>
            </a:r>
            <a:r>
              <a:rPr sz="2000" spc="-10" dirty="0">
                <a:solidFill>
                  <a:srgbClr val="292929"/>
                </a:solidFill>
                <a:latin typeface="Calibri"/>
                <a:cs typeface="Calibri"/>
              </a:rPr>
              <a:t>rates, </a:t>
            </a:r>
            <a:r>
              <a:rPr sz="2000" dirty="0">
                <a:solidFill>
                  <a:srgbClr val="292929"/>
                </a:solidFill>
                <a:latin typeface="Calibri"/>
                <a:cs typeface="Calibri"/>
              </a:rPr>
              <a:t>indicating</a:t>
            </a:r>
            <a:r>
              <a:rPr sz="2000" spc="-15" dirty="0">
                <a:solidFill>
                  <a:srgbClr val="292929"/>
                </a:solidFill>
                <a:latin typeface="Calibri"/>
                <a:cs typeface="Calibri"/>
              </a:rPr>
              <a:t> </a:t>
            </a:r>
            <a:r>
              <a:rPr sz="2000" dirty="0">
                <a:solidFill>
                  <a:srgbClr val="292929"/>
                </a:solidFill>
                <a:latin typeface="Calibri"/>
                <a:cs typeface="Calibri"/>
              </a:rPr>
              <a:t>that</a:t>
            </a:r>
            <a:r>
              <a:rPr sz="2000" spc="-25" dirty="0">
                <a:solidFill>
                  <a:srgbClr val="292929"/>
                </a:solidFill>
                <a:latin typeface="Calibri"/>
                <a:cs typeface="Calibri"/>
              </a:rPr>
              <a:t> </a:t>
            </a:r>
            <a:r>
              <a:rPr sz="2000" spc="-10" dirty="0">
                <a:solidFill>
                  <a:srgbClr val="292929"/>
                </a:solidFill>
                <a:latin typeface="Calibri"/>
                <a:cs typeface="Calibri"/>
              </a:rPr>
              <a:t>factors</a:t>
            </a:r>
            <a:r>
              <a:rPr sz="2000" spc="-70" dirty="0">
                <a:solidFill>
                  <a:srgbClr val="292929"/>
                </a:solidFill>
                <a:latin typeface="Calibri"/>
                <a:cs typeface="Calibri"/>
              </a:rPr>
              <a:t> </a:t>
            </a:r>
            <a:r>
              <a:rPr sz="2000" dirty="0">
                <a:solidFill>
                  <a:srgbClr val="292929"/>
                </a:solidFill>
                <a:latin typeface="Calibri"/>
                <a:cs typeface="Calibri"/>
              </a:rPr>
              <a:t>other</a:t>
            </a:r>
            <a:r>
              <a:rPr sz="2000" spc="-55" dirty="0">
                <a:solidFill>
                  <a:srgbClr val="292929"/>
                </a:solidFill>
                <a:latin typeface="Calibri"/>
                <a:cs typeface="Calibri"/>
              </a:rPr>
              <a:t> </a:t>
            </a:r>
            <a:r>
              <a:rPr sz="2000" dirty="0">
                <a:solidFill>
                  <a:srgbClr val="292929"/>
                </a:solidFill>
                <a:latin typeface="Calibri"/>
                <a:cs typeface="Calibri"/>
              </a:rPr>
              <a:t>than</a:t>
            </a:r>
            <a:r>
              <a:rPr sz="2000" spc="-40" dirty="0">
                <a:solidFill>
                  <a:srgbClr val="292929"/>
                </a:solidFill>
                <a:latin typeface="Calibri"/>
                <a:cs typeface="Calibri"/>
              </a:rPr>
              <a:t> </a:t>
            </a:r>
            <a:r>
              <a:rPr sz="2000" spc="-10" dirty="0">
                <a:solidFill>
                  <a:srgbClr val="292929"/>
                </a:solidFill>
                <a:latin typeface="Calibri"/>
                <a:cs typeface="Calibri"/>
              </a:rPr>
              <a:t>payload</a:t>
            </a:r>
            <a:r>
              <a:rPr sz="2000" spc="-40" dirty="0">
                <a:solidFill>
                  <a:srgbClr val="292929"/>
                </a:solidFill>
                <a:latin typeface="Calibri"/>
                <a:cs typeface="Calibri"/>
              </a:rPr>
              <a:t> </a:t>
            </a:r>
            <a:r>
              <a:rPr sz="2000" dirty="0">
                <a:solidFill>
                  <a:srgbClr val="292929"/>
                </a:solidFill>
                <a:latin typeface="Calibri"/>
                <a:cs typeface="Calibri"/>
              </a:rPr>
              <a:t>mass,</a:t>
            </a:r>
            <a:r>
              <a:rPr sz="2000" spc="-10" dirty="0">
                <a:solidFill>
                  <a:srgbClr val="292929"/>
                </a:solidFill>
                <a:latin typeface="Calibri"/>
                <a:cs typeface="Calibri"/>
              </a:rPr>
              <a:t> </a:t>
            </a:r>
            <a:r>
              <a:rPr sz="2000" dirty="0">
                <a:solidFill>
                  <a:srgbClr val="292929"/>
                </a:solidFill>
                <a:latin typeface="Calibri"/>
                <a:cs typeface="Calibri"/>
              </a:rPr>
              <a:t>such</a:t>
            </a:r>
            <a:r>
              <a:rPr sz="2000" spc="-40" dirty="0">
                <a:solidFill>
                  <a:srgbClr val="292929"/>
                </a:solidFill>
                <a:latin typeface="Calibri"/>
                <a:cs typeface="Calibri"/>
              </a:rPr>
              <a:t> </a:t>
            </a:r>
            <a:r>
              <a:rPr sz="2000" dirty="0">
                <a:solidFill>
                  <a:srgbClr val="292929"/>
                </a:solidFill>
                <a:latin typeface="Calibri"/>
                <a:cs typeface="Calibri"/>
              </a:rPr>
              <a:t>as</a:t>
            </a:r>
            <a:r>
              <a:rPr sz="2000" spc="-65" dirty="0">
                <a:solidFill>
                  <a:srgbClr val="292929"/>
                </a:solidFill>
                <a:latin typeface="Calibri"/>
                <a:cs typeface="Calibri"/>
              </a:rPr>
              <a:t> </a:t>
            </a:r>
            <a:r>
              <a:rPr sz="2000" dirty="0">
                <a:solidFill>
                  <a:srgbClr val="292929"/>
                </a:solidFill>
                <a:latin typeface="Calibri"/>
                <a:cs typeface="Calibri"/>
              </a:rPr>
              <a:t>launch</a:t>
            </a:r>
            <a:r>
              <a:rPr sz="2000" spc="-40" dirty="0">
                <a:solidFill>
                  <a:srgbClr val="292929"/>
                </a:solidFill>
                <a:latin typeface="Calibri"/>
                <a:cs typeface="Calibri"/>
              </a:rPr>
              <a:t> </a:t>
            </a:r>
            <a:r>
              <a:rPr sz="2000" dirty="0">
                <a:solidFill>
                  <a:srgbClr val="292929"/>
                </a:solidFill>
                <a:latin typeface="Calibri"/>
                <a:cs typeface="Calibri"/>
              </a:rPr>
              <a:t>site</a:t>
            </a:r>
            <a:r>
              <a:rPr sz="2000" spc="-65" dirty="0">
                <a:solidFill>
                  <a:srgbClr val="292929"/>
                </a:solidFill>
                <a:latin typeface="Calibri"/>
                <a:cs typeface="Calibri"/>
              </a:rPr>
              <a:t> </a:t>
            </a:r>
            <a:r>
              <a:rPr sz="2000" dirty="0">
                <a:solidFill>
                  <a:srgbClr val="292929"/>
                </a:solidFill>
                <a:latin typeface="Calibri"/>
                <a:cs typeface="Calibri"/>
              </a:rPr>
              <a:t>conditions</a:t>
            </a:r>
            <a:r>
              <a:rPr sz="2000" spc="-65" dirty="0">
                <a:solidFill>
                  <a:srgbClr val="292929"/>
                </a:solidFill>
                <a:latin typeface="Calibri"/>
                <a:cs typeface="Calibri"/>
              </a:rPr>
              <a:t> </a:t>
            </a:r>
            <a:r>
              <a:rPr sz="2000" dirty="0">
                <a:solidFill>
                  <a:srgbClr val="292929"/>
                </a:solidFill>
                <a:latin typeface="Calibri"/>
                <a:cs typeface="Calibri"/>
              </a:rPr>
              <a:t>and</a:t>
            </a:r>
            <a:r>
              <a:rPr sz="2000" spc="-40" dirty="0">
                <a:solidFill>
                  <a:srgbClr val="292929"/>
                </a:solidFill>
                <a:latin typeface="Calibri"/>
                <a:cs typeface="Calibri"/>
              </a:rPr>
              <a:t> </a:t>
            </a:r>
            <a:r>
              <a:rPr sz="2000" spc="-10" dirty="0">
                <a:solidFill>
                  <a:srgbClr val="292929"/>
                </a:solidFill>
                <a:latin typeface="Calibri"/>
                <a:cs typeface="Calibri"/>
              </a:rPr>
              <a:t>booster</a:t>
            </a:r>
            <a:r>
              <a:rPr sz="2000" spc="-55" dirty="0">
                <a:solidFill>
                  <a:srgbClr val="292929"/>
                </a:solidFill>
                <a:latin typeface="Calibri"/>
                <a:cs typeface="Calibri"/>
              </a:rPr>
              <a:t> </a:t>
            </a:r>
            <a:r>
              <a:rPr sz="2000" spc="-10" dirty="0">
                <a:solidFill>
                  <a:srgbClr val="292929"/>
                </a:solidFill>
                <a:latin typeface="Calibri"/>
                <a:cs typeface="Calibri"/>
              </a:rPr>
              <a:t>versions, </a:t>
            </a:r>
            <a:r>
              <a:rPr sz="2000" dirty="0">
                <a:solidFill>
                  <a:srgbClr val="292929"/>
                </a:solidFill>
                <a:latin typeface="Calibri"/>
                <a:cs typeface="Calibri"/>
              </a:rPr>
              <a:t>play</a:t>
            </a:r>
            <a:r>
              <a:rPr sz="2000" spc="-45" dirty="0">
                <a:solidFill>
                  <a:srgbClr val="292929"/>
                </a:solidFill>
                <a:latin typeface="Calibri"/>
                <a:cs typeface="Calibri"/>
              </a:rPr>
              <a:t> </a:t>
            </a:r>
            <a:r>
              <a:rPr sz="2000" dirty="0">
                <a:solidFill>
                  <a:srgbClr val="292929"/>
                </a:solidFill>
                <a:latin typeface="Calibri"/>
                <a:cs typeface="Calibri"/>
              </a:rPr>
              <a:t>a</a:t>
            </a:r>
            <a:r>
              <a:rPr sz="2000" spc="-90" dirty="0">
                <a:solidFill>
                  <a:srgbClr val="292929"/>
                </a:solidFill>
                <a:latin typeface="Calibri"/>
                <a:cs typeface="Calibri"/>
              </a:rPr>
              <a:t> </a:t>
            </a:r>
            <a:r>
              <a:rPr sz="2000" dirty="0">
                <a:solidFill>
                  <a:srgbClr val="292929"/>
                </a:solidFill>
                <a:latin typeface="Calibri"/>
                <a:cs typeface="Calibri"/>
              </a:rPr>
              <a:t>more</a:t>
            </a:r>
            <a:r>
              <a:rPr sz="2000" spc="-55" dirty="0">
                <a:solidFill>
                  <a:srgbClr val="292929"/>
                </a:solidFill>
                <a:latin typeface="Calibri"/>
                <a:cs typeface="Calibri"/>
              </a:rPr>
              <a:t> </a:t>
            </a:r>
            <a:r>
              <a:rPr sz="2000" spc="-10" dirty="0">
                <a:solidFill>
                  <a:srgbClr val="292929"/>
                </a:solidFill>
                <a:latin typeface="Calibri"/>
                <a:cs typeface="Calibri"/>
              </a:rPr>
              <a:t>significant</a:t>
            </a:r>
            <a:r>
              <a:rPr sz="2000" spc="-25" dirty="0">
                <a:solidFill>
                  <a:srgbClr val="292929"/>
                </a:solidFill>
                <a:latin typeface="Calibri"/>
                <a:cs typeface="Calibri"/>
              </a:rPr>
              <a:t> </a:t>
            </a:r>
            <a:r>
              <a:rPr sz="2000" dirty="0">
                <a:solidFill>
                  <a:srgbClr val="292929"/>
                </a:solidFill>
                <a:latin typeface="Calibri"/>
                <a:cs typeface="Calibri"/>
              </a:rPr>
              <a:t>role</a:t>
            </a:r>
            <a:r>
              <a:rPr sz="2000" spc="10" dirty="0">
                <a:solidFill>
                  <a:srgbClr val="292929"/>
                </a:solidFill>
                <a:latin typeface="Calibri"/>
                <a:cs typeface="Calibri"/>
              </a:rPr>
              <a:t> </a:t>
            </a:r>
            <a:r>
              <a:rPr sz="2000" dirty="0">
                <a:solidFill>
                  <a:srgbClr val="292929"/>
                </a:solidFill>
                <a:latin typeface="Calibri"/>
                <a:cs typeface="Calibri"/>
              </a:rPr>
              <a:t>in</a:t>
            </a:r>
            <a:r>
              <a:rPr sz="2000" spc="-35" dirty="0">
                <a:solidFill>
                  <a:srgbClr val="292929"/>
                </a:solidFill>
                <a:latin typeface="Calibri"/>
                <a:cs typeface="Calibri"/>
              </a:rPr>
              <a:t> </a:t>
            </a:r>
            <a:r>
              <a:rPr sz="2000" dirty="0">
                <a:solidFill>
                  <a:srgbClr val="292929"/>
                </a:solidFill>
                <a:latin typeface="Calibri"/>
                <a:cs typeface="Calibri"/>
              </a:rPr>
              <a:t>determining</a:t>
            </a:r>
            <a:r>
              <a:rPr sz="2000" spc="-10" dirty="0">
                <a:solidFill>
                  <a:srgbClr val="292929"/>
                </a:solidFill>
                <a:latin typeface="Calibri"/>
                <a:cs typeface="Calibri"/>
              </a:rPr>
              <a:t> </a:t>
            </a:r>
            <a:r>
              <a:rPr sz="2000" dirty="0">
                <a:solidFill>
                  <a:srgbClr val="292929"/>
                </a:solidFill>
                <a:latin typeface="Calibri"/>
                <a:cs typeface="Calibri"/>
              </a:rPr>
              <a:t>the</a:t>
            </a:r>
            <a:r>
              <a:rPr sz="2000" spc="-55" dirty="0">
                <a:solidFill>
                  <a:srgbClr val="292929"/>
                </a:solidFill>
                <a:latin typeface="Calibri"/>
                <a:cs typeface="Calibri"/>
              </a:rPr>
              <a:t> </a:t>
            </a:r>
            <a:r>
              <a:rPr sz="2000" spc="-10" dirty="0">
                <a:solidFill>
                  <a:srgbClr val="292929"/>
                </a:solidFill>
                <a:latin typeface="Calibri"/>
                <a:cs typeface="Calibri"/>
              </a:rPr>
              <a:t>outcome</a:t>
            </a:r>
            <a:r>
              <a:rPr sz="2000" spc="-55" dirty="0">
                <a:solidFill>
                  <a:srgbClr val="292929"/>
                </a:solidFill>
                <a:latin typeface="Calibri"/>
                <a:cs typeface="Calibri"/>
              </a:rPr>
              <a:t> </a:t>
            </a:r>
            <a:r>
              <a:rPr sz="2000" dirty="0">
                <a:solidFill>
                  <a:srgbClr val="292929"/>
                </a:solidFill>
                <a:latin typeface="Calibri"/>
                <a:cs typeface="Calibri"/>
              </a:rPr>
              <a:t>of</a:t>
            </a:r>
            <a:r>
              <a:rPr sz="2000" spc="25" dirty="0">
                <a:solidFill>
                  <a:srgbClr val="292929"/>
                </a:solidFill>
                <a:latin typeface="Calibri"/>
                <a:cs typeface="Calibri"/>
              </a:rPr>
              <a:t> </a:t>
            </a:r>
            <a:r>
              <a:rPr sz="2000" dirty="0">
                <a:solidFill>
                  <a:srgbClr val="292929"/>
                </a:solidFill>
                <a:latin typeface="Calibri"/>
                <a:cs typeface="Calibri"/>
              </a:rPr>
              <a:t>a</a:t>
            </a:r>
            <a:r>
              <a:rPr sz="2000" spc="-90" dirty="0">
                <a:solidFill>
                  <a:srgbClr val="292929"/>
                </a:solidFill>
                <a:latin typeface="Calibri"/>
                <a:cs typeface="Calibri"/>
              </a:rPr>
              <a:t> </a:t>
            </a:r>
            <a:r>
              <a:rPr sz="2000" spc="-10" dirty="0">
                <a:solidFill>
                  <a:srgbClr val="292929"/>
                </a:solidFill>
                <a:latin typeface="Calibri"/>
                <a:cs typeface="Calibri"/>
              </a:rPr>
              <a:t>launch.</a:t>
            </a:r>
            <a:endParaRPr sz="200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51</a:t>
            </a:fld>
            <a:endParaRPr spc="60"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05" dirty="0"/>
              <a:t>Conclusions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47625" rIns="0" bIns="0" rtlCol="0">
            <a:spAutoFit/>
          </a:bodyPr>
          <a:lstStyle/>
          <a:p>
            <a:pPr marL="12700" marR="177165">
              <a:lnSpc>
                <a:spcPct val="89700"/>
              </a:lnSpc>
              <a:spcBef>
                <a:spcPts val="375"/>
              </a:spcBef>
            </a:pPr>
            <a:r>
              <a:rPr b="1" dirty="0">
                <a:latin typeface="Calibri"/>
                <a:cs typeface="Calibri"/>
              </a:rPr>
              <a:t>Point</a:t>
            </a:r>
            <a:r>
              <a:rPr b="1" spc="-70" dirty="0">
                <a:latin typeface="Calibri"/>
                <a:cs typeface="Calibri"/>
              </a:rPr>
              <a:t> </a:t>
            </a:r>
            <a:r>
              <a:rPr b="1" dirty="0">
                <a:latin typeface="Calibri"/>
                <a:cs typeface="Calibri"/>
              </a:rPr>
              <a:t>4:</a:t>
            </a:r>
            <a:r>
              <a:rPr b="1" spc="-30" dirty="0">
                <a:latin typeface="Calibri"/>
                <a:cs typeface="Calibri"/>
              </a:rPr>
              <a:t> </a:t>
            </a:r>
            <a:r>
              <a:rPr spc="-10" dirty="0"/>
              <a:t>Interactive</a:t>
            </a:r>
            <a:r>
              <a:rPr spc="-5" dirty="0"/>
              <a:t> </a:t>
            </a:r>
            <a:r>
              <a:rPr dirty="0"/>
              <a:t>data</a:t>
            </a:r>
            <a:r>
              <a:rPr spc="-40" dirty="0"/>
              <a:t> </a:t>
            </a:r>
            <a:r>
              <a:rPr spc="-10" dirty="0"/>
              <a:t>visualizations</a:t>
            </a:r>
            <a:r>
              <a:rPr spc="-15" dirty="0"/>
              <a:t> </a:t>
            </a:r>
            <a:r>
              <a:rPr dirty="0"/>
              <a:t>using</a:t>
            </a:r>
            <a:r>
              <a:rPr spc="-95" dirty="0"/>
              <a:t> </a:t>
            </a:r>
            <a:r>
              <a:rPr dirty="0"/>
              <a:t>Folium</a:t>
            </a:r>
            <a:r>
              <a:rPr spc="-15" dirty="0"/>
              <a:t> </a:t>
            </a:r>
            <a:r>
              <a:rPr dirty="0"/>
              <a:t>and</a:t>
            </a:r>
            <a:r>
              <a:rPr spc="-80" dirty="0"/>
              <a:t> </a:t>
            </a:r>
            <a:r>
              <a:rPr dirty="0"/>
              <a:t>Plotly</a:t>
            </a:r>
            <a:r>
              <a:rPr spc="-45" dirty="0"/>
              <a:t> </a:t>
            </a:r>
            <a:r>
              <a:rPr dirty="0"/>
              <a:t>Dash</a:t>
            </a:r>
            <a:r>
              <a:rPr spc="-55" dirty="0"/>
              <a:t> </a:t>
            </a:r>
            <a:r>
              <a:rPr spc="-10" dirty="0"/>
              <a:t>provided</a:t>
            </a:r>
            <a:r>
              <a:rPr spc="-55" dirty="0"/>
              <a:t> </a:t>
            </a:r>
            <a:r>
              <a:rPr dirty="0"/>
              <a:t>valuable</a:t>
            </a:r>
            <a:r>
              <a:rPr spc="-75" dirty="0"/>
              <a:t> </a:t>
            </a:r>
            <a:r>
              <a:rPr spc="-10" dirty="0"/>
              <a:t>insights</a:t>
            </a:r>
            <a:r>
              <a:rPr spc="-85" dirty="0"/>
              <a:t> </a:t>
            </a:r>
            <a:r>
              <a:rPr spc="-20" dirty="0"/>
              <a:t>into </a:t>
            </a:r>
            <a:r>
              <a:rPr dirty="0"/>
              <a:t>the</a:t>
            </a:r>
            <a:r>
              <a:rPr spc="-55" dirty="0"/>
              <a:t> </a:t>
            </a:r>
            <a:r>
              <a:rPr spc="-10" dirty="0"/>
              <a:t>geographical</a:t>
            </a:r>
            <a:r>
              <a:rPr spc="-30" dirty="0"/>
              <a:t> </a:t>
            </a:r>
            <a:r>
              <a:rPr dirty="0"/>
              <a:t>and</a:t>
            </a:r>
            <a:r>
              <a:rPr spc="-35" dirty="0"/>
              <a:t> </a:t>
            </a:r>
            <a:r>
              <a:rPr dirty="0"/>
              <a:t>operational</a:t>
            </a:r>
            <a:r>
              <a:rPr spc="-35" dirty="0"/>
              <a:t> </a:t>
            </a:r>
            <a:r>
              <a:rPr spc="-10" dirty="0"/>
              <a:t>patterns</a:t>
            </a:r>
            <a:r>
              <a:rPr spc="-60" dirty="0"/>
              <a:t> </a:t>
            </a:r>
            <a:r>
              <a:rPr dirty="0"/>
              <a:t>of</a:t>
            </a:r>
            <a:r>
              <a:rPr spc="-35" dirty="0"/>
              <a:t> </a:t>
            </a:r>
            <a:r>
              <a:rPr dirty="0"/>
              <a:t>SpaceX</a:t>
            </a:r>
            <a:r>
              <a:rPr spc="-20" dirty="0"/>
              <a:t> </a:t>
            </a:r>
            <a:r>
              <a:rPr dirty="0"/>
              <a:t>launches.</a:t>
            </a:r>
            <a:r>
              <a:rPr spc="-10" dirty="0"/>
              <a:t> </a:t>
            </a:r>
            <a:r>
              <a:rPr dirty="0"/>
              <a:t>These</a:t>
            </a:r>
            <a:r>
              <a:rPr spc="-50" dirty="0"/>
              <a:t> </a:t>
            </a:r>
            <a:r>
              <a:rPr dirty="0"/>
              <a:t>tools</a:t>
            </a:r>
            <a:r>
              <a:rPr spc="-60" dirty="0"/>
              <a:t> </a:t>
            </a:r>
            <a:r>
              <a:rPr dirty="0"/>
              <a:t>allowed</a:t>
            </a:r>
            <a:r>
              <a:rPr spc="-40" dirty="0"/>
              <a:t> </a:t>
            </a:r>
            <a:r>
              <a:rPr spc="-10" dirty="0"/>
              <a:t>for</a:t>
            </a:r>
            <a:r>
              <a:rPr spc="-50" dirty="0"/>
              <a:t> </a:t>
            </a:r>
            <a:r>
              <a:rPr dirty="0"/>
              <a:t>a</a:t>
            </a:r>
            <a:r>
              <a:rPr spc="-10" dirty="0"/>
              <a:t> deeper understanding</a:t>
            </a:r>
            <a:r>
              <a:rPr spc="-20" dirty="0"/>
              <a:t> </a:t>
            </a:r>
            <a:r>
              <a:rPr dirty="0"/>
              <a:t>of</a:t>
            </a:r>
            <a:r>
              <a:rPr spc="-45" dirty="0"/>
              <a:t> </a:t>
            </a:r>
            <a:r>
              <a:rPr dirty="0"/>
              <a:t>the</a:t>
            </a:r>
            <a:r>
              <a:rPr spc="-65" dirty="0"/>
              <a:t> </a:t>
            </a:r>
            <a:r>
              <a:rPr dirty="0"/>
              <a:t>data,</a:t>
            </a:r>
            <a:r>
              <a:rPr spc="-15" dirty="0"/>
              <a:t> </a:t>
            </a:r>
            <a:r>
              <a:rPr dirty="0"/>
              <a:t>enabling</a:t>
            </a:r>
            <a:r>
              <a:rPr spc="-15" dirty="0"/>
              <a:t> </a:t>
            </a:r>
            <a:r>
              <a:rPr spc="-20" dirty="0"/>
              <a:t>stakeholders</a:t>
            </a:r>
            <a:r>
              <a:rPr spc="-70" dirty="0"/>
              <a:t> </a:t>
            </a:r>
            <a:r>
              <a:rPr dirty="0"/>
              <a:t>to</a:t>
            </a:r>
            <a:r>
              <a:rPr spc="-55" dirty="0"/>
              <a:t> </a:t>
            </a:r>
            <a:r>
              <a:rPr dirty="0"/>
              <a:t>make</a:t>
            </a:r>
            <a:r>
              <a:rPr spc="5" dirty="0"/>
              <a:t> </a:t>
            </a:r>
            <a:r>
              <a:rPr spc="-10" dirty="0"/>
              <a:t>informed</a:t>
            </a:r>
            <a:r>
              <a:rPr spc="-45" dirty="0"/>
              <a:t> </a:t>
            </a:r>
            <a:r>
              <a:rPr dirty="0"/>
              <a:t>decisions</a:t>
            </a:r>
            <a:r>
              <a:rPr spc="-70" dirty="0"/>
              <a:t> </a:t>
            </a:r>
            <a:r>
              <a:rPr dirty="0"/>
              <a:t>based</a:t>
            </a:r>
            <a:r>
              <a:rPr spc="-45" dirty="0"/>
              <a:t> </a:t>
            </a:r>
            <a:r>
              <a:rPr spc="-25" dirty="0"/>
              <a:t>on </a:t>
            </a:r>
            <a:r>
              <a:rPr spc="-10" dirty="0"/>
              <a:t>comprehensive</a:t>
            </a:r>
            <a:r>
              <a:rPr spc="-60" dirty="0"/>
              <a:t> </a:t>
            </a:r>
            <a:r>
              <a:rPr dirty="0"/>
              <a:t>visual</a:t>
            </a:r>
            <a:r>
              <a:rPr spc="30" dirty="0"/>
              <a:t> </a:t>
            </a:r>
            <a:r>
              <a:rPr spc="-10" dirty="0"/>
              <a:t>analytics.</a:t>
            </a:r>
          </a:p>
          <a:p>
            <a:pPr>
              <a:lnSpc>
                <a:spcPct val="100000"/>
              </a:lnSpc>
              <a:spcBef>
                <a:spcPts val="2140"/>
              </a:spcBef>
            </a:pPr>
            <a:endParaRPr spc="-10" dirty="0"/>
          </a:p>
          <a:p>
            <a:pPr marL="12700" marR="5080">
              <a:lnSpc>
                <a:spcPct val="100000"/>
              </a:lnSpc>
            </a:pPr>
            <a:r>
              <a:rPr dirty="0"/>
              <a:t>In</a:t>
            </a:r>
            <a:r>
              <a:rPr spc="-45" dirty="0"/>
              <a:t> </a:t>
            </a:r>
            <a:r>
              <a:rPr dirty="0"/>
              <a:t>conclusion,</a:t>
            </a:r>
            <a:r>
              <a:rPr spc="-20" dirty="0"/>
              <a:t> </a:t>
            </a:r>
            <a:r>
              <a:rPr dirty="0"/>
              <a:t>our</a:t>
            </a:r>
            <a:r>
              <a:rPr spc="-60" dirty="0"/>
              <a:t> </a:t>
            </a:r>
            <a:r>
              <a:rPr spc="-10" dirty="0"/>
              <a:t>predictive</a:t>
            </a:r>
            <a:r>
              <a:rPr spc="-65" dirty="0"/>
              <a:t> </a:t>
            </a:r>
            <a:r>
              <a:rPr dirty="0"/>
              <a:t>analysis</a:t>
            </a:r>
            <a:r>
              <a:rPr spc="-5" dirty="0"/>
              <a:t> </a:t>
            </a:r>
            <a:r>
              <a:rPr dirty="0"/>
              <a:t>and</a:t>
            </a:r>
            <a:r>
              <a:rPr spc="-45" dirty="0"/>
              <a:t> </a:t>
            </a:r>
            <a:r>
              <a:rPr spc="-10" dirty="0"/>
              <a:t>interactive</a:t>
            </a:r>
            <a:r>
              <a:rPr spc="5" dirty="0"/>
              <a:t> </a:t>
            </a:r>
            <a:r>
              <a:rPr spc="-10" dirty="0"/>
              <a:t>visualizations</a:t>
            </a:r>
            <a:r>
              <a:rPr spc="-5" dirty="0"/>
              <a:t> </a:t>
            </a:r>
            <a:r>
              <a:rPr spc="-10" dirty="0"/>
              <a:t>have</a:t>
            </a:r>
            <a:r>
              <a:rPr spc="-65" dirty="0"/>
              <a:t> </a:t>
            </a:r>
            <a:r>
              <a:rPr dirty="0"/>
              <a:t>not</a:t>
            </a:r>
            <a:r>
              <a:rPr spc="-35" dirty="0"/>
              <a:t> </a:t>
            </a:r>
            <a:r>
              <a:rPr dirty="0"/>
              <a:t>only</a:t>
            </a:r>
            <a:r>
              <a:rPr spc="-50" dirty="0"/>
              <a:t> </a:t>
            </a:r>
            <a:r>
              <a:rPr dirty="0"/>
              <a:t>shed</a:t>
            </a:r>
            <a:r>
              <a:rPr spc="-40" dirty="0"/>
              <a:t> </a:t>
            </a:r>
            <a:r>
              <a:rPr dirty="0"/>
              <a:t>light</a:t>
            </a:r>
            <a:r>
              <a:rPr spc="-40" dirty="0"/>
              <a:t> </a:t>
            </a:r>
            <a:r>
              <a:rPr dirty="0"/>
              <a:t>on</a:t>
            </a:r>
            <a:r>
              <a:rPr spc="-45" dirty="0"/>
              <a:t> </a:t>
            </a:r>
            <a:r>
              <a:rPr spc="-25" dirty="0"/>
              <a:t>key </a:t>
            </a:r>
            <a:r>
              <a:rPr spc="-10" dirty="0"/>
              <a:t>factors</a:t>
            </a:r>
            <a:r>
              <a:rPr spc="-30" dirty="0"/>
              <a:t> </a:t>
            </a:r>
            <a:r>
              <a:rPr dirty="0"/>
              <a:t>influencing</a:t>
            </a:r>
            <a:r>
              <a:rPr spc="-40" dirty="0"/>
              <a:t> </a:t>
            </a:r>
            <a:r>
              <a:rPr dirty="0"/>
              <a:t>SpaceX's</a:t>
            </a:r>
            <a:r>
              <a:rPr spc="-25" dirty="0"/>
              <a:t> </a:t>
            </a:r>
            <a:r>
              <a:rPr dirty="0"/>
              <a:t>launch</a:t>
            </a:r>
            <a:r>
              <a:rPr spc="-70" dirty="0"/>
              <a:t> </a:t>
            </a:r>
            <a:r>
              <a:rPr dirty="0"/>
              <a:t>success</a:t>
            </a:r>
            <a:r>
              <a:rPr spc="-90" dirty="0"/>
              <a:t> </a:t>
            </a:r>
            <a:r>
              <a:rPr dirty="0"/>
              <a:t>but</a:t>
            </a:r>
            <a:r>
              <a:rPr spc="-60" dirty="0"/>
              <a:t> </a:t>
            </a:r>
            <a:r>
              <a:rPr dirty="0"/>
              <a:t>also</a:t>
            </a:r>
            <a:r>
              <a:rPr spc="-70" dirty="0"/>
              <a:t> </a:t>
            </a:r>
            <a:r>
              <a:rPr spc="-10" dirty="0"/>
              <a:t>provided</a:t>
            </a:r>
            <a:r>
              <a:rPr spc="-65" dirty="0"/>
              <a:t> </a:t>
            </a:r>
            <a:r>
              <a:rPr dirty="0"/>
              <a:t>a</a:t>
            </a:r>
            <a:r>
              <a:rPr spc="-55" dirty="0"/>
              <a:t> </a:t>
            </a:r>
            <a:r>
              <a:rPr dirty="0"/>
              <a:t>robust</a:t>
            </a:r>
            <a:r>
              <a:rPr spc="-55" dirty="0"/>
              <a:t> </a:t>
            </a:r>
            <a:r>
              <a:rPr dirty="0"/>
              <a:t>framework</a:t>
            </a:r>
            <a:r>
              <a:rPr spc="-75" dirty="0"/>
              <a:t> </a:t>
            </a:r>
            <a:r>
              <a:rPr dirty="0"/>
              <a:t>for</a:t>
            </a:r>
            <a:r>
              <a:rPr spc="-20" dirty="0"/>
              <a:t> </a:t>
            </a:r>
            <a:r>
              <a:rPr spc="-10" dirty="0"/>
              <a:t>future </a:t>
            </a:r>
            <a:r>
              <a:rPr dirty="0"/>
              <a:t>assessments</a:t>
            </a:r>
            <a:r>
              <a:rPr spc="-60" dirty="0"/>
              <a:t> </a:t>
            </a:r>
            <a:r>
              <a:rPr dirty="0"/>
              <a:t>and</a:t>
            </a:r>
            <a:r>
              <a:rPr spc="-30" dirty="0"/>
              <a:t> </a:t>
            </a:r>
            <a:r>
              <a:rPr spc="-10" dirty="0"/>
              <a:t>decision-</a:t>
            </a:r>
            <a:r>
              <a:rPr dirty="0"/>
              <a:t>making</a:t>
            </a:r>
            <a:r>
              <a:rPr spc="-75" dirty="0"/>
              <a:t> </a:t>
            </a:r>
            <a:r>
              <a:rPr dirty="0"/>
              <a:t>in</a:t>
            </a:r>
            <a:r>
              <a:rPr spc="-30" dirty="0"/>
              <a:t> </a:t>
            </a:r>
            <a:r>
              <a:rPr dirty="0"/>
              <a:t>the</a:t>
            </a:r>
            <a:r>
              <a:rPr spc="15" dirty="0"/>
              <a:t> </a:t>
            </a:r>
            <a:r>
              <a:rPr spc="-10" dirty="0"/>
              <a:t>aerospace</a:t>
            </a:r>
            <a:r>
              <a:rPr spc="20" dirty="0"/>
              <a:t> </a:t>
            </a:r>
            <a:r>
              <a:rPr spc="-25" dirty="0"/>
              <a:t>industry.</a:t>
            </a:r>
            <a:r>
              <a:rPr spc="-75" dirty="0"/>
              <a:t> </a:t>
            </a:r>
            <a:r>
              <a:rPr dirty="0"/>
              <a:t>The</a:t>
            </a:r>
            <a:r>
              <a:rPr spc="15" dirty="0"/>
              <a:t> </a:t>
            </a:r>
            <a:r>
              <a:rPr spc="-10" dirty="0"/>
              <a:t>insights</a:t>
            </a:r>
            <a:r>
              <a:rPr spc="-60" dirty="0"/>
              <a:t> </a:t>
            </a:r>
            <a:r>
              <a:rPr spc="-10" dirty="0"/>
              <a:t>gathered</a:t>
            </a:r>
            <a:r>
              <a:rPr spc="-35" dirty="0"/>
              <a:t> </a:t>
            </a:r>
            <a:r>
              <a:rPr dirty="0"/>
              <a:t>can</a:t>
            </a:r>
            <a:r>
              <a:rPr spc="-35" dirty="0"/>
              <a:t> </a:t>
            </a:r>
            <a:r>
              <a:rPr dirty="0"/>
              <a:t>help</a:t>
            </a:r>
            <a:r>
              <a:rPr spc="-35" dirty="0"/>
              <a:t> </a:t>
            </a:r>
            <a:r>
              <a:rPr spc="-10" dirty="0"/>
              <a:t>improve </a:t>
            </a:r>
            <a:r>
              <a:rPr dirty="0"/>
              <a:t>launch</a:t>
            </a:r>
            <a:r>
              <a:rPr spc="-65" dirty="0"/>
              <a:t> </a:t>
            </a:r>
            <a:r>
              <a:rPr spc="-10" dirty="0"/>
              <a:t>strategies</a:t>
            </a:r>
            <a:r>
              <a:rPr spc="-90" dirty="0"/>
              <a:t> </a:t>
            </a:r>
            <a:r>
              <a:rPr dirty="0"/>
              <a:t>and</a:t>
            </a:r>
            <a:r>
              <a:rPr spc="-65" dirty="0"/>
              <a:t> </a:t>
            </a:r>
            <a:r>
              <a:rPr dirty="0"/>
              <a:t>contribute</a:t>
            </a:r>
            <a:r>
              <a:rPr spc="-20" dirty="0"/>
              <a:t> </a:t>
            </a:r>
            <a:r>
              <a:rPr dirty="0"/>
              <a:t>to</a:t>
            </a:r>
            <a:r>
              <a:rPr spc="-70" dirty="0"/>
              <a:t> </a:t>
            </a:r>
            <a:r>
              <a:rPr dirty="0"/>
              <a:t>the</a:t>
            </a:r>
            <a:r>
              <a:rPr spc="-20" dirty="0"/>
              <a:t> </a:t>
            </a:r>
            <a:r>
              <a:rPr dirty="0"/>
              <a:t>ongoing</a:t>
            </a:r>
            <a:r>
              <a:rPr spc="-40" dirty="0"/>
              <a:t> </a:t>
            </a:r>
            <a:r>
              <a:rPr dirty="0"/>
              <a:t>success</a:t>
            </a:r>
            <a:r>
              <a:rPr spc="-90" dirty="0"/>
              <a:t> </a:t>
            </a:r>
            <a:r>
              <a:rPr dirty="0"/>
              <a:t>of</a:t>
            </a:r>
            <a:r>
              <a:rPr spc="-65" dirty="0"/>
              <a:t> </a:t>
            </a:r>
            <a:r>
              <a:rPr dirty="0"/>
              <a:t>reusable</a:t>
            </a:r>
            <a:r>
              <a:rPr spc="-20" dirty="0"/>
              <a:t> rocket</a:t>
            </a:r>
            <a:r>
              <a:rPr spc="-55" dirty="0"/>
              <a:t> </a:t>
            </a:r>
            <a:r>
              <a:rPr spc="-10" dirty="0"/>
              <a:t>technology.</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60" dirty="0"/>
              <a:t>52</a:t>
            </a:fld>
            <a:endParaRPr spc="60"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05" dirty="0"/>
              <a:t>Conclusions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TotalTime>
  <Words>4134</Words>
  <Application>Microsoft Office PowerPoint</Application>
  <PresentationFormat>Widescreen</PresentationFormat>
  <Paragraphs>433</Paragraphs>
  <Slides>53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Arial</vt:lpstr>
      <vt:lpstr>Arial MT</vt:lpstr>
      <vt:lpstr>Calibri</vt:lpstr>
      <vt:lpstr>Calibri Light</vt:lpstr>
      <vt:lpstr>Courier New</vt:lpstr>
      <vt:lpstr>Microsoft Sans Serif</vt:lpstr>
      <vt:lpstr>Office Theme</vt:lpstr>
      <vt:lpstr>PowerPoint Presentation</vt:lpstr>
      <vt:lpstr>Outline</vt:lpstr>
      <vt:lpstr>Executive Summary</vt:lpstr>
      <vt:lpstr>Introduction</vt:lpstr>
      <vt:lpstr>PowerPoint Presentation</vt:lpstr>
      <vt:lpstr>Methodology</vt:lpstr>
      <vt:lpstr>Methodology</vt:lpstr>
      <vt:lpstr>Data Collection</vt:lpstr>
      <vt:lpstr>Data Collection – SpaceX API</vt:lpstr>
      <vt:lpstr>Data Collection - Scraping</vt:lpstr>
      <vt:lpstr>Data Wrangling</vt:lpstr>
      <vt:lpstr>Data Wrangling</vt:lpstr>
      <vt:lpstr>Data Wrangling Flowchart</vt:lpstr>
      <vt:lpstr>EDA with Data Visualization</vt:lpstr>
      <vt:lpstr>EDA with Data Visualization</vt:lpstr>
      <vt:lpstr>EDA with SQL</vt:lpstr>
      <vt:lpstr>Build an Interactive Map with Folium</vt:lpstr>
      <vt:lpstr>Build a Dashboard with Plotly Dash</vt:lpstr>
      <vt:lpstr>Reasons for Adding Plots and Interactions</vt:lpstr>
      <vt:lpstr>Predictive Analysis (Classification)</vt:lpstr>
      <vt:lpstr>Predictive Analysis (Flowchart)</vt:lpstr>
      <vt:lpstr>PowerPoint Presentation</vt:lpstr>
      <vt:lpstr>PowerPoint Presentation</vt:lpstr>
      <vt:lpstr>PowerPoint Presentation</vt:lpstr>
      <vt:lpstr>PowerPoint Presentation</vt:lpstr>
      <vt:lpstr>Success Rate vs. Orbit Type</vt:lpstr>
      <vt:lpstr>Flight Number vs. Orbit Type</vt:lpstr>
      <vt:lpstr>Payload vs. Orbit Type</vt:lpstr>
      <vt:lpstr>Launch Success Yearly Trend</vt:lpstr>
      <vt:lpstr>All Launch Site Names</vt:lpstr>
      <vt:lpstr>Launch Site Names Begin with 'CCA'</vt:lpstr>
      <vt:lpstr>Total Payload Mass</vt:lpstr>
      <vt:lpstr>Average Payload Mass by F9 v1.1</vt:lpstr>
      <vt:lpstr>First Successful Ground Landing Date</vt:lpstr>
      <vt:lpstr>Successful Drone Ship Landing with Payload between 4000 and 6000</vt:lpstr>
      <vt:lpstr>Total Number of Successful and Failure Mission Outcomes</vt:lpstr>
      <vt:lpstr>Boosters Carried Maximum Payload</vt:lpstr>
      <vt:lpstr>2015 Launch Records</vt:lpstr>
      <vt:lpstr>Rank Landing Outcomes Between 2010-06-04 and 2017-03-20</vt:lpstr>
      <vt:lpstr>PowerPoint Presentation</vt:lpstr>
      <vt:lpstr>Task 1: Mark all launch sites on a map</vt:lpstr>
      <vt:lpstr>Task 2: Mark the success/failed launches for each site on the map</vt:lpstr>
      <vt:lpstr>Task 3: Calculate the distances between a launch site to its proximities</vt:lpstr>
      <vt:lpstr>PowerPoint Presentation</vt:lpstr>
      <vt:lpstr>Launch Success Count for all sites (in a pie chart)</vt:lpstr>
      <vt:lpstr>PowerPoint Presentation</vt:lpstr>
      <vt:lpstr>Key Insights from SpaceX Launch Data Dashboard</vt:lpstr>
      <vt:lpstr>PowerPoint Presentation</vt:lpstr>
      <vt:lpstr>Classification Accuracy</vt:lpstr>
      <vt:lpstr>Confusion Matrix</vt:lpstr>
      <vt:lpstr>Conclusions</vt:lpstr>
      <vt:lpstr>Conclusions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Oluwaseun Olatoye</cp:lastModifiedBy>
  <cp:revision>1</cp:revision>
  <dcterms:created xsi:type="dcterms:W3CDTF">2025-05-01T16:44:51Z</dcterms:created>
  <dcterms:modified xsi:type="dcterms:W3CDTF">2025-05-01T17:16:25Z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2024-07-15T00:00:00Z</vt:filetime>
  </property>
  <property fmtid="{D5CDD505-2E9C-101B-9397-08002B2CF9AE}" pid="3" name="LastSaved">
    <vt:filetime>2025-05-01T00:00:00Z</vt:filetime>
  </property>
</Properties>
</file>